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51"/>
  </p:notesMasterIdLst>
  <p:sldIdLst>
    <p:sldId id="310" r:id="rId3"/>
    <p:sldId id="311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8" r:id="rId14"/>
    <p:sldId id="309" r:id="rId15"/>
    <p:sldId id="312" r:id="rId16"/>
    <p:sldId id="258" r:id="rId17"/>
    <p:sldId id="314" r:id="rId18"/>
    <p:sldId id="315" r:id="rId19"/>
    <p:sldId id="260" r:id="rId20"/>
    <p:sldId id="261" r:id="rId21"/>
    <p:sldId id="262" r:id="rId22"/>
    <p:sldId id="264" r:id="rId23"/>
    <p:sldId id="265" r:id="rId24"/>
    <p:sldId id="316" r:id="rId25"/>
    <p:sldId id="321" r:id="rId26"/>
    <p:sldId id="322" r:id="rId27"/>
    <p:sldId id="270" r:id="rId28"/>
    <p:sldId id="271" r:id="rId29"/>
    <p:sldId id="272" r:id="rId30"/>
    <p:sldId id="317" r:id="rId31"/>
    <p:sldId id="267" r:id="rId32"/>
    <p:sldId id="268" r:id="rId33"/>
    <p:sldId id="269" r:id="rId34"/>
    <p:sldId id="319" r:id="rId35"/>
    <p:sldId id="276" r:id="rId36"/>
    <p:sldId id="320" r:id="rId37"/>
    <p:sldId id="279" r:id="rId38"/>
    <p:sldId id="280" r:id="rId39"/>
    <p:sldId id="282" r:id="rId40"/>
    <p:sldId id="283" r:id="rId41"/>
    <p:sldId id="284" r:id="rId42"/>
    <p:sldId id="285" r:id="rId43"/>
    <p:sldId id="286" r:id="rId44"/>
    <p:sldId id="291" r:id="rId45"/>
    <p:sldId id="287" r:id="rId46"/>
    <p:sldId id="288" r:id="rId47"/>
    <p:sldId id="289" r:id="rId48"/>
    <p:sldId id="290" r:id="rId49"/>
    <p:sldId id="292" r:id="rId50"/>
  </p:sldIdLst>
  <p:sldSz cx="9144000" cy="6858000" type="screen4x3"/>
  <p:notesSz cx="6858000" cy="9144000"/>
  <p:defaultTextStyle>
    <a:defPPr>
      <a:defRPr lang="zh-CN"/>
    </a:defPPr>
    <a:lvl1pPr algn="l" rtl="0" fontAlgn="base">
      <a:lnSpc>
        <a:spcPct val="150000"/>
      </a:lnSpc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1pPr>
    <a:lvl2pPr marL="457200" algn="l" rtl="0" fontAlgn="base">
      <a:lnSpc>
        <a:spcPct val="150000"/>
      </a:lnSpc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2pPr>
    <a:lvl3pPr marL="914400" algn="l" rtl="0" fontAlgn="base">
      <a:lnSpc>
        <a:spcPct val="150000"/>
      </a:lnSpc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3pPr>
    <a:lvl4pPr marL="1371600" algn="l" rtl="0" fontAlgn="base">
      <a:lnSpc>
        <a:spcPct val="150000"/>
      </a:lnSpc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4pPr>
    <a:lvl5pPr marL="1828800" algn="l" rtl="0" fontAlgn="base">
      <a:lnSpc>
        <a:spcPct val="150000"/>
      </a:lnSpc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楷体_GB2312" pitchFamily="49" charset="-122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9">
          <p15:clr>
            <a:srgbClr val="A4A3A4"/>
          </p15:clr>
        </p15:guide>
        <p15:guide id="2" pos="284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2" autoAdjust="0"/>
    <p:restoredTop sz="94614" autoAdjust="0"/>
  </p:normalViewPr>
  <p:slideViewPr>
    <p:cSldViewPr>
      <p:cViewPr varScale="1">
        <p:scale>
          <a:sx n="100" d="100"/>
          <a:sy n="100" d="100"/>
        </p:scale>
        <p:origin x="864" y="52"/>
      </p:cViewPr>
      <p:guideLst>
        <p:guide orient="horz" pos="2109"/>
        <p:guide pos="28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13" Type="http://schemas.openxmlformats.org/officeDocument/2006/relationships/image" Target="../media/image19.emf"/><Relationship Id="rId18" Type="http://schemas.openxmlformats.org/officeDocument/2006/relationships/image" Target="../media/image24.emf"/><Relationship Id="rId26" Type="http://schemas.openxmlformats.org/officeDocument/2006/relationships/image" Target="../media/image32.emf"/><Relationship Id="rId3" Type="http://schemas.openxmlformats.org/officeDocument/2006/relationships/image" Target="../media/image9.emf"/><Relationship Id="rId21" Type="http://schemas.openxmlformats.org/officeDocument/2006/relationships/image" Target="../media/image27.emf"/><Relationship Id="rId7" Type="http://schemas.openxmlformats.org/officeDocument/2006/relationships/image" Target="../media/image13.emf"/><Relationship Id="rId12" Type="http://schemas.openxmlformats.org/officeDocument/2006/relationships/image" Target="../media/image18.emf"/><Relationship Id="rId17" Type="http://schemas.openxmlformats.org/officeDocument/2006/relationships/image" Target="../media/image23.emf"/><Relationship Id="rId25" Type="http://schemas.openxmlformats.org/officeDocument/2006/relationships/image" Target="../media/image31.emf"/><Relationship Id="rId2" Type="http://schemas.openxmlformats.org/officeDocument/2006/relationships/image" Target="../media/image8.emf"/><Relationship Id="rId16" Type="http://schemas.openxmlformats.org/officeDocument/2006/relationships/image" Target="../media/image22.emf"/><Relationship Id="rId20" Type="http://schemas.openxmlformats.org/officeDocument/2006/relationships/image" Target="../media/image26.emf"/><Relationship Id="rId29" Type="http://schemas.openxmlformats.org/officeDocument/2006/relationships/image" Target="../media/image35.emf"/><Relationship Id="rId1" Type="http://schemas.openxmlformats.org/officeDocument/2006/relationships/image" Target="../media/image7.emf"/><Relationship Id="rId6" Type="http://schemas.openxmlformats.org/officeDocument/2006/relationships/image" Target="../media/image12.emf"/><Relationship Id="rId11" Type="http://schemas.openxmlformats.org/officeDocument/2006/relationships/image" Target="../media/image17.emf"/><Relationship Id="rId24" Type="http://schemas.openxmlformats.org/officeDocument/2006/relationships/image" Target="../media/image30.emf"/><Relationship Id="rId5" Type="http://schemas.openxmlformats.org/officeDocument/2006/relationships/image" Target="../media/image11.emf"/><Relationship Id="rId15" Type="http://schemas.openxmlformats.org/officeDocument/2006/relationships/image" Target="../media/image21.emf"/><Relationship Id="rId23" Type="http://schemas.openxmlformats.org/officeDocument/2006/relationships/image" Target="../media/image29.emf"/><Relationship Id="rId28" Type="http://schemas.openxmlformats.org/officeDocument/2006/relationships/image" Target="../media/image34.emf"/><Relationship Id="rId10" Type="http://schemas.openxmlformats.org/officeDocument/2006/relationships/image" Target="../media/image16.emf"/><Relationship Id="rId19" Type="http://schemas.openxmlformats.org/officeDocument/2006/relationships/image" Target="../media/image25.emf"/><Relationship Id="rId31" Type="http://schemas.openxmlformats.org/officeDocument/2006/relationships/image" Target="../media/image37.wmf"/><Relationship Id="rId4" Type="http://schemas.openxmlformats.org/officeDocument/2006/relationships/image" Target="../media/image10.emf"/><Relationship Id="rId9" Type="http://schemas.openxmlformats.org/officeDocument/2006/relationships/image" Target="../media/image15.emf"/><Relationship Id="rId14" Type="http://schemas.openxmlformats.org/officeDocument/2006/relationships/image" Target="../media/image20.emf"/><Relationship Id="rId22" Type="http://schemas.openxmlformats.org/officeDocument/2006/relationships/image" Target="../media/image28.emf"/><Relationship Id="rId27" Type="http://schemas.openxmlformats.org/officeDocument/2006/relationships/image" Target="../media/image33.emf"/><Relationship Id="rId30" Type="http://schemas.openxmlformats.org/officeDocument/2006/relationships/image" Target="../media/image3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emf"/><Relationship Id="rId1" Type="http://schemas.openxmlformats.org/officeDocument/2006/relationships/image" Target="../media/image39.emf"/><Relationship Id="rId4" Type="http://schemas.openxmlformats.org/officeDocument/2006/relationships/image" Target="../media/image42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13" Type="http://schemas.openxmlformats.org/officeDocument/2006/relationships/image" Target="../media/image55.emf"/><Relationship Id="rId18" Type="http://schemas.openxmlformats.org/officeDocument/2006/relationships/image" Target="../media/image60.emf"/><Relationship Id="rId26" Type="http://schemas.openxmlformats.org/officeDocument/2006/relationships/image" Target="../media/image68.emf"/><Relationship Id="rId3" Type="http://schemas.openxmlformats.org/officeDocument/2006/relationships/image" Target="../media/image45.emf"/><Relationship Id="rId21" Type="http://schemas.openxmlformats.org/officeDocument/2006/relationships/image" Target="../media/image63.emf"/><Relationship Id="rId7" Type="http://schemas.openxmlformats.org/officeDocument/2006/relationships/image" Target="../media/image49.emf"/><Relationship Id="rId12" Type="http://schemas.openxmlformats.org/officeDocument/2006/relationships/image" Target="../media/image54.emf"/><Relationship Id="rId17" Type="http://schemas.openxmlformats.org/officeDocument/2006/relationships/image" Target="../media/image59.emf"/><Relationship Id="rId25" Type="http://schemas.openxmlformats.org/officeDocument/2006/relationships/image" Target="../media/image67.emf"/><Relationship Id="rId2" Type="http://schemas.openxmlformats.org/officeDocument/2006/relationships/image" Target="../media/image44.emf"/><Relationship Id="rId16" Type="http://schemas.openxmlformats.org/officeDocument/2006/relationships/image" Target="../media/image58.emf"/><Relationship Id="rId20" Type="http://schemas.openxmlformats.org/officeDocument/2006/relationships/image" Target="../media/image62.emf"/><Relationship Id="rId1" Type="http://schemas.openxmlformats.org/officeDocument/2006/relationships/image" Target="../media/image43.emf"/><Relationship Id="rId6" Type="http://schemas.openxmlformats.org/officeDocument/2006/relationships/image" Target="../media/image48.emf"/><Relationship Id="rId11" Type="http://schemas.openxmlformats.org/officeDocument/2006/relationships/image" Target="../media/image53.emf"/><Relationship Id="rId24" Type="http://schemas.openxmlformats.org/officeDocument/2006/relationships/image" Target="../media/image66.emf"/><Relationship Id="rId5" Type="http://schemas.openxmlformats.org/officeDocument/2006/relationships/image" Target="../media/image47.emf"/><Relationship Id="rId15" Type="http://schemas.openxmlformats.org/officeDocument/2006/relationships/image" Target="../media/image57.emf"/><Relationship Id="rId23" Type="http://schemas.openxmlformats.org/officeDocument/2006/relationships/image" Target="../media/image65.emf"/><Relationship Id="rId10" Type="http://schemas.openxmlformats.org/officeDocument/2006/relationships/image" Target="../media/image52.emf"/><Relationship Id="rId19" Type="http://schemas.openxmlformats.org/officeDocument/2006/relationships/image" Target="../media/image61.emf"/><Relationship Id="rId4" Type="http://schemas.openxmlformats.org/officeDocument/2006/relationships/image" Target="../media/image46.emf"/><Relationship Id="rId9" Type="http://schemas.openxmlformats.org/officeDocument/2006/relationships/image" Target="../media/image51.emf"/><Relationship Id="rId14" Type="http://schemas.openxmlformats.org/officeDocument/2006/relationships/image" Target="../media/image56.emf"/><Relationship Id="rId22" Type="http://schemas.openxmlformats.org/officeDocument/2006/relationships/image" Target="../media/image64.emf"/><Relationship Id="rId27" Type="http://schemas.openxmlformats.org/officeDocument/2006/relationships/image" Target="../media/image69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13" Type="http://schemas.openxmlformats.org/officeDocument/2006/relationships/image" Target="../media/image82.wmf"/><Relationship Id="rId3" Type="http://schemas.openxmlformats.org/officeDocument/2006/relationships/image" Target="../media/image72.emf"/><Relationship Id="rId7" Type="http://schemas.openxmlformats.org/officeDocument/2006/relationships/image" Target="../media/image76.emf"/><Relationship Id="rId12" Type="http://schemas.openxmlformats.org/officeDocument/2006/relationships/image" Target="../media/image81.wmf"/><Relationship Id="rId2" Type="http://schemas.openxmlformats.org/officeDocument/2006/relationships/image" Target="../media/image71.emf"/><Relationship Id="rId1" Type="http://schemas.openxmlformats.org/officeDocument/2006/relationships/image" Target="../media/image70.emf"/><Relationship Id="rId6" Type="http://schemas.openxmlformats.org/officeDocument/2006/relationships/image" Target="../media/image75.wmf"/><Relationship Id="rId11" Type="http://schemas.openxmlformats.org/officeDocument/2006/relationships/image" Target="../media/image80.wmf"/><Relationship Id="rId5" Type="http://schemas.openxmlformats.org/officeDocument/2006/relationships/image" Target="../media/image74.emf"/><Relationship Id="rId15" Type="http://schemas.openxmlformats.org/officeDocument/2006/relationships/image" Target="../media/image84.wmf"/><Relationship Id="rId10" Type="http://schemas.openxmlformats.org/officeDocument/2006/relationships/image" Target="../media/image79.emf"/><Relationship Id="rId4" Type="http://schemas.openxmlformats.org/officeDocument/2006/relationships/image" Target="../media/image73.emf"/><Relationship Id="rId9" Type="http://schemas.openxmlformats.org/officeDocument/2006/relationships/image" Target="../media/image78.emf"/><Relationship Id="rId14" Type="http://schemas.openxmlformats.org/officeDocument/2006/relationships/image" Target="../media/image83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emf"/><Relationship Id="rId13" Type="http://schemas.openxmlformats.org/officeDocument/2006/relationships/image" Target="../media/image97.emf"/><Relationship Id="rId3" Type="http://schemas.openxmlformats.org/officeDocument/2006/relationships/image" Target="../media/image87.emf"/><Relationship Id="rId7" Type="http://schemas.openxmlformats.org/officeDocument/2006/relationships/image" Target="../media/image91.emf"/><Relationship Id="rId12" Type="http://schemas.openxmlformats.org/officeDocument/2006/relationships/image" Target="../media/image96.emf"/><Relationship Id="rId2" Type="http://schemas.openxmlformats.org/officeDocument/2006/relationships/image" Target="../media/image86.emf"/><Relationship Id="rId16" Type="http://schemas.openxmlformats.org/officeDocument/2006/relationships/image" Target="../media/image100.emf"/><Relationship Id="rId1" Type="http://schemas.openxmlformats.org/officeDocument/2006/relationships/image" Target="../media/image85.emf"/><Relationship Id="rId6" Type="http://schemas.openxmlformats.org/officeDocument/2006/relationships/image" Target="../media/image90.emf"/><Relationship Id="rId11" Type="http://schemas.openxmlformats.org/officeDocument/2006/relationships/image" Target="../media/image95.emf"/><Relationship Id="rId5" Type="http://schemas.openxmlformats.org/officeDocument/2006/relationships/image" Target="../media/image89.emf"/><Relationship Id="rId15" Type="http://schemas.openxmlformats.org/officeDocument/2006/relationships/image" Target="../media/image99.emf"/><Relationship Id="rId10" Type="http://schemas.openxmlformats.org/officeDocument/2006/relationships/image" Target="../media/image94.emf"/><Relationship Id="rId4" Type="http://schemas.openxmlformats.org/officeDocument/2006/relationships/image" Target="../media/image88.emf"/><Relationship Id="rId9" Type="http://schemas.openxmlformats.org/officeDocument/2006/relationships/image" Target="../media/image93.emf"/><Relationship Id="rId14" Type="http://schemas.openxmlformats.org/officeDocument/2006/relationships/image" Target="../media/image98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emf"/><Relationship Id="rId13" Type="http://schemas.openxmlformats.org/officeDocument/2006/relationships/image" Target="../media/image113.emf"/><Relationship Id="rId3" Type="http://schemas.openxmlformats.org/officeDocument/2006/relationships/image" Target="../media/image103.emf"/><Relationship Id="rId7" Type="http://schemas.openxmlformats.org/officeDocument/2006/relationships/image" Target="../media/image107.emf"/><Relationship Id="rId12" Type="http://schemas.openxmlformats.org/officeDocument/2006/relationships/image" Target="../media/image112.emf"/><Relationship Id="rId2" Type="http://schemas.openxmlformats.org/officeDocument/2006/relationships/image" Target="../media/image102.emf"/><Relationship Id="rId1" Type="http://schemas.openxmlformats.org/officeDocument/2006/relationships/image" Target="../media/image101.emf"/><Relationship Id="rId6" Type="http://schemas.openxmlformats.org/officeDocument/2006/relationships/image" Target="../media/image106.emf"/><Relationship Id="rId11" Type="http://schemas.openxmlformats.org/officeDocument/2006/relationships/image" Target="../media/image111.emf"/><Relationship Id="rId5" Type="http://schemas.openxmlformats.org/officeDocument/2006/relationships/image" Target="../media/image105.emf"/><Relationship Id="rId10" Type="http://schemas.openxmlformats.org/officeDocument/2006/relationships/image" Target="../media/image110.emf"/><Relationship Id="rId4" Type="http://schemas.openxmlformats.org/officeDocument/2006/relationships/image" Target="../media/image104.emf"/><Relationship Id="rId9" Type="http://schemas.openxmlformats.org/officeDocument/2006/relationships/image" Target="../media/image109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emf"/><Relationship Id="rId3" Type="http://schemas.openxmlformats.org/officeDocument/2006/relationships/image" Target="../media/image118.emf"/><Relationship Id="rId7" Type="http://schemas.openxmlformats.org/officeDocument/2006/relationships/image" Target="../media/image122.emf"/><Relationship Id="rId2" Type="http://schemas.openxmlformats.org/officeDocument/2006/relationships/image" Target="../media/image117.emf"/><Relationship Id="rId1" Type="http://schemas.openxmlformats.org/officeDocument/2006/relationships/image" Target="../media/image116.emf"/><Relationship Id="rId6" Type="http://schemas.openxmlformats.org/officeDocument/2006/relationships/image" Target="../media/image121.emf"/><Relationship Id="rId5" Type="http://schemas.openxmlformats.org/officeDocument/2006/relationships/image" Target="../media/image120.emf"/><Relationship Id="rId10" Type="http://schemas.openxmlformats.org/officeDocument/2006/relationships/image" Target="../media/image125.emf"/><Relationship Id="rId4" Type="http://schemas.openxmlformats.org/officeDocument/2006/relationships/image" Target="../media/image119.emf"/><Relationship Id="rId9" Type="http://schemas.openxmlformats.org/officeDocument/2006/relationships/image" Target="../media/image124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Relationship Id="rId4" Type="http://schemas.openxmlformats.org/officeDocument/2006/relationships/image" Target="../media/image129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wmf"/><Relationship Id="rId1" Type="http://schemas.openxmlformats.org/officeDocument/2006/relationships/image" Target="../media/image13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7" Type="http://schemas.openxmlformats.org/officeDocument/2006/relationships/image" Target="../media/image152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Relationship Id="rId6" Type="http://schemas.openxmlformats.org/officeDocument/2006/relationships/image" Target="../media/image151.wmf"/><Relationship Id="rId5" Type="http://schemas.openxmlformats.org/officeDocument/2006/relationships/image" Target="../media/image150.wmf"/><Relationship Id="rId4" Type="http://schemas.openxmlformats.org/officeDocument/2006/relationships/image" Target="../media/image149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wmf"/><Relationship Id="rId3" Type="http://schemas.openxmlformats.org/officeDocument/2006/relationships/image" Target="../media/image196.wmf"/><Relationship Id="rId7" Type="http://schemas.openxmlformats.org/officeDocument/2006/relationships/image" Target="../media/image200.wmf"/><Relationship Id="rId2" Type="http://schemas.openxmlformats.org/officeDocument/2006/relationships/image" Target="../media/image195.wmf"/><Relationship Id="rId1" Type="http://schemas.openxmlformats.org/officeDocument/2006/relationships/image" Target="../media/image194.wmf"/><Relationship Id="rId6" Type="http://schemas.openxmlformats.org/officeDocument/2006/relationships/image" Target="../media/image199.wmf"/><Relationship Id="rId5" Type="http://schemas.openxmlformats.org/officeDocument/2006/relationships/image" Target="../media/image198.wmf"/><Relationship Id="rId4" Type="http://schemas.openxmlformats.org/officeDocument/2006/relationships/image" Target="../media/image197.wmf"/><Relationship Id="rId9" Type="http://schemas.openxmlformats.org/officeDocument/2006/relationships/image" Target="../media/image202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wmf"/><Relationship Id="rId2" Type="http://schemas.openxmlformats.org/officeDocument/2006/relationships/image" Target="../media/image204.wmf"/><Relationship Id="rId1" Type="http://schemas.openxmlformats.org/officeDocument/2006/relationships/image" Target="../media/image203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wmf"/><Relationship Id="rId2" Type="http://schemas.openxmlformats.org/officeDocument/2006/relationships/image" Target="../media/image207.wmf"/><Relationship Id="rId1" Type="http://schemas.openxmlformats.org/officeDocument/2006/relationships/image" Target="../media/image206.wmf"/><Relationship Id="rId5" Type="http://schemas.openxmlformats.org/officeDocument/2006/relationships/image" Target="../media/image210.wmf"/><Relationship Id="rId4" Type="http://schemas.openxmlformats.org/officeDocument/2006/relationships/image" Target="../media/image209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wmf"/><Relationship Id="rId1" Type="http://schemas.openxmlformats.org/officeDocument/2006/relationships/image" Target="../media/image211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wmf"/><Relationship Id="rId2" Type="http://schemas.openxmlformats.org/officeDocument/2006/relationships/image" Target="../media/image214.wmf"/><Relationship Id="rId1" Type="http://schemas.openxmlformats.org/officeDocument/2006/relationships/image" Target="../media/image213.wmf"/><Relationship Id="rId6" Type="http://schemas.openxmlformats.org/officeDocument/2006/relationships/image" Target="../media/image218.wmf"/><Relationship Id="rId5" Type="http://schemas.openxmlformats.org/officeDocument/2006/relationships/image" Target="../media/image217.wmf"/><Relationship Id="rId4" Type="http://schemas.openxmlformats.org/officeDocument/2006/relationships/image" Target="../media/image216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wmf"/><Relationship Id="rId2" Type="http://schemas.openxmlformats.org/officeDocument/2006/relationships/image" Target="../media/image220.wmf"/><Relationship Id="rId1" Type="http://schemas.openxmlformats.org/officeDocument/2006/relationships/image" Target="../media/image219.wmf"/><Relationship Id="rId6" Type="http://schemas.openxmlformats.org/officeDocument/2006/relationships/image" Target="../media/image224.wmf"/><Relationship Id="rId5" Type="http://schemas.openxmlformats.org/officeDocument/2006/relationships/image" Target="../media/image223.wmf"/><Relationship Id="rId4" Type="http://schemas.openxmlformats.org/officeDocument/2006/relationships/image" Target="../media/image222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wmf"/><Relationship Id="rId2" Type="http://schemas.openxmlformats.org/officeDocument/2006/relationships/image" Target="../media/image226.wmf"/><Relationship Id="rId1" Type="http://schemas.openxmlformats.org/officeDocument/2006/relationships/image" Target="../media/image225.wmf"/><Relationship Id="rId6" Type="http://schemas.openxmlformats.org/officeDocument/2006/relationships/image" Target="../media/image230.wmf"/><Relationship Id="rId5" Type="http://schemas.openxmlformats.org/officeDocument/2006/relationships/image" Target="../media/image229.wmf"/><Relationship Id="rId4" Type="http://schemas.openxmlformats.org/officeDocument/2006/relationships/image" Target="../media/image228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wmf"/><Relationship Id="rId2" Type="http://schemas.openxmlformats.org/officeDocument/2006/relationships/image" Target="../media/image232.wmf"/><Relationship Id="rId1" Type="http://schemas.openxmlformats.org/officeDocument/2006/relationships/image" Target="../media/image231.wmf"/><Relationship Id="rId5" Type="http://schemas.openxmlformats.org/officeDocument/2006/relationships/image" Target="../media/image235.wmf"/><Relationship Id="rId4" Type="http://schemas.openxmlformats.org/officeDocument/2006/relationships/image" Target="../media/image234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wmf"/><Relationship Id="rId2" Type="http://schemas.openxmlformats.org/officeDocument/2006/relationships/image" Target="../media/image237.wmf"/><Relationship Id="rId1" Type="http://schemas.openxmlformats.org/officeDocument/2006/relationships/image" Target="../media/image236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9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wmf"/><Relationship Id="rId2" Type="http://schemas.openxmlformats.org/officeDocument/2006/relationships/image" Target="../media/image241.wmf"/><Relationship Id="rId1" Type="http://schemas.openxmlformats.org/officeDocument/2006/relationships/image" Target="../media/image240.wmf"/><Relationship Id="rId6" Type="http://schemas.openxmlformats.org/officeDocument/2006/relationships/image" Target="../media/image245.wmf"/><Relationship Id="rId5" Type="http://schemas.openxmlformats.org/officeDocument/2006/relationships/image" Target="../media/image244.wmf"/><Relationship Id="rId4" Type="http://schemas.openxmlformats.org/officeDocument/2006/relationships/image" Target="../media/image243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wmf"/><Relationship Id="rId7" Type="http://schemas.openxmlformats.org/officeDocument/2006/relationships/image" Target="../media/image251.wmf"/><Relationship Id="rId2" Type="http://schemas.openxmlformats.org/officeDocument/2006/relationships/image" Target="../media/image247.wmf"/><Relationship Id="rId1" Type="http://schemas.openxmlformats.org/officeDocument/2006/relationships/image" Target="../media/image246.wmf"/><Relationship Id="rId6" Type="http://schemas.openxmlformats.org/officeDocument/2006/relationships/image" Target="../media/image250.wmf"/><Relationship Id="rId5" Type="http://schemas.openxmlformats.org/officeDocument/2006/relationships/image" Target="../media/image237.wmf"/><Relationship Id="rId4" Type="http://schemas.openxmlformats.org/officeDocument/2006/relationships/image" Target="../media/image249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wmf"/><Relationship Id="rId2" Type="http://schemas.openxmlformats.org/officeDocument/2006/relationships/image" Target="../media/image253.wmf"/><Relationship Id="rId1" Type="http://schemas.openxmlformats.org/officeDocument/2006/relationships/image" Target="../media/image252.wmf"/><Relationship Id="rId4" Type="http://schemas.openxmlformats.org/officeDocument/2006/relationships/image" Target="../media/image255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wmf"/><Relationship Id="rId2" Type="http://schemas.openxmlformats.org/officeDocument/2006/relationships/image" Target="../media/image257.wmf"/><Relationship Id="rId1" Type="http://schemas.openxmlformats.org/officeDocument/2006/relationships/image" Target="../media/image256.wmf"/><Relationship Id="rId4" Type="http://schemas.openxmlformats.org/officeDocument/2006/relationships/image" Target="../media/image259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1.wmf"/><Relationship Id="rId1" Type="http://schemas.openxmlformats.org/officeDocument/2006/relationships/image" Target="../media/image260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2.wmf"/><Relationship Id="rId1" Type="http://schemas.openxmlformats.org/officeDocument/2006/relationships/image" Target="../media/image261.w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4.wmf"/><Relationship Id="rId1" Type="http://schemas.openxmlformats.org/officeDocument/2006/relationships/image" Target="../media/image263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93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93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lnSpc>
                <a:spcPct val="100000"/>
              </a:lnSpc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8F31EE2C-75E8-4497-ABF7-C80276B99532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fld id="{DA007416-B954-410E-ABFC-3563D4214CBF}" type="slidenum">
              <a:rPr lang="en-US" altLang="zh-CN" sz="1200" b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fld>
            <a:endParaRPr lang="en-US" altLang="zh-CN" sz="1200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4988" y="4343400"/>
            <a:ext cx="5791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10000"/>
              </a:spcBef>
            </a:pPr>
            <a:endParaRPr lang="zh-CN" altLang="zh-CN" sz="8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幻灯片图像占位符 206849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33794" name="文本占位符 206850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33795" name="灯片编号占位符 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2B8473C-F6A1-48E3-AEF0-1CF6EB9F3627}" type="slidenum">
              <a:rPr lang="zh-CN" altLang="en-US" sz="1200" smtClean="0"/>
              <a:t>17</a:t>
            </a:fld>
            <a:endParaRPr lang="zh-C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6E0B24-66DA-4ADF-9E41-46A6C8BF3E0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48628E1-32D4-4D8B-ABC8-F215A6D32FC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C6D7036-F6BF-48F2-84C0-D6218052F7D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43CB64D-FBCB-4F59-ADDB-FADF423B642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C435DED-5A03-4F6A-A9CA-679714EA6F1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AA4E7DA-8B97-4F8E-A9C4-D1F175AAAAF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3CED29B-399A-4F98-AC13-D8FF4144027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78EEBE7-DBC2-4E57-BEA3-D8FF8C982CE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E532F04-016F-48A3-9F6D-D3355EB9C9B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94957A0-3654-416C-9752-230E8704E16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5749F58-9ACB-460A-9B86-628C986EBA7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7"/>
          <p:cNvSpPr>
            <a:spLocks noChangeShapeType="1"/>
          </p:cNvSpPr>
          <p:nvPr/>
        </p:nvSpPr>
        <p:spPr bwMode="auto">
          <a:xfrm>
            <a:off x="1905000" y="1219200"/>
            <a:ext cx="0" cy="2057400"/>
          </a:xfrm>
          <a:prstGeom prst="line">
            <a:avLst/>
          </a:prstGeom>
          <a:noFill/>
          <a:ln w="3492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Oval 8"/>
          <p:cNvSpPr>
            <a:spLocks noChangeArrowheads="1"/>
          </p:cNvSpPr>
          <p:nvPr/>
        </p:nvSpPr>
        <p:spPr bwMode="auto">
          <a:xfrm>
            <a:off x="163513" y="2103438"/>
            <a:ext cx="347662" cy="34766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Tx/>
              <a:buNone/>
              <a:defRPr/>
            </a:pPr>
            <a:endParaRPr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6" name="Oval 9"/>
          <p:cNvSpPr>
            <a:spLocks noChangeArrowheads="1"/>
          </p:cNvSpPr>
          <p:nvPr/>
        </p:nvSpPr>
        <p:spPr bwMode="auto">
          <a:xfrm>
            <a:off x="739775" y="2105025"/>
            <a:ext cx="349250" cy="34766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Tx/>
              <a:buNone/>
              <a:defRPr/>
            </a:pPr>
            <a:endParaRPr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7" name="Oval 10"/>
          <p:cNvSpPr>
            <a:spLocks noChangeArrowheads="1"/>
          </p:cNvSpPr>
          <p:nvPr/>
        </p:nvSpPr>
        <p:spPr bwMode="auto">
          <a:xfrm>
            <a:off x="1317625" y="2105025"/>
            <a:ext cx="347663" cy="347663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Tx/>
              <a:buNone/>
              <a:defRPr/>
            </a:pPr>
            <a:endParaRPr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33600" y="1371600"/>
            <a:ext cx="6477000" cy="1752600"/>
          </a:xfrm>
        </p:spPr>
        <p:txBody>
          <a:bodyPr/>
          <a:lstStyle>
            <a:lvl1pPr>
              <a:defRPr sz="54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3733800"/>
            <a:ext cx="6477000" cy="1981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086600" y="6248400"/>
            <a:ext cx="1524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810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2209800" y="6248400"/>
            <a:ext cx="1219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32A3A0-7A29-4B5A-8FD6-EF3AB84F9D1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8DB758-C3F1-4A22-BCB8-8C2CFFFF3B5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3F4CFA-7867-4F1B-B911-265296692AF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1524000" y="1905000"/>
            <a:ext cx="3429000" cy="4114800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105400" y="1905000"/>
            <a:ext cx="3429000" cy="4114800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FECA9-4946-4EFF-A549-E43354D4277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695590-0B72-42FF-9868-1EE922B3382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C6676C-7154-4240-9942-D524C9D9CA8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77965A-10F5-4D86-B354-F3C0DFDD621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498F6E-6EE3-4C0C-B7DA-8227F8AA130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5CDF87-95C1-46C6-A363-DD34E696251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E2BBC4-C838-4EC1-BF10-FA0056F474C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190500"/>
            <a:ext cx="1752600" cy="58293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1524000" y="190500"/>
            <a:ext cx="5105400" cy="5829300"/>
          </a:xfr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029E16-12ED-42B5-9113-BA73118F722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373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lnSpc>
                <a:spcPct val="100000"/>
              </a:lnSpc>
              <a:defRPr sz="1400" b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44F1EAEF-D982-4035-8AAF-8AC500E6C023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wip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524000" y="190500"/>
            <a:ext cx="7010400" cy="152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1524000" y="1905000"/>
            <a:ext cx="7010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sz="1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Tx/>
              <a:buNone/>
              <a:defRPr sz="10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24000" y="6248400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sz="1400"/>
            </a:lvl1pPr>
          </a:lstStyle>
          <a:p>
            <a:pPr>
              <a:defRPr/>
            </a:pPr>
            <a:fld id="{16DB419C-C118-406B-8C75-0E1F278093C5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2055" name="Line 7"/>
          <p:cNvSpPr>
            <a:spLocks noChangeShapeType="1"/>
          </p:cNvSpPr>
          <p:nvPr/>
        </p:nvSpPr>
        <p:spPr bwMode="auto">
          <a:xfrm flipV="1">
            <a:off x="1371600" y="304800"/>
            <a:ext cx="0" cy="12954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6" name="Oval 8"/>
          <p:cNvSpPr>
            <a:spLocks noChangeArrowheads="1"/>
          </p:cNvSpPr>
          <p:nvPr/>
        </p:nvSpPr>
        <p:spPr bwMode="auto">
          <a:xfrm>
            <a:off x="152400" y="838200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Tx/>
              <a:buNone/>
              <a:defRPr/>
            </a:pPr>
            <a:endParaRPr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2057" name="Oval 9"/>
          <p:cNvSpPr>
            <a:spLocks noChangeArrowheads="1"/>
          </p:cNvSpPr>
          <p:nvPr/>
        </p:nvSpPr>
        <p:spPr bwMode="auto">
          <a:xfrm>
            <a:off x="539750" y="838200"/>
            <a:ext cx="228600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Tx/>
              <a:buNone/>
              <a:defRPr/>
            </a:pPr>
            <a:endParaRPr lang="zh-CN" altLang="zh-CN" sz="2400">
              <a:latin typeface="Times New Roman" panose="02020603050405020304" pitchFamily="18" charset="0"/>
            </a:endParaRPr>
          </a:p>
        </p:txBody>
      </p:sp>
      <p:sp>
        <p:nvSpPr>
          <p:cNvPr id="2058" name="Oval 10"/>
          <p:cNvSpPr>
            <a:spLocks noChangeArrowheads="1"/>
          </p:cNvSpPr>
          <p:nvPr/>
        </p:nvSpPr>
        <p:spPr bwMode="auto">
          <a:xfrm>
            <a:off x="927100" y="838200"/>
            <a:ext cx="228600" cy="2286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Tx/>
              <a:buNone/>
              <a:defRPr/>
            </a:pPr>
            <a:endParaRPr lang="zh-CN" altLang="zh-CN" sz="24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¢"/>
        <a:defRPr sz="30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l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emf"/><Relationship Id="rId4" Type="http://schemas.openxmlformats.org/officeDocument/2006/relationships/image" Target="../media/image1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oleObject" Target="../embeddings/oleObject18.bin"/><Relationship Id="rId21" Type="http://schemas.openxmlformats.org/officeDocument/2006/relationships/image" Target="../media/image15.emf"/><Relationship Id="rId34" Type="http://schemas.openxmlformats.org/officeDocument/2006/relationships/oleObject" Target="../embeddings/oleObject22.bin"/><Relationship Id="rId42" Type="http://schemas.openxmlformats.org/officeDocument/2006/relationships/oleObject" Target="../embeddings/oleObject26.bin"/><Relationship Id="rId47" Type="http://schemas.openxmlformats.org/officeDocument/2006/relationships/image" Target="../media/image28.emf"/><Relationship Id="rId50" Type="http://schemas.openxmlformats.org/officeDocument/2006/relationships/oleObject" Target="../embeddings/oleObject30.bin"/><Relationship Id="rId55" Type="http://schemas.openxmlformats.org/officeDocument/2006/relationships/image" Target="../media/image32.emf"/><Relationship Id="rId63" Type="http://schemas.openxmlformats.org/officeDocument/2006/relationships/image" Target="../media/image36.emf"/><Relationship Id="rId7" Type="http://schemas.openxmlformats.org/officeDocument/2006/relationships/image" Target="../media/image8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.bin"/><Relationship Id="rId29" Type="http://schemas.openxmlformats.org/officeDocument/2006/relationships/image" Target="../media/image19.emf"/><Relationship Id="rId11" Type="http://schemas.openxmlformats.org/officeDocument/2006/relationships/image" Target="../media/image10.emf"/><Relationship Id="rId24" Type="http://schemas.openxmlformats.org/officeDocument/2006/relationships/oleObject" Target="../embeddings/oleObject17.bin"/><Relationship Id="rId32" Type="http://schemas.openxmlformats.org/officeDocument/2006/relationships/oleObject" Target="../embeddings/oleObject21.bin"/><Relationship Id="rId37" Type="http://schemas.openxmlformats.org/officeDocument/2006/relationships/image" Target="../media/image23.emf"/><Relationship Id="rId40" Type="http://schemas.openxmlformats.org/officeDocument/2006/relationships/oleObject" Target="../embeddings/oleObject25.bin"/><Relationship Id="rId45" Type="http://schemas.openxmlformats.org/officeDocument/2006/relationships/image" Target="../media/image27.emf"/><Relationship Id="rId53" Type="http://schemas.openxmlformats.org/officeDocument/2006/relationships/image" Target="../media/image31.emf"/><Relationship Id="rId58" Type="http://schemas.openxmlformats.org/officeDocument/2006/relationships/oleObject" Target="../embeddings/oleObject34.bin"/><Relationship Id="rId5" Type="http://schemas.openxmlformats.org/officeDocument/2006/relationships/image" Target="../media/image7.emf"/><Relationship Id="rId61" Type="http://schemas.openxmlformats.org/officeDocument/2006/relationships/image" Target="../media/image35.emf"/><Relationship Id="rId19" Type="http://schemas.openxmlformats.org/officeDocument/2006/relationships/image" Target="../media/image14.emf"/><Relationship Id="rId14" Type="http://schemas.openxmlformats.org/officeDocument/2006/relationships/oleObject" Target="../embeddings/oleObject12.bin"/><Relationship Id="rId22" Type="http://schemas.openxmlformats.org/officeDocument/2006/relationships/oleObject" Target="../embeddings/oleObject16.bin"/><Relationship Id="rId27" Type="http://schemas.openxmlformats.org/officeDocument/2006/relationships/image" Target="../media/image18.emf"/><Relationship Id="rId30" Type="http://schemas.openxmlformats.org/officeDocument/2006/relationships/oleObject" Target="../embeddings/oleObject20.bin"/><Relationship Id="rId35" Type="http://schemas.openxmlformats.org/officeDocument/2006/relationships/image" Target="../media/image22.emf"/><Relationship Id="rId43" Type="http://schemas.openxmlformats.org/officeDocument/2006/relationships/image" Target="../media/image26.emf"/><Relationship Id="rId48" Type="http://schemas.openxmlformats.org/officeDocument/2006/relationships/oleObject" Target="../embeddings/oleObject29.bin"/><Relationship Id="rId56" Type="http://schemas.openxmlformats.org/officeDocument/2006/relationships/oleObject" Target="../embeddings/oleObject33.bin"/><Relationship Id="rId64" Type="http://schemas.openxmlformats.org/officeDocument/2006/relationships/oleObject" Target="../embeddings/oleObject37.bin"/><Relationship Id="rId8" Type="http://schemas.openxmlformats.org/officeDocument/2006/relationships/oleObject" Target="../embeddings/oleObject9.bin"/><Relationship Id="rId51" Type="http://schemas.openxmlformats.org/officeDocument/2006/relationships/image" Target="../media/image30.emf"/><Relationship Id="rId3" Type="http://schemas.openxmlformats.org/officeDocument/2006/relationships/notesSlide" Target="../notesSlides/notesSlide1.xml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3.emf"/><Relationship Id="rId25" Type="http://schemas.openxmlformats.org/officeDocument/2006/relationships/image" Target="../media/image17.emf"/><Relationship Id="rId33" Type="http://schemas.openxmlformats.org/officeDocument/2006/relationships/image" Target="../media/image21.emf"/><Relationship Id="rId38" Type="http://schemas.openxmlformats.org/officeDocument/2006/relationships/oleObject" Target="../embeddings/oleObject24.bin"/><Relationship Id="rId46" Type="http://schemas.openxmlformats.org/officeDocument/2006/relationships/oleObject" Target="../embeddings/oleObject28.bin"/><Relationship Id="rId59" Type="http://schemas.openxmlformats.org/officeDocument/2006/relationships/image" Target="../media/image34.emf"/><Relationship Id="rId20" Type="http://schemas.openxmlformats.org/officeDocument/2006/relationships/oleObject" Target="../embeddings/oleObject15.bin"/><Relationship Id="rId41" Type="http://schemas.openxmlformats.org/officeDocument/2006/relationships/image" Target="../media/image25.emf"/><Relationship Id="rId54" Type="http://schemas.openxmlformats.org/officeDocument/2006/relationships/oleObject" Target="../embeddings/oleObject32.bin"/><Relationship Id="rId62" Type="http://schemas.openxmlformats.org/officeDocument/2006/relationships/oleObject" Target="../embeddings/oleObject36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15" Type="http://schemas.openxmlformats.org/officeDocument/2006/relationships/image" Target="../media/image12.emf"/><Relationship Id="rId23" Type="http://schemas.openxmlformats.org/officeDocument/2006/relationships/image" Target="../media/image16.emf"/><Relationship Id="rId28" Type="http://schemas.openxmlformats.org/officeDocument/2006/relationships/oleObject" Target="../embeddings/oleObject19.bin"/><Relationship Id="rId36" Type="http://schemas.openxmlformats.org/officeDocument/2006/relationships/oleObject" Target="../embeddings/oleObject23.bin"/><Relationship Id="rId49" Type="http://schemas.openxmlformats.org/officeDocument/2006/relationships/image" Target="../media/image29.emf"/><Relationship Id="rId57" Type="http://schemas.openxmlformats.org/officeDocument/2006/relationships/image" Target="../media/image33.emf"/><Relationship Id="rId10" Type="http://schemas.openxmlformats.org/officeDocument/2006/relationships/oleObject" Target="../embeddings/oleObject10.bin"/><Relationship Id="rId31" Type="http://schemas.openxmlformats.org/officeDocument/2006/relationships/image" Target="../media/image20.emf"/><Relationship Id="rId44" Type="http://schemas.openxmlformats.org/officeDocument/2006/relationships/oleObject" Target="../embeddings/oleObject27.bin"/><Relationship Id="rId52" Type="http://schemas.openxmlformats.org/officeDocument/2006/relationships/oleObject" Target="../embeddings/oleObject31.bin"/><Relationship Id="rId60" Type="http://schemas.openxmlformats.org/officeDocument/2006/relationships/oleObject" Target="../embeddings/oleObject35.bin"/><Relationship Id="rId65" Type="http://schemas.openxmlformats.org/officeDocument/2006/relationships/image" Target="../media/image37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9.emf"/><Relationship Id="rId13" Type="http://schemas.openxmlformats.org/officeDocument/2006/relationships/image" Target="../media/image11.emf"/><Relationship Id="rId18" Type="http://schemas.openxmlformats.org/officeDocument/2006/relationships/oleObject" Target="../embeddings/oleObject14.bin"/><Relationship Id="rId39" Type="http://schemas.openxmlformats.org/officeDocument/2006/relationships/image" Target="../media/image24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8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42.emf"/><Relationship Id="rId4" Type="http://schemas.openxmlformats.org/officeDocument/2006/relationships/image" Target="../media/image39.emf"/><Relationship Id="rId9" Type="http://schemas.openxmlformats.org/officeDocument/2006/relationships/oleObject" Target="../embeddings/oleObject42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8.bin"/><Relationship Id="rId18" Type="http://schemas.openxmlformats.org/officeDocument/2006/relationships/image" Target="../media/image50.emf"/><Relationship Id="rId26" Type="http://schemas.openxmlformats.org/officeDocument/2006/relationships/image" Target="../media/image54.emf"/><Relationship Id="rId39" Type="http://schemas.openxmlformats.org/officeDocument/2006/relationships/oleObject" Target="../embeddings/oleObject61.bin"/><Relationship Id="rId21" Type="http://schemas.openxmlformats.org/officeDocument/2006/relationships/oleObject" Target="../embeddings/oleObject52.bin"/><Relationship Id="rId34" Type="http://schemas.openxmlformats.org/officeDocument/2006/relationships/image" Target="../media/image58.emf"/><Relationship Id="rId42" Type="http://schemas.openxmlformats.org/officeDocument/2006/relationships/image" Target="../media/image62.emf"/><Relationship Id="rId47" Type="http://schemas.openxmlformats.org/officeDocument/2006/relationships/oleObject" Target="../embeddings/oleObject65.bin"/><Relationship Id="rId50" Type="http://schemas.openxmlformats.org/officeDocument/2006/relationships/image" Target="../media/image66.emf"/><Relationship Id="rId55" Type="http://schemas.openxmlformats.org/officeDocument/2006/relationships/oleObject" Target="../embeddings/oleObject69.bin"/><Relationship Id="rId7" Type="http://schemas.openxmlformats.org/officeDocument/2006/relationships/oleObject" Target="../embeddings/oleObject4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9.emf"/><Relationship Id="rId29" Type="http://schemas.openxmlformats.org/officeDocument/2006/relationships/oleObject" Target="../embeddings/oleObject56.bin"/><Relationship Id="rId11" Type="http://schemas.openxmlformats.org/officeDocument/2006/relationships/oleObject" Target="../embeddings/oleObject47.bin"/><Relationship Id="rId24" Type="http://schemas.openxmlformats.org/officeDocument/2006/relationships/image" Target="../media/image53.emf"/><Relationship Id="rId32" Type="http://schemas.openxmlformats.org/officeDocument/2006/relationships/image" Target="../media/image57.emf"/><Relationship Id="rId37" Type="http://schemas.openxmlformats.org/officeDocument/2006/relationships/oleObject" Target="../embeddings/oleObject60.bin"/><Relationship Id="rId40" Type="http://schemas.openxmlformats.org/officeDocument/2006/relationships/image" Target="../media/image61.emf"/><Relationship Id="rId45" Type="http://schemas.openxmlformats.org/officeDocument/2006/relationships/oleObject" Target="../embeddings/oleObject64.bin"/><Relationship Id="rId53" Type="http://schemas.openxmlformats.org/officeDocument/2006/relationships/oleObject" Target="../embeddings/oleObject68.bin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46.emf"/><Relationship Id="rId19" Type="http://schemas.openxmlformats.org/officeDocument/2006/relationships/oleObject" Target="../embeddings/oleObject51.bin"/><Relationship Id="rId31" Type="http://schemas.openxmlformats.org/officeDocument/2006/relationships/oleObject" Target="../embeddings/oleObject57.bin"/><Relationship Id="rId44" Type="http://schemas.openxmlformats.org/officeDocument/2006/relationships/image" Target="../media/image63.emf"/><Relationship Id="rId52" Type="http://schemas.openxmlformats.org/officeDocument/2006/relationships/image" Target="../media/image67.emf"/><Relationship Id="rId4" Type="http://schemas.openxmlformats.org/officeDocument/2006/relationships/image" Target="../media/image43.e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48.emf"/><Relationship Id="rId22" Type="http://schemas.openxmlformats.org/officeDocument/2006/relationships/image" Target="../media/image52.emf"/><Relationship Id="rId27" Type="http://schemas.openxmlformats.org/officeDocument/2006/relationships/oleObject" Target="../embeddings/oleObject55.bin"/><Relationship Id="rId30" Type="http://schemas.openxmlformats.org/officeDocument/2006/relationships/image" Target="../media/image56.emf"/><Relationship Id="rId35" Type="http://schemas.openxmlformats.org/officeDocument/2006/relationships/oleObject" Target="../embeddings/oleObject59.bin"/><Relationship Id="rId43" Type="http://schemas.openxmlformats.org/officeDocument/2006/relationships/oleObject" Target="../embeddings/oleObject63.bin"/><Relationship Id="rId48" Type="http://schemas.openxmlformats.org/officeDocument/2006/relationships/image" Target="../media/image65.emf"/><Relationship Id="rId56" Type="http://schemas.openxmlformats.org/officeDocument/2006/relationships/image" Target="../media/image69.emf"/><Relationship Id="rId8" Type="http://schemas.openxmlformats.org/officeDocument/2006/relationships/image" Target="../media/image45.emf"/><Relationship Id="rId51" Type="http://schemas.openxmlformats.org/officeDocument/2006/relationships/oleObject" Target="../embeddings/oleObject67.bin"/><Relationship Id="rId3" Type="http://schemas.openxmlformats.org/officeDocument/2006/relationships/oleObject" Target="../embeddings/oleObject43.bin"/><Relationship Id="rId12" Type="http://schemas.openxmlformats.org/officeDocument/2006/relationships/image" Target="../media/image47.emf"/><Relationship Id="rId17" Type="http://schemas.openxmlformats.org/officeDocument/2006/relationships/oleObject" Target="../embeddings/oleObject50.bin"/><Relationship Id="rId25" Type="http://schemas.openxmlformats.org/officeDocument/2006/relationships/oleObject" Target="../embeddings/oleObject54.bin"/><Relationship Id="rId33" Type="http://schemas.openxmlformats.org/officeDocument/2006/relationships/oleObject" Target="../embeddings/oleObject58.bin"/><Relationship Id="rId38" Type="http://schemas.openxmlformats.org/officeDocument/2006/relationships/image" Target="../media/image60.emf"/><Relationship Id="rId46" Type="http://schemas.openxmlformats.org/officeDocument/2006/relationships/image" Target="../media/image64.emf"/><Relationship Id="rId20" Type="http://schemas.openxmlformats.org/officeDocument/2006/relationships/image" Target="../media/image51.emf"/><Relationship Id="rId41" Type="http://schemas.openxmlformats.org/officeDocument/2006/relationships/oleObject" Target="../embeddings/oleObject62.bin"/><Relationship Id="rId54" Type="http://schemas.openxmlformats.org/officeDocument/2006/relationships/image" Target="../media/image68.e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44.emf"/><Relationship Id="rId15" Type="http://schemas.openxmlformats.org/officeDocument/2006/relationships/oleObject" Target="../embeddings/oleObject49.bin"/><Relationship Id="rId23" Type="http://schemas.openxmlformats.org/officeDocument/2006/relationships/oleObject" Target="../embeddings/oleObject53.bin"/><Relationship Id="rId28" Type="http://schemas.openxmlformats.org/officeDocument/2006/relationships/image" Target="../media/image55.emf"/><Relationship Id="rId36" Type="http://schemas.openxmlformats.org/officeDocument/2006/relationships/image" Target="../media/image59.emf"/><Relationship Id="rId49" Type="http://schemas.openxmlformats.org/officeDocument/2006/relationships/oleObject" Target="../embeddings/oleObject66.bin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3.emf"/><Relationship Id="rId18" Type="http://schemas.openxmlformats.org/officeDocument/2006/relationships/oleObject" Target="../embeddings/oleObject76.bin"/><Relationship Id="rId26" Type="http://schemas.openxmlformats.org/officeDocument/2006/relationships/oleObject" Target="../embeddings/oleObject80.bin"/><Relationship Id="rId3" Type="http://schemas.openxmlformats.org/officeDocument/2006/relationships/audio" Target="../media/audio1.wav"/><Relationship Id="rId21" Type="http://schemas.openxmlformats.org/officeDocument/2006/relationships/image" Target="../media/image77.emf"/><Relationship Id="rId34" Type="http://schemas.openxmlformats.org/officeDocument/2006/relationships/oleObject" Target="../embeddings/oleObject84.bin"/><Relationship Id="rId7" Type="http://schemas.openxmlformats.org/officeDocument/2006/relationships/image" Target="../media/image70.emf"/><Relationship Id="rId12" Type="http://schemas.openxmlformats.org/officeDocument/2006/relationships/oleObject" Target="../embeddings/oleObject73.bin"/><Relationship Id="rId17" Type="http://schemas.openxmlformats.org/officeDocument/2006/relationships/image" Target="../media/image75.wmf"/><Relationship Id="rId25" Type="http://schemas.openxmlformats.org/officeDocument/2006/relationships/image" Target="../media/image79.emf"/><Relationship Id="rId33" Type="http://schemas.openxmlformats.org/officeDocument/2006/relationships/image" Target="../media/image8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5.bin"/><Relationship Id="rId20" Type="http://schemas.openxmlformats.org/officeDocument/2006/relationships/oleObject" Target="../embeddings/oleObject77.bin"/><Relationship Id="rId29" Type="http://schemas.openxmlformats.org/officeDocument/2006/relationships/image" Target="../media/image81.wmf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0.bin"/><Relationship Id="rId11" Type="http://schemas.openxmlformats.org/officeDocument/2006/relationships/image" Target="../media/image72.emf"/><Relationship Id="rId24" Type="http://schemas.openxmlformats.org/officeDocument/2006/relationships/oleObject" Target="../embeddings/oleObject79.bin"/><Relationship Id="rId32" Type="http://schemas.openxmlformats.org/officeDocument/2006/relationships/oleObject" Target="../embeddings/oleObject83.bin"/><Relationship Id="rId5" Type="http://schemas.openxmlformats.org/officeDocument/2006/relationships/audio" Target="../media/audio3.wav"/><Relationship Id="rId15" Type="http://schemas.openxmlformats.org/officeDocument/2006/relationships/image" Target="../media/image74.emf"/><Relationship Id="rId23" Type="http://schemas.openxmlformats.org/officeDocument/2006/relationships/image" Target="../media/image78.emf"/><Relationship Id="rId28" Type="http://schemas.openxmlformats.org/officeDocument/2006/relationships/oleObject" Target="../embeddings/oleObject81.bin"/><Relationship Id="rId10" Type="http://schemas.openxmlformats.org/officeDocument/2006/relationships/oleObject" Target="../embeddings/oleObject72.bin"/><Relationship Id="rId19" Type="http://schemas.openxmlformats.org/officeDocument/2006/relationships/image" Target="../media/image76.emf"/><Relationship Id="rId31" Type="http://schemas.openxmlformats.org/officeDocument/2006/relationships/image" Target="../media/image82.wmf"/><Relationship Id="rId4" Type="http://schemas.openxmlformats.org/officeDocument/2006/relationships/audio" Target="../media/audio2.wav"/><Relationship Id="rId9" Type="http://schemas.openxmlformats.org/officeDocument/2006/relationships/image" Target="../media/image71.emf"/><Relationship Id="rId14" Type="http://schemas.openxmlformats.org/officeDocument/2006/relationships/oleObject" Target="../embeddings/oleObject74.bin"/><Relationship Id="rId22" Type="http://schemas.openxmlformats.org/officeDocument/2006/relationships/oleObject" Target="../embeddings/oleObject78.bin"/><Relationship Id="rId27" Type="http://schemas.openxmlformats.org/officeDocument/2006/relationships/image" Target="../media/image80.wmf"/><Relationship Id="rId30" Type="http://schemas.openxmlformats.org/officeDocument/2006/relationships/oleObject" Target="../embeddings/oleObject82.bin"/><Relationship Id="rId35" Type="http://schemas.openxmlformats.org/officeDocument/2006/relationships/image" Target="../media/image84.wmf"/><Relationship Id="rId8" Type="http://schemas.openxmlformats.org/officeDocument/2006/relationships/oleObject" Target="../embeddings/oleObject71.bin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0.bin"/><Relationship Id="rId18" Type="http://schemas.openxmlformats.org/officeDocument/2006/relationships/image" Target="../media/image92.emf"/><Relationship Id="rId26" Type="http://schemas.openxmlformats.org/officeDocument/2006/relationships/image" Target="../media/image96.emf"/><Relationship Id="rId3" Type="http://schemas.openxmlformats.org/officeDocument/2006/relationships/oleObject" Target="../embeddings/oleObject85.bin"/><Relationship Id="rId21" Type="http://schemas.openxmlformats.org/officeDocument/2006/relationships/oleObject" Target="../embeddings/oleObject94.bin"/><Relationship Id="rId34" Type="http://schemas.openxmlformats.org/officeDocument/2006/relationships/image" Target="../media/image100.emf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89.emf"/><Relationship Id="rId17" Type="http://schemas.openxmlformats.org/officeDocument/2006/relationships/oleObject" Target="../embeddings/oleObject92.bin"/><Relationship Id="rId25" Type="http://schemas.openxmlformats.org/officeDocument/2006/relationships/oleObject" Target="../embeddings/oleObject96.bin"/><Relationship Id="rId33" Type="http://schemas.openxmlformats.org/officeDocument/2006/relationships/oleObject" Target="../embeddings/oleObject1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1.emf"/><Relationship Id="rId20" Type="http://schemas.openxmlformats.org/officeDocument/2006/relationships/image" Target="../media/image93.emf"/><Relationship Id="rId29" Type="http://schemas.openxmlformats.org/officeDocument/2006/relationships/oleObject" Target="../embeddings/oleObject98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86.emf"/><Relationship Id="rId11" Type="http://schemas.openxmlformats.org/officeDocument/2006/relationships/oleObject" Target="../embeddings/oleObject89.bin"/><Relationship Id="rId24" Type="http://schemas.openxmlformats.org/officeDocument/2006/relationships/image" Target="../media/image95.emf"/><Relationship Id="rId32" Type="http://schemas.openxmlformats.org/officeDocument/2006/relationships/image" Target="../media/image99.emf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91.bin"/><Relationship Id="rId23" Type="http://schemas.openxmlformats.org/officeDocument/2006/relationships/oleObject" Target="../embeddings/oleObject95.bin"/><Relationship Id="rId28" Type="http://schemas.openxmlformats.org/officeDocument/2006/relationships/image" Target="../media/image97.emf"/><Relationship Id="rId10" Type="http://schemas.openxmlformats.org/officeDocument/2006/relationships/image" Target="../media/image88.emf"/><Relationship Id="rId19" Type="http://schemas.openxmlformats.org/officeDocument/2006/relationships/oleObject" Target="../embeddings/oleObject93.bin"/><Relationship Id="rId31" Type="http://schemas.openxmlformats.org/officeDocument/2006/relationships/oleObject" Target="../embeddings/oleObject99.bin"/><Relationship Id="rId4" Type="http://schemas.openxmlformats.org/officeDocument/2006/relationships/image" Target="../media/image85.e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90.emf"/><Relationship Id="rId22" Type="http://schemas.openxmlformats.org/officeDocument/2006/relationships/image" Target="../media/image94.emf"/><Relationship Id="rId27" Type="http://schemas.openxmlformats.org/officeDocument/2006/relationships/oleObject" Target="../embeddings/oleObject97.bin"/><Relationship Id="rId30" Type="http://schemas.openxmlformats.org/officeDocument/2006/relationships/image" Target="../media/image98.emf"/><Relationship Id="rId8" Type="http://schemas.openxmlformats.org/officeDocument/2006/relationships/image" Target="../media/image87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emf"/><Relationship Id="rId13" Type="http://schemas.openxmlformats.org/officeDocument/2006/relationships/oleObject" Target="../embeddings/oleObject106.bin"/><Relationship Id="rId18" Type="http://schemas.openxmlformats.org/officeDocument/2006/relationships/image" Target="../media/image108.emf"/><Relationship Id="rId26" Type="http://schemas.openxmlformats.org/officeDocument/2006/relationships/image" Target="../media/image112.emf"/><Relationship Id="rId3" Type="http://schemas.openxmlformats.org/officeDocument/2006/relationships/oleObject" Target="../embeddings/oleObject101.bin"/><Relationship Id="rId21" Type="http://schemas.openxmlformats.org/officeDocument/2006/relationships/oleObject" Target="../embeddings/oleObject110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105.emf"/><Relationship Id="rId17" Type="http://schemas.openxmlformats.org/officeDocument/2006/relationships/oleObject" Target="../embeddings/oleObject108.bin"/><Relationship Id="rId25" Type="http://schemas.openxmlformats.org/officeDocument/2006/relationships/oleObject" Target="../embeddings/oleObject11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7.emf"/><Relationship Id="rId20" Type="http://schemas.openxmlformats.org/officeDocument/2006/relationships/image" Target="../media/image109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102.emf"/><Relationship Id="rId11" Type="http://schemas.openxmlformats.org/officeDocument/2006/relationships/oleObject" Target="../embeddings/oleObject105.bin"/><Relationship Id="rId24" Type="http://schemas.openxmlformats.org/officeDocument/2006/relationships/image" Target="../media/image111.emf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07.bin"/><Relationship Id="rId23" Type="http://schemas.openxmlformats.org/officeDocument/2006/relationships/oleObject" Target="../embeddings/oleObject111.bin"/><Relationship Id="rId28" Type="http://schemas.openxmlformats.org/officeDocument/2006/relationships/image" Target="../media/image113.emf"/><Relationship Id="rId10" Type="http://schemas.openxmlformats.org/officeDocument/2006/relationships/image" Target="../media/image104.emf"/><Relationship Id="rId19" Type="http://schemas.openxmlformats.org/officeDocument/2006/relationships/oleObject" Target="../embeddings/oleObject109.bin"/><Relationship Id="rId4" Type="http://schemas.openxmlformats.org/officeDocument/2006/relationships/image" Target="../media/image101.e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106.emf"/><Relationship Id="rId22" Type="http://schemas.openxmlformats.org/officeDocument/2006/relationships/image" Target="../media/image110.emf"/><Relationship Id="rId27" Type="http://schemas.openxmlformats.org/officeDocument/2006/relationships/oleObject" Target="../embeddings/oleObject11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5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emf"/><Relationship Id="rId13" Type="http://schemas.openxmlformats.org/officeDocument/2006/relationships/oleObject" Target="../embeddings/oleObject119.bin"/><Relationship Id="rId18" Type="http://schemas.openxmlformats.org/officeDocument/2006/relationships/image" Target="../media/image123.emf"/><Relationship Id="rId3" Type="http://schemas.openxmlformats.org/officeDocument/2006/relationships/oleObject" Target="../embeddings/oleObject114.bin"/><Relationship Id="rId21" Type="http://schemas.openxmlformats.org/officeDocument/2006/relationships/oleObject" Target="../embeddings/oleObject123.bin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120.emf"/><Relationship Id="rId17" Type="http://schemas.openxmlformats.org/officeDocument/2006/relationships/oleObject" Target="../embeddings/oleObject12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2.emf"/><Relationship Id="rId20" Type="http://schemas.openxmlformats.org/officeDocument/2006/relationships/image" Target="../media/image124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117.emf"/><Relationship Id="rId11" Type="http://schemas.openxmlformats.org/officeDocument/2006/relationships/oleObject" Target="../embeddings/oleObject118.bin"/><Relationship Id="rId5" Type="http://schemas.openxmlformats.org/officeDocument/2006/relationships/oleObject" Target="../embeddings/oleObject115.bin"/><Relationship Id="rId15" Type="http://schemas.openxmlformats.org/officeDocument/2006/relationships/oleObject" Target="../embeddings/oleObject120.bin"/><Relationship Id="rId10" Type="http://schemas.openxmlformats.org/officeDocument/2006/relationships/image" Target="../media/image119.emf"/><Relationship Id="rId19" Type="http://schemas.openxmlformats.org/officeDocument/2006/relationships/oleObject" Target="../embeddings/oleObject122.bin"/><Relationship Id="rId4" Type="http://schemas.openxmlformats.org/officeDocument/2006/relationships/image" Target="../media/image116.emf"/><Relationship Id="rId9" Type="http://schemas.openxmlformats.org/officeDocument/2006/relationships/oleObject" Target="../embeddings/oleObject117.bin"/><Relationship Id="rId14" Type="http://schemas.openxmlformats.org/officeDocument/2006/relationships/image" Target="../media/image121.emf"/><Relationship Id="rId22" Type="http://schemas.openxmlformats.org/officeDocument/2006/relationships/image" Target="../media/image125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3" Type="http://schemas.openxmlformats.org/officeDocument/2006/relationships/oleObject" Target="../embeddings/oleObject124.bin"/><Relationship Id="rId7" Type="http://schemas.openxmlformats.org/officeDocument/2006/relationships/oleObject" Target="../embeddings/oleObject1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27.wmf"/><Relationship Id="rId5" Type="http://schemas.openxmlformats.org/officeDocument/2006/relationships/oleObject" Target="../embeddings/oleObject125.bin"/><Relationship Id="rId10" Type="http://schemas.openxmlformats.org/officeDocument/2006/relationships/image" Target="../media/image129.wmf"/><Relationship Id="rId4" Type="http://schemas.openxmlformats.org/officeDocument/2006/relationships/image" Target="../media/image126.wmf"/><Relationship Id="rId9" Type="http://schemas.openxmlformats.org/officeDocument/2006/relationships/oleObject" Target="../embeddings/oleObject127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12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32.png"/><Relationship Id="rId5" Type="http://schemas.openxmlformats.org/officeDocument/2006/relationships/image" Target="../media/image130.wmf"/><Relationship Id="rId4" Type="http://schemas.openxmlformats.org/officeDocument/2006/relationships/oleObject" Target="../embeddings/oleObject128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5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2.bin"/><Relationship Id="rId3" Type="http://schemas.openxmlformats.org/officeDocument/2006/relationships/image" Target="../media/image136.jpeg"/><Relationship Id="rId7" Type="http://schemas.openxmlformats.org/officeDocument/2006/relationships/image" Target="../media/image13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31.bin"/><Relationship Id="rId5" Type="http://schemas.openxmlformats.org/officeDocument/2006/relationships/image" Target="../media/image133.wmf"/><Relationship Id="rId4" Type="http://schemas.openxmlformats.org/officeDocument/2006/relationships/oleObject" Target="../embeddings/oleObject130.bin"/><Relationship Id="rId9" Type="http://schemas.openxmlformats.org/officeDocument/2006/relationships/image" Target="../media/image135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34.bin"/><Relationship Id="rId4" Type="http://schemas.openxmlformats.org/officeDocument/2006/relationships/image" Target="../media/image137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13" Type="http://schemas.openxmlformats.org/officeDocument/2006/relationships/oleObject" Target="../embeddings/oleObject141.bin"/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38.bin"/><Relationship Id="rId12" Type="http://schemas.openxmlformats.org/officeDocument/2006/relationships/image" Target="../media/image14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41.wmf"/><Relationship Id="rId11" Type="http://schemas.openxmlformats.org/officeDocument/2006/relationships/oleObject" Target="../embeddings/oleObject140.bin"/><Relationship Id="rId5" Type="http://schemas.openxmlformats.org/officeDocument/2006/relationships/oleObject" Target="../embeddings/oleObject137.bin"/><Relationship Id="rId10" Type="http://schemas.openxmlformats.org/officeDocument/2006/relationships/image" Target="../media/image143.wmf"/><Relationship Id="rId4" Type="http://schemas.openxmlformats.org/officeDocument/2006/relationships/image" Target="../media/image140.wmf"/><Relationship Id="rId9" Type="http://schemas.openxmlformats.org/officeDocument/2006/relationships/oleObject" Target="../embeddings/oleObject139.bin"/><Relationship Id="rId14" Type="http://schemas.openxmlformats.org/officeDocument/2006/relationships/image" Target="../media/image145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oleObject" Target="../embeddings/oleObject147.bin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5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2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47.wmf"/><Relationship Id="rId11" Type="http://schemas.openxmlformats.org/officeDocument/2006/relationships/oleObject" Target="../embeddings/oleObject146.bin"/><Relationship Id="rId5" Type="http://schemas.openxmlformats.org/officeDocument/2006/relationships/oleObject" Target="../embeddings/oleObject143.bin"/><Relationship Id="rId15" Type="http://schemas.openxmlformats.org/officeDocument/2006/relationships/oleObject" Target="../embeddings/oleObject148.bin"/><Relationship Id="rId10" Type="http://schemas.openxmlformats.org/officeDocument/2006/relationships/image" Target="../media/image149.wmf"/><Relationship Id="rId4" Type="http://schemas.openxmlformats.org/officeDocument/2006/relationships/image" Target="../media/image146.wmf"/><Relationship Id="rId9" Type="http://schemas.openxmlformats.org/officeDocument/2006/relationships/oleObject" Target="../embeddings/oleObject145.bin"/><Relationship Id="rId14" Type="http://schemas.openxmlformats.org/officeDocument/2006/relationships/image" Target="../media/image151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emf"/><Relationship Id="rId3" Type="http://schemas.openxmlformats.org/officeDocument/2006/relationships/image" Target="../media/image154.emf"/><Relationship Id="rId7" Type="http://schemas.openxmlformats.org/officeDocument/2006/relationships/image" Target="../media/image158.emf"/><Relationship Id="rId2" Type="http://schemas.openxmlformats.org/officeDocument/2006/relationships/image" Target="../media/image15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emf"/><Relationship Id="rId11" Type="http://schemas.openxmlformats.org/officeDocument/2006/relationships/image" Target="../media/image162.emf"/><Relationship Id="rId5" Type="http://schemas.openxmlformats.org/officeDocument/2006/relationships/image" Target="../media/image156.emf"/><Relationship Id="rId10" Type="http://schemas.openxmlformats.org/officeDocument/2006/relationships/image" Target="../media/image161.emf"/><Relationship Id="rId4" Type="http://schemas.openxmlformats.org/officeDocument/2006/relationships/image" Target="../media/image155.emf"/><Relationship Id="rId9" Type="http://schemas.openxmlformats.org/officeDocument/2006/relationships/image" Target="../media/image160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emf"/><Relationship Id="rId13" Type="http://schemas.openxmlformats.org/officeDocument/2006/relationships/image" Target="../media/image174.emf"/><Relationship Id="rId3" Type="http://schemas.openxmlformats.org/officeDocument/2006/relationships/image" Target="../media/image164.emf"/><Relationship Id="rId7" Type="http://schemas.openxmlformats.org/officeDocument/2006/relationships/image" Target="../media/image168.emf"/><Relationship Id="rId12" Type="http://schemas.openxmlformats.org/officeDocument/2006/relationships/image" Target="../media/image173.emf"/><Relationship Id="rId2" Type="http://schemas.openxmlformats.org/officeDocument/2006/relationships/image" Target="../media/image16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7.emf"/><Relationship Id="rId11" Type="http://schemas.openxmlformats.org/officeDocument/2006/relationships/image" Target="../media/image172.emf"/><Relationship Id="rId5" Type="http://schemas.openxmlformats.org/officeDocument/2006/relationships/image" Target="../media/image166.emf"/><Relationship Id="rId15" Type="http://schemas.openxmlformats.org/officeDocument/2006/relationships/image" Target="../media/image176.emf"/><Relationship Id="rId10" Type="http://schemas.openxmlformats.org/officeDocument/2006/relationships/image" Target="../media/image171.emf"/><Relationship Id="rId4" Type="http://schemas.openxmlformats.org/officeDocument/2006/relationships/image" Target="../media/image165.emf"/><Relationship Id="rId9" Type="http://schemas.openxmlformats.org/officeDocument/2006/relationships/image" Target="../media/image170.emf"/><Relationship Id="rId14" Type="http://schemas.openxmlformats.org/officeDocument/2006/relationships/image" Target="../media/image175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wmf"/><Relationship Id="rId3" Type="http://schemas.openxmlformats.org/officeDocument/2006/relationships/image" Target="../media/image178.emf"/><Relationship Id="rId7" Type="http://schemas.openxmlformats.org/officeDocument/2006/relationships/image" Target="../media/image182.emf"/><Relationship Id="rId2" Type="http://schemas.openxmlformats.org/officeDocument/2006/relationships/image" Target="../media/image177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1.emf"/><Relationship Id="rId5" Type="http://schemas.openxmlformats.org/officeDocument/2006/relationships/image" Target="../media/image180.emf"/><Relationship Id="rId10" Type="http://schemas.openxmlformats.org/officeDocument/2006/relationships/image" Target="../media/image185.wmf"/><Relationship Id="rId4" Type="http://schemas.openxmlformats.org/officeDocument/2006/relationships/image" Target="../media/image179.emf"/><Relationship Id="rId9" Type="http://schemas.openxmlformats.org/officeDocument/2006/relationships/image" Target="../media/image18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emf"/><Relationship Id="rId2" Type="http://schemas.openxmlformats.org/officeDocument/2006/relationships/image" Target="../media/image18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0.wmf"/><Relationship Id="rId5" Type="http://schemas.openxmlformats.org/officeDocument/2006/relationships/image" Target="../media/image189.wmf"/><Relationship Id="rId4" Type="http://schemas.openxmlformats.org/officeDocument/2006/relationships/image" Target="../media/image188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emf"/><Relationship Id="rId2" Type="http://schemas.openxmlformats.org/officeDocument/2006/relationships/image" Target="../media/image19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3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wmf"/><Relationship Id="rId13" Type="http://schemas.openxmlformats.org/officeDocument/2006/relationships/image" Target="../media/image198.wmf"/><Relationship Id="rId18" Type="http://schemas.openxmlformats.org/officeDocument/2006/relationships/image" Target="../media/image200.wmf"/><Relationship Id="rId3" Type="http://schemas.openxmlformats.org/officeDocument/2006/relationships/oleObject" Target="../embeddings/oleObject149.bin"/><Relationship Id="rId21" Type="http://schemas.openxmlformats.org/officeDocument/2006/relationships/oleObject" Target="../embeddings/oleObject159.bin"/><Relationship Id="rId7" Type="http://schemas.openxmlformats.org/officeDocument/2006/relationships/oleObject" Target="../embeddings/oleObject151.bin"/><Relationship Id="rId12" Type="http://schemas.openxmlformats.org/officeDocument/2006/relationships/oleObject" Target="../embeddings/oleObject154.bin"/><Relationship Id="rId17" Type="http://schemas.openxmlformats.org/officeDocument/2006/relationships/oleObject" Target="../embeddings/oleObject15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9.wmf"/><Relationship Id="rId20" Type="http://schemas.openxmlformats.org/officeDocument/2006/relationships/image" Target="../media/image201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95.wmf"/><Relationship Id="rId11" Type="http://schemas.openxmlformats.org/officeDocument/2006/relationships/oleObject" Target="../embeddings/oleObject153.bin"/><Relationship Id="rId5" Type="http://schemas.openxmlformats.org/officeDocument/2006/relationships/oleObject" Target="../embeddings/oleObject150.bin"/><Relationship Id="rId15" Type="http://schemas.openxmlformats.org/officeDocument/2006/relationships/oleObject" Target="../embeddings/oleObject156.bin"/><Relationship Id="rId10" Type="http://schemas.openxmlformats.org/officeDocument/2006/relationships/image" Target="../media/image197.wmf"/><Relationship Id="rId19" Type="http://schemas.openxmlformats.org/officeDocument/2006/relationships/oleObject" Target="../embeddings/oleObject158.bin"/><Relationship Id="rId4" Type="http://schemas.openxmlformats.org/officeDocument/2006/relationships/image" Target="../media/image194.wmf"/><Relationship Id="rId9" Type="http://schemas.openxmlformats.org/officeDocument/2006/relationships/oleObject" Target="../embeddings/oleObject152.bin"/><Relationship Id="rId14" Type="http://schemas.openxmlformats.org/officeDocument/2006/relationships/oleObject" Target="../embeddings/oleObject155.bin"/><Relationship Id="rId22" Type="http://schemas.openxmlformats.org/officeDocument/2006/relationships/image" Target="../media/image202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2.bin"/><Relationship Id="rId3" Type="http://schemas.openxmlformats.org/officeDocument/2006/relationships/oleObject" Target="../embeddings/oleObject160.bin"/><Relationship Id="rId7" Type="http://schemas.openxmlformats.org/officeDocument/2006/relationships/image" Target="../media/image20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61.bin"/><Relationship Id="rId5" Type="http://schemas.openxmlformats.org/officeDocument/2006/relationships/image" Target="../media/image136.jpeg"/><Relationship Id="rId4" Type="http://schemas.openxmlformats.org/officeDocument/2006/relationships/image" Target="../media/image203.wmf"/><Relationship Id="rId9" Type="http://schemas.openxmlformats.org/officeDocument/2006/relationships/image" Target="../media/image205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5.bin"/><Relationship Id="rId13" Type="http://schemas.openxmlformats.org/officeDocument/2006/relationships/image" Target="../media/image210.wmf"/><Relationship Id="rId3" Type="http://schemas.openxmlformats.org/officeDocument/2006/relationships/image" Target="../media/image136.jpeg"/><Relationship Id="rId7" Type="http://schemas.openxmlformats.org/officeDocument/2006/relationships/image" Target="../media/image207.wmf"/><Relationship Id="rId12" Type="http://schemas.openxmlformats.org/officeDocument/2006/relationships/oleObject" Target="../embeddings/oleObject16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64.bin"/><Relationship Id="rId11" Type="http://schemas.openxmlformats.org/officeDocument/2006/relationships/image" Target="../media/image209.wmf"/><Relationship Id="rId5" Type="http://schemas.openxmlformats.org/officeDocument/2006/relationships/image" Target="../media/image206.wmf"/><Relationship Id="rId10" Type="http://schemas.openxmlformats.org/officeDocument/2006/relationships/oleObject" Target="../embeddings/oleObject166.bin"/><Relationship Id="rId4" Type="http://schemas.openxmlformats.org/officeDocument/2006/relationships/oleObject" Target="../embeddings/oleObject163.bin"/><Relationship Id="rId9" Type="http://schemas.openxmlformats.org/officeDocument/2006/relationships/image" Target="../media/image208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212.wmf"/><Relationship Id="rId5" Type="http://schemas.openxmlformats.org/officeDocument/2006/relationships/oleObject" Target="../embeddings/oleObject169.bin"/><Relationship Id="rId4" Type="http://schemas.openxmlformats.org/officeDocument/2006/relationships/image" Target="../media/image211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13" Type="http://schemas.openxmlformats.org/officeDocument/2006/relationships/oleObject" Target="../embeddings/oleObject175.bin"/><Relationship Id="rId3" Type="http://schemas.openxmlformats.org/officeDocument/2006/relationships/oleObject" Target="../embeddings/oleObject170.bin"/><Relationship Id="rId7" Type="http://schemas.openxmlformats.org/officeDocument/2006/relationships/oleObject" Target="../embeddings/oleObject172.bin"/><Relationship Id="rId12" Type="http://schemas.openxmlformats.org/officeDocument/2006/relationships/image" Target="../media/image21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214.wmf"/><Relationship Id="rId11" Type="http://schemas.openxmlformats.org/officeDocument/2006/relationships/oleObject" Target="../embeddings/oleObject174.bin"/><Relationship Id="rId5" Type="http://schemas.openxmlformats.org/officeDocument/2006/relationships/oleObject" Target="../embeddings/oleObject171.bin"/><Relationship Id="rId10" Type="http://schemas.openxmlformats.org/officeDocument/2006/relationships/image" Target="../media/image216.wmf"/><Relationship Id="rId4" Type="http://schemas.openxmlformats.org/officeDocument/2006/relationships/image" Target="../media/image213.wmf"/><Relationship Id="rId9" Type="http://schemas.openxmlformats.org/officeDocument/2006/relationships/oleObject" Target="../embeddings/oleObject173.bin"/><Relationship Id="rId14" Type="http://schemas.openxmlformats.org/officeDocument/2006/relationships/image" Target="../media/image218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wmf"/><Relationship Id="rId13" Type="http://schemas.openxmlformats.org/officeDocument/2006/relationships/oleObject" Target="../embeddings/oleObject181.bin"/><Relationship Id="rId3" Type="http://schemas.openxmlformats.org/officeDocument/2006/relationships/oleObject" Target="../embeddings/oleObject176.bin"/><Relationship Id="rId7" Type="http://schemas.openxmlformats.org/officeDocument/2006/relationships/oleObject" Target="../embeddings/oleObject178.bin"/><Relationship Id="rId12" Type="http://schemas.openxmlformats.org/officeDocument/2006/relationships/image" Target="../media/image2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20.wmf"/><Relationship Id="rId11" Type="http://schemas.openxmlformats.org/officeDocument/2006/relationships/oleObject" Target="../embeddings/oleObject180.bin"/><Relationship Id="rId5" Type="http://schemas.openxmlformats.org/officeDocument/2006/relationships/oleObject" Target="../embeddings/oleObject177.bin"/><Relationship Id="rId15" Type="http://schemas.openxmlformats.org/officeDocument/2006/relationships/image" Target="../media/image115.jpeg"/><Relationship Id="rId10" Type="http://schemas.openxmlformats.org/officeDocument/2006/relationships/image" Target="../media/image222.wmf"/><Relationship Id="rId4" Type="http://schemas.openxmlformats.org/officeDocument/2006/relationships/image" Target="../media/image219.wmf"/><Relationship Id="rId9" Type="http://schemas.openxmlformats.org/officeDocument/2006/relationships/oleObject" Target="../embeddings/oleObject179.bin"/><Relationship Id="rId14" Type="http://schemas.openxmlformats.org/officeDocument/2006/relationships/image" Target="../media/image224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13" Type="http://schemas.openxmlformats.org/officeDocument/2006/relationships/oleObject" Target="../embeddings/oleObject187.bin"/><Relationship Id="rId3" Type="http://schemas.openxmlformats.org/officeDocument/2006/relationships/oleObject" Target="../embeddings/oleObject182.bin"/><Relationship Id="rId7" Type="http://schemas.openxmlformats.org/officeDocument/2006/relationships/oleObject" Target="../embeddings/oleObject184.bin"/><Relationship Id="rId12" Type="http://schemas.openxmlformats.org/officeDocument/2006/relationships/image" Target="../media/image22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26.wmf"/><Relationship Id="rId11" Type="http://schemas.openxmlformats.org/officeDocument/2006/relationships/oleObject" Target="../embeddings/oleObject186.bin"/><Relationship Id="rId5" Type="http://schemas.openxmlformats.org/officeDocument/2006/relationships/oleObject" Target="../embeddings/oleObject183.bin"/><Relationship Id="rId10" Type="http://schemas.openxmlformats.org/officeDocument/2006/relationships/image" Target="../media/image228.wmf"/><Relationship Id="rId4" Type="http://schemas.openxmlformats.org/officeDocument/2006/relationships/image" Target="../media/image225.wmf"/><Relationship Id="rId9" Type="http://schemas.openxmlformats.org/officeDocument/2006/relationships/oleObject" Target="../embeddings/oleObject185.bin"/><Relationship Id="rId14" Type="http://schemas.openxmlformats.org/officeDocument/2006/relationships/image" Target="../media/image230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wmf"/><Relationship Id="rId3" Type="http://schemas.openxmlformats.org/officeDocument/2006/relationships/oleObject" Target="../embeddings/oleObject188.bin"/><Relationship Id="rId7" Type="http://schemas.openxmlformats.org/officeDocument/2006/relationships/oleObject" Target="../embeddings/oleObject190.bin"/><Relationship Id="rId12" Type="http://schemas.openxmlformats.org/officeDocument/2006/relationships/image" Target="../media/image23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32.wmf"/><Relationship Id="rId11" Type="http://schemas.openxmlformats.org/officeDocument/2006/relationships/oleObject" Target="../embeddings/oleObject192.bin"/><Relationship Id="rId5" Type="http://schemas.openxmlformats.org/officeDocument/2006/relationships/oleObject" Target="../embeddings/oleObject189.bin"/><Relationship Id="rId10" Type="http://schemas.openxmlformats.org/officeDocument/2006/relationships/image" Target="../media/image234.wmf"/><Relationship Id="rId4" Type="http://schemas.openxmlformats.org/officeDocument/2006/relationships/image" Target="../media/image231.wmf"/><Relationship Id="rId9" Type="http://schemas.openxmlformats.org/officeDocument/2006/relationships/oleObject" Target="../embeddings/oleObject191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wmf"/><Relationship Id="rId3" Type="http://schemas.openxmlformats.org/officeDocument/2006/relationships/oleObject" Target="../embeddings/oleObject193.bin"/><Relationship Id="rId7" Type="http://schemas.openxmlformats.org/officeDocument/2006/relationships/oleObject" Target="../embeddings/oleObject19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37.wmf"/><Relationship Id="rId5" Type="http://schemas.openxmlformats.org/officeDocument/2006/relationships/oleObject" Target="../embeddings/oleObject194.bin"/><Relationship Id="rId4" Type="http://schemas.openxmlformats.org/officeDocument/2006/relationships/image" Target="../media/image236.wmf"/><Relationship Id="rId9" Type="http://schemas.openxmlformats.org/officeDocument/2006/relationships/image" Target="../media/image136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239.wmf"/><Relationship Id="rId4" Type="http://schemas.openxmlformats.org/officeDocument/2006/relationships/oleObject" Target="../embeddings/oleObject196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wmf"/><Relationship Id="rId13" Type="http://schemas.openxmlformats.org/officeDocument/2006/relationships/oleObject" Target="../embeddings/oleObject202.bin"/><Relationship Id="rId3" Type="http://schemas.openxmlformats.org/officeDocument/2006/relationships/oleObject" Target="../embeddings/oleObject197.bin"/><Relationship Id="rId7" Type="http://schemas.openxmlformats.org/officeDocument/2006/relationships/oleObject" Target="../embeddings/oleObject199.bin"/><Relationship Id="rId12" Type="http://schemas.openxmlformats.org/officeDocument/2006/relationships/image" Target="../media/image24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41.wmf"/><Relationship Id="rId11" Type="http://schemas.openxmlformats.org/officeDocument/2006/relationships/oleObject" Target="../embeddings/oleObject201.bin"/><Relationship Id="rId5" Type="http://schemas.openxmlformats.org/officeDocument/2006/relationships/oleObject" Target="../embeddings/oleObject198.bin"/><Relationship Id="rId10" Type="http://schemas.openxmlformats.org/officeDocument/2006/relationships/image" Target="../media/image243.wmf"/><Relationship Id="rId4" Type="http://schemas.openxmlformats.org/officeDocument/2006/relationships/image" Target="../media/image240.wmf"/><Relationship Id="rId9" Type="http://schemas.openxmlformats.org/officeDocument/2006/relationships/oleObject" Target="../embeddings/oleObject200.bin"/><Relationship Id="rId14" Type="http://schemas.openxmlformats.org/officeDocument/2006/relationships/image" Target="../media/image245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wmf"/><Relationship Id="rId13" Type="http://schemas.openxmlformats.org/officeDocument/2006/relationships/oleObject" Target="../embeddings/oleObject208.bin"/><Relationship Id="rId3" Type="http://schemas.openxmlformats.org/officeDocument/2006/relationships/oleObject" Target="../embeddings/oleObject203.bin"/><Relationship Id="rId7" Type="http://schemas.openxmlformats.org/officeDocument/2006/relationships/oleObject" Target="../embeddings/oleObject205.bin"/><Relationship Id="rId12" Type="http://schemas.openxmlformats.org/officeDocument/2006/relationships/image" Target="../media/image23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51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47.wmf"/><Relationship Id="rId11" Type="http://schemas.openxmlformats.org/officeDocument/2006/relationships/oleObject" Target="../embeddings/oleObject207.bin"/><Relationship Id="rId5" Type="http://schemas.openxmlformats.org/officeDocument/2006/relationships/oleObject" Target="../embeddings/oleObject204.bin"/><Relationship Id="rId15" Type="http://schemas.openxmlformats.org/officeDocument/2006/relationships/oleObject" Target="../embeddings/oleObject209.bin"/><Relationship Id="rId10" Type="http://schemas.openxmlformats.org/officeDocument/2006/relationships/image" Target="../media/image249.wmf"/><Relationship Id="rId4" Type="http://schemas.openxmlformats.org/officeDocument/2006/relationships/image" Target="../media/image246.wmf"/><Relationship Id="rId9" Type="http://schemas.openxmlformats.org/officeDocument/2006/relationships/oleObject" Target="../embeddings/oleObject206.bin"/><Relationship Id="rId14" Type="http://schemas.openxmlformats.org/officeDocument/2006/relationships/image" Target="../media/image250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wmf"/><Relationship Id="rId3" Type="http://schemas.openxmlformats.org/officeDocument/2006/relationships/oleObject" Target="../embeddings/oleObject210.bin"/><Relationship Id="rId7" Type="http://schemas.openxmlformats.org/officeDocument/2006/relationships/oleObject" Target="../embeddings/oleObject2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53.wmf"/><Relationship Id="rId5" Type="http://schemas.openxmlformats.org/officeDocument/2006/relationships/oleObject" Target="../embeddings/oleObject211.bin"/><Relationship Id="rId10" Type="http://schemas.openxmlformats.org/officeDocument/2006/relationships/image" Target="../media/image255.wmf"/><Relationship Id="rId4" Type="http://schemas.openxmlformats.org/officeDocument/2006/relationships/image" Target="../media/image252.wmf"/><Relationship Id="rId9" Type="http://schemas.openxmlformats.org/officeDocument/2006/relationships/oleObject" Target="../embeddings/oleObject213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wmf"/><Relationship Id="rId3" Type="http://schemas.openxmlformats.org/officeDocument/2006/relationships/oleObject" Target="../embeddings/oleObject214.bin"/><Relationship Id="rId7" Type="http://schemas.openxmlformats.org/officeDocument/2006/relationships/oleObject" Target="../embeddings/oleObject2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57.wmf"/><Relationship Id="rId11" Type="http://schemas.openxmlformats.org/officeDocument/2006/relationships/image" Target="../media/image115.jpeg"/><Relationship Id="rId5" Type="http://schemas.openxmlformats.org/officeDocument/2006/relationships/oleObject" Target="../embeddings/oleObject215.bin"/><Relationship Id="rId10" Type="http://schemas.openxmlformats.org/officeDocument/2006/relationships/image" Target="../media/image259.wmf"/><Relationship Id="rId4" Type="http://schemas.openxmlformats.org/officeDocument/2006/relationships/image" Target="../media/image256.wmf"/><Relationship Id="rId9" Type="http://schemas.openxmlformats.org/officeDocument/2006/relationships/oleObject" Target="../embeddings/oleObject217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61.wmf"/><Relationship Id="rId5" Type="http://schemas.openxmlformats.org/officeDocument/2006/relationships/oleObject" Target="../embeddings/oleObject219.bin"/><Relationship Id="rId4" Type="http://schemas.openxmlformats.org/officeDocument/2006/relationships/image" Target="../media/image260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62.wmf"/><Relationship Id="rId5" Type="http://schemas.openxmlformats.org/officeDocument/2006/relationships/oleObject" Target="../embeddings/oleObject221.bin"/><Relationship Id="rId4" Type="http://schemas.openxmlformats.org/officeDocument/2006/relationships/image" Target="../media/image261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eg"/><Relationship Id="rId7" Type="http://schemas.openxmlformats.org/officeDocument/2006/relationships/image" Target="../media/image26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223.bin"/><Relationship Id="rId5" Type="http://schemas.openxmlformats.org/officeDocument/2006/relationships/image" Target="../media/image263.wmf"/><Relationship Id="rId4" Type="http://schemas.openxmlformats.org/officeDocument/2006/relationships/oleObject" Target="../embeddings/oleObject222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5" Type="http://schemas.openxmlformats.org/officeDocument/2006/relationships/image" Target="../media/image265.wmf"/><Relationship Id="rId4" Type="http://schemas.openxmlformats.org/officeDocument/2006/relationships/oleObject" Target="../embeddings/oleObject224.bin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第四章 方程求根的迭代法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李书杰</a:t>
            </a:r>
            <a:endParaRPr lang="en-US" altLang="zh-CN" dirty="0"/>
          </a:p>
          <a:p>
            <a:pPr eaLnBrk="1" hangingPunct="1"/>
            <a:r>
              <a:rPr lang="zh-CN" altLang="en-US" dirty="0"/>
              <a:t>合肥工业大学</a:t>
            </a: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228600"/>
            <a:ext cx="7010400" cy="15271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提纲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方程求根及二分法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迭代法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迭代过程的加速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牛顿法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44450"/>
            <a:ext cx="7772400" cy="620713"/>
          </a:xfrm>
        </p:spPr>
        <p:txBody>
          <a:bodyPr/>
          <a:lstStyle/>
          <a:p>
            <a:pPr algn="l" eaLnBrk="1" hangingPunct="1">
              <a:lnSpc>
                <a:spcPct val="110000"/>
              </a:lnSpc>
            </a:pPr>
            <a:r>
              <a:rPr lang="en-US" altLang="zh-CN" sz="2800" b="1">
                <a:solidFill>
                  <a:srgbClr val="FF0000"/>
                </a:solidFill>
                <a:ea typeface="黑体" panose="02010609060101010101" pitchFamily="49" charset="-122"/>
              </a:rPr>
              <a:t>4.1  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方程求根与二分法 </a:t>
            </a:r>
          </a:p>
        </p:txBody>
      </p:sp>
      <p:sp>
        <p:nvSpPr>
          <p:cNvPr id="1033" name="Text Box 3"/>
          <p:cNvSpPr txBox="1">
            <a:spLocks noChangeArrowheads="1"/>
          </p:cNvSpPr>
          <p:nvPr/>
        </p:nvSpPr>
        <p:spPr bwMode="auto">
          <a:xfrm>
            <a:off x="250825" y="549275"/>
            <a:ext cx="733107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4.1.1 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引言</a:t>
            </a:r>
          </a:p>
        </p:txBody>
      </p:sp>
      <p:grpSp>
        <p:nvGrpSpPr>
          <p:cNvPr id="2" name="Group 4"/>
          <p:cNvGrpSpPr/>
          <p:nvPr/>
        </p:nvGrpSpPr>
        <p:grpSpPr bwMode="auto">
          <a:xfrm>
            <a:off x="2454275" y="981075"/>
            <a:ext cx="5564188" cy="549275"/>
            <a:chOff x="1689" y="1900"/>
            <a:chExt cx="3505" cy="346"/>
          </a:xfrm>
        </p:grpSpPr>
        <p:graphicFrame>
          <p:nvGraphicFramePr>
            <p:cNvPr id="1031" name="Object 5"/>
            <p:cNvGraphicFramePr>
              <a:graphicFrameLocks noChangeAspect="1"/>
            </p:cNvGraphicFramePr>
            <p:nvPr/>
          </p:nvGraphicFramePr>
          <p:xfrm>
            <a:off x="1689" y="1988"/>
            <a:ext cx="893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3" name="公式" r:id="rId3" imgW="427990" imgH="146685" progId="Equation.3">
                    <p:embed/>
                  </p:oleObj>
                </mc:Choice>
                <mc:Fallback>
                  <p:oleObj name="公式" r:id="rId3" imgW="427990" imgH="146685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9" y="1988"/>
                          <a:ext cx="893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0" name="Text Box 6"/>
            <p:cNvSpPr txBox="1">
              <a:spLocks noChangeArrowheads="1"/>
            </p:cNvSpPr>
            <p:nvPr/>
          </p:nvSpPr>
          <p:spPr bwMode="auto">
            <a:xfrm>
              <a:off x="4556" y="1900"/>
              <a:ext cx="63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（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1.1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）</a:t>
              </a:r>
            </a:p>
          </p:txBody>
        </p:sp>
      </p:grpSp>
      <p:sp>
        <p:nvSpPr>
          <p:cNvPr id="56327" name="Text Box 7"/>
          <p:cNvSpPr txBox="1">
            <a:spLocks noChangeArrowheads="1"/>
          </p:cNvSpPr>
          <p:nvPr/>
        </p:nvSpPr>
        <p:spPr bwMode="auto">
          <a:xfrm>
            <a:off x="1908175" y="476250"/>
            <a:ext cx="432117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/>
              <a:t>单变量非线性方程的一般形式 </a:t>
            </a:r>
          </a:p>
        </p:txBody>
      </p:sp>
      <p:grpSp>
        <p:nvGrpSpPr>
          <p:cNvPr id="3" name="Group 8"/>
          <p:cNvGrpSpPr/>
          <p:nvPr/>
        </p:nvGrpSpPr>
        <p:grpSpPr bwMode="auto">
          <a:xfrm>
            <a:off x="539750" y="1314450"/>
            <a:ext cx="7546979" cy="644525"/>
            <a:chOff x="374" y="2246"/>
            <a:chExt cx="4754" cy="406"/>
          </a:xfrm>
        </p:grpSpPr>
        <p:sp>
          <p:nvSpPr>
            <p:cNvPr id="1049" name="Text Box 9"/>
            <p:cNvSpPr txBox="1">
              <a:spLocks noChangeArrowheads="1"/>
            </p:cNvSpPr>
            <p:nvPr/>
          </p:nvSpPr>
          <p:spPr bwMode="auto">
            <a:xfrm>
              <a:off x="374" y="2246"/>
              <a:ext cx="4754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dirty="0"/>
                <a:t>其中                          也可以是无穷区间</a:t>
              </a:r>
              <a:r>
                <a:rPr lang="en-US" altLang="zh-CN" dirty="0"/>
                <a:t>. </a:t>
              </a:r>
            </a:p>
          </p:txBody>
        </p:sp>
        <p:graphicFrame>
          <p:nvGraphicFramePr>
            <p:cNvPr id="1030" name="Object 10"/>
            <p:cNvGraphicFramePr>
              <a:graphicFrameLocks noChangeAspect="1"/>
            </p:cNvGraphicFramePr>
            <p:nvPr/>
          </p:nvGraphicFramePr>
          <p:xfrm>
            <a:off x="829" y="2377"/>
            <a:ext cx="2508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4" name="公式" r:id="rId5" imgW="1205230" imgH="146685" progId="Equation.3">
                    <p:embed/>
                  </p:oleObj>
                </mc:Choice>
                <mc:Fallback>
                  <p:oleObj name="公式" r:id="rId5" imgW="1205230" imgH="146685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9" y="2377"/>
                          <a:ext cx="2508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331" name="Text Box 11"/>
          <p:cNvSpPr txBox="1">
            <a:spLocks noChangeArrowheads="1"/>
          </p:cNvSpPr>
          <p:nvPr/>
        </p:nvSpPr>
        <p:spPr bwMode="auto">
          <a:xfrm>
            <a:off x="611188" y="2025650"/>
            <a:ext cx="6192837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是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高次多项式函数</a:t>
            </a:r>
            <a:r>
              <a:rPr lang="zh-CN" altLang="en-US">
                <a:latin typeface="Times New Roman" panose="02020603050405020304" pitchFamily="18" charset="0"/>
              </a:rPr>
              <a:t>或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超越函数</a:t>
            </a:r>
            <a:endParaRPr lang="zh-CN" altLang="en-US" baseline="3000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aphicFrame>
        <p:nvGraphicFramePr>
          <p:cNvPr id="56332" name="Object 12"/>
          <p:cNvGraphicFramePr>
            <a:graphicFrameLocks noChangeAspect="1"/>
          </p:cNvGraphicFramePr>
          <p:nvPr/>
        </p:nvGraphicFramePr>
        <p:xfrm>
          <a:off x="1331913" y="3141663"/>
          <a:ext cx="5359400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5" name="公式" r:id="rId7" imgW="2181860" imgH="173990" progId="Equation.3">
                  <p:embed/>
                </p:oleObj>
              </mc:Choice>
              <mc:Fallback>
                <p:oleObj name="公式" r:id="rId7" imgW="2181860" imgH="17399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141663"/>
                        <a:ext cx="5359400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3" name="Text Box 13"/>
          <p:cNvSpPr txBox="1">
            <a:spLocks noChangeArrowheads="1"/>
          </p:cNvSpPr>
          <p:nvPr/>
        </p:nvSpPr>
        <p:spPr bwMode="auto">
          <a:xfrm>
            <a:off x="7092950" y="3006725"/>
            <a:ext cx="10128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1.2</a:t>
            </a:r>
            <a:r>
              <a: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1048" name="Text Box 15"/>
          <p:cNvSpPr txBox="1">
            <a:spLocks noChangeArrowheads="1"/>
          </p:cNvSpPr>
          <p:nvPr/>
        </p:nvSpPr>
        <p:spPr bwMode="auto">
          <a:xfrm>
            <a:off x="692785" y="2359025"/>
            <a:ext cx="539242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/>
              <a:t>    </a:t>
            </a:r>
            <a:r>
              <a:rPr lang="zh-CN" altLang="en-US" dirty="0"/>
              <a:t>如果函数      是多项式函数，即</a:t>
            </a:r>
          </a:p>
        </p:txBody>
      </p:sp>
      <p:graphicFrame>
        <p:nvGraphicFramePr>
          <p:cNvPr id="1029" name="Object 16"/>
          <p:cNvGraphicFramePr>
            <a:graphicFrameLocks noChangeAspect="1"/>
          </p:cNvGraphicFramePr>
          <p:nvPr/>
        </p:nvGraphicFramePr>
        <p:xfrm>
          <a:off x="2677160" y="2511425"/>
          <a:ext cx="814705" cy="376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6" name="Equation" r:id="rId9" imgW="246380" imgH="146685" progId="Equation.3">
                  <p:embed/>
                </p:oleObj>
              </mc:Choice>
              <mc:Fallback>
                <p:oleObj name="Equation" r:id="rId9" imgW="246380" imgH="14668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7160" y="2511425"/>
                        <a:ext cx="814705" cy="3765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7"/>
          <p:cNvGrpSpPr/>
          <p:nvPr/>
        </p:nvGrpSpPr>
        <p:grpSpPr bwMode="auto">
          <a:xfrm>
            <a:off x="395288" y="3573463"/>
            <a:ext cx="7932738" cy="1135063"/>
            <a:chOff x="374" y="3208"/>
            <a:chExt cx="4997" cy="715"/>
          </a:xfrm>
        </p:grpSpPr>
        <p:sp>
          <p:nvSpPr>
            <p:cNvPr id="1047" name="Text Box 18"/>
            <p:cNvSpPr txBox="1">
              <a:spLocks noChangeArrowheads="1"/>
            </p:cNvSpPr>
            <p:nvPr/>
          </p:nvSpPr>
          <p:spPr bwMode="auto">
            <a:xfrm>
              <a:off x="374" y="3208"/>
              <a:ext cx="4997" cy="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dirty="0"/>
                <a:t>其中                                      为实数，则称方程</a:t>
              </a:r>
              <a:r>
                <a:rPr lang="en-US" altLang="zh-CN" dirty="0"/>
                <a:t>(1.1)</a:t>
              </a:r>
              <a:r>
                <a:rPr lang="zh-CN" altLang="en-US" dirty="0"/>
                <a:t>为  </a:t>
              </a:r>
            </a:p>
            <a:p>
              <a:pPr eaLnBrk="1" hangingPunct="1"/>
              <a:r>
                <a:rPr lang="zh-CN" altLang="en-US" dirty="0">
                  <a:solidFill>
                    <a:srgbClr val="FF0000"/>
                  </a:solidFill>
                </a:rPr>
                <a:t>次代数方程</a:t>
              </a:r>
              <a:r>
                <a:rPr lang="en-US" altLang="zh-CN" dirty="0"/>
                <a:t>. </a:t>
              </a:r>
            </a:p>
          </p:txBody>
        </p:sp>
        <p:graphicFrame>
          <p:nvGraphicFramePr>
            <p:cNvPr id="1027" name="Object 19"/>
            <p:cNvGraphicFramePr>
              <a:graphicFrameLocks noChangeAspect="1"/>
            </p:cNvGraphicFramePr>
            <p:nvPr/>
          </p:nvGraphicFramePr>
          <p:xfrm>
            <a:off x="839" y="3334"/>
            <a:ext cx="2109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7" name="公式" r:id="rId11" imgW="1013460" imgH="163830" progId="Equation.3">
                    <p:embed/>
                  </p:oleObj>
                </mc:Choice>
                <mc:Fallback>
                  <p:oleObj name="公式" r:id="rId11" imgW="1013460" imgH="16383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3334"/>
                          <a:ext cx="2109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8" name="Object 20"/>
            <p:cNvGraphicFramePr>
              <a:graphicFrameLocks noChangeAspect="1"/>
            </p:cNvGraphicFramePr>
            <p:nvPr/>
          </p:nvGraphicFramePr>
          <p:xfrm>
            <a:off x="5148" y="3344"/>
            <a:ext cx="190" cy="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8" name="公式" r:id="rId13" imgW="92710" imgH="99060" progId="Equation.3">
                    <p:embed/>
                  </p:oleObj>
                </mc:Choice>
                <mc:Fallback>
                  <p:oleObj name="公式" r:id="rId13" imgW="92710" imgH="9906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" y="3344"/>
                          <a:ext cx="190" cy="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341" name="Rectangle 21"/>
          <p:cNvSpPr>
            <a:spLocks noChangeArrowheads="1"/>
          </p:cNvSpPr>
          <p:nvPr/>
        </p:nvSpPr>
        <p:spPr bwMode="auto">
          <a:xfrm>
            <a:off x="949325" y="4589463"/>
            <a:ext cx="1406525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超越函数</a:t>
            </a:r>
          </a:p>
        </p:txBody>
      </p:sp>
      <p:sp>
        <p:nvSpPr>
          <p:cNvPr id="56342" name="Rectangle 22"/>
          <p:cNvSpPr>
            <a:spLocks noChangeArrowheads="1"/>
          </p:cNvSpPr>
          <p:nvPr/>
        </p:nvSpPr>
        <p:spPr bwMode="auto">
          <a:xfrm>
            <a:off x="2389188" y="4589463"/>
            <a:ext cx="3551237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/>
              <a:t>不能表示为多项式的函数</a:t>
            </a:r>
          </a:p>
        </p:txBody>
      </p:sp>
      <p:sp>
        <p:nvSpPr>
          <p:cNvPr id="56343" name="Text Box 23"/>
          <p:cNvSpPr txBox="1">
            <a:spLocks noChangeArrowheads="1"/>
          </p:cNvSpPr>
          <p:nvPr/>
        </p:nvSpPr>
        <p:spPr bwMode="auto">
          <a:xfrm>
            <a:off x="758825" y="5383213"/>
            <a:ext cx="4752975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如   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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)=3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aseline="3000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-2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aseline="3000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+8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-7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+1</a:t>
            </a:r>
            <a:endParaRPr lang="en-US" altLang="zh-CN" baseline="300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6344" name="Rectangle 24"/>
          <p:cNvSpPr>
            <a:spLocks noChangeArrowheads="1"/>
          </p:cNvSpPr>
          <p:nvPr/>
        </p:nvSpPr>
        <p:spPr bwMode="auto">
          <a:xfrm>
            <a:off x="4503738" y="5432425"/>
            <a:ext cx="309245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(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)=e</a:t>
            </a:r>
            <a:r>
              <a:rPr lang="en-US" altLang="zh-CN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+1-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ln(sin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)-2</a:t>
            </a:r>
          </a:p>
        </p:txBody>
      </p:sp>
      <p:sp>
        <p:nvSpPr>
          <p:cNvPr id="56345" name="Text Box 25"/>
          <p:cNvSpPr txBox="1">
            <a:spLocks noChangeArrowheads="1"/>
          </p:cNvSpPr>
          <p:nvPr/>
        </p:nvSpPr>
        <p:spPr bwMode="auto">
          <a:xfrm>
            <a:off x="1766888" y="5816600"/>
            <a:ext cx="24447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高次代数方程</a:t>
            </a:r>
            <a:endParaRPr lang="zh-CN" altLang="en-US" baseline="3000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6346" name="Text Box 26"/>
          <p:cNvSpPr txBox="1">
            <a:spLocks noChangeArrowheads="1"/>
          </p:cNvSpPr>
          <p:nvPr/>
        </p:nvSpPr>
        <p:spPr bwMode="auto">
          <a:xfrm>
            <a:off x="5367338" y="5816600"/>
            <a:ext cx="1584325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超越方程</a:t>
            </a:r>
            <a:endParaRPr lang="zh-CN" altLang="en-US" baseline="30000">
              <a:solidFill>
                <a:srgbClr val="FF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6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6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6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6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63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63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7" grpId="0"/>
      <p:bldP spid="56331" grpId="0" autoUpdateAnimBg="0"/>
      <p:bldP spid="56333" grpId="0"/>
      <p:bldP spid="56341" grpId="0"/>
      <p:bldP spid="56342" grpId="0"/>
      <p:bldP spid="56343" grpId="0" autoUpdateAnimBg="0"/>
      <p:bldP spid="56344" grpId="0"/>
      <p:bldP spid="56345" grpId="0" autoUpdateAnimBg="0"/>
      <p:bldP spid="5634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Text Box 3"/>
          <p:cNvSpPr txBox="1">
            <a:spLocks noChangeArrowheads="1"/>
          </p:cNvSpPr>
          <p:nvPr/>
        </p:nvSpPr>
        <p:spPr bwMode="auto">
          <a:xfrm>
            <a:off x="723265" y="2745740"/>
            <a:ext cx="769493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/>
              <a:t>      </a:t>
            </a:r>
            <a:r>
              <a:rPr lang="zh-CN" altLang="en-US" dirty="0"/>
              <a:t>若   是     的  重零点，且     充分光滑，则</a:t>
            </a:r>
          </a:p>
        </p:txBody>
      </p:sp>
      <p:graphicFrame>
        <p:nvGraphicFramePr>
          <p:cNvPr id="2077" name="Object 4"/>
          <p:cNvGraphicFramePr>
            <a:graphicFrameLocks noChangeAspect="1"/>
          </p:cNvGraphicFramePr>
          <p:nvPr/>
        </p:nvGraphicFramePr>
        <p:xfrm>
          <a:off x="1999615" y="2890520"/>
          <a:ext cx="482600" cy="328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1" name="公式" r:id="rId4" imgW="147320" imgH="126365" progId="Equation.3">
                  <p:embed/>
                </p:oleObj>
              </mc:Choice>
              <mc:Fallback>
                <p:oleObj name="公式" r:id="rId4" imgW="147320" imgH="12636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9615" y="2890520"/>
                        <a:ext cx="482600" cy="3289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" name="Object 5"/>
          <p:cNvGraphicFramePr>
            <a:graphicFrameLocks noChangeAspect="1"/>
          </p:cNvGraphicFramePr>
          <p:nvPr/>
        </p:nvGraphicFramePr>
        <p:xfrm>
          <a:off x="2788920" y="2958465"/>
          <a:ext cx="814705" cy="376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2" name="Equation" r:id="rId6" imgW="246380" imgH="146685" progId="Equation.3">
                  <p:embed/>
                </p:oleObj>
              </mc:Choice>
              <mc:Fallback>
                <p:oleObj name="Equation" r:id="rId6" imgW="246380" imgH="14668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8920" y="2958465"/>
                        <a:ext cx="814705" cy="3765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" name="Object 6"/>
          <p:cNvGraphicFramePr>
            <a:graphicFrameLocks noChangeAspect="1"/>
          </p:cNvGraphicFramePr>
          <p:nvPr/>
        </p:nvGraphicFramePr>
        <p:xfrm>
          <a:off x="3870325" y="3017520"/>
          <a:ext cx="392430" cy="25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3" name="Equation" r:id="rId8" imgW="120015" imgH="99060" progId="Equation.3">
                  <p:embed/>
                </p:oleObj>
              </mc:Choice>
              <mc:Fallback>
                <p:oleObj name="Equation" r:id="rId8" imgW="120015" imgH="990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0325" y="3017520"/>
                        <a:ext cx="392430" cy="259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0" name="Object 7"/>
          <p:cNvGraphicFramePr>
            <a:graphicFrameLocks noChangeAspect="1"/>
          </p:cNvGraphicFramePr>
          <p:nvPr/>
        </p:nvGraphicFramePr>
        <p:xfrm>
          <a:off x="5694045" y="2900045"/>
          <a:ext cx="784225" cy="376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4" name="Equation" r:id="rId10" imgW="236220" imgH="146685" progId="Equation.3">
                  <p:embed/>
                </p:oleObj>
              </mc:Choice>
              <mc:Fallback>
                <p:oleObj name="Equation" r:id="rId10" imgW="236220" imgH="14668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4045" y="2900045"/>
                        <a:ext cx="784225" cy="3765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2" name="Object 8"/>
          <p:cNvGraphicFramePr>
            <a:graphicFrameLocks noChangeAspect="1"/>
          </p:cNvGraphicFramePr>
          <p:nvPr/>
        </p:nvGraphicFramePr>
        <p:xfrm>
          <a:off x="1116013" y="3500438"/>
          <a:ext cx="4697412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5" name="公式" r:id="rId12" imgW="1708785" imgH="163830" progId="Equation.3">
                  <p:embed/>
                </p:oleObj>
              </mc:Choice>
              <mc:Fallback>
                <p:oleObj name="公式" r:id="rId12" imgW="1708785" imgH="16383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500438"/>
                        <a:ext cx="4697412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3" name="Object 9"/>
          <p:cNvGraphicFramePr>
            <a:graphicFrameLocks noChangeAspect="1"/>
          </p:cNvGraphicFramePr>
          <p:nvPr/>
        </p:nvGraphicFramePr>
        <p:xfrm>
          <a:off x="5929313" y="3500438"/>
          <a:ext cx="1450975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6" name="公式" r:id="rId14" imgW="619760" imgH="163830" progId="Equation.3">
                  <p:embed/>
                </p:oleObj>
              </mc:Choice>
              <mc:Fallback>
                <p:oleObj name="公式" r:id="rId14" imgW="619760" imgH="16383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9313" y="3500438"/>
                        <a:ext cx="1450975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4" name="Text Box 11"/>
          <p:cNvSpPr txBox="1">
            <a:spLocks noChangeArrowheads="1"/>
          </p:cNvSpPr>
          <p:nvPr/>
        </p:nvSpPr>
        <p:spPr bwMode="auto">
          <a:xfrm>
            <a:off x="143510" y="3933825"/>
            <a:ext cx="914400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 dirty="0"/>
              <a:t>    </a:t>
            </a:r>
            <a:r>
              <a:rPr lang="zh-CN" altLang="en-US" dirty="0"/>
              <a:t>次方程在复数域有且只有 个根（含重根，  重根为  个根）</a:t>
            </a:r>
            <a:r>
              <a:rPr lang="en-US" altLang="zh-CN" dirty="0"/>
              <a:t>. </a:t>
            </a:r>
          </a:p>
        </p:txBody>
      </p:sp>
      <p:graphicFrame>
        <p:nvGraphicFramePr>
          <p:cNvPr id="2073" name="Object 12"/>
          <p:cNvGraphicFramePr>
            <a:graphicFrameLocks noChangeAspect="1"/>
          </p:cNvGraphicFramePr>
          <p:nvPr/>
        </p:nvGraphicFramePr>
        <p:xfrm>
          <a:off x="6407785" y="4222750"/>
          <a:ext cx="392430" cy="25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7" name="Equation" r:id="rId16" imgW="120015" imgH="99060" progId="Equation.3">
                  <p:embed/>
                </p:oleObj>
              </mc:Choice>
              <mc:Fallback>
                <p:oleObj name="Equation" r:id="rId16" imgW="120015" imgH="990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785" y="4222750"/>
                        <a:ext cx="392430" cy="259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4" name="Object 13"/>
          <p:cNvGraphicFramePr>
            <a:graphicFrameLocks noChangeAspect="1"/>
          </p:cNvGraphicFramePr>
          <p:nvPr/>
        </p:nvGraphicFramePr>
        <p:xfrm>
          <a:off x="7705090" y="4222750"/>
          <a:ext cx="392430" cy="25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8" name="Equation" r:id="rId18" imgW="120015" imgH="99060" progId="Equation.3">
                  <p:embed/>
                </p:oleObj>
              </mc:Choice>
              <mc:Fallback>
                <p:oleObj name="Equation" r:id="rId18" imgW="120015" imgH="9906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5090" y="4222750"/>
                        <a:ext cx="392430" cy="259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5" name="Object 14"/>
          <p:cNvGraphicFramePr>
            <a:graphicFrameLocks noChangeAspect="1"/>
          </p:cNvGraphicFramePr>
          <p:nvPr/>
        </p:nvGraphicFramePr>
        <p:xfrm>
          <a:off x="4104640" y="4222750"/>
          <a:ext cx="301625" cy="25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9" name="Equation" r:id="rId20" imgW="92710" imgH="99060" progId="Equation.3">
                  <p:embed/>
                </p:oleObj>
              </mc:Choice>
              <mc:Fallback>
                <p:oleObj name="Equation" r:id="rId20" imgW="92710" imgH="9906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4640" y="4222750"/>
                        <a:ext cx="301625" cy="259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6" name="Object 15"/>
          <p:cNvGraphicFramePr>
            <a:graphicFrameLocks noChangeAspect="1"/>
          </p:cNvGraphicFramePr>
          <p:nvPr/>
        </p:nvGraphicFramePr>
        <p:xfrm>
          <a:off x="453390" y="4178300"/>
          <a:ext cx="301625" cy="259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0" name="Equation" r:id="rId22" imgW="92710" imgH="99060" progId="Equation.3">
                  <p:embed/>
                </p:oleObj>
              </mc:Choice>
              <mc:Fallback>
                <p:oleObj name="Equation" r:id="rId22" imgW="92710" imgH="9906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90" y="4178300"/>
                        <a:ext cx="301625" cy="259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60" name="Text Box 16"/>
          <p:cNvSpPr txBox="1">
            <a:spLocks noChangeArrowheads="1"/>
          </p:cNvSpPr>
          <p:nvPr/>
        </p:nvSpPr>
        <p:spPr bwMode="auto">
          <a:xfrm>
            <a:off x="1000125" y="4437063"/>
            <a:ext cx="14097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超越方程</a:t>
            </a:r>
          </a:p>
        </p:txBody>
      </p:sp>
      <p:graphicFrame>
        <p:nvGraphicFramePr>
          <p:cNvPr id="57361" name="Object 17"/>
          <p:cNvGraphicFramePr>
            <a:graphicFrameLocks noChangeAspect="1"/>
          </p:cNvGraphicFramePr>
          <p:nvPr/>
        </p:nvGraphicFramePr>
        <p:xfrm>
          <a:off x="2571750" y="4645025"/>
          <a:ext cx="253365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1" name="公式" r:id="rId24" imgW="767080" imgH="163830" progId="Equation.3">
                  <p:embed/>
                </p:oleObj>
              </mc:Choice>
              <mc:Fallback>
                <p:oleObj name="公式" r:id="rId24" imgW="767080" imgH="16383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4645025"/>
                        <a:ext cx="2533650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8"/>
          <p:cNvGrpSpPr/>
          <p:nvPr/>
        </p:nvGrpSpPr>
        <p:grpSpPr bwMode="auto">
          <a:xfrm>
            <a:off x="312103" y="5021263"/>
            <a:ext cx="8143874" cy="1752600"/>
            <a:chOff x="375" y="2940"/>
            <a:chExt cx="5130" cy="1104"/>
          </a:xfrm>
        </p:grpSpPr>
        <p:sp>
          <p:nvSpPr>
            <p:cNvPr id="2093" name="Text Box 19"/>
            <p:cNvSpPr txBox="1">
              <a:spLocks noChangeArrowheads="1"/>
            </p:cNvSpPr>
            <p:nvPr/>
          </p:nvSpPr>
          <p:spPr bwMode="auto">
            <a:xfrm>
              <a:off x="375" y="2940"/>
              <a:ext cx="5130" cy="1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dirty="0"/>
                <a:t>它在整个   轴上有无穷多个解，若   取值范围不同，解也</a:t>
              </a:r>
            </a:p>
            <a:p>
              <a:pPr eaLnBrk="1" hangingPunct="1"/>
              <a:r>
                <a:rPr lang="zh-CN" altLang="en-US" dirty="0"/>
                <a:t>不同，因此讨论非线性方程</a:t>
              </a:r>
              <a:r>
                <a:rPr lang="en-US" altLang="zh-CN" dirty="0"/>
                <a:t>(1.1)</a:t>
              </a:r>
              <a:r>
                <a:rPr lang="zh-CN" altLang="en-US" dirty="0"/>
                <a:t>的求解必须强调   的定</a:t>
              </a:r>
            </a:p>
            <a:p>
              <a:pPr eaLnBrk="1" hangingPunct="1"/>
              <a:r>
                <a:rPr lang="zh-CN" altLang="en-US" dirty="0"/>
                <a:t>义域，即  的求解区间</a:t>
              </a:r>
            </a:p>
          </p:txBody>
        </p:sp>
        <p:graphicFrame>
          <p:nvGraphicFramePr>
            <p:cNvPr id="2068" name="Object 20"/>
            <p:cNvGraphicFramePr>
              <a:graphicFrameLocks noChangeAspect="1"/>
            </p:cNvGraphicFramePr>
            <p:nvPr/>
          </p:nvGraphicFramePr>
          <p:xfrm>
            <a:off x="1192" y="3083"/>
            <a:ext cx="190" cy="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82" name="公式" r:id="rId26" imgW="92710" imgH="99060" progId="Equation.3">
                    <p:embed/>
                  </p:oleObj>
                </mc:Choice>
                <mc:Fallback>
                  <p:oleObj name="公式" r:id="rId26" imgW="92710" imgH="9906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2" y="3083"/>
                          <a:ext cx="190" cy="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9" name="Object 21"/>
            <p:cNvGraphicFramePr>
              <a:graphicFrameLocks noChangeAspect="1"/>
            </p:cNvGraphicFramePr>
            <p:nvPr/>
          </p:nvGraphicFramePr>
          <p:xfrm>
            <a:off x="3488" y="3065"/>
            <a:ext cx="190" cy="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83" name="公式" r:id="rId28" imgW="92710" imgH="99060" progId="Equation.3">
                    <p:embed/>
                  </p:oleObj>
                </mc:Choice>
                <mc:Fallback>
                  <p:oleObj name="公式" r:id="rId28" imgW="92710" imgH="9906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8" y="3065"/>
                          <a:ext cx="190" cy="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70" name="Object 22"/>
            <p:cNvGraphicFramePr>
              <a:graphicFrameLocks noChangeAspect="1"/>
            </p:cNvGraphicFramePr>
            <p:nvPr/>
          </p:nvGraphicFramePr>
          <p:xfrm>
            <a:off x="4638" y="3428"/>
            <a:ext cx="190" cy="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84" name="公式" r:id="rId30" imgW="92710" imgH="99060" progId="Equation.3">
                    <p:embed/>
                  </p:oleObj>
                </mc:Choice>
                <mc:Fallback>
                  <p:oleObj name="公式" r:id="rId30" imgW="92710" imgH="9906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38" y="3428"/>
                          <a:ext cx="190" cy="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71" name="Object 23"/>
            <p:cNvGraphicFramePr>
              <a:graphicFrameLocks noChangeAspect="1"/>
            </p:cNvGraphicFramePr>
            <p:nvPr/>
          </p:nvGraphicFramePr>
          <p:xfrm>
            <a:off x="1212" y="3811"/>
            <a:ext cx="190" cy="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85" name="公式" r:id="rId32" imgW="92710" imgH="99060" progId="Equation.3">
                    <p:embed/>
                  </p:oleObj>
                </mc:Choice>
                <mc:Fallback>
                  <p:oleObj name="公式" r:id="rId32" imgW="92710" imgH="9906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2" y="3811"/>
                          <a:ext cx="190" cy="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72" name="Object 24"/>
            <p:cNvGraphicFramePr>
              <a:graphicFrameLocks noChangeAspect="1"/>
            </p:cNvGraphicFramePr>
            <p:nvPr/>
          </p:nvGraphicFramePr>
          <p:xfrm>
            <a:off x="2391" y="3745"/>
            <a:ext cx="570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86" name="公式" r:id="rId34" imgW="273685" imgH="146685" progId="Equation.3">
                    <p:embed/>
                  </p:oleObj>
                </mc:Choice>
                <mc:Fallback>
                  <p:oleObj name="公式" r:id="rId34" imgW="273685" imgH="146685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1" y="3745"/>
                          <a:ext cx="570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5"/>
          <p:cNvGrpSpPr/>
          <p:nvPr/>
        </p:nvGrpSpPr>
        <p:grpSpPr bwMode="auto">
          <a:xfrm>
            <a:off x="324803" y="38100"/>
            <a:ext cx="7697785" cy="1198563"/>
            <a:chOff x="374" y="2637"/>
            <a:chExt cx="4849" cy="755"/>
          </a:xfrm>
        </p:grpSpPr>
        <p:sp>
          <p:nvSpPr>
            <p:cNvPr id="2092" name="Text Box 26"/>
            <p:cNvSpPr txBox="1">
              <a:spLocks noChangeArrowheads="1"/>
            </p:cNvSpPr>
            <p:nvPr/>
          </p:nvSpPr>
          <p:spPr bwMode="auto">
            <a:xfrm>
              <a:off x="374" y="2637"/>
              <a:ext cx="4849" cy="7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dirty="0"/>
                <a:t>    </a:t>
              </a:r>
              <a:r>
                <a:rPr lang="zh-CN" altLang="en-US" dirty="0"/>
                <a:t>如果实数  满足          则称    是方程</a:t>
              </a:r>
              <a:r>
                <a:rPr lang="en-US" altLang="zh-CN" dirty="0"/>
                <a:t>(1.1)</a:t>
              </a:r>
              <a:r>
                <a:rPr lang="zh-CN" altLang="en-US" dirty="0"/>
                <a:t>的</a:t>
              </a:r>
            </a:p>
            <a:p>
              <a:pPr eaLnBrk="1" hangingPunct="1"/>
              <a:r>
                <a:rPr lang="zh-CN" altLang="en-US" dirty="0">
                  <a:solidFill>
                    <a:srgbClr val="FF0000"/>
                  </a:solidFill>
                </a:rPr>
                <a:t>根</a:t>
              </a:r>
              <a:r>
                <a:rPr lang="zh-CN" altLang="en-US" dirty="0"/>
                <a:t>，或称   是        的</a:t>
              </a:r>
              <a:r>
                <a:rPr lang="zh-CN" altLang="en-US" dirty="0">
                  <a:solidFill>
                    <a:srgbClr val="FF0000"/>
                  </a:solidFill>
                </a:rPr>
                <a:t>零点</a:t>
              </a:r>
              <a:r>
                <a:rPr lang="en-US" altLang="zh-CN" dirty="0"/>
                <a:t>.</a:t>
              </a:r>
            </a:p>
          </p:txBody>
        </p:sp>
        <p:graphicFrame>
          <p:nvGraphicFramePr>
            <p:cNvPr id="2063" name="Object 27"/>
            <p:cNvGraphicFramePr>
              <a:graphicFrameLocks noChangeAspect="1"/>
            </p:cNvGraphicFramePr>
            <p:nvPr/>
          </p:nvGraphicFramePr>
          <p:xfrm>
            <a:off x="1537" y="2788"/>
            <a:ext cx="304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87" name="Equation" r:id="rId36" imgW="147320" imgH="126365" progId="Equation.3">
                    <p:embed/>
                  </p:oleObj>
                </mc:Choice>
                <mc:Fallback>
                  <p:oleObj name="Equation" r:id="rId36" imgW="147320" imgH="126365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7" y="2788"/>
                          <a:ext cx="304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4" name="Object 28"/>
            <p:cNvGraphicFramePr>
              <a:graphicFrameLocks noChangeAspect="1"/>
            </p:cNvGraphicFramePr>
            <p:nvPr/>
          </p:nvGraphicFramePr>
          <p:xfrm>
            <a:off x="1711" y="3095"/>
            <a:ext cx="513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88" name="Equation" r:id="rId38" imgW="246380" imgH="146685" progId="Equation.3">
                    <p:embed/>
                  </p:oleObj>
                </mc:Choice>
                <mc:Fallback>
                  <p:oleObj name="Equation" r:id="rId38" imgW="246380" imgH="146685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1" y="3095"/>
                          <a:ext cx="513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5" name="Object 29"/>
            <p:cNvGraphicFramePr>
              <a:graphicFrameLocks noChangeAspect="1"/>
            </p:cNvGraphicFramePr>
            <p:nvPr/>
          </p:nvGraphicFramePr>
          <p:xfrm>
            <a:off x="2070" y="2757"/>
            <a:ext cx="950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89" name="Equation" r:id="rId40" imgW="455295" imgH="146685" progId="Equation.3">
                    <p:embed/>
                  </p:oleObj>
                </mc:Choice>
                <mc:Fallback>
                  <p:oleObj name="Equation" r:id="rId40" imgW="455295" imgH="146685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0" y="2757"/>
                          <a:ext cx="950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6" name="Object 30"/>
            <p:cNvGraphicFramePr>
              <a:graphicFrameLocks noChangeAspect="1"/>
            </p:cNvGraphicFramePr>
            <p:nvPr/>
          </p:nvGraphicFramePr>
          <p:xfrm>
            <a:off x="3594" y="2732"/>
            <a:ext cx="304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90" name="Equation" r:id="rId42" imgW="147320" imgH="126365" progId="Equation.3">
                    <p:embed/>
                  </p:oleObj>
                </mc:Choice>
                <mc:Fallback>
                  <p:oleObj name="Equation" r:id="rId42" imgW="147320" imgH="126365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4" y="2732"/>
                          <a:ext cx="304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7" name="Object 31"/>
            <p:cNvGraphicFramePr>
              <a:graphicFrameLocks noChangeAspect="1"/>
            </p:cNvGraphicFramePr>
            <p:nvPr/>
          </p:nvGraphicFramePr>
          <p:xfrm>
            <a:off x="1202" y="3095"/>
            <a:ext cx="304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91" name="Equation" r:id="rId44" imgW="147320" imgH="126365" progId="Equation.3">
                    <p:embed/>
                  </p:oleObj>
                </mc:Choice>
                <mc:Fallback>
                  <p:oleObj name="Equation" r:id="rId44" imgW="147320" imgH="126365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2" y="3095"/>
                          <a:ext cx="304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32"/>
          <p:cNvGrpSpPr/>
          <p:nvPr/>
        </p:nvGrpSpPr>
        <p:grpSpPr bwMode="auto">
          <a:xfrm>
            <a:off x="1171575" y="1117600"/>
            <a:ext cx="2635251" cy="644525"/>
            <a:chOff x="758" y="174"/>
            <a:chExt cx="1660" cy="406"/>
          </a:xfrm>
        </p:grpSpPr>
        <p:sp>
          <p:nvSpPr>
            <p:cNvPr id="2091" name="Rectangle 33"/>
            <p:cNvSpPr>
              <a:spLocks noChangeArrowheads="1"/>
            </p:cNvSpPr>
            <p:nvPr/>
          </p:nvSpPr>
          <p:spPr bwMode="auto">
            <a:xfrm>
              <a:off x="758" y="174"/>
              <a:ext cx="1660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dirty="0"/>
                <a:t>若     可分解为 </a:t>
              </a:r>
            </a:p>
          </p:txBody>
        </p:sp>
        <p:graphicFrame>
          <p:nvGraphicFramePr>
            <p:cNvPr id="2062" name="Object 34"/>
            <p:cNvGraphicFramePr>
              <a:graphicFrameLocks noChangeAspect="1"/>
            </p:cNvGraphicFramePr>
            <p:nvPr/>
          </p:nvGraphicFramePr>
          <p:xfrm>
            <a:off x="945" y="269"/>
            <a:ext cx="513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92" name="Equation" r:id="rId46" imgW="246380" imgH="146685" progId="Equation.3">
                    <p:embed/>
                  </p:oleObj>
                </mc:Choice>
                <mc:Fallback>
                  <p:oleObj name="Equation" r:id="rId46" imgW="246380" imgH="146685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5" y="269"/>
                          <a:ext cx="513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7379" name="Object 35"/>
          <p:cNvGraphicFramePr>
            <a:graphicFrameLocks noChangeAspect="1"/>
          </p:cNvGraphicFramePr>
          <p:nvPr/>
        </p:nvGraphicFramePr>
        <p:xfrm>
          <a:off x="3505200" y="1268413"/>
          <a:ext cx="3227388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3" name="Equation" r:id="rId48" imgW="975995" imgH="163830" progId="Equation.3">
                  <p:embed/>
                </p:oleObj>
              </mc:Choice>
              <mc:Fallback>
                <p:oleObj name="Equation" r:id="rId48" imgW="975995" imgH="16383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268413"/>
                        <a:ext cx="3227388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36"/>
          <p:cNvGrpSpPr/>
          <p:nvPr/>
        </p:nvGrpSpPr>
        <p:grpSpPr bwMode="auto">
          <a:xfrm>
            <a:off x="60325" y="1593850"/>
            <a:ext cx="8616950" cy="1198563"/>
            <a:chOff x="174" y="908"/>
            <a:chExt cx="5428" cy="755"/>
          </a:xfrm>
        </p:grpSpPr>
        <p:grpSp>
          <p:nvGrpSpPr>
            <p:cNvPr id="2089" name="Group 37"/>
            <p:cNvGrpSpPr/>
            <p:nvPr/>
          </p:nvGrpSpPr>
          <p:grpSpPr bwMode="auto">
            <a:xfrm>
              <a:off x="174" y="908"/>
              <a:ext cx="5428" cy="755"/>
              <a:chOff x="163" y="1114"/>
              <a:chExt cx="5428" cy="755"/>
            </a:xfrm>
          </p:grpSpPr>
          <p:sp>
            <p:nvSpPr>
              <p:cNvPr id="2090" name="Text Box 38"/>
              <p:cNvSpPr txBox="1">
                <a:spLocks noChangeArrowheads="1"/>
              </p:cNvSpPr>
              <p:nvPr/>
            </p:nvSpPr>
            <p:spPr bwMode="auto">
              <a:xfrm>
                <a:off x="163" y="1114"/>
                <a:ext cx="5428" cy="7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dist" eaLnBrk="1" hangingPunct="1"/>
                <a:r>
                  <a:rPr lang="zh-CN" altLang="en-US" dirty="0"/>
                  <a:t>其中  为正整数，且            则称     为方程</a:t>
                </a:r>
                <a:r>
                  <a:rPr lang="en-US" altLang="zh-CN" dirty="0"/>
                  <a:t>(1.1)</a:t>
                </a:r>
                <a:r>
                  <a:rPr lang="zh-CN" altLang="en-US" dirty="0"/>
                  <a:t>的   </a:t>
                </a:r>
              </a:p>
              <a:p>
                <a:pPr algn="dist" eaLnBrk="1" hangingPunct="1"/>
                <a:r>
                  <a:rPr lang="zh-CN" altLang="en-US" dirty="0">
                    <a:solidFill>
                      <a:srgbClr val="FF0000"/>
                    </a:solidFill>
                  </a:rPr>
                  <a:t>重根</a:t>
                </a:r>
                <a:r>
                  <a:rPr lang="zh-CN" altLang="en-US" dirty="0"/>
                  <a:t>，或    为      的  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重零点</a:t>
                </a:r>
                <a:r>
                  <a:rPr lang="zh-CN" altLang="en-US" dirty="0"/>
                  <a:t>，     时为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单根</a:t>
                </a:r>
                <a:r>
                  <a:rPr lang="en-US" altLang="zh-CN" dirty="0"/>
                  <a:t>.</a:t>
                </a:r>
              </a:p>
            </p:txBody>
          </p:sp>
          <p:graphicFrame>
            <p:nvGraphicFramePr>
              <p:cNvPr id="2060" name="Object 39"/>
              <p:cNvGraphicFramePr>
                <a:graphicFrameLocks noChangeAspect="1"/>
              </p:cNvGraphicFramePr>
              <p:nvPr/>
            </p:nvGraphicFramePr>
            <p:xfrm>
              <a:off x="616" y="1272"/>
              <a:ext cx="247" cy="1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094" name="Equation" r:id="rId50" imgW="120015" imgH="99060" progId="Equation.3">
                      <p:embed/>
                    </p:oleObj>
                  </mc:Choice>
                  <mc:Fallback>
                    <p:oleObj name="Equation" r:id="rId50" imgW="120015" imgH="99060" progId="Equation.3">
                      <p:embed/>
                      <p:pic>
                        <p:nvPicPr>
                          <p:cNvPr id="0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16" y="1272"/>
                            <a:ext cx="247" cy="1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61" name="Object 40"/>
              <p:cNvGraphicFramePr>
                <a:graphicFrameLocks noChangeAspect="1"/>
              </p:cNvGraphicFramePr>
              <p:nvPr/>
            </p:nvGraphicFramePr>
            <p:xfrm>
              <a:off x="1952" y="1235"/>
              <a:ext cx="988" cy="2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095" name="Equation" r:id="rId52" imgW="476250" imgH="146685" progId="Equation.3">
                      <p:embed/>
                    </p:oleObj>
                  </mc:Choice>
                  <mc:Fallback>
                    <p:oleObj name="Equation" r:id="rId52" imgW="476250" imgH="146685" progId="Equation.3">
                      <p:embed/>
                      <p:pic>
                        <p:nvPicPr>
                          <p:cNvPr id="0" name="Object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52" y="1235"/>
                            <a:ext cx="988" cy="2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054" name="Object 41"/>
            <p:cNvGraphicFramePr>
              <a:graphicFrameLocks noChangeAspect="1"/>
            </p:cNvGraphicFramePr>
            <p:nvPr/>
          </p:nvGraphicFramePr>
          <p:xfrm>
            <a:off x="3306" y="1391"/>
            <a:ext cx="532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96" name="Equation" r:id="rId54" imgW="256540" imgH="126365" progId="Equation.3">
                    <p:embed/>
                  </p:oleObj>
                </mc:Choice>
                <mc:Fallback>
                  <p:oleObj name="Equation" r:id="rId54" imgW="256540" imgH="126365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6" y="1391"/>
                          <a:ext cx="532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5" name="Object 42"/>
            <p:cNvGraphicFramePr>
              <a:graphicFrameLocks noChangeAspect="1"/>
            </p:cNvGraphicFramePr>
            <p:nvPr/>
          </p:nvGraphicFramePr>
          <p:xfrm>
            <a:off x="1034" y="1371"/>
            <a:ext cx="304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97" name="Equation" r:id="rId56" imgW="147320" imgH="126365" progId="Equation.3">
                    <p:embed/>
                  </p:oleObj>
                </mc:Choice>
                <mc:Fallback>
                  <p:oleObj name="Equation" r:id="rId56" imgW="147320" imgH="126365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4" y="1371"/>
                          <a:ext cx="304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6" name="Object 43"/>
            <p:cNvGraphicFramePr>
              <a:graphicFrameLocks noChangeAspect="1"/>
            </p:cNvGraphicFramePr>
            <p:nvPr/>
          </p:nvGraphicFramePr>
          <p:xfrm>
            <a:off x="5274" y="1066"/>
            <a:ext cx="247" cy="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98" name="Equation" r:id="rId58" imgW="120015" imgH="99060" progId="Equation.3">
                    <p:embed/>
                  </p:oleObj>
                </mc:Choice>
                <mc:Fallback>
                  <p:oleObj name="Equation" r:id="rId58" imgW="120015" imgH="9906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4" y="1066"/>
                          <a:ext cx="247" cy="1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7" name="Object 44"/>
            <p:cNvGraphicFramePr>
              <a:graphicFrameLocks noChangeAspect="1"/>
            </p:cNvGraphicFramePr>
            <p:nvPr/>
          </p:nvGraphicFramePr>
          <p:xfrm>
            <a:off x="3560" y="1022"/>
            <a:ext cx="304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99" name="Equation" r:id="rId60" imgW="147320" imgH="126365" progId="Equation.3">
                    <p:embed/>
                  </p:oleObj>
                </mc:Choice>
                <mc:Fallback>
                  <p:oleObj name="Equation" r:id="rId60" imgW="147320" imgH="126365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1022"/>
                          <a:ext cx="304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8" name="Object 45"/>
            <p:cNvGraphicFramePr>
              <a:graphicFrameLocks noChangeAspect="1"/>
            </p:cNvGraphicFramePr>
            <p:nvPr/>
          </p:nvGraphicFramePr>
          <p:xfrm>
            <a:off x="1630" y="1362"/>
            <a:ext cx="513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00" name="Equation" r:id="rId62" imgW="246380" imgH="146685" progId="Equation.3">
                    <p:embed/>
                  </p:oleObj>
                </mc:Choice>
                <mc:Fallback>
                  <p:oleObj name="Equation" r:id="rId62" imgW="246380" imgH="146685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0" y="1362"/>
                          <a:ext cx="513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9" name="Object 46"/>
            <p:cNvGraphicFramePr>
              <a:graphicFrameLocks noChangeAspect="1"/>
            </p:cNvGraphicFramePr>
            <p:nvPr/>
          </p:nvGraphicFramePr>
          <p:xfrm>
            <a:off x="2335" y="1371"/>
            <a:ext cx="340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01" name="Equation" r:id="rId64" imgW="165100" imgH="139700" progId="Equation.3">
                    <p:embed/>
                  </p:oleObj>
                </mc:Choice>
                <mc:Fallback>
                  <p:oleObj name="Equation" r:id="rId64" imgW="165100" imgH="13970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5" y="1371"/>
                          <a:ext cx="340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391" name="Rectangle 47"/>
          <p:cNvSpPr>
            <a:spLocks noChangeArrowheads="1"/>
          </p:cNvSpPr>
          <p:nvPr/>
        </p:nvSpPr>
        <p:spPr bwMode="auto">
          <a:xfrm>
            <a:off x="395288" y="2708275"/>
            <a:ext cx="103663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结论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7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57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57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60" grpId="0"/>
      <p:bldP spid="5739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468313" y="1773238"/>
            <a:ext cx="800258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15000"/>
              </a:spcBef>
            </a:pPr>
            <a:r>
              <a:rPr kumimoji="0" lang="zh-CN" altLang="en-US">
                <a:solidFill>
                  <a:srgbClr val="FF0000"/>
                </a:solidFill>
                <a:latin typeface="Arial" panose="020B0604020202020204" pitchFamily="34" charset="0"/>
              </a:rPr>
              <a:t>通常方程根的数值解法大致分为三个步骤进行：</a:t>
            </a:r>
          </a:p>
        </p:txBody>
      </p:sp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468313" y="404813"/>
            <a:ext cx="7691437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/>
              <a:t>非线性问题一般不存在直接的求解公式，要使用迭代法</a:t>
            </a:r>
            <a:r>
              <a:rPr lang="en-US" altLang="zh-CN"/>
              <a:t>.</a:t>
            </a:r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344488" y="1196975"/>
            <a:ext cx="84550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"/>
              </a:spcBef>
            </a:pP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本章将介绍常用的求解非线性方程的近似根的几种数值解法  </a:t>
            </a:r>
          </a:p>
        </p:txBody>
      </p:sp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468313" y="2349500"/>
            <a:ext cx="8002587" cy="860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15000"/>
              </a:spcBef>
              <a:defRPr/>
            </a:pPr>
            <a:r>
              <a:rPr kumimoji="0"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① </a:t>
            </a:r>
            <a:r>
              <a:rPr kumimoji="0" lang="zh-CN" alt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判定根的存在性。即方程有没有根？如果有根，有几个根？</a:t>
            </a:r>
          </a:p>
        </p:txBody>
      </p:sp>
      <p:sp>
        <p:nvSpPr>
          <p:cNvPr id="58374" name="Text Box 6"/>
          <p:cNvSpPr txBox="1">
            <a:spLocks noChangeArrowheads="1"/>
          </p:cNvSpPr>
          <p:nvPr/>
        </p:nvSpPr>
        <p:spPr bwMode="auto">
          <a:xfrm>
            <a:off x="457200" y="3289300"/>
            <a:ext cx="8002588" cy="860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15000"/>
              </a:spcBef>
              <a:defRPr/>
            </a:pPr>
            <a:r>
              <a:rPr kumimoji="0"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② </a:t>
            </a:r>
            <a:r>
              <a:rPr kumimoji="0" lang="zh-CN" alt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确定根的分布范围。即将每一个根用区间隔离开来，这个过程实际上是获得方程各根的初始近似值。</a:t>
            </a:r>
          </a:p>
        </p:txBody>
      </p:sp>
      <p:sp>
        <p:nvSpPr>
          <p:cNvPr id="58375" name="Text Box 7"/>
          <p:cNvSpPr txBox="1">
            <a:spLocks noChangeArrowheads="1"/>
          </p:cNvSpPr>
          <p:nvPr/>
        </p:nvSpPr>
        <p:spPr bwMode="auto">
          <a:xfrm>
            <a:off x="468313" y="4292600"/>
            <a:ext cx="8002587" cy="860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15000"/>
              </a:spcBef>
              <a:defRPr/>
            </a:pPr>
            <a:r>
              <a:rPr kumimoji="0"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③ </a:t>
            </a:r>
            <a:r>
              <a:rPr kumimoji="0" lang="zh-CN" alt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根的精确化。将根的初始近似值按某种方法逐步精确化，直到满足预先要求的精度为止</a:t>
            </a:r>
            <a:r>
              <a:rPr kumimoji="0" lang="en-US" altLang="zh-CN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/>
      <p:bldP spid="58371" grpId="0"/>
      <p:bldP spid="58372" grpId="0"/>
      <p:bldP spid="58373" grpId="0"/>
      <p:bldP spid="58374" grpId="0"/>
      <p:bldP spid="5837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577850" y="2133600"/>
            <a:ext cx="4849814" cy="646113"/>
            <a:chOff x="340" y="2205"/>
            <a:chExt cx="3055" cy="407"/>
          </a:xfrm>
        </p:grpSpPr>
        <p:sp>
          <p:nvSpPr>
            <p:cNvPr id="3085" name="Rectangle 3"/>
            <p:cNvSpPr>
              <a:spLocks noChangeArrowheads="1"/>
            </p:cNvSpPr>
            <p:nvPr/>
          </p:nvSpPr>
          <p:spPr bwMode="auto">
            <a:xfrm>
              <a:off x="340" y="2205"/>
              <a:ext cx="3055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rgbClr val="0000FF"/>
                  </a:solidFill>
                </a:rPr>
                <a:t>如何求方程              的有根区间？</a:t>
              </a:r>
            </a:p>
          </p:txBody>
        </p:sp>
        <p:graphicFrame>
          <p:nvGraphicFramePr>
            <p:cNvPr id="3074" name="Object 4"/>
            <p:cNvGraphicFramePr>
              <a:graphicFrameLocks noChangeAspect="1"/>
            </p:cNvGraphicFramePr>
            <p:nvPr/>
          </p:nvGraphicFramePr>
          <p:xfrm>
            <a:off x="1383" y="2341"/>
            <a:ext cx="773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公式" r:id="rId3" imgW="427990" imgH="146685" progId="Equation.3">
                    <p:embed/>
                  </p:oleObj>
                </mc:Choice>
                <mc:Fallback>
                  <p:oleObj name="公式" r:id="rId3" imgW="427990" imgH="146685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2341"/>
                          <a:ext cx="773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445" name="Rectangle 5"/>
          <p:cNvSpPr>
            <a:spLocks noChangeArrowheads="1"/>
          </p:cNvSpPr>
          <p:nvPr/>
        </p:nvSpPr>
        <p:spPr bwMode="auto">
          <a:xfrm>
            <a:off x="519113" y="836613"/>
            <a:ext cx="8229600" cy="576262"/>
          </a:xfrm>
          <a:prstGeom prst="rect">
            <a:avLst/>
          </a:prstGeom>
          <a:noFill/>
          <a:ln w="57150" cmpd="thinThick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设 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)∈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],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且</a:t>
            </a:r>
            <a:r>
              <a:rPr lang="zh-CN" altLang="en-US" i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) 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)&lt;0,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存在</a:t>
            </a:r>
            <a:r>
              <a:rPr lang="el-GR" altLang="zh-CN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ξ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∈(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，使 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l-GR" altLang="zh-CN">
                <a:solidFill>
                  <a:srgbClr val="0000FF"/>
                </a:solidFill>
                <a:latin typeface="Times New Roman" panose="02020603050405020304" pitchFamily="18" charset="0"/>
              </a:rPr>
              <a:t>ξ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)=0.</a:t>
            </a:r>
          </a:p>
        </p:txBody>
      </p:sp>
      <p:sp>
        <p:nvSpPr>
          <p:cNvPr id="61446" name="Rectangle 6"/>
          <p:cNvSpPr>
            <a:spLocks noChangeArrowheads="1"/>
          </p:cNvSpPr>
          <p:nvPr/>
        </p:nvSpPr>
        <p:spPr bwMode="auto">
          <a:xfrm>
            <a:off x="217488" y="260350"/>
            <a:ext cx="8351837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根的存在性定理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闭区间上连续函数的介值定理</a:t>
            </a:r>
          </a:p>
        </p:txBody>
      </p:sp>
      <p:sp>
        <p:nvSpPr>
          <p:cNvPr id="61447" name="Rectangle 7"/>
          <p:cNvSpPr>
            <a:spLocks noChangeArrowheads="1"/>
          </p:cNvSpPr>
          <p:nvPr/>
        </p:nvSpPr>
        <p:spPr bwMode="auto">
          <a:xfrm>
            <a:off x="7486650" y="52388"/>
            <a:ext cx="1406525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有根区间</a:t>
            </a:r>
          </a:p>
        </p:txBody>
      </p:sp>
      <p:sp>
        <p:nvSpPr>
          <p:cNvPr id="61448" name="Rectangle 8"/>
          <p:cNvSpPr>
            <a:spLocks noChangeArrowheads="1"/>
          </p:cNvSpPr>
          <p:nvPr/>
        </p:nvSpPr>
        <p:spPr bwMode="auto">
          <a:xfrm>
            <a:off x="611188" y="1454150"/>
            <a:ext cx="78263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kumimoji="0" lang="zh-CN" altLang="en-US">
                <a:latin typeface="Times New Roman" panose="02020603050405020304" pitchFamily="18" charset="0"/>
              </a:rPr>
              <a:t>如果</a:t>
            </a:r>
            <a:r>
              <a:rPr kumimoji="0" lang="en-US" altLang="zh-CN" i="1">
                <a:latin typeface="Times New Roman" panose="02020603050405020304" pitchFamily="18" charset="0"/>
              </a:rPr>
              <a:t>f</a:t>
            </a:r>
            <a:r>
              <a:rPr kumimoji="0" lang="en-US" altLang="zh-CN">
                <a:latin typeface="Times New Roman" panose="02020603050405020304" pitchFamily="18" charset="0"/>
              </a:rPr>
              <a:t>(</a:t>
            </a:r>
            <a:r>
              <a:rPr kumimoji="0" lang="en-US" altLang="zh-CN" i="1">
                <a:latin typeface="Times New Roman" panose="02020603050405020304" pitchFamily="18" charset="0"/>
              </a:rPr>
              <a:t>x</a:t>
            </a:r>
            <a:r>
              <a:rPr kumimoji="0" lang="en-US" altLang="zh-CN">
                <a:latin typeface="Times New Roman" panose="02020603050405020304" pitchFamily="18" charset="0"/>
              </a:rPr>
              <a:t>)</a:t>
            </a:r>
            <a:r>
              <a:rPr kumimoji="0" lang="zh-CN" altLang="en-US">
                <a:latin typeface="Times New Roman" panose="02020603050405020304" pitchFamily="18" charset="0"/>
              </a:rPr>
              <a:t>在</a:t>
            </a:r>
            <a:r>
              <a:rPr kumimoji="0" lang="en-US" altLang="zh-CN">
                <a:latin typeface="Times New Roman" panose="02020603050405020304" pitchFamily="18" charset="0"/>
              </a:rPr>
              <a:t>[</a:t>
            </a:r>
            <a:r>
              <a:rPr kumimoji="0" lang="en-US" altLang="zh-CN" i="1">
                <a:latin typeface="Times New Roman" panose="02020603050405020304" pitchFamily="18" charset="0"/>
              </a:rPr>
              <a:t>a</a:t>
            </a:r>
            <a:r>
              <a:rPr kumimoji="0" lang="en-US" altLang="zh-CN">
                <a:latin typeface="Times New Roman" panose="02020603050405020304" pitchFamily="18" charset="0"/>
              </a:rPr>
              <a:t>,</a:t>
            </a:r>
            <a:r>
              <a:rPr kumimoji="0" lang="en-US" altLang="zh-CN" i="1">
                <a:latin typeface="Times New Roman" panose="02020603050405020304" pitchFamily="18" charset="0"/>
              </a:rPr>
              <a:t>b</a:t>
            </a:r>
            <a:r>
              <a:rPr kumimoji="0" lang="en-US" altLang="zh-CN">
                <a:latin typeface="Times New Roman" panose="02020603050405020304" pitchFamily="18" charset="0"/>
              </a:rPr>
              <a:t>]</a:t>
            </a:r>
            <a:r>
              <a:rPr kumimoji="0" lang="zh-CN" altLang="en-US">
                <a:latin typeface="Times New Roman" panose="02020603050405020304" pitchFamily="18" charset="0"/>
              </a:rPr>
              <a:t>上还是</a:t>
            </a:r>
            <a:r>
              <a:rPr kumimoji="0"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单调递增</a:t>
            </a:r>
            <a:r>
              <a:rPr kumimoji="0" lang="zh-CN" altLang="en-US">
                <a:latin typeface="Times New Roman" panose="02020603050405020304" pitchFamily="18" charset="0"/>
              </a:rPr>
              <a:t>或</a:t>
            </a:r>
            <a:r>
              <a:rPr kumimoji="0"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递减</a:t>
            </a:r>
            <a:r>
              <a:rPr kumimoji="0" lang="zh-CN" altLang="en-US">
                <a:latin typeface="Times New Roman" panose="02020603050405020304" pitchFamily="18" charset="0"/>
              </a:rPr>
              <a:t>的，则</a:t>
            </a:r>
            <a:r>
              <a:rPr kumimoji="0" lang="en-US" altLang="zh-CN" i="1">
                <a:latin typeface="Times New Roman" panose="02020603050405020304" pitchFamily="18" charset="0"/>
              </a:rPr>
              <a:t>f</a:t>
            </a:r>
            <a:r>
              <a:rPr kumimoji="0" lang="en-US" altLang="zh-CN">
                <a:latin typeface="Times New Roman" panose="02020603050405020304" pitchFamily="18" charset="0"/>
              </a:rPr>
              <a:t>(</a:t>
            </a:r>
            <a:r>
              <a:rPr kumimoji="0" lang="en-US" altLang="zh-CN" i="1">
                <a:latin typeface="Times New Roman" panose="02020603050405020304" pitchFamily="18" charset="0"/>
              </a:rPr>
              <a:t>x</a:t>
            </a:r>
            <a:r>
              <a:rPr kumimoji="0" lang="en-US" altLang="zh-CN">
                <a:latin typeface="Times New Roman" panose="02020603050405020304" pitchFamily="18" charset="0"/>
              </a:rPr>
              <a:t>)=0</a:t>
            </a:r>
            <a:r>
              <a:rPr kumimoji="0" lang="zh-CN" altLang="en-US">
                <a:latin typeface="Times New Roman" panose="02020603050405020304" pitchFamily="18" charset="0"/>
              </a:rPr>
              <a:t>仅有一</a:t>
            </a:r>
          </a:p>
          <a:p>
            <a:pPr eaLnBrk="1" hangingPunct="1">
              <a:lnSpc>
                <a:spcPct val="100000"/>
              </a:lnSpc>
            </a:pPr>
            <a:r>
              <a:rPr kumimoji="0" lang="zh-CN" altLang="en-US">
                <a:latin typeface="Times New Roman" panose="02020603050405020304" pitchFamily="18" charset="0"/>
              </a:rPr>
              <a:t>个实根。</a:t>
            </a:r>
          </a:p>
        </p:txBody>
      </p:sp>
      <p:sp>
        <p:nvSpPr>
          <p:cNvPr id="61449" name="Rectangle 9"/>
          <p:cNvSpPr>
            <a:spLocks noChangeArrowheads="1"/>
          </p:cNvSpPr>
          <p:nvPr/>
        </p:nvSpPr>
        <p:spPr bwMode="auto">
          <a:xfrm>
            <a:off x="755650" y="2636838"/>
            <a:ext cx="1565275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(1)</a:t>
            </a:r>
            <a:r>
              <a:rPr lang="zh-CN" altLang="en-US">
                <a:solidFill>
                  <a:srgbClr val="FF0000"/>
                </a:solidFill>
              </a:rPr>
              <a:t>描图法</a:t>
            </a:r>
          </a:p>
        </p:txBody>
      </p:sp>
      <p:sp>
        <p:nvSpPr>
          <p:cNvPr id="61450" name="Rectangle 10"/>
          <p:cNvSpPr>
            <a:spLocks noChangeArrowheads="1"/>
          </p:cNvSpPr>
          <p:nvPr/>
        </p:nvSpPr>
        <p:spPr bwMode="auto">
          <a:xfrm>
            <a:off x="492125" y="3230563"/>
            <a:ext cx="8256588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lnSpc>
                <a:spcPct val="120000"/>
              </a:lnSpc>
              <a:spcBef>
                <a:spcPct val="35000"/>
              </a:spcBef>
              <a:buClr>
                <a:srgbClr val="27305F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/>
              <a:t>  </a:t>
            </a:r>
            <a:r>
              <a:rPr kumimoji="0" lang="zh-CN" altLang="en-US"/>
              <a:t>画出</a:t>
            </a:r>
            <a:r>
              <a:rPr kumimoji="0" lang="en-US" altLang="zh-CN" i="1">
                <a:latin typeface="Times New Roman" panose="02020603050405020304" pitchFamily="18" charset="0"/>
              </a:rPr>
              <a:t>y</a:t>
            </a:r>
            <a:r>
              <a:rPr kumimoji="0" lang="en-US" altLang="zh-CN"/>
              <a:t>=</a:t>
            </a:r>
            <a:r>
              <a:rPr kumimoji="0" lang="en-US" altLang="zh-CN" i="1">
                <a:latin typeface="Times New Roman" panose="02020603050405020304" pitchFamily="18" charset="0"/>
              </a:rPr>
              <a:t>f</a:t>
            </a:r>
            <a:r>
              <a:rPr kumimoji="0" lang="en-US" altLang="zh-CN"/>
              <a:t>(</a:t>
            </a:r>
            <a:r>
              <a:rPr kumimoji="0" lang="en-US" altLang="zh-CN" i="1">
                <a:latin typeface="Times New Roman" panose="02020603050405020304" pitchFamily="18" charset="0"/>
              </a:rPr>
              <a:t>x</a:t>
            </a:r>
            <a:r>
              <a:rPr kumimoji="0" lang="en-US" altLang="zh-CN"/>
              <a:t>)</a:t>
            </a:r>
            <a:r>
              <a:rPr kumimoji="0" lang="zh-CN" altLang="en-US"/>
              <a:t>的略图，从而看出曲线与</a:t>
            </a:r>
            <a:r>
              <a:rPr kumimoji="0" lang="en-US" altLang="zh-CN" i="1">
                <a:latin typeface="Times New Roman" panose="02020603050405020304" pitchFamily="18" charset="0"/>
              </a:rPr>
              <a:t>x</a:t>
            </a:r>
            <a:r>
              <a:rPr kumimoji="0" lang="zh-CN" altLang="en-US"/>
              <a:t>轴交点的大致位置。也可将</a:t>
            </a:r>
            <a:r>
              <a:rPr kumimoji="0" lang="en-US" altLang="zh-CN" i="1">
                <a:latin typeface="Times New Roman" panose="02020603050405020304" pitchFamily="18" charset="0"/>
              </a:rPr>
              <a:t>f</a:t>
            </a:r>
            <a:r>
              <a:rPr kumimoji="0" lang="en-US" altLang="zh-CN"/>
              <a:t>(</a:t>
            </a:r>
            <a:r>
              <a:rPr kumimoji="0" lang="en-US" altLang="zh-CN" i="1">
                <a:latin typeface="Times New Roman" panose="02020603050405020304" pitchFamily="18" charset="0"/>
              </a:rPr>
              <a:t>x</a:t>
            </a:r>
            <a:r>
              <a:rPr kumimoji="0" lang="en-US" altLang="zh-CN"/>
              <a:t>)=0</a:t>
            </a:r>
            <a:r>
              <a:rPr kumimoji="0" lang="zh-CN" altLang="en-US"/>
              <a:t>等价变形为</a:t>
            </a:r>
            <a:r>
              <a:rPr kumimoji="0" lang="en-US" altLang="zh-CN" i="1">
                <a:latin typeface="Times New Roman" panose="02020603050405020304" pitchFamily="18" charset="0"/>
              </a:rPr>
              <a:t>g</a:t>
            </a:r>
            <a:r>
              <a:rPr kumimoji="0" lang="en-US" altLang="zh-CN" baseline="-25000">
                <a:sym typeface="Symbol" panose="05050102010706020507" pitchFamily="18" charset="2"/>
              </a:rPr>
              <a:t>1</a:t>
            </a:r>
            <a:r>
              <a:rPr kumimoji="0" lang="en-US" altLang="zh-CN"/>
              <a:t>(</a:t>
            </a:r>
            <a:r>
              <a:rPr kumimoji="0" lang="en-US" altLang="zh-CN" i="1">
                <a:latin typeface="Times New Roman" panose="02020603050405020304" pitchFamily="18" charset="0"/>
              </a:rPr>
              <a:t>x</a:t>
            </a:r>
            <a:r>
              <a:rPr kumimoji="0" lang="en-US" altLang="zh-CN"/>
              <a:t>)=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baseline="-25000">
                <a:sym typeface="Symbol" panose="05050102010706020507" pitchFamily="18" charset="2"/>
              </a:rPr>
              <a:t>2</a:t>
            </a:r>
            <a:r>
              <a:rPr kumimoji="0" lang="en-US" altLang="zh-CN"/>
              <a:t>(</a:t>
            </a:r>
            <a:r>
              <a:rPr kumimoji="0" lang="en-US" altLang="zh-CN" i="1">
                <a:latin typeface="Times New Roman" panose="02020603050405020304" pitchFamily="18" charset="0"/>
              </a:rPr>
              <a:t>x</a:t>
            </a:r>
            <a:r>
              <a:rPr kumimoji="0" lang="en-US" altLang="zh-CN"/>
              <a:t>)</a:t>
            </a:r>
            <a:r>
              <a:rPr kumimoji="0" lang="zh-CN" altLang="en-US"/>
              <a:t>的形式，</a:t>
            </a:r>
            <a:r>
              <a:rPr kumimoji="0" lang="en-US" altLang="zh-CN" i="1">
                <a:latin typeface="Times New Roman" panose="02020603050405020304" pitchFamily="18" charset="0"/>
              </a:rPr>
              <a:t>y</a:t>
            </a:r>
            <a:r>
              <a:rPr kumimoji="0" lang="en-US" altLang="zh-CN"/>
              <a:t>=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baseline="-25000">
                <a:sym typeface="Symbol" panose="05050102010706020507" pitchFamily="18" charset="2"/>
              </a:rPr>
              <a:t>1</a:t>
            </a:r>
            <a:r>
              <a:rPr kumimoji="0" lang="en-US" altLang="zh-CN"/>
              <a:t>(</a:t>
            </a:r>
            <a:r>
              <a:rPr kumimoji="0" lang="en-US" altLang="zh-CN" i="1">
                <a:latin typeface="Times New Roman" panose="02020603050405020304" pitchFamily="18" charset="0"/>
              </a:rPr>
              <a:t>x</a:t>
            </a:r>
            <a:r>
              <a:rPr kumimoji="0" lang="en-US" altLang="zh-CN"/>
              <a:t>)</a:t>
            </a:r>
            <a:r>
              <a:rPr kumimoji="0" lang="zh-CN" altLang="en-US"/>
              <a:t>与</a:t>
            </a:r>
            <a:r>
              <a:rPr kumimoji="0" lang="en-US" altLang="zh-CN" i="1">
                <a:latin typeface="Times New Roman" panose="02020603050405020304" pitchFamily="18" charset="0"/>
              </a:rPr>
              <a:t>y</a:t>
            </a:r>
            <a:r>
              <a:rPr kumimoji="0" lang="en-US" altLang="zh-CN"/>
              <a:t>=</a:t>
            </a:r>
            <a:r>
              <a:rPr kumimoji="0"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0" lang="en-US" altLang="zh-CN" baseline="-25000">
                <a:sym typeface="Symbol" panose="05050102010706020507" pitchFamily="18" charset="2"/>
              </a:rPr>
              <a:t>2</a:t>
            </a:r>
            <a:r>
              <a:rPr kumimoji="0" lang="en-US" altLang="zh-CN"/>
              <a:t>(</a:t>
            </a:r>
            <a:r>
              <a:rPr kumimoji="0" lang="en-US" altLang="zh-CN" i="1">
                <a:latin typeface="Times New Roman" panose="02020603050405020304" pitchFamily="18" charset="0"/>
              </a:rPr>
              <a:t>x</a:t>
            </a:r>
            <a:r>
              <a:rPr kumimoji="0" lang="en-US" altLang="zh-CN"/>
              <a:t>)</a:t>
            </a:r>
            <a:r>
              <a:rPr kumimoji="0" lang="zh-CN" altLang="en-US"/>
              <a:t>两曲线交点的横坐标所在的子区间即为含根区间。</a:t>
            </a:r>
          </a:p>
        </p:txBody>
      </p:sp>
      <p:sp>
        <p:nvSpPr>
          <p:cNvPr id="61451" name="Text Box 11"/>
          <p:cNvSpPr txBox="1">
            <a:spLocks noChangeArrowheads="1"/>
          </p:cNvSpPr>
          <p:nvPr/>
        </p:nvSpPr>
        <p:spPr bwMode="auto">
          <a:xfrm>
            <a:off x="900113" y="4797425"/>
            <a:ext cx="746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例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en-US" altLang="zh-CN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  </a:t>
            </a:r>
            <a:r>
              <a:rPr lang="zh-CN" altLang="en-US">
                <a:latin typeface="Tahoma" panose="020B0604030504040204" pitchFamily="34" charset="0"/>
              </a:rPr>
              <a:t>求方程</a:t>
            </a:r>
            <a:r>
              <a:rPr lang="en-US" altLang="zh-CN"/>
              <a:t>3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/>
              <a:t>-1-</a:t>
            </a:r>
            <a:r>
              <a:rPr lang="en-US" altLang="zh-CN">
                <a:latin typeface="Times New Roman" panose="02020603050405020304" pitchFamily="18" charset="0"/>
              </a:rPr>
              <a:t>cos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/>
              <a:t>0</a:t>
            </a:r>
            <a:r>
              <a:rPr lang="zh-CN" altLang="en-US">
                <a:latin typeface="Tahoma" panose="020B0604030504040204" pitchFamily="34" charset="0"/>
              </a:rPr>
              <a:t>的有根区间。</a:t>
            </a:r>
          </a:p>
        </p:txBody>
      </p:sp>
      <p:sp>
        <p:nvSpPr>
          <p:cNvPr id="61452" name="Text Box 12"/>
          <p:cNvSpPr txBox="1">
            <a:spLocks noChangeArrowheads="1"/>
          </p:cNvSpPr>
          <p:nvPr/>
        </p:nvSpPr>
        <p:spPr bwMode="auto">
          <a:xfrm>
            <a:off x="1331913" y="5229225"/>
            <a:ext cx="4176712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>
                <a:latin typeface="Tahoma" panose="020B0604030504040204" pitchFamily="34" charset="0"/>
              </a:rPr>
              <a:t>方程等价变形为</a:t>
            </a:r>
            <a:r>
              <a:rPr lang="en-US" altLang="zh-CN"/>
              <a:t>3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/>
              <a:t>-1=</a:t>
            </a:r>
            <a:r>
              <a:rPr lang="en-US" altLang="zh-CN">
                <a:latin typeface="Times New Roman" panose="02020603050405020304" pitchFamily="18" charset="0"/>
              </a:rPr>
              <a:t>cos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zh-CN" altLang="en-US" i="1">
                <a:latin typeface="Times New Roman" panose="02020603050405020304" pitchFamily="18" charset="0"/>
              </a:rPr>
              <a:t>，</a:t>
            </a:r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53" name="Text Box 13"/>
          <p:cNvSpPr txBox="1">
            <a:spLocks noChangeArrowheads="1"/>
          </p:cNvSpPr>
          <p:nvPr/>
        </p:nvSpPr>
        <p:spPr bwMode="auto">
          <a:xfrm>
            <a:off x="827088" y="5734050"/>
            <a:ext cx="76676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=</a:t>
            </a:r>
            <a:r>
              <a:rPr lang="en-US" altLang="zh-CN"/>
              <a:t>3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/>
              <a:t>-1</a:t>
            </a:r>
            <a:r>
              <a:rPr lang="zh-CN" altLang="en-US">
                <a:latin typeface="Tahoma" panose="020B0604030504040204" pitchFamily="34" charset="0"/>
              </a:rPr>
              <a:t>与</a:t>
            </a:r>
            <a:r>
              <a:rPr lang="en-US" altLang="zh-CN" i="1">
                <a:latin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</a:rPr>
              <a:t>=cos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zh-CN" altLang="en-US"/>
              <a:t>的图像只有一个交点位于</a:t>
            </a:r>
            <a:r>
              <a:rPr lang="en-US" altLang="zh-CN"/>
              <a:t>[0.5</a:t>
            </a:r>
            <a:r>
              <a:rPr lang="zh-CN" altLang="en-US"/>
              <a:t>，</a:t>
            </a:r>
            <a:r>
              <a:rPr lang="en-US" altLang="zh-CN"/>
              <a:t>1]</a:t>
            </a:r>
            <a:r>
              <a:rPr lang="zh-CN" altLang="en-US"/>
              <a:t>内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1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1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1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14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5" grpId="0" animBg="1"/>
      <p:bldP spid="61446" grpId="0"/>
      <p:bldP spid="61447" grpId="0"/>
      <p:bldP spid="61448" grpId="0"/>
      <p:bldP spid="61449" grpId="0"/>
      <p:bldP spid="61450" grpId="0" build="p" autoUpdateAnimBg="0"/>
      <p:bldP spid="61451" grpId="0" build="p" autoUpdateAnimBg="0"/>
      <p:bldP spid="61452" grpId="0" build="p" autoUpdateAnimBg="0"/>
      <p:bldP spid="61453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0" name="Text Box 3"/>
          <p:cNvSpPr txBox="1">
            <a:spLocks noChangeArrowheads="1"/>
          </p:cNvSpPr>
          <p:nvPr/>
        </p:nvSpPr>
        <p:spPr bwMode="auto">
          <a:xfrm>
            <a:off x="1977390" y="4150360"/>
            <a:ext cx="455612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/>
              <a:t>对        的根进行搜索计算，</a:t>
            </a:r>
          </a:p>
        </p:txBody>
      </p:sp>
      <p:graphicFrame>
        <p:nvGraphicFramePr>
          <p:cNvPr id="4101" name="Object 4"/>
          <p:cNvGraphicFramePr>
            <a:graphicFrameLocks noChangeAspect="1"/>
          </p:cNvGraphicFramePr>
          <p:nvPr/>
        </p:nvGraphicFramePr>
        <p:xfrm>
          <a:off x="2337435" y="4311650"/>
          <a:ext cx="100838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3" name="Equation" r:id="rId3" imgW="410845" imgH="146685" progId="Equation.3">
                  <p:embed/>
                </p:oleObj>
              </mc:Choice>
              <mc:Fallback>
                <p:oleObj name="Equation" r:id="rId3" imgW="410845" imgH="14668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7435" y="4311650"/>
                        <a:ext cx="100838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"/>
          <p:cNvGrpSpPr/>
          <p:nvPr/>
        </p:nvGrpSpPr>
        <p:grpSpPr bwMode="auto">
          <a:xfrm>
            <a:off x="395288" y="3573463"/>
            <a:ext cx="8569324" cy="646113"/>
            <a:chOff x="374" y="376"/>
            <a:chExt cx="5398" cy="407"/>
          </a:xfrm>
        </p:grpSpPr>
        <p:sp>
          <p:nvSpPr>
            <p:cNvPr id="4109" name="Text Box 6"/>
            <p:cNvSpPr txBox="1">
              <a:spLocks noChangeArrowheads="1"/>
            </p:cNvSpPr>
            <p:nvPr/>
          </p:nvSpPr>
          <p:spPr bwMode="auto">
            <a:xfrm>
              <a:off x="374" y="376"/>
              <a:ext cx="5398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dirty="0"/>
                <a:t>    </a:t>
              </a:r>
              <a:r>
                <a:rPr lang="zh-CN" altLang="en-US" dirty="0">
                  <a:solidFill>
                    <a:srgbClr val="FF0000"/>
                  </a:solidFill>
                </a:rPr>
                <a:t>例</a:t>
              </a:r>
              <a:r>
                <a:rPr lang="en-US" altLang="zh-CN" dirty="0">
                  <a:solidFill>
                    <a:srgbClr val="FF0000"/>
                  </a:solidFill>
                </a:rPr>
                <a:t>2</a:t>
              </a:r>
              <a:r>
                <a:rPr lang="en-US" altLang="zh-CN" dirty="0">
                  <a:solidFill>
                    <a:schemeClr val="accent2"/>
                  </a:solidFill>
                </a:rPr>
                <a:t> </a:t>
              </a:r>
              <a:r>
                <a:rPr lang="zh-CN" altLang="en-US" dirty="0"/>
                <a:t>求方程                                                   的有根区间</a:t>
              </a:r>
              <a:r>
                <a:rPr lang="en-US" altLang="zh-CN" dirty="0"/>
                <a:t>.</a:t>
              </a:r>
            </a:p>
          </p:txBody>
        </p:sp>
        <p:graphicFrame>
          <p:nvGraphicFramePr>
            <p:cNvPr id="4100" name="Object 7"/>
            <p:cNvGraphicFramePr>
              <a:graphicFrameLocks noChangeAspect="1"/>
            </p:cNvGraphicFramePr>
            <p:nvPr/>
          </p:nvGraphicFramePr>
          <p:xfrm>
            <a:off x="1779" y="466"/>
            <a:ext cx="2928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54" name="Equation" r:id="rId5" imgW="1681480" imgH="163830" progId="Equation.3">
                    <p:embed/>
                  </p:oleObj>
                </mc:Choice>
                <mc:Fallback>
                  <p:oleObj name="Equation" r:id="rId5" imgW="1681480" imgH="16383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9" y="466"/>
                          <a:ext cx="2928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2472" name="Object 8"/>
          <p:cNvGraphicFramePr>
            <a:graphicFrameLocks noChangeAspect="1"/>
          </p:cNvGraphicFramePr>
          <p:nvPr/>
        </p:nvGraphicFramePr>
        <p:xfrm>
          <a:off x="1547813" y="4660900"/>
          <a:ext cx="5319712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5" name="公式" r:id="rId7" imgW="57302400" imgH="17678400" progId="Equation.3">
                  <p:embed/>
                </p:oleObj>
              </mc:Choice>
              <mc:Fallback>
                <p:oleObj name="公式" r:id="rId7" imgW="57302400" imgH="176784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660900"/>
                        <a:ext cx="5319712" cy="131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9"/>
          <p:cNvGrpSpPr/>
          <p:nvPr/>
        </p:nvGrpSpPr>
        <p:grpSpPr bwMode="auto">
          <a:xfrm>
            <a:off x="1331913" y="6213475"/>
            <a:ext cx="5984875" cy="457200"/>
            <a:chOff x="374" y="1117"/>
            <a:chExt cx="3770" cy="288"/>
          </a:xfrm>
        </p:grpSpPr>
        <p:sp>
          <p:nvSpPr>
            <p:cNvPr id="4108" name="Text Box 10"/>
            <p:cNvSpPr txBox="1">
              <a:spLocks noChangeArrowheads="1"/>
            </p:cNvSpPr>
            <p:nvPr/>
          </p:nvSpPr>
          <p:spPr bwMode="auto">
            <a:xfrm>
              <a:off x="374" y="1117"/>
              <a:ext cx="25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</a:pPr>
              <a:r>
                <a:rPr lang="zh-CN" altLang="en-US"/>
                <a:t>由此可知方程的有根区间为 </a:t>
              </a:r>
            </a:p>
          </p:txBody>
        </p:sp>
        <p:graphicFrame>
          <p:nvGraphicFramePr>
            <p:cNvPr id="4099" name="Object 11"/>
            <p:cNvGraphicFramePr>
              <a:graphicFrameLocks noChangeAspect="1"/>
            </p:cNvGraphicFramePr>
            <p:nvPr/>
          </p:nvGraphicFramePr>
          <p:xfrm>
            <a:off x="2754" y="1179"/>
            <a:ext cx="1390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56" name="Equation" r:id="rId9" imgW="712470" imgH="146685" progId="Equation.3">
                    <p:embed/>
                  </p:oleObj>
                </mc:Choice>
                <mc:Fallback>
                  <p:oleObj name="Equation" r:id="rId9" imgW="712470" imgH="146685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4" y="1179"/>
                          <a:ext cx="1390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05" name="Rectangle 12"/>
          <p:cNvSpPr>
            <a:spLocks noChangeArrowheads="1"/>
          </p:cNvSpPr>
          <p:nvPr/>
        </p:nvSpPr>
        <p:spPr bwMode="auto">
          <a:xfrm>
            <a:off x="684213" y="74613"/>
            <a:ext cx="2071687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(2)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逐步搜索法</a:t>
            </a:r>
          </a:p>
        </p:txBody>
      </p:sp>
      <p:sp>
        <p:nvSpPr>
          <p:cNvPr id="4106" name="Rectangle 13"/>
          <p:cNvSpPr>
            <a:spLocks noChangeArrowheads="1"/>
          </p:cNvSpPr>
          <p:nvPr/>
        </p:nvSpPr>
        <p:spPr bwMode="auto">
          <a:xfrm>
            <a:off x="615950" y="692150"/>
            <a:ext cx="7772400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  </a:t>
            </a:r>
            <a:r>
              <a:rPr lang="zh-CN" altLang="en-US" dirty="0">
                <a:latin typeface="Times New Roman" panose="02020603050405020304" pitchFamily="18" charset="0"/>
              </a:rPr>
              <a:t>先确定方程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)=0</a:t>
            </a:r>
            <a:r>
              <a:rPr lang="zh-CN" altLang="en-US" dirty="0">
                <a:latin typeface="Times New Roman" panose="02020603050405020304" pitchFamily="18" charset="0"/>
              </a:rPr>
              <a:t>的所有实根所在的区间为</a:t>
            </a:r>
            <a:r>
              <a:rPr lang="en-US" altLang="zh-CN" dirty="0">
                <a:latin typeface="Times New Roman" panose="02020603050405020304" pitchFamily="18" charset="0"/>
              </a:rPr>
              <a:t>[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],</a:t>
            </a:r>
            <a:r>
              <a:rPr lang="zh-CN" altLang="en-US" dirty="0">
                <a:latin typeface="Times New Roman" panose="02020603050405020304" pitchFamily="18" charset="0"/>
              </a:rPr>
              <a:t>从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a </a:t>
            </a:r>
            <a:r>
              <a:rPr lang="zh-CN" altLang="en-US" dirty="0">
                <a:latin typeface="Times New Roman" panose="02020603050405020304" pitchFamily="18" charset="0"/>
              </a:rPr>
              <a:t>出发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以步长</a:t>
            </a:r>
            <a:r>
              <a:rPr lang="zh-CN" altLang="en-US" i="1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h=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b-a</a:t>
            </a:r>
            <a:r>
              <a:rPr lang="en-US" altLang="zh-CN" dirty="0">
                <a:latin typeface="Times New Roman" panose="02020603050405020304" pitchFamily="18" charset="0"/>
              </a:rPr>
              <a:t>)/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</a:p>
          <a:p>
            <a:pPr eaLnBrk="1" hangingPunct="1">
              <a:lnSpc>
                <a:spcPct val="12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其中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是正整数，在</a:t>
            </a:r>
            <a:r>
              <a:rPr lang="en-US" altLang="zh-CN" dirty="0">
                <a:latin typeface="Times New Roman" panose="02020603050405020304" pitchFamily="18" charset="0"/>
              </a:rPr>
              <a:t>[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dirty="0" err="1">
                <a:latin typeface="Times New Roman" panose="02020603050405020304" pitchFamily="18" charset="0"/>
              </a:rPr>
              <a:t>,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]</a:t>
            </a:r>
            <a:r>
              <a:rPr lang="zh-CN" altLang="en-US" dirty="0">
                <a:latin typeface="Times New Roman" panose="02020603050405020304" pitchFamily="18" charset="0"/>
              </a:rPr>
              <a:t>内取定节点：</a:t>
            </a:r>
          </a:p>
          <a:p>
            <a:pPr eaLnBrk="1" hangingPunct="1">
              <a:lnSpc>
                <a:spcPct val="12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i="1" dirty="0">
                <a:latin typeface="Times New Roman" panose="02020603050405020304" pitchFamily="18" charset="0"/>
              </a:rPr>
              <a:t> 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＋</a:t>
            </a:r>
            <a:r>
              <a:rPr lang="en-US" altLang="zh-CN" i="1" dirty="0" err="1">
                <a:latin typeface="Times New Roman" panose="02020603050405020304" pitchFamily="18" charset="0"/>
              </a:rPr>
              <a:t>ih</a:t>
            </a:r>
            <a:r>
              <a:rPr lang="en-US" altLang="zh-CN" dirty="0">
                <a:latin typeface="Times New Roman" panose="02020603050405020304" pitchFamily="18" charset="0"/>
              </a:rPr>
              <a:t>   (</a:t>
            </a:r>
            <a:r>
              <a:rPr lang="en-US" altLang="zh-CN" i="1" dirty="0" err="1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=0,1,2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baseline="30000" dirty="0">
                <a:latin typeface="Times New Roman" panose="02020603050405020304" pitchFamily="18" charset="0"/>
              </a:rPr>
              <a:t>……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计算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的值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依据函数值异号及实根的个数确定有根区间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通过调整步长，总可找到所有有根区间。</a:t>
            </a:r>
          </a:p>
        </p:txBody>
      </p:sp>
      <p:sp>
        <p:nvSpPr>
          <p:cNvPr id="62478" name="Rectangle 14"/>
          <p:cNvSpPr>
            <a:spLocks noChangeArrowheads="1"/>
          </p:cNvSpPr>
          <p:nvPr/>
        </p:nvSpPr>
        <p:spPr bwMode="auto">
          <a:xfrm>
            <a:off x="681038" y="4589463"/>
            <a:ext cx="795337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/>
              <a:t> </a:t>
            </a:r>
            <a:r>
              <a:rPr lang="zh-CN" altLang="en-US">
                <a:solidFill>
                  <a:srgbClr val="FF0000"/>
                </a:solidFill>
              </a:rPr>
              <a:t>解</a:t>
            </a:r>
            <a:r>
              <a:rPr lang="zh-CN" altLang="en-US"/>
              <a:t> 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539750" y="188913"/>
            <a:ext cx="25209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4.1.2    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二分法</a:t>
            </a:r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827088" y="836613"/>
            <a:ext cx="676751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"/>
              </a:spcBef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求解方程</a:t>
            </a:r>
            <a:r>
              <a:rPr lang="en-US" altLang="zh-CN" b="0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)= 0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近似根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的一种常用的简单方法。    </a:t>
            </a:r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395288" y="1341438"/>
            <a:ext cx="12969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原理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395288" y="2420938"/>
            <a:ext cx="17272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基本思想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4" name="Text Box 6"/>
          <p:cNvSpPr txBox="1">
            <a:spLocks noChangeArrowheads="1"/>
          </p:cNvSpPr>
          <p:nvPr/>
        </p:nvSpPr>
        <p:spPr bwMode="auto">
          <a:xfrm>
            <a:off x="1331913" y="1412875"/>
            <a:ext cx="74168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"/>
              </a:spcBef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设函数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在闭区间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上连续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且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0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)&lt;0,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则 </a:t>
            </a:r>
            <a:r>
              <a:rPr lang="en-US" altLang="zh-CN" b="0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0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)= 0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在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内必有实根区间。</a:t>
            </a:r>
          </a:p>
        </p:txBody>
      </p:sp>
      <p:sp>
        <p:nvSpPr>
          <p:cNvPr id="63495" name="Text Box 7"/>
          <p:cNvSpPr txBox="1">
            <a:spLocks noChangeArrowheads="1"/>
          </p:cNvSpPr>
          <p:nvPr/>
        </p:nvSpPr>
        <p:spPr bwMode="auto">
          <a:xfrm>
            <a:off x="684213" y="2997200"/>
            <a:ext cx="7704137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"/>
              </a:spcBef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逐步将区间二等分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通过判断区间端点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的符号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逐步将有根区间缩小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直至有根区间足够地小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便可求出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满足精度要求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的近似根。</a:t>
            </a:r>
          </a:p>
        </p:txBody>
      </p:sp>
      <p:sp>
        <p:nvSpPr>
          <p:cNvPr id="63496" name="Text Box 8"/>
          <p:cNvSpPr txBox="1">
            <a:spLocks noChangeArrowheads="1"/>
          </p:cNvSpPr>
          <p:nvPr/>
        </p:nvSpPr>
        <p:spPr bwMode="auto">
          <a:xfrm>
            <a:off x="468313" y="4508500"/>
            <a:ext cx="17272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具体做法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/>
      <p:bldP spid="63492" grpId="0"/>
      <p:bldP spid="63493" grpId="0"/>
      <p:bldP spid="63494" grpId="0"/>
      <p:bldP spid="63495" grpId="0"/>
      <p:bldP spid="6349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1531938" y="292100"/>
            <a:ext cx="6096000" cy="2895600"/>
            <a:chOff x="1056" y="2256"/>
            <a:chExt cx="3840" cy="1824"/>
          </a:xfrm>
        </p:grpSpPr>
        <p:sp>
          <p:nvSpPr>
            <p:cNvPr id="5163" name="Line 3"/>
            <p:cNvSpPr>
              <a:spLocks noChangeShapeType="1"/>
            </p:cNvSpPr>
            <p:nvPr/>
          </p:nvSpPr>
          <p:spPr bwMode="auto">
            <a:xfrm>
              <a:off x="2304" y="3360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grpSp>
          <p:nvGrpSpPr>
            <p:cNvPr id="5164" name="Group 4"/>
            <p:cNvGrpSpPr/>
            <p:nvPr/>
          </p:nvGrpSpPr>
          <p:grpSpPr bwMode="auto">
            <a:xfrm>
              <a:off x="1056" y="2256"/>
              <a:ext cx="3840" cy="1824"/>
              <a:chOff x="1056" y="2256"/>
              <a:chExt cx="3840" cy="1824"/>
            </a:xfrm>
          </p:grpSpPr>
          <p:sp>
            <p:nvSpPr>
              <p:cNvPr id="5165" name="Freeform 5"/>
              <p:cNvSpPr/>
              <p:nvPr/>
            </p:nvSpPr>
            <p:spPr bwMode="auto">
              <a:xfrm>
                <a:off x="2304" y="2544"/>
                <a:ext cx="1776" cy="1152"/>
              </a:xfrm>
              <a:custGeom>
                <a:avLst/>
                <a:gdLst>
                  <a:gd name="T0" fmla="*/ 1991 w 1584"/>
                  <a:gd name="T1" fmla="*/ 0 h 1248"/>
                  <a:gd name="T2" fmla="*/ 1449 w 1584"/>
                  <a:gd name="T3" fmla="*/ 246 h 1248"/>
                  <a:gd name="T4" fmla="*/ 965 w 1584"/>
                  <a:gd name="T5" fmla="*/ 614 h 1248"/>
                  <a:gd name="T6" fmla="*/ 664 w 1584"/>
                  <a:gd name="T7" fmla="*/ 900 h 1248"/>
                  <a:gd name="T8" fmla="*/ 0 w 1584"/>
                  <a:gd name="T9" fmla="*/ 1063 h 12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84"/>
                  <a:gd name="T16" fmla="*/ 0 h 1248"/>
                  <a:gd name="T17" fmla="*/ 1584 w 1584"/>
                  <a:gd name="T18" fmla="*/ 1248 h 124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84" h="1248">
                    <a:moveTo>
                      <a:pt x="1584" y="0"/>
                    </a:moveTo>
                    <a:cubicBezTo>
                      <a:pt x="1436" y="84"/>
                      <a:pt x="1288" y="168"/>
                      <a:pt x="1152" y="288"/>
                    </a:cubicBezTo>
                    <a:cubicBezTo>
                      <a:pt x="1016" y="408"/>
                      <a:pt x="872" y="592"/>
                      <a:pt x="768" y="720"/>
                    </a:cubicBezTo>
                    <a:cubicBezTo>
                      <a:pt x="664" y="848"/>
                      <a:pt x="656" y="968"/>
                      <a:pt x="528" y="1056"/>
                    </a:cubicBezTo>
                    <a:cubicBezTo>
                      <a:pt x="400" y="1144"/>
                      <a:pt x="200" y="1196"/>
                      <a:pt x="0" y="1248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grpSp>
            <p:nvGrpSpPr>
              <p:cNvPr id="5166" name="Group 6"/>
              <p:cNvGrpSpPr/>
              <p:nvPr/>
            </p:nvGrpSpPr>
            <p:grpSpPr bwMode="auto">
              <a:xfrm>
                <a:off x="1056" y="2256"/>
                <a:ext cx="3840" cy="1824"/>
                <a:chOff x="1056" y="2256"/>
                <a:chExt cx="3840" cy="1824"/>
              </a:xfrm>
            </p:grpSpPr>
            <p:sp>
              <p:nvSpPr>
                <p:cNvPr id="5167" name="Line 7"/>
                <p:cNvSpPr>
                  <a:spLocks noChangeShapeType="1"/>
                </p:cNvSpPr>
                <p:nvPr/>
              </p:nvSpPr>
              <p:spPr bwMode="auto">
                <a:xfrm>
                  <a:off x="1056" y="3360"/>
                  <a:ext cx="321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/>
                </a:p>
              </p:txBody>
            </p:sp>
            <p:sp>
              <p:nvSpPr>
                <p:cNvPr id="5168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1968" y="2256"/>
                  <a:ext cx="0" cy="182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/>
                </a:p>
              </p:txBody>
            </p:sp>
            <p:sp>
              <p:nvSpPr>
                <p:cNvPr id="5169" name="Line 9"/>
                <p:cNvSpPr>
                  <a:spLocks noChangeShapeType="1"/>
                </p:cNvSpPr>
                <p:nvPr/>
              </p:nvSpPr>
              <p:spPr bwMode="auto">
                <a:xfrm>
                  <a:off x="4080" y="2544"/>
                  <a:ext cx="0" cy="81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5142" name="Object 10"/>
                <p:cNvGraphicFramePr>
                  <a:graphicFrameLocks noChangeAspect="1"/>
                </p:cNvGraphicFramePr>
                <p:nvPr/>
              </p:nvGraphicFramePr>
              <p:xfrm>
                <a:off x="4128" y="2448"/>
                <a:ext cx="768" cy="25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117" name="Equation" r:id="rId3" imgW="438150" imgH="146685" progId="Equation.3">
                        <p:embed/>
                      </p:oleObj>
                    </mc:Choice>
                    <mc:Fallback>
                      <p:oleObj name="Equation" r:id="rId3" imgW="438150" imgH="146685" progId="Equation.3">
                        <p:embed/>
                        <p:pic>
                          <p:nvPicPr>
                            <p:cNvPr id="0" name="Object 1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28" y="2448"/>
                              <a:ext cx="768" cy="25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143" name="Object 11"/>
                <p:cNvGraphicFramePr>
                  <a:graphicFrameLocks noChangeAspect="1"/>
                </p:cNvGraphicFramePr>
                <p:nvPr/>
              </p:nvGraphicFramePr>
              <p:xfrm>
                <a:off x="2240" y="3376"/>
                <a:ext cx="160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118" name="Equation" r:id="rId5" imgW="92710" imgH="99060" progId="Equation.3">
                        <p:embed/>
                      </p:oleObj>
                    </mc:Choice>
                    <mc:Fallback>
                      <p:oleObj name="Equation" r:id="rId5" imgW="92710" imgH="99060" progId="Equation.3">
                        <p:embed/>
                        <p:pic>
                          <p:nvPicPr>
                            <p:cNvPr id="0" name="Object 1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240" y="3376"/>
                              <a:ext cx="160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144" name="Object 12"/>
                <p:cNvGraphicFramePr>
                  <a:graphicFrameLocks noChangeAspect="1"/>
                </p:cNvGraphicFramePr>
                <p:nvPr/>
              </p:nvGraphicFramePr>
              <p:xfrm>
                <a:off x="4016" y="3360"/>
                <a:ext cx="160" cy="22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119" name="Equation" r:id="rId7" imgW="92710" imgH="126365" progId="Equation.3">
                        <p:embed/>
                      </p:oleObj>
                    </mc:Choice>
                    <mc:Fallback>
                      <p:oleObj name="Equation" r:id="rId7" imgW="92710" imgH="126365" progId="Equation.3">
                        <p:embed/>
                        <p:pic>
                          <p:nvPicPr>
                            <p:cNvPr id="0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016" y="3360"/>
                              <a:ext cx="160" cy="22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145" name="Object 13"/>
                <p:cNvGraphicFramePr>
                  <a:graphicFrameLocks noChangeAspect="1"/>
                </p:cNvGraphicFramePr>
                <p:nvPr/>
              </p:nvGraphicFramePr>
              <p:xfrm>
                <a:off x="1760" y="3360"/>
                <a:ext cx="160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120" name="Equation" r:id="rId9" imgW="92710" imgH="99060" progId="Equation.3">
                        <p:embed/>
                      </p:oleObj>
                    </mc:Choice>
                    <mc:Fallback>
                      <p:oleObj name="Equation" r:id="rId9" imgW="92710" imgH="99060" progId="Equation.3">
                        <p:embed/>
                        <p:pic>
                          <p:nvPicPr>
                            <p:cNvPr id="0" name="Object 1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60" y="3360"/>
                              <a:ext cx="160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146" name="Object 14"/>
                <p:cNvGraphicFramePr>
                  <a:graphicFrameLocks noChangeAspect="1"/>
                </p:cNvGraphicFramePr>
                <p:nvPr/>
              </p:nvGraphicFramePr>
              <p:xfrm>
                <a:off x="4320" y="3312"/>
                <a:ext cx="176" cy="17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121" name="Equation" r:id="rId11" imgW="99060" imgH="99060" progId="Equation.3">
                        <p:embed/>
                      </p:oleObj>
                    </mc:Choice>
                    <mc:Fallback>
                      <p:oleObj name="Equation" r:id="rId11" imgW="99060" imgH="99060" progId="Equation.3">
                        <p:embed/>
                        <p:pic>
                          <p:nvPicPr>
                            <p:cNvPr id="0" name="Object 1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20" y="3312"/>
                              <a:ext cx="176" cy="17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147" name="Object 15"/>
                <p:cNvGraphicFramePr>
                  <a:graphicFrameLocks noChangeAspect="1"/>
                </p:cNvGraphicFramePr>
                <p:nvPr/>
              </p:nvGraphicFramePr>
              <p:xfrm>
                <a:off x="1680" y="2352"/>
                <a:ext cx="176" cy="20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122" name="Equation" r:id="rId13" imgW="99060" imgH="119380" progId="Equation.3">
                        <p:embed/>
                      </p:oleObj>
                    </mc:Choice>
                    <mc:Fallback>
                      <p:oleObj name="Equation" r:id="rId13" imgW="99060" imgH="119380" progId="Equation.3">
                        <p:embed/>
                        <p:pic>
                          <p:nvPicPr>
                            <p:cNvPr id="0" name="Object 1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680" y="2352"/>
                              <a:ext cx="176" cy="20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5148" name="Object 16"/>
                <p:cNvGraphicFramePr>
                  <a:graphicFrameLocks noChangeAspect="1"/>
                </p:cNvGraphicFramePr>
                <p:nvPr/>
              </p:nvGraphicFramePr>
              <p:xfrm>
                <a:off x="2976" y="3344"/>
                <a:ext cx="240" cy="25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123" name="Equation" r:id="rId15" imgW="137160" imgH="146685" progId="Equation.3">
                        <p:embed/>
                      </p:oleObj>
                    </mc:Choice>
                    <mc:Fallback>
                      <p:oleObj name="Equation" r:id="rId15" imgW="137160" imgH="146685" progId="Equation.3">
                        <p:embed/>
                        <p:pic>
                          <p:nvPicPr>
                            <p:cNvPr id="0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76" y="3344"/>
                              <a:ext cx="240" cy="25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graphicFrame>
        <p:nvGraphicFramePr>
          <p:cNvPr id="64529" name="Object 17"/>
          <p:cNvGraphicFramePr>
            <a:graphicFrameLocks noChangeAspect="1"/>
          </p:cNvGraphicFramePr>
          <p:nvPr/>
        </p:nvGraphicFramePr>
        <p:xfrm>
          <a:off x="4951413" y="1968500"/>
          <a:ext cx="85725" cy="8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24" name="Equation" r:id="rId17" imgW="81915" imgH="81915" progId="Equation.3">
                  <p:embed/>
                </p:oleObj>
              </mc:Choice>
              <mc:Fallback>
                <p:oleObj name="Equation" r:id="rId17" imgW="81915" imgH="8191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1413" y="1968500"/>
                        <a:ext cx="85725" cy="85725"/>
                      </a:xfrm>
                      <a:prstGeom prst="rect">
                        <a:avLst/>
                      </a:prstGeom>
                      <a:solidFill>
                        <a:srgbClr val="0000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8"/>
          <p:cNvGrpSpPr/>
          <p:nvPr/>
        </p:nvGrpSpPr>
        <p:grpSpPr bwMode="auto">
          <a:xfrm>
            <a:off x="4872038" y="2044700"/>
            <a:ext cx="1474787" cy="1385888"/>
            <a:chOff x="3161" y="3216"/>
            <a:chExt cx="831" cy="821"/>
          </a:xfrm>
        </p:grpSpPr>
        <p:sp>
          <p:nvSpPr>
            <p:cNvPr id="5162" name="Line 19"/>
            <p:cNvSpPr>
              <a:spLocks noChangeShapeType="1"/>
            </p:cNvSpPr>
            <p:nvPr/>
          </p:nvSpPr>
          <p:spPr bwMode="auto">
            <a:xfrm>
              <a:off x="3232" y="3216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graphicFrame>
          <p:nvGraphicFramePr>
            <p:cNvPr id="5141" name="Object 20"/>
            <p:cNvGraphicFramePr>
              <a:graphicFrameLocks noChangeAspect="1"/>
            </p:cNvGraphicFramePr>
            <p:nvPr/>
          </p:nvGraphicFramePr>
          <p:xfrm>
            <a:off x="3161" y="3544"/>
            <a:ext cx="831" cy="4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25" name="公式" r:id="rId19" imgW="493395" imgH="290195" progId="Equation.3">
                    <p:embed/>
                  </p:oleObj>
                </mc:Choice>
                <mc:Fallback>
                  <p:oleObj name="公式" r:id="rId19" imgW="493395" imgH="290195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1" y="3544"/>
                          <a:ext cx="831" cy="4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4533" name="Object 21"/>
          <p:cNvGraphicFramePr>
            <a:graphicFrameLocks noChangeAspect="1"/>
          </p:cNvGraphicFramePr>
          <p:nvPr/>
        </p:nvGraphicFramePr>
        <p:xfrm>
          <a:off x="6256338" y="2722563"/>
          <a:ext cx="9429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26" name="Equation" r:id="rId21" imgW="246380" imgH="153670" progId="Equation.3">
                  <p:embed/>
                </p:oleObj>
              </mc:Choice>
              <mc:Fallback>
                <p:oleObj name="Equation" r:id="rId21" imgW="246380" imgH="15367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6338" y="2722563"/>
                        <a:ext cx="9429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4" name="Object 22"/>
          <p:cNvGraphicFramePr>
            <a:graphicFrameLocks noChangeAspect="1"/>
          </p:cNvGraphicFramePr>
          <p:nvPr/>
        </p:nvGraphicFramePr>
        <p:xfrm>
          <a:off x="4211638" y="1968500"/>
          <a:ext cx="85725" cy="8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27" name="Equation" r:id="rId23" imgW="81915" imgH="81915" progId="Equation.3">
                  <p:embed/>
                </p:oleObj>
              </mc:Choice>
              <mc:Fallback>
                <p:oleObj name="Equation" r:id="rId23" imgW="81915" imgH="81915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1968500"/>
                        <a:ext cx="85725" cy="85725"/>
                      </a:xfrm>
                      <a:prstGeom prst="rect">
                        <a:avLst/>
                      </a:prstGeom>
                      <a:solidFill>
                        <a:srgbClr val="0000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3"/>
          <p:cNvGrpSpPr/>
          <p:nvPr/>
        </p:nvGrpSpPr>
        <p:grpSpPr bwMode="auto">
          <a:xfrm>
            <a:off x="2946400" y="2032000"/>
            <a:ext cx="1639888" cy="1365250"/>
            <a:chOff x="1947" y="3208"/>
            <a:chExt cx="1033" cy="860"/>
          </a:xfrm>
        </p:grpSpPr>
        <p:sp>
          <p:nvSpPr>
            <p:cNvPr id="5161" name="Line 24"/>
            <p:cNvSpPr>
              <a:spLocks noChangeShapeType="1"/>
            </p:cNvSpPr>
            <p:nvPr/>
          </p:nvSpPr>
          <p:spPr bwMode="auto">
            <a:xfrm>
              <a:off x="2768" y="3208"/>
              <a:ext cx="0" cy="5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graphicFrame>
          <p:nvGraphicFramePr>
            <p:cNvPr id="5140" name="Object 25"/>
            <p:cNvGraphicFramePr>
              <a:graphicFrameLocks noChangeAspect="1"/>
            </p:cNvGraphicFramePr>
            <p:nvPr/>
          </p:nvGraphicFramePr>
          <p:xfrm>
            <a:off x="1947" y="3544"/>
            <a:ext cx="1033" cy="5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28" name="公式" r:id="rId25" imgW="548005" imgH="290195" progId="Equation.3">
                    <p:embed/>
                  </p:oleObj>
                </mc:Choice>
                <mc:Fallback>
                  <p:oleObj name="公式" r:id="rId25" imgW="548005" imgH="290195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7" y="3544"/>
                          <a:ext cx="1033" cy="5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4538" name="Object 26"/>
          <p:cNvGraphicFramePr>
            <a:graphicFrameLocks noChangeAspect="1"/>
          </p:cNvGraphicFramePr>
          <p:nvPr/>
        </p:nvGraphicFramePr>
        <p:xfrm>
          <a:off x="2036763" y="2719388"/>
          <a:ext cx="10128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29" name="Equation" r:id="rId27" imgW="263525" imgH="153670" progId="Equation.3">
                  <p:embed/>
                </p:oleObj>
              </mc:Choice>
              <mc:Fallback>
                <p:oleObj name="Equation" r:id="rId27" imgW="263525" imgH="15367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6763" y="2719388"/>
                        <a:ext cx="101282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9" name="Object 27"/>
          <p:cNvGraphicFramePr>
            <a:graphicFrameLocks noChangeAspect="1"/>
          </p:cNvGraphicFramePr>
          <p:nvPr/>
        </p:nvGraphicFramePr>
        <p:xfrm>
          <a:off x="4579938" y="1968500"/>
          <a:ext cx="85725" cy="8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0" name="Equation" r:id="rId29" imgW="81915" imgH="81915" progId="Equation.3">
                  <p:embed/>
                </p:oleObj>
              </mc:Choice>
              <mc:Fallback>
                <p:oleObj name="Equation" r:id="rId29" imgW="81915" imgH="81915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9938" y="1968500"/>
                        <a:ext cx="85725" cy="85725"/>
                      </a:xfrm>
                      <a:prstGeom prst="rect">
                        <a:avLst/>
                      </a:prstGeom>
                      <a:solidFill>
                        <a:srgbClr val="0000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40" name="Object 28"/>
          <p:cNvGraphicFramePr>
            <a:graphicFrameLocks noChangeAspect="1"/>
          </p:cNvGraphicFramePr>
          <p:nvPr/>
        </p:nvGraphicFramePr>
        <p:xfrm>
          <a:off x="2493963" y="644525"/>
          <a:ext cx="10128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1" name="Equation" r:id="rId31" imgW="263525" imgH="163830" progId="Equation.3">
                  <p:embed/>
                </p:oleObj>
              </mc:Choice>
              <mc:Fallback>
                <p:oleObj name="Equation" r:id="rId31" imgW="263525" imgH="16383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963" y="644525"/>
                        <a:ext cx="101282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41" name="Object 29"/>
          <p:cNvGraphicFramePr>
            <a:graphicFrameLocks noChangeAspect="1"/>
          </p:cNvGraphicFramePr>
          <p:nvPr/>
        </p:nvGraphicFramePr>
        <p:xfrm>
          <a:off x="3360738" y="1206500"/>
          <a:ext cx="32385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2" name="Equation" r:id="rId33" imgW="120015" imgH="310515" progId="Equation.3">
                  <p:embed/>
                </p:oleObj>
              </mc:Choice>
              <mc:Fallback>
                <p:oleObj name="Equation" r:id="rId33" imgW="120015" imgH="310515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0738" y="1206500"/>
                        <a:ext cx="323850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30"/>
          <p:cNvGrpSpPr/>
          <p:nvPr/>
        </p:nvGrpSpPr>
        <p:grpSpPr bwMode="auto">
          <a:xfrm>
            <a:off x="3251200" y="508000"/>
            <a:ext cx="1695450" cy="1460500"/>
            <a:chOff x="2139" y="2248"/>
            <a:chExt cx="1068" cy="920"/>
          </a:xfrm>
        </p:grpSpPr>
        <p:graphicFrame>
          <p:nvGraphicFramePr>
            <p:cNvPr id="5139" name="Object 31"/>
            <p:cNvGraphicFramePr>
              <a:graphicFrameLocks noChangeAspect="1"/>
            </p:cNvGraphicFramePr>
            <p:nvPr/>
          </p:nvGraphicFramePr>
          <p:xfrm>
            <a:off x="2139" y="2248"/>
            <a:ext cx="1068" cy="5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33" name="公式" r:id="rId35" imgW="565150" imgH="290195" progId="Equation.3">
                    <p:embed/>
                  </p:oleObj>
                </mc:Choice>
                <mc:Fallback>
                  <p:oleObj name="公式" r:id="rId35" imgW="565150" imgH="290195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9" y="2248"/>
                          <a:ext cx="1068" cy="5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60" name="Line 32"/>
            <p:cNvSpPr>
              <a:spLocks noChangeShapeType="1"/>
            </p:cNvSpPr>
            <p:nvPr/>
          </p:nvSpPr>
          <p:spPr bwMode="auto">
            <a:xfrm flipV="1">
              <a:off x="2992" y="2640"/>
              <a:ext cx="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aphicFrame>
        <p:nvGraphicFramePr>
          <p:cNvPr id="64545" name="Object 33"/>
          <p:cNvGraphicFramePr>
            <a:graphicFrameLocks noChangeAspect="1"/>
          </p:cNvGraphicFramePr>
          <p:nvPr/>
        </p:nvGraphicFramePr>
        <p:xfrm>
          <a:off x="7094538" y="2708275"/>
          <a:ext cx="94297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4" name="Equation" r:id="rId37" imgW="246380" imgH="153670" progId="Equation.3">
                  <p:embed/>
                </p:oleObj>
              </mc:Choice>
              <mc:Fallback>
                <p:oleObj name="Equation" r:id="rId37" imgW="246380" imgH="15367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4538" y="2708275"/>
                        <a:ext cx="94297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46" name="Object 34"/>
          <p:cNvGraphicFramePr>
            <a:graphicFrameLocks noChangeAspect="1"/>
          </p:cNvGraphicFramePr>
          <p:nvPr/>
        </p:nvGraphicFramePr>
        <p:xfrm>
          <a:off x="7932738" y="2713038"/>
          <a:ext cx="94297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5" name="Equation" r:id="rId39" imgW="246380" imgH="163830" progId="Equation.3">
                  <p:embed/>
                </p:oleObj>
              </mc:Choice>
              <mc:Fallback>
                <p:oleObj name="Equation" r:id="rId39" imgW="246380" imgH="16383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2738" y="2713038"/>
                        <a:ext cx="94297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47" name="Object 35"/>
          <p:cNvGraphicFramePr>
            <a:graphicFrameLocks noChangeAspect="1"/>
          </p:cNvGraphicFramePr>
          <p:nvPr/>
        </p:nvGraphicFramePr>
        <p:xfrm>
          <a:off x="236538" y="520700"/>
          <a:ext cx="8763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6" name="Equation" r:id="rId41" imgW="301625" imgH="163830" progId="Equation.DSMT4">
                  <p:embed/>
                </p:oleObj>
              </mc:Choice>
              <mc:Fallback>
                <p:oleObj name="Equation" r:id="rId41" imgW="301625" imgH="16383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8" y="520700"/>
                        <a:ext cx="87630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48" name="Object 36"/>
          <p:cNvGraphicFramePr>
            <a:graphicFrameLocks noChangeAspect="1"/>
          </p:cNvGraphicFramePr>
          <p:nvPr/>
        </p:nvGraphicFramePr>
        <p:xfrm>
          <a:off x="236538" y="1054100"/>
          <a:ext cx="957262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7" name="Equation" r:id="rId43" imgW="328930" imgH="163830" progId="Equation.DSMT4">
                  <p:embed/>
                </p:oleObj>
              </mc:Choice>
              <mc:Fallback>
                <p:oleObj name="Equation" r:id="rId43" imgW="328930" imgH="16383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8" y="1054100"/>
                        <a:ext cx="957262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49" name="Object 37"/>
          <p:cNvGraphicFramePr>
            <a:graphicFrameLocks noChangeAspect="1"/>
          </p:cNvGraphicFramePr>
          <p:nvPr/>
        </p:nvGraphicFramePr>
        <p:xfrm>
          <a:off x="236538" y="1587500"/>
          <a:ext cx="928687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8" name="Equation" r:id="rId45" imgW="318770" imgH="163830" progId="Equation.DSMT4">
                  <p:embed/>
                </p:oleObj>
              </mc:Choice>
              <mc:Fallback>
                <p:oleObj name="Equation" r:id="rId45" imgW="318770" imgH="16383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38" y="1587500"/>
                        <a:ext cx="928687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50" name="Text Box 38"/>
          <p:cNvSpPr txBox="1">
            <a:spLocks noChangeArrowheads="1"/>
          </p:cNvSpPr>
          <p:nvPr/>
        </p:nvSpPr>
        <p:spPr bwMode="auto">
          <a:xfrm>
            <a:off x="373063" y="2197100"/>
            <a:ext cx="54927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以此类推</a:t>
            </a:r>
          </a:p>
        </p:txBody>
      </p:sp>
      <p:sp>
        <p:nvSpPr>
          <p:cNvPr id="64551" name="Rectangle 39"/>
          <p:cNvSpPr>
            <a:spLocks noChangeArrowheads="1"/>
          </p:cNvSpPr>
          <p:nvPr/>
        </p:nvSpPr>
        <p:spPr bwMode="auto">
          <a:xfrm>
            <a:off x="539750" y="3429000"/>
            <a:ext cx="263207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/>
              <a:t>由二分法的过程知</a:t>
            </a:r>
          </a:p>
        </p:txBody>
      </p:sp>
      <p:graphicFrame>
        <p:nvGraphicFramePr>
          <p:cNvPr id="64552" name="Object 40"/>
          <p:cNvGraphicFramePr>
            <a:graphicFrameLocks noChangeAspect="1"/>
          </p:cNvGraphicFramePr>
          <p:nvPr/>
        </p:nvGraphicFramePr>
        <p:xfrm>
          <a:off x="827088" y="4149725"/>
          <a:ext cx="4752975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9" name="公式" r:id="rId47" imgW="2017395" imgH="163830" progId="Equation.3">
                  <p:embed/>
                </p:oleObj>
              </mc:Choice>
              <mc:Fallback>
                <p:oleObj name="公式" r:id="rId47" imgW="2017395" imgH="16383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149725"/>
                        <a:ext cx="4752975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53" name="Object 41"/>
          <p:cNvGraphicFramePr>
            <a:graphicFrameLocks noChangeAspect="1"/>
          </p:cNvGraphicFramePr>
          <p:nvPr/>
        </p:nvGraphicFramePr>
        <p:xfrm>
          <a:off x="5651500" y="4111625"/>
          <a:ext cx="27368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0" name="公式" r:id="rId49" imgW="1442085" imgH="173990" progId="Equation.3">
                  <p:embed/>
                </p:oleObj>
              </mc:Choice>
              <mc:Fallback>
                <p:oleObj name="公式" r:id="rId49" imgW="1442085" imgH="17399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4111625"/>
                        <a:ext cx="273685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54" name="Rectangle 42"/>
          <p:cNvSpPr>
            <a:spLocks noChangeArrowheads="1"/>
          </p:cNvSpPr>
          <p:nvPr/>
        </p:nvSpPr>
        <p:spPr bwMode="auto">
          <a:xfrm>
            <a:off x="250825" y="3933825"/>
            <a:ext cx="53657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(1)</a:t>
            </a:r>
          </a:p>
        </p:txBody>
      </p:sp>
      <p:graphicFrame>
        <p:nvGraphicFramePr>
          <p:cNvPr id="64555" name="Object 43"/>
          <p:cNvGraphicFramePr>
            <a:graphicFrameLocks noChangeAspect="1"/>
          </p:cNvGraphicFramePr>
          <p:nvPr/>
        </p:nvGraphicFramePr>
        <p:xfrm>
          <a:off x="900113" y="4581525"/>
          <a:ext cx="4452937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1" name="公式" r:id="rId51" imgW="1462405" imgH="290195" progId="Equation.3">
                  <p:embed/>
                </p:oleObj>
              </mc:Choice>
              <mc:Fallback>
                <p:oleObj name="公式" r:id="rId51" imgW="1462405" imgH="290195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581525"/>
                        <a:ext cx="4452937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56" name="Rectangle 44"/>
          <p:cNvSpPr>
            <a:spLocks noChangeArrowheads="1"/>
          </p:cNvSpPr>
          <p:nvPr/>
        </p:nvSpPr>
        <p:spPr bwMode="auto">
          <a:xfrm>
            <a:off x="250825" y="4518025"/>
            <a:ext cx="53657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(2)</a:t>
            </a:r>
          </a:p>
        </p:txBody>
      </p:sp>
      <p:sp>
        <p:nvSpPr>
          <p:cNvPr id="64557" name="Rectangle 45"/>
          <p:cNvSpPr>
            <a:spLocks noChangeArrowheads="1"/>
          </p:cNvSpPr>
          <p:nvPr/>
        </p:nvSpPr>
        <p:spPr bwMode="auto">
          <a:xfrm>
            <a:off x="250825" y="5013325"/>
            <a:ext cx="53657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(3)</a:t>
            </a:r>
          </a:p>
        </p:txBody>
      </p:sp>
      <p:graphicFrame>
        <p:nvGraphicFramePr>
          <p:cNvPr id="64558" name="Object 46"/>
          <p:cNvGraphicFramePr>
            <a:graphicFrameLocks noChangeAspect="1"/>
          </p:cNvGraphicFramePr>
          <p:nvPr/>
        </p:nvGraphicFramePr>
        <p:xfrm>
          <a:off x="1331913" y="5300663"/>
          <a:ext cx="1503362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2" name="公式" r:id="rId53" imgW="585470" imgH="290195" progId="Equation.3">
                  <p:embed/>
                </p:oleObj>
              </mc:Choice>
              <mc:Fallback>
                <p:oleObj name="公式" r:id="rId53" imgW="585470" imgH="290195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300663"/>
                        <a:ext cx="1503362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59" name="Rectangle 47"/>
          <p:cNvSpPr>
            <a:spLocks noChangeArrowheads="1"/>
          </p:cNvSpPr>
          <p:nvPr/>
        </p:nvSpPr>
        <p:spPr bwMode="auto">
          <a:xfrm>
            <a:off x="3059113" y="5229225"/>
            <a:ext cx="201930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/>
              <a:t>作为</a:t>
            </a:r>
            <a:r>
              <a:rPr lang="zh-CN" altLang="en-US">
                <a:solidFill>
                  <a:srgbClr val="FF0000"/>
                </a:solidFill>
              </a:rPr>
              <a:t>根的近似</a:t>
            </a:r>
          </a:p>
        </p:txBody>
      </p:sp>
      <p:sp>
        <p:nvSpPr>
          <p:cNvPr id="64560" name="Text Box 48"/>
          <p:cNvSpPr txBox="1">
            <a:spLocks noChangeArrowheads="1"/>
          </p:cNvSpPr>
          <p:nvPr/>
        </p:nvSpPr>
        <p:spPr bwMode="auto">
          <a:xfrm>
            <a:off x="827088" y="5805488"/>
            <a:ext cx="3490912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/>
              <a:t>可得一个</a:t>
            </a:r>
            <a:r>
              <a:rPr lang="zh-CN" altLang="en-US">
                <a:solidFill>
                  <a:srgbClr val="FF0000"/>
                </a:solidFill>
              </a:rPr>
              <a:t>近似根的序列</a:t>
            </a:r>
            <a:r>
              <a:rPr lang="zh-CN" altLang="en-US"/>
              <a:t> </a:t>
            </a:r>
          </a:p>
        </p:txBody>
      </p:sp>
      <p:graphicFrame>
        <p:nvGraphicFramePr>
          <p:cNvPr id="64561" name="Object 49"/>
          <p:cNvGraphicFramePr>
            <a:graphicFrameLocks noChangeAspect="1"/>
          </p:cNvGraphicFramePr>
          <p:nvPr/>
        </p:nvGraphicFramePr>
        <p:xfrm>
          <a:off x="4140200" y="5949950"/>
          <a:ext cx="25463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3" name="Equation" r:id="rId55" imgW="821690" imgH="163830" progId="Equation.3">
                  <p:embed/>
                </p:oleObj>
              </mc:Choice>
              <mc:Fallback>
                <p:oleObj name="Equation" r:id="rId55" imgW="821690" imgH="16383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5949950"/>
                        <a:ext cx="25463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64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64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64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64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1000"/>
                                        <p:tgtEl>
                                          <p:spTgt spid="64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1000"/>
                                        <p:tgtEl>
                                          <p:spTgt spid="64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1000"/>
                                        <p:tgtEl>
                                          <p:spTgt spid="64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1000"/>
                                        <p:tgtEl>
                                          <p:spTgt spid="64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1000"/>
                                        <p:tgtEl>
                                          <p:spTgt spid="64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1000"/>
                                        <p:tgtEl>
                                          <p:spTgt spid="64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1000"/>
                                        <p:tgtEl>
                                          <p:spTgt spid="64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1000"/>
                                        <p:tgtEl>
                                          <p:spTgt spid="64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1000"/>
                                        <p:tgtEl>
                                          <p:spTgt spid="64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4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4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2000"/>
                                        <p:tgtEl>
                                          <p:spTgt spid="64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2000"/>
                                        <p:tgtEl>
                                          <p:spTgt spid="64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4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2000"/>
                                        <p:tgtEl>
                                          <p:spTgt spid="64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64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2000"/>
                                        <p:tgtEl>
                                          <p:spTgt spid="64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64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2000"/>
                                        <p:tgtEl>
                                          <p:spTgt spid="64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2000"/>
                                        <p:tgtEl>
                                          <p:spTgt spid="64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50" grpId="0" autoUpdateAnimBg="0"/>
      <p:bldP spid="64551" grpId="0"/>
      <p:bldP spid="64554" grpId="0"/>
      <p:bldP spid="64556" grpId="0"/>
      <p:bldP spid="64557" grpId="0"/>
      <p:bldP spid="64559" grpId="0"/>
      <p:bldP spid="6456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538" name="Object 2"/>
          <p:cNvGraphicFramePr>
            <a:graphicFrameLocks noChangeAspect="1"/>
          </p:cNvGraphicFramePr>
          <p:nvPr/>
        </p:nvGraphicFramePr>
        <p:xfrm>
          <a:off x="1476375" y="444500"/>
          <a:ext cx="286543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1" name="Equation" r:id="rId6" imgW="866140" imgH="180975" progId="Equation.3">
                  <p:embed/>
                </p:oleObj>
              </mc:Choice>
              <mc:Fallback>
                <p:oleObj name="Equation" r:id="rId6" imgW="866140" imgH="18097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44500"/>
                        <a:ext cx="286543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/>
          <p:nvPr/>
        </p:nvGrpSpPr>
        <p:grpSpPr bwMode="auto">
          <a:xfrm>
            <a:off x="4229100" y="333375"/>
            <a:ext cx="3832225" cy="549275"/>
            <a:chOff x="3024" y="2719"/>
            <a:chExt cx="2414" cy="346"/>
          </a:xfrm>
        </p:grpSpPr>
        <p:sp>
          <p:nvSpPr>
            <p:cNvPr id="6173" name="Text Box 4"/>
            <p:cNvSpPr txBox="1">
              <a:spLocks noChangeArrowheads="1"/>
            </p:cNvSpPr>
            <p:nvPr/>
          </p:nvSpPr>
          <p:spPr bwMode="auto">
            <a:xfrm>
              <a:off x="4800" y="2719"/>
              <a:ext cx="63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（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1.3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）</a:t>
              </a:r>
            </a:p>
          </p:txBody>
        </p:sp>
        <p:graphicFrame>
          <p:nvGraphicFramePr>
            <p:cNvPr id="6160" name="Object 5"/>
            <p:cNvGraphicFramePr>
              <a:graphicFrameLocks noChangeAspect="1"/>
            </p:cNvGraphicFramePr>
            <p:nvPr/>
          </p:nvGraphicFramePr>
          <p:xfrm>
            <a:off x="3024" y="2784"/>
            <a:ext cx="1254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02" name="Equation" r:id="rId8" imgW="602615" imgH="163830" progId="Equation.3">
                    <p:embed/>
                  </p:oleObj>
                </mc:Choice>
                <mc:Fallback>
                  <p:oleObj name="Equation" r:id="rId8" imgW="602615" imgH="16383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2784"/>
                          <a:ext cx="1254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62" name="Rectangle 6"/>
          <p:cNvSpPr>
            <a:spLocks noChangeArrowheads="1"/>
          </p:cNvSpPr>
          <p:nvPr/>
        </p:nvSpPr>
        <p:spPr bwMode="auto">
          <a:xfrm>
            <a:off x="684213" y="260350"/>
            <a:ext cx="487362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且</a:t>
            </a:r>
          </a:p>
        </p:txBody>
      </p:sp>
      <p:sp>
        <p:nvSpPr>
          <p:cNvPr id="65543" name="Rectangle 7"/>
          <p:cNvSpPr>
            <a:spLocks noChangeArrowheads="1"/>
          </p:cNvSpPr>
          <p:nvPr/>
        </p:nvSpPr>
        <p:spPr bwMode="auto">
          <a:xfrm>
            <a:off x="682625" y="908050"/>
            <a:ext cx="53657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(4)</a:t>
            </a:r>
          </a:p>
        </p:txBody>
      </p:sp>
      <p:grpSp>
        <p:nvGrpSpPr>
          <p:cNvPr id="3" name="Group 8"/>
          <p:cNvGrpSpPr/>
          <p:nvPr/>
        </p:nvGrpSpPr>
        <p:grpSpPr bwMode="auto">
          <a:xfrm>
            <a:off x="1185863" y="1484313"/>
            <a:ext cx="5854700" cy="639762"/>
            <a:chOff x="374" y="2864"/>
            <a:chExt cx="3688" cy="403"/>
          </a:xfrm>
        </p:grpSpPr>
        <p:sp>
          <p:nvSpPr>
            <p:cNvPr id="6172" name="Text Box 9"/>
            <p:cNvSpPr txBox="1">
              <a:spLocks noChangeArrowheads="1"/>
            </p:cNvSpPr>
            <p:nvPr/>
          </p:nvSpPr>
          <p:spPr bwMode="auto">
            <a:xfrm>
              <a:off x="374" y="2864"/>
              <a:ext cx="3688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dirty="0"/>
                <a:t>只要二分足够多次（即  充分大），便有 </a:t>
              </a:r>
            </a:p>
          </p:txBody>
        </p:sp>
        <p:graphicFrame>
          <p:nvGraphicFramePr>
            <p:cNvPr id="6159" name="Object 10"/>
            <p:cNvGraphicFramePr>
              <a:graphicFrameLocks noChangeAspect="1"/>
            </p:cNvGraphicFramePr>
            <p:nvPr/>
          </p:nvGraphicFramePr>
          <p:xfrm>
            <a:off x="2317" y="2955"/>
            <a:ext cx="190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03" name="Equation" r:id="rId10" imgW="92710" imgH="126365" progId="Equation.3">
                    <p:embed/>
                  </p:oleObj>
                </mc:Choice>
                <mc:Fallback>
                  <p:oleObj name="Equation" r:id="rId10" imgW="92710" imgH="126365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7" y="2955"/>
                          <a:ext cx="190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547" name="Object 11"/>
          <p:cNvGraphicFramePr>
            <a:graphicFrameLocks noChangeAspect="1"/>
          </p:cNvGraphicFramePr>
          <p:nvPr/>
        </p:nvGraphicFramePr>
        <p:xfrm>
          <a:off x="2411413" y="2276475"/>
          <a:ext cx="18399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4" name="Equation" r:id="rId12" imgW="558165" imgH="180975" progId="Equation.3">
                  <p:embed/>
                </p:oleObj>
              </mc:Choice>
              <mc:Fallback>
                <p:oleObj name="Equation" r:id="rId12" imgW="558165" imgH="18097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276475"/>
                        <a:ext cx="183991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2"/>
          <p:cNvGrpSpPr/>
          <p:nvPr/>
        </p:nvGrpSpPr>
        <p:grpSpPr bwMode="auto">
          <a:xfrm>
            <a:off x="4568825" y="2141538"/>
            <a:ext cx="3097213" cy="639763"/>
            <a:chOff x="418" y="3587"/>
            <a:chExt cx="1951" cy="403"/>
          </a:xfrm>
        </p:grpSpPr>
        <p:sp>
          <p:nvSpPr>
            <p:cNvPr id="6171" name="Text Box 13"/>
            <p:cNvSpPr txBox="1">
              <a:spLocks noChangeArrowheads="1"/>
            </p:cNvSpPr>
            <p:nvPr/>
          </p:nvSpPr>
          <p:spPr bwMode="auto">
            <a:xfrm>
              <a:off x="418" y="3587"/>
              <a:ext cx="1951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dirty="0"/>
                <a:t>这里  为</a:t>
              </a:r>
              <a:r>
                <a:rPr lang="zh-CN" altLang="en-US" dirty="0">
                  <a:solidFill>
                    <a:srgbClr val="FF0000"/>
                  </a:solidFill>
                </a:rPr>
                <a:t>预定的精度</a:t>
              </a:r>
              <a:r>
                <a:rPr lang="en-US" altLang="zh-CN" dirty="0"/>
                <a:t>.</a:t>
              </a:r>
            </a:p>
          </p:txBody>
        </p:sp>
        <p:graphicFrame>
          <p:nvGraphicFramePr>
            <p:cNvPr id="6158" name="Object 14"/>
            <p:cNvGraphicFramePr>
              <a:graphicFrameLocks noChangeAspect="1"/>
            </p:cNvGraphicFramePr>
            <p:nvPr/>
          </p:nvGraphicFramePr>
          <p:xfrm>
            <a:off x="825" y="3727"/>
            <a:ext cx="190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05" name="Equation" r:id="rId14" imgW="92710" imgH="99060" progId="Equation.3">
                    <p:embed/>
                  </p:oleObj>
                </mc:Choice>
                <mc:Fallback>
                  <p:oleObj name="Equation" r:id="rId14" imgW="92710" imgH="9906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5" y="3727"/>
                          <a:ext cx="190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551" name="Object 15"/>
          <p:cNvGraphicFramePr>
            <a:graphicFrameLocks noChangeAspect="1"/>
          </p:cNvGraphicFramePr>
          <p:nvPr/>
        </p:nvGraphicFramePr>
        <p:xfrm>
          <a:off x="4138613" y="979488"/>
          <a:ext cx="273685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6" name="公式" r:id="rId16" imgW="1409065" imgH="406400" progId="Equation.3">
                  <p:embed/>
                </p:oleObj>
              </mc:Choice>
              <mc:Fallback>
                <p:oleObj name="公式" r:id="rId16" imgW="1409065" imgH="4064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8613" y="979488"/>
                        <a:ext cx="2736850" cy="679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6"/>
          <p:cNvGrpSpPr/>
          <p:nvPr/>
        </p:nvGrpSpPr>
        <p:grpSpPr bwMode="auto">
          <a:xfrm>
            <a:off x="1258888" y="908050"/>
            <a:ext cx="2778125" cy="639763"/>
            <a:chOff x="611" y="210"/>
            <a:chExt cx="1750" cy="403"/>
          </a:xfrm>
        </p:grpSpPr>
        <p:graphicFrame>
          <p:nvGraphicFramePr>
            <p:cNvPr id="6157" name="Object 17"/>
            <p:cNvGraphicFramePr>
              <a:graphicFrameLocks noChangeAspect="1"/>
            </p:cNvGraphicFramePr>
            <p:nvPr/>
          </p:nvGraphicFramePr>
          <p:xfrm>
            <a:off x="1202" y="300"/>
            <a:ext cx="1159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07" name="Equation" r:id="rId18" imgW="558165" imgH="180975" progId="Equation.3">
                    <p:embed/>
                  </p:oleObj>
                </mc:Choice>
                <mc:Fallback>
                  <p:oleObj name="Equation" r:id="rId18" imgW="558165" imgH="180975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2" y="300"/>
                          <a:ext cx="1159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0" name="Rectangle 18"/>
            <p:cNvSpPr>
              <a:spLocks noChangeArrowheads="1"/>
            </p:cNvSpPr>
            <p:nvPr/>
          </p:nvSpPr>
          <p:spPr bwMode="auto">
            <a:xfrm>
              <a:off x="611" y="210"/>
              <a:ext cx="500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/>
                <a:t>要使</a:t>
              </a:r>
            </a:p>
          </p:txBody>
        </p:sp>
      </p:grpSp>
      <p:sp>
        <p:nvSpPr>
          <p:cNvPr id="65555" name="Text Box 19"/>
          <p:cNvSpPr txBox="1">
            <a:spLocks noChangeArrowheads="1"/>
          </p:cNvSpPr>
          <p:nvPr/>
        </p:nvSpPr>
        <p:spPr bwMode="auto">
          <a:xfrm>
            <a:off x="800100" y="3695700"/>
            <a:ext cx="963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解</a:t>
            </a:r>
            <a:r>
              <a:rPr lang="zh-CN" altLang="en-US">
                <a:solidFill>
                  <a:srgbClr val="FF0000"/>
                </a:solidFill>
                <a:latin typeface="黑体" panose="02010609060101010101" pitchFamily="49" charset="-122"/>
              </a:rPr>
              <a:t>：</a:t>
            </a:r>
            <a:endParaRPr lang="zh-CN" altLang="en-US" b="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graphicFrame>
        <p:nvGraphicFramePr>
          <p:cNvPr id="65556" name="Object 20"/>
          <p:cNvGraphicFramePr>
            <a:graphicFrameLocks noChangeAspect="1"/>
          </p:cNvGraphicFramePr>
          <p:nvPr/>
        </p:nvGraphicFramePr>
        <p:xfrm>
          <a:off x="1692275" y="3644900"/>
          <a:ext cx="34559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8" name="Equation" r:id="rId20" imgW="1160780" imgH="163830" progId="Equation.DSMT4">
                  <p:embed/>
                </p:oleObj>
              </mc:Choice>
              <mc:Fallback>
                <p:oleObj name="Equation" r:id="rId20" imgW="1160780" imgH="16383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644900"/>
                        <a:ext cx="3455988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7" name="Object 21"/>
          <p:cNvGraphicFramePr>
            <a:graphicFrameLocks noChangeAspect="1"/>
          </p:cNvGraphicFramePr>
          <p:nvPr/>
        </p:nvGraphicFramePr>
        <p:xfrm>
          <a:off x="2051050" y="5229225"/>
          <a:ext cx="2881313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9" name="Equation" r:id="rId22" imgW="1106170" imgH="300355" progId="Equation.DSMT4">
                  <p:embed/>
                </p:oleObj>
              </mc:Choice>
              <mc:Fallback>
                <p:oleObj name="Equation" r:id="rId22" imgW="1106170" imgH="300355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229225"/>
                        <a:ext cx="2881313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8" name="Object 22"/>
          <p:cNvGraphicFramePr>
            <a:graphicFrameLocks noChangeAspect="1"/>
          </p:cNvGraphicFramePr>
          <p:nvPr/>
        </p:nvGraphicFramePr>
        <p:xfrm>
          <a:off x="5076825" y="5373688"/>
          <a:ext cx="935038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0" name="Equation" r:id="rId24" imgW="311785" imgH="126365" progId="Equation.DSMT4">
                  <p:embed/>
                </p:oleObj>
              </mc:Choice>
              <mc:Fallback>
                <p:oleObj name="Equation" r:id="rId24" imgW="311785" imgH="126365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5373688"/>
                        <a:ext cx="935038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3"/>
          <p:cNvGrpSpPr/>
          <p:nvPr/>
        </p:nvGrpSpPr>
        <p:grpSpPr bwMode="auto">
          <a:xfrm>
            <a:off x="179388" y="2781300"/>
            <a:ext cx="8839200" cy="830263"/>
            <a:chOff x="96" y="108"/>
            <a:chExt cx="5568" cy="523"/>
          </a:xfrm>
        </p:grpSpPr>
        <p:sp>
          <p:nvSpPr>
            <p:cNvPr id="6169" name="Text Box 24"/>
            <p:cNvSpPr txBox="1">
              <a:spLocks noChangeArrowheads="1"/>
            </p:cNvSpPr>
            <p:nvPr/>
          </p:nvSpPr>
          <p:spPr bwMode="auto">
            <a:xfrm>
              <a:off x="96" y="108"/>
              <a:ext cx="5568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例</a:t>
              </a:r>
              <a:r>
                <a: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3   </a:t>
              </a:r>
              <a:r>
                <a:rPr lang="zh-CN" altLang="en-US" dirty="0">
                  <a:latin typeface="Times New Roman" panose="02020603050405020304" pitchFamily="18" charset="0"/>
                </a:rPr>
                <a:t>用二分法求方程                         在区间              上的根，误差限为             ，问至少需对分多少次？</a:t>
              </a:r>
            </a:p>
          </p:txBody>
        </p:sp>
        <p:graphicFrame>
          <p:nvGraphicFramePr>
            <p:cNvPr id="6154" name="Object 25"/>
            <p:cNvGraphicFramePr>
              <a:graphicFrameLocks noChangeAspect="1"/>
            </p:cNvGraphicFramePr>
            <p:nvPr/>
          </p:nvGraphicFramePr>
          <p:xfrm>
            <a:off x="2018" y="119"/>
            <a:ext cx="1043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11" name="Equation" r:id="rId26" imgW="850265" imgH="203200" progId="Equation.DSMT4">
                    <p:embed/>
                  </p:oleObj>
                </mc:Choice>
                <mc:Fallback>
                  <p:oleObj name="Equation" r:id="rId26" imgW="850265" imgH="2032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119"/>
                          <a:ext cx="1043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5" name="Object 26"/>
            <p:cNvGraphicFramePr>
              <a:graphicFrameLocks noChangeAspect="1"/>
            </p:cNvGraphicFramePr>
            <p:nvPr/>
          </p:nvGraphicFramePr>
          <p:xfrm>
            <a:off x="3833" y="119"/>
            <a:ext cx="544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12" name="Equation" r:id="rId28" imgW="444500" imgH="203200" progId="Equation.DSMT4">
                    <p:embed/>
                  </p:oleObj>
                </mc:Choice>
                <mc:Fallback>
                  <p:oleObj name="Equation" r:id="rId28" imgW="444500" imgH="2032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119"/>
                          <a:ext cx="544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6" name="Object 27"/>
            <p:cNvGraphicFramePr>
              <a:graphicFrameLocks noChangeAspect="1"/>
            </p:cNvGraphicFramePr>
            <p:nvPr/>
          </p:nvGraphicFramePr>
          <p:xfrm>
            <a:off x="567" y="352"/>
            <a:ext cx="681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13" name="Equation" r:id="rId30" imgW="520700" imgH="203200" progId="Equation.DSMT4">
                    <p:embed/>
                  </p:oleObj>
                </mc:Choice>
                <mc:Fallback>
                  <p:oleObj name="Equation" r:id="rId30" imgW="520700" imgH="20320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352"/>
                          <a:ext cx="681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564" name="Object 28"/>
          <p:cNvGraphicFramePr>
            <a:graphicFrameLocks noChangeAspect="1"/>
          </p:cNvGraphicFramePr>
          <p:nvPr/>
        </p:nvGraphicFramePr>
        <p:xfrm>
          <a:off x="1763713" y="4365625"/>
          <a:ext cx="31686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4" name="公式" r:id="rId32" imgW="1409065" imgH="406400" progId="Equation.3">
                  <p:embed/>
                </p:oleObj>
              </mc:Choice>
              <mc:Fallback>
                <p:oleObj name="公式" r:id="rId32" imgW="1409065" imgH="4064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365625"/>
                        <a:ext cx="316865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5" name="Object 29"/>
          <p:cNvGraphicFramePr>
            <a:graphicFrameLocks noChangeAspect="1"/>
          </p:cNvGraphicFramePr>
          <p:nvPr/>
        </p:nvGraphicFramePr>
        <p:xfrm>
          <a:off x="1852613" y="6230938"/>
          <a:ext cx="1112837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5" name="公式" r:id="rId34" imgW="494665" imgH="177800" progId="Equation.3">
                  <p:embed/>
                </p:oleObj>
              </mc:Choice>
              <mc:Fallback>
                <p:oleObj name="公式" r:id="rId34" imgW="494665" imgH="1778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2613" y="6230938"/>
                        <a:ext cx="1112837" cy="344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1000"/>
                                        <p:tgtEl>
                                          <p:spTgt spid="655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655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5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655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55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55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65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3" grpId="0"/>
      <p:bldP spid="6555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506413" y="188913"/>
            <a:ext cx="2265362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二分法的算法</a:t>
            </a:r>
          </a:p>
        </p:txBody>
      </p:sp>
      <p:grpSp>
        <p:nvGrpSpPr>
          <p:cNvPr id="2" name="Group 3"/>
          <p:cNvGrpSpPr/>
          <p:nvPr/>
        </p:nvGrpSpPr>
        <p:grpSpPr bwMode="auto">
          <a:xfrm>
            <a:off x="611188" y="715963"/>
            <a:ext cx="8226425" cy="1128712"/>
            <a:chOff x="374" y="794"/>
            <a:chExt cx="5182" cy="711"/>
          </a:xfrm>
        </p:grpSpPr>
        <p:sp>
          <p:nvSpPr>
            <p:cNvPr id="7205" name="Text Box 4"/>
            <p:cNvSpPr txBox="1">
              <a:spLocks noChangeArrowheads="1"/>
            </p:cNvSpPr>
            <p:nvPr/>
          </p:nvSpPr>
          <p:spPr bwMode="auto">
            <a:xfrm>
              <a:off x="374" y="794"/>
              <a:ext cx="518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dirty="0"/>
                <a:t>    </a:t>
              </a:r>
              <a:r>
                <a:rPr lang="zh-CN" altLang="en-US" dirty="0">
                  <a:solidFill>
                    <a:srgbClr val="FF0000"/>
                  </a:solidFill>
                </a:rPr>
                <a:t>步骤</a:t>
              </a:r>
              <a:r>
                <a:rPr lang="en-US" altLang="zh-CN" dirty="0">
                  <a:solidFill>
                    <a:srgbClr val="FF0000"/>
                  </a:solidFill>
                </a:rPr>
                <a:t>1  </a:t>
              </a:r>
              <a:r>
                <a:rPr lang="zh-CN" altLang="en-US" dirty="0">
                  <a:solidFill>
                    <a:srgbClr val="FF0000"/>
                  </a:solidFill>
                </a:rPr>
                <a:t>准备</a:t>
              </a:r>
              <a:r>
                <a:rPr lang="zh-CN" altLang="en-US" dirty="0">
                  <a:solidFill>
                    <a:schemeClr val="accent2"/>
                  </a:solidFill>
                </a:rPr>
                <a:t>  </a:t>
              </a:r>
              <a:r>
                <a:rPr lang="zh-CN" altLang="en-US" dirty="0"/>
                <a:t>计算        在有根区间        端点处的值 </a:t>
              </a:r>
            </a:p>
          </p:txBody>
        </p:sp>
        <p:graphicFrame>
          <p:nvGraphicFramePr>
            <p:cNvPr id="7183" name="Object 5"/>
            <p:cNvGraphicFramePr>
              <a:graphicFrameLocks noChangeAspect="1"/>
            </p:cNvGraphicFramePr>
            <p:nvPr/>
          </p:nvGraphicFramePr>
          <p:xfrm>
            <a:off x="2137" y="893"/>
            <a:ext cx="48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68" name="Equation" r:id="rId3" imgW="246380" imgH="146685" progId="Equation.3">
                    <p:embed/>
                  </p:oleObj>
                </mc:Choice>
                <mc:Fallback>
                  <p:oleObj name="Equation" r:id="rId3" imgW="246380" imgH="146685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7" y="893"/>
                          <a:ext cx="48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4" name="Object 6"/>
            <p:cNvGraphicFramePr>
              <a:graphicFrameLocks noChangeAspect="1"/>
            </p:cNvGraphicFramePr>
            <p:nvPr/>
          </p:nvGraphicFramePr>
          <p:xfrm>
            <a:off x="431" y="1295"/>
            <a:ext cx="998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69" name="Equation" r:id="rId5" imgW="510540" imgH="146685" progId="Equation.3">
                    <p:embed/>
                  </p:oleObj>
                </mc:Choice>
                <mc:Fallback>
                  <p:oleObj name="Equation" r:id="rId5" imgW="510540" imgH="146685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1295"/>
                          <a:ext cx="998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5" name="Object 7"/>
            <p:cNvGraphicFramePr>
              <a:graphicFrameLocks noChangeAspect="1"/>
            </p:cNvGraphicFramePr>
            <p:nvPr/>
          </p:nvGraphicFramePr>
          <p:xfrm>
            <a:off x="3549" y="915"/>
            <a:ext cx="481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70" name="Equation" r:id="rId7" imgW="246380" imgH="146685" progId="Equation.3">
                    <p:embed/>
                  </p:oleObj>
                </mc:Choice>
                <mc:Fallback>
                  <p:oleObj name="Equation" r:id="rId7" imgW="246380" imgH="146685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9" y="915"/>
                          <a:ext cx="481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8"/>
          <p:cNvGrpSpPr/>
          <p:nvPr/>
        </p:nvGrpSpPr>
        <p:grpSpPr bwMode="auto">
          <a:xfrm>
            <a:off x="593725" y="1700213"/>
            <a:ext cx="7794625" cy="1354137"/>
            <a:chOff x="374" y="1524"/>
            <a:chExt cx="4910" cy="853"/>
          </a:xfrm>
        </p:grpSpPr>
        <p:sp>
          <p:nvSpPr>
            <p:cNvPr id="7204" name="Text Box 9"/>
            <p:cNvSpPr txBox="1">
              <a:spLocks noChangeArrowheads="1"/>
            </p:cNvSpPr>
            <p:nvPr/>
          </p:nvSpPr>
          <p:spPr bwMode="auto">
            <a:xfrm>
              <a:off x="374" y="1524"/>
              <a:ext cx="4910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dirty="0">
                  <a:solidFill>
                    <a:srgbClr val="FF0000"/>
                  </a:solidFill>
                </a:rPr>
                <a:t>    </a:t>
              </a:r>
              <a:r>
                <a:rPr lang="zh-CN" altLang="en-US" dirty="0">
                  <a:solidFill>
                    <a:srgbClr val="FF0000"/>
                  </a:solidFill>
                </a:rPr>
                <a:t>步骤</a:t>
              </a:r>
              <a:r>
                <a:rPr lang="en-US" altLang="zh-CN" dirty="0">
                  <a:solidFill>
                    <a:srgbClr val="FF0000"/>
                  </a:solidFill>
                </a:rPr>
                <a:t>2  </a:t>
              </a:r>
              <a:r>
                <a:rPr lang="zh-CN" altLang="en-US" dirty="0">
                  <a:solidFill>
                    <a:srgbClr val="FF0000"/>
                  </a:solidFill>
                </a:rPr>
                <a:t>二分</a:t>
              </a:r>
              <a:r>
                <a:rPr lang="zh-CN" altLang="en-US" dirty="0">
                  <a:solidFill>
                    <a:schemeClr val="accent2"/>
                  </a:solidFill>
                </a:rPr>
                <a:t>  </a:t>
              </a:r>
              <a:r>
                <a:rPr lang="zh-CN" altLang="en-US" dirty="0"/>
                <a:t>计算        在区间中点         处的值 </a:t>
              </a:r>
            </a:p>
          </p:txBody>
        </p:sp>
        <p:graphicFrame>
          <p:nvGraphicFramePr>
            <p:cNvPr id="7180" name="Object 10"/>
            <p:cNvGraphicFramePr>
              <a:graphicFrameLocks noChangeAspect="1"/>
            </p:cNvGraphicFramePr>
            <p:nvPr/>
          </p:nvGraphicFramePr>
          <p:xfrm>
            <a:off x="2131" y="1612"/>
            <a:ext cx="48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71" name="Equation" r:id="rId9" imgW="246380" imgH="146685" progId="Equation.3">
                    <p:embed/>
                  </p:oleObj>
                </mc:Choice>
                <mc:Fallback>
                  <p:oleObj name="Equation" r:id="rId9" imgW="246380" imgH="146685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1" y="1612"/>
                          <a:ext cx="48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1" name="Object 11"/>
            <p:cNvGraphicFramePr>
              <a:graphicFrameLocks noChangeAspect="1"/>
            </p:cNvGraphicFramePr>
            <p:nvPr/>
          </p:nvGraphicFramePr>
          <p:xfrm>
            <a:off x="3571" y="1558"/>
            <a:ext cx="517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72" name="Equation" r:id="rId11" imgW="263525" imgH="283210" progId="Equation.3">
                    <p:embed/>
                  </p:oleObj>
                </mc:Choice>
                <mc:Fallback>
                  <p:oleObj name="Equation" r:id="rId11" imgW="263525" imgH="28321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1" y="1558"/>
                          <a:ext cx="517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2" name="Object 12"/>
            <p:cNvGraphicFramePr>
              <a:graphicFrameLocks noChangeAspect="1"/>
            </p:cNvGraphicFramePr>
            <p:nvPr/>
          </p:nvGraphicFramePr>
          <p:xfrm>
            <a:off x="432" y="1994"/>
            <a:ext cx="855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73" name="Equation" r:id="rId13" imgW="438150" imgH="283210" progId="Equation.3">
                    <p:embed/>
                  </p:oleObj>
                </mc:Choice>
                <mc:Fallback>
                  <p:oleObj name="Equation" r:id="rId13" imgW="438150" imgH="28321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1994"/>
                          <a:ext cx="855" cy="3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3"/>
          <p:cNvGrpSpPr/>
          <p:nvPr/>
        </p:nvGrpSpPr>
        <p:grpSpPr bwMode="auto">
          <a:xfrm>
            <a:off x="593725" y="2924178"/>
            <a:ext cx="8081963" cy="1200151"/>
            <a:chOff x="374" y="2340"/>
            <a:chExt cx="5091" cy="756"/>
          </a:xfrm>
        </p:grpSpPr>
        <p:sp>
          <p:nvSpPr>
            <p:cNvPr id="7203" name="Text Box 14"/>
            <p:cNvSpPr txBox="1">
              <a:spLocks noChangeArrowheads="1"/>
            </p:cNvSpPr>
            <p:nvPr/>
          </p:nvSpPr>
          <p:spPr bwMode="auto">
            <a:xfrm>
              <a:off x="374" y="2340"/>
              <a:ext cx="5091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dirty="0"/>
                <a:t>    </a:t>
              </a:r>
              <a:r>
                <a:rPr lang="zh-CN" altLang="en-US" dirty="0">
                  <a:solidFill>
                    <a:srgbClr val="FF0000"/>
                  </a:solidFill>
                </a:rPr>
                <a:t>步骤</a:t>
              </a:r>
              <a:r>
                <a:rPr lang="en-US" altLang="zh-CN" dirty="0">
                  <a:solidFill>
                    <a:srgbClr val="FF0000"/>
                  </a:solidFill>
                </a:rPr>
                <a:t>3  </a:t>
              </a:r>
              <a:r>
                <a:rPr lang="zh-CN" altLang="en-US" dirty="0">
                  <a:solidFill>
                    <a:srgbClr val="FF0000"/>
                  </a:solidFill>
                </a:rPr>
                <a:t>判断</a:t>
              </a:r>
              <a:r>
                <a:rPr lang="zh-CN" altLang="en-US" dirty="0">
                  <a:solidFill>
                    <a:schemeClr val="accent2"/>
                  </a:solidFill>
                </a:rPr>
                <a:t>  </a:t>
              </a:r>
              <a:r>
                <a:rPr lang="zh-CN" altLang="en-US" dirty="0"/>
                <a:t>若                   ，则          即是根，</a:t>
              </a:r>
            </a:p>
            <a:p>
              <a:pPr eaLnBrk="1" hangingPunct="1"/>
              <a:r>
                <a:rPr lang="zh-CN" altLang="en-US" dirty="0"/>
                <a:t>计算过程结束，否则检验</a:t>
              </a:r>
              <a:r>
                <a:rPr lang="en-US" altLang="zh-CN" dirty="0"/>
                <a:t>. </a:t>
              </a:r>
            </a:p>
          </p:txBody>
        </p:sp>
        <p:graphicFrame>
          <p:nvGraphicFramePr>
            <p:cNvPr id="7178" name="Object 15"/>
            <p:cNvGraphicFramePr>
              <a:graphicFrameLocks noChangeAspect="1"/>
            </p:cNvGraphicFramePr>
            <p:nvPr/>
          </p:nvGraphicFramePr>
          <p:xfrm>
            <a:off x="1961" y="2387"/>
            <a:ext cx="1122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74" name="Equation" r:id="rId15" imgW="575310" imgH="283210" progId="Equation.3">
                    <p:embed/>
                  </p:oleObj>
                </mc:Choice>
                <mc:Fallback>
                  <p:oleObj name="Equation" r:id="rId15" imgW="575310" imgH="28321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1" y="2387"/>
                          <a:ext cx="1122" cy="3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9" name="Object 16"/>
            <p:cNvGraphicFramePr>
              <a:graphicFrameLocks noChangeAspect="1"/>
            </p:cNvGraphicFramePr>
            <p:nvPr/>
          </p:nvGraphicFramePr>
          <p:xfrm>
            <a:off x="3426" y="2364"/>
            <a:ext cx="517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75" name="Equation" r:id="rId17" imgW="263525" imgH="283210" progId="Equation.3">
                    <p:embed/>
                  </p:oleObj>
                </mc:Choice>
                <mc:Fallback>
                  <p:oleObj name="Equation" r:id="rId17" imgW="263525" imgH="28321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6" y="2364"/>
                          <a:ext cx="517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7"/>
          <p:cNvGrpSpPr/>
          <p:nvPr/>
        </p:nvGrpSpPr>
        <p:grpSpPr bwMode="auto">
          <a:xfrm>
            <a:off x="593725" y="4076700"/>
            <a:ext cx="7191376" cy="1311275"/>
            <a:chOff x="374" y="3060"/>
            <a:chExt cx="4530" cy="826"/>
          </a:xfrm>
        </p:grpSpPr>
        <p:grpSp>
          <p:nvGrpSpPr>
            <p:cNvPr id="7199" name="Group 18"/>
            <p:cNvGrpSpPr/>
            <p:nvPr/>
          </p:nvGrpSpPr>
          <p:grpSpPr bwMode="auto">
            <a:xfrm>
              <a:off x="374" y="3060"/>
              <a:ext cx="4530" cy="454"/>
              <a:chOff x="374" y="3131"/>
              <a:chExt cx="4530" cy="454"/>
            </a:xfrm>
          </p:grpSpPr>
          <p:sp>
            <p:nvSpPr>
              <p:cNvPr id="7202" name="Text Box 19"/>
              <p:cNvSpPr txBox="1">
                <a:spLocks noChangeArrowheads="1"/>
              </p:cNvSpPr>
              <p:nvPr/>
            </p:nvSpPr>
            <p:spPr bwMode="auto">
              <a:xfrm>
                <a:off x="374" y="3131"/>
                <a:ext cx="4530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dirty="0"/>
                  <a:t>    </a:t>
                </a:r>
                <a:r>
                  <a:rPr lang="zh-CN" altLang="en-US" dirty="0"/>
                  <a:t>若                           ，则以          代替  ，否则以</a:t>
                </a:r>
              </a:p>
            </p:txBody>
          </p:sp>
          <p:graphicFrame>
            <p:nvGraphicFramePr>
              <p:cNvPr id="7175" name="Object 20"/>
              <p:cNvGraphicFramePr>
                <a:graphicFrameLocks noChangeAspect="1"/>
              </p:cNvGraphicFramePr>
              <p:nvPr/>
            </p:nvGraphicFramePr>
            <p:xfrm>
              <a:off x="839" y="3131"/>
              <a:ext cx="1549" cy="4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776" name="Equation" r:id="rId19" imgW="794385" imgH="283210" progId="Equation.3">
                      <p:embed/>
                    </p:oleObj>
                  </mc:Choice>
                  <mc:Fallback>
                    <p:oleObj name="Equation" r:id="rId19" imgW="794385" imgH="283210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9" y="3131"/>
                            <a:ext cx="1549" cy="4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76" name="Object 21"/>
              <p:cNvGraphicFramePr>
                <a:graphicFrameLocks noChangeAspect="1"/>
              </p:cNvGraphicFramePr>
              <p:nvPr/>
            </p:nvGraphicFramePr>
            <p:xfrm>
              <a:off x="2995" y="3202"/>
              <a:ext cx="517" cy="3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777" name="Equation" r:id="rId21" imgW="263525" imgH="283210" progId="Equation.3">
                      <p:embed/>
                    </p:oleObj>
                  </mc:Choice>
                  <mc:Fallback>
                    <p:oleObj name="Equation" r:id="rId21" imgW="263525" imgH="283210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95" y="3202"/>
                            <a:ext cx="517" cy="3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77" name="Object 22"/>
              <p:cNvGraphicFramePr>
                <a:graphicFrameLocks noChangeAspect="1"/>
              </p:cNvGraphicFramePr>
              <p:nvPr/>
            </p:nvGraphicFramePr>
            <p:xfrm>
              <a:off x="3897" y="3277"/>
              <a:ext cx="222" cy="1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778" name="Equation" r:id="rId23" imgW="92710" imgH="126365" progId="Equation.3">
                      <p:embed/>
                    </p:oleObj>
                  </mc:Choice>
                  <mc:Fallback>
                    <p:oleObj name="Equation" r:id="rId23" imgW="92710" imgH="126365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97" y="3277"/>
                            <a:ext cx="222" cy="1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200" name="Group 23"/>
            <p:cNvGrpSpPr/>
            <p:nvPr/>
          </p:nvGrpSpPr>
          <p:grpSpPr bwMode="auto">
            <a:xfrm>
              <a:off x="511" y="3445"/>
              <a:ext cx="1324" cy="441"/>
              <a:chOff x="511" y="3466"/>
              <a:chExt cx="1324" cy="441"/>
            </a:xfrm>
          </p:grpSpPr>
          <p:sp>
            <p:nvSpPr>
              <p:cNvPr id="7201" name="Rectangle 24"/>
              <p:cNvSpPr>
                <a:spLocks noChangeArrowheads="1"/>
              </p:cNvSpPr>
              <p:nvPr/>
            </p:nvSpPr>
            <p:spPr bwMode="auto">
              <a:xfrm>
                <a:off x="988" y="3466"/>
                <a:ext cx="847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zh-CN" altLang="en-US" dirty="0"/>
                  <a:t>代替    </a:t>
                </a:r>
                <a:r>
                  <a:rPr lang="en-US" altLang="zh-CN" dirty="0"/>
                  <a:t>. </a:t>
                </a:r>
              </a:p>
            </p:txBody>
          </p:sp>
          <p:graphicFrame>
            <p:nvGraphicFramePr>
              <p:cNvPr id="7173" name="Object 25"/>
              <p:cNvGraphicFramePr>
                <a:graphicFrameLocks noChangeAspect="1"/>
              </p:cNvGraphicFramePr>
              <p:nvPr/>
            </p:nvGraphicFramePr>
            <p:xfrm>
              <a:off x="511" y="3524"/>
              <a:ext cx="517" cy="3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779" name="Equation" r:id="rId25" imgW="263525" imgH="283210" progId="Equation.3">
                      <p:embed/>
                    </p:oleObj>
                  </mc:Choice>
                  <mc:Fallback>
                    <p:oleObj name="Equation" r:id="rId25" imgW="263525" imgH="283210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1" y="3524"/>
                            <a:ext cx="517" cy="3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74" name="Object 26"/>
              <p:cNvGraphicFramePr>
                <a:graphicFrameLocks noChangeAspect="1"/>
              </p:cNvGraphicFramePr>
              <p:nvPr/>
            </p:nvGraphicFramePr>
            <p:xfrm>
              <a:off x="1430" y="3628"/>
              <a:ext cx="222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780" name="Equation" r:id="rId27" imgW="92710" imgH="99060" progId="Equation.3">
                      <p:embed/>
                    </p:oleObj>
                  </mc:Choice>
                  <mc:Fallback>
                    <p:oleObj name="Equation" r:id="rId27" imgW="92710" imgH="99060" progId="Equation.3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30" y="3628"/>
                            <a:ext cx="222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8" name="Group 27"/>
          <p:cNvGrpSpPr/>
          <p:nvPr/>
        </p:nvGrpSpPr>
        <p:grpSpPr bwMode="auto">
          <a:xfrm>
            <a:off x="577850" y="5216525"/>
            <a:ext cx="7921626" cy="1308100"/>
            <a:chOff x="364" y="470"/>
            <a:chExt cx="4990" cy="824"/>
          </a:xfrm>
        </p:grpSpPr>
        <p:grpSp>
          <p:nvGrpSpPr>
            <p:cNvPr id="7192" name="Group 28"/>
            <p:cNvGrpSpPr/>
            <p:nvPr/>
          </p:nvGrpSpPr>
          <p:grpSpPr bwMode="auto">
            <a:xfrm>
              <a:off x="1170" y="958"/>
              <a:ext cx="2938" cy="336"/>
              <a:chOff x="1170" y="958"/>
              <a:chExt cx="2938" cy="336"/>
            </a:xfrm>
          </p:grpSpPr>
          <p:sp>
            <p:nvSpPr>
              <p:cNvPr id="7198" name="Rectangle 29"/>
              <p:cNvSpPr>
                <a:spLocks noChangeArrowheads="1"/>
              </p:cNvSpPr>
              <p:nvPr/>
            </p:nvSpPr>
            <p:spPr bwMode="auto">
              <a:xfrm>
                <a:off x="1170" y="968"/>
                <a:ext cx="293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</a:pPr>
                <a:r>
                  <a:rPr lang="zh-CN" altLang="en-US" dirty="0"/>
                  <a:t>此时中点          即为所求近似根</a:t>
                </a:r>
                <a:r>
                  <a:rPr lang="en-US" altLang="zh-CN" dirty="0"/>
                  <a:t>. </a:t>
                </a:r>
              </a:p>
            </p:txBody>
          </p:sp>
          <p:graphicFrame>
            <p:nvGraphicFramePr>
              <p:cNvPr id="7172" name="Object 30"/>
              <p:cNvGraphicFramePr>
                <a:graphicFrameLocks noChangeAspect="1"/>
              </p:cNvGraphicFramePr>
              <p:nvPr/>
            </p:nvGraphicFramePr>
            <p:xfrm>
              <a:off x="1978" y="958"/>
              <a:ext cx="517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781" name="Equation" r:id="rId29" imgW="263525" imgH="283210" progId="Equation.3">
                      <p:embed/>
                    </p:oleObj>
                  </mc:Choice>
                  <mc:Fallback>
                    <p:oleObj name="Equation" r:id="rId29" imgW="263525" imgH="283210" progId="Equation.3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78" y="958"/>
                            <a:ext cx="517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193" name="Group 31"/>
            <p:cNvGrpSpPr/>
            <p:nvPr/>
          </p:nvGrpSpPr>
          <p:grpSpPr bwMode="auto">
            <a:xfrm>
              <a:off x="364" y="470"/>
              <a:ext cx="4990" cy="780"/>
              <a:chOff x="364" y="470"/>
              <a:chExt cx="4990" cy="780"/>
            </a:xfrm>
          </p:grpSpPr>
          <p:grpSp>
            <p:nvGrpSpPr>
              <p:cNvPr id="7194" name="Group 32"/>
              <p:cNvGrpSpPr/>
              <p:nvPr/>
            </p:nvGrpSpPr>
            <p:grpSpPr bwMode="auto">
              <a:xfrm>
                <a:off x="364" y="962"/>
                <a:ext cx="889" cy="288"/>
                <a:chOff x="364" y="962"/>
                <a:chExt cx="889" cy="288"/>
              </a:xfrm>
            </p:grpSpPr>
            <p:sp>
              <p:nvSpPr>
                <p:cNvPr id="7197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364" y="962"/>
                  <a:ext cx="889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</a:pPr>
                  <a:r>
                    <a:rPr lang="zh-CN" altLang="en-US"/>
                    <a:t>误差  ，</a:t>
                  </a:r>
                </a:p>
              </p:txBody>
            </p:sp>
            <p:graphicFrame>
              <p:nvGraphicFramePr>
                <p:cNvPr id="7171" name="Object 34"/>
                <p:cNvGraphicFramePr>
                  <a:graphicFrameLocks noChangeAspect="1"/>
                </p:cNvGraphicFramePr>
                <p:nvPr/>
              </p:nvGraphicFramePr>
              <p:xfrm>
                <a:off x="803" y="1045"/>
                <a:ext cx="263" cy="17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782" name="Equation" r:id="rId31" imgW="92710" imgH="99060" progId="Equation.3">
                        <p:embed/>
                      </p:oleObj>
                    </mc:Choice>
                    <mc:Fallback>
                      <p:oleObj name="Equation" r:id="rId31" imgW="92710" imgH="99060" progId="Equation.3">
                        <p:embed/>
                        <p:pic>
                          <p:nvPicPr>
                            <p:cNvPr id="0" name="Object 3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03" y="1045"/>
                              <a:ext cx="263" cy="17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7195" name="Group 35"/>
              <p:cNvGrpSpPr/>
              <p:nvPr/>
            </p:nvGrpSpPr>
            <p:grpSpPr bwMode="auto">
              <a:xfrm>
                <a:off x="374" y="470"/>
                <a:ext cx="4980" cy="407"/>
                <a:chOff x="374" y="470"/>
                <a:chExt cx="4980" cy="407"/>
              </a:xfrm>
            </p:grpSpPr>
            <p:sp>
              <p:nvSpPr>
                <p:cNvPr id="7196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374" y="470"/>
                  <a:ext cx="4980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楷体_GB2312" pitchFamily="49" charset="-122"/>
                      <a:ea typeface="楷体_GB2312" pitchFamily="49" charset="-122"/>
                    </a:defRPr>
                  </a:lvl9pPr>
                </a:lstStyle>
                <a:p>
                  <a:pPr eaLnBrk="1" hangingPunct="1"/>
                  <a:r>
                    <a:rPr lang="en-US" altLang="zh-CN" dirty="0"/>
                    <a:t>    </a:t>
                  </a:r>
                  <a:r>
                    <a:rPr lang="zh-CN" altLang="en-US" dirty="0"/>
                    <a:t>反复执行步骤</a:t>
                  </a:r>
                  <a:r>
                    <a:rPr lang="en-US" altLang="zh-CN" dirty="0"/>
                    <a:t>2</a:t>
                  </a:r>
                  <a:r>
                    <a:rPr lang="zh-CN" altLang="en-US" dirty="0"/>
                    <a:t>和步骤</a:t>
                  </a:r>
                  <a:r>
                    <a:rPr lang="en-US" altLang="zh-CN" dirty="0"/>
                    <a:t>3</a:t>
                  </a:r>
                  <a:r>
                    <a:rPr lang="zh-CN" altLang="en-US" dirty="0"/>
                    <a:t>，直到区间         长度小于允许</a:t>
                  </a:r>
                </a:p>
              </p:txBody>
            </p:sp>
            <p:graphicFrame>
              <p:nvGraphicFramePr>
                <p:cNvPr id="7170" name="Object 37"/>
                <p:cNvGraphicFramePr>
                  <a:graphicFrameLocks noChangeAspect="1"/>
                </p:cNvGraphicFramePr>
                <p:nvPr/>
              </p:nvGraphicFramePr>
              <p:xfrm>
                <a:off x="3589" y="592"/>
                <a:ext cx="481" cy="2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783" name="Equation" r:id="rId33" imgW="246380" imgH="146685" progId="Equation.3">
                        <p:embed/>
                      </p:oleObj>
                    </mc:Choice>
                    <mc:Fallback>
                      <p:oleObj name="Equation" r:id="rId33" imgW="246380" imgH="146685" progId="Equation.3">
                        <p:embed/>
                        <p:pic>
                          <p:nvPicPr>
                            <p:cNvPr id="0" name="Object 3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89" y="592"/>
                              <a:ext cx="481" cy="21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1" name="Text Box 2"/>
          <p:cNvSpPr txBox="1">
            <a:spLocks noChangeArrowheads="1"/>
          </p:cNvSpPr>
          <p:nvPr/>
        </p:nvSpPr>
        <p:spPr bwMode="auto">
          <a:xfrm>
            <a:off x="539750" y="115888"/>
            <a:ext cx="47704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zh-CN" altLang="en-US" dirty="0"/>
              <a:t>求方程 </a:t>
            </a:r>
          </a:p>
        </p:txBody>
      </p:sp>
      <p:graphicFrame>
        <p:nvGraphicFramePr>
          <p:cNvPr id="9218" name="Object 3"/>
          <p:cNvGraphicFramePr>
            <a:graphicFrameLocks noChangeAspect="1"/>
          </p:cNvGraphicFramePr>
          <p:nvPr/>
        </p:nvGraphicFramePr>
        <p:xfrm>
          <a:off x="2165682" y="241534"/>
          <a:ext cx="208756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96" name="Equation" r:id="rId3" imgW="904240" imgH="163830" progId="Equation.3">
                  <p:embed/>
                </p:oleObj>
              </mc:Choice>
              <mc:Fallback>
                <p:oleObj name="Equation" r:id="rId3" imgW="904240" imgH="1638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5682" y="241534"/>
                        <a:ext cx="2087562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32" name="Group 4"/>
          <p:cNvGrpSpPr/>
          <p:nvPr/>
        </p:nvGrpSpPr>
        <p:grpSpPr bwMode="auto">
          <a:xfrm>
            <a:off x="539750" y="628650"/>
            <a:ext cx="8280722" cy="1200151"/>
            <a:chOff x="374" y="1062"/>
            <a:chExt cx="5050" cy="756"/>
          </a:xfrm>
        </p:grpSpPr>
        <p:sp>
          <p:nvSpPr>
            <p:cNvPr id="9238" name="Text Box 5"/>
            <p:cNvSpPr txBox="1">
              <a:spLocks noChangeArrowheads="1"/>
            </p:cNvSpPr>
            <p:nvPr/>
          </p:nvSpPr>
          <p:spPr bwMode="auto">
            <a:xfrm>
              <a:off x="374" y="1062"/>
              <a:ext cx="5050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dirty="0"/>
                <a:t>在区间              内的一个实根，要求准确到小数点后第</a:t>
              </a:r>
              <a:r>
                <a:rPr lang="en-US" altLang="zh-CN" dirty="0"/>
                <a:t>2</a:t>
              </a:r>
              <a:r>
                <a:rPr lang="zh-CN" altLang="en-US" dirty="0"/>
                <a:t>位</a:t>
              </a:r>
              <a:r>
                <a:rPr lang="en-US" altLang="zh-CN" dirty="0"/>
                <a:t>.</a:t>
              </a:r>
            </a:p>
          </p:txBody>
        </p:sp>
        <p:graphicFrame>
          <p:nvGraphicFramePr>
            <p:cNvPr id="9230" name="Object 6"/>
            <p:cNvGraphicFramePr>
              <a:graphicFrameLocks noChangeAspect="1"/>
            </p:cNvGraphicFramePr>
            <p:nvPr/>
          </p:nvGraphicFramePr>
          <p:xfrm>
            <a:off x="1026" y="1148"/>
            <a:ext cx="77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97" name="Equation" r:id="rId5" imgW="373380" imgH="146685" progId="Equation.3">
                    <p:embed/>
                  </p:oleObj>
                </mc:Choice>
                <mc:Fallback>
                  <p:oleObj name="Equation" r:id="rId5" imgW="373380" imgH="146685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6" y="1148"/>
                          <a:ext cx="779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8615" name="Text Box 7"/>
          <p:cNvSpPr txBox="1">
            <a:spLocks noChangeArrowheads="1"/>
          </p:cNvSpPr>
          <p:nvPr/>
        </p:nvSpPr>
        <p:spPr bwMode="auto">
          <a:xfrm>
            <a:off x="827088" y="2851150"/>
            <a:ext cx="79692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欲使</a:t>
            </a:r>
          </a:p>
        </p:txBody>
      </p:sp>
      <p:graphicFrame>
        <p:nvGraphicFramePr>
          <p:cNvPr id="68616" name="Object 8"/>
          <p:cNvGraphicFramePr>
            <a:graphicFrameLocks noChangeAspect="1"/>
          </p:cNvGraphicFramePr>
          <p:nvPr/>
        </p:nvGraphicFramePr>
        <p:xfrm>
          <a:off x="1403350" y="1397000"/>
          <a:ext cx="220186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98" name="Equation" r:id="rId7" imgW="668020" imgH="146685" progId="Equation.3">
                  <p:embed/>
                </p:oleObj>
              </mc:Choice>
              <mc:Fallback>
                <p:oleObj name="Equation" r:id="rId7" imgW="668020" imgH="14668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397000"/>
                        <a:ext cx="2201863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7" name="Object 9"/>
          <p:cNvGraphicFramePr>
            <a:graphicFrameLocks noChangeAspect="1"/>
          </p:cNvGraphicFramePr>
          <p:nvPr/>
        </p:nvGraphicFramePr>
        <p:xfrm>
          <a:off x="3778250" y="1397000"/>
          <a:ext cx="274478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99" name="Equation" r:id="rId9" imgW="832485" imgH="146685" progId="Equation.3">
                  <p:embed/>
                </p:oleObj>
              </mc:Choice>
              <mc:Fallback>
                <p:oleObj name="Equation" r:id="rId9" imgW="832485" imgH="14668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1397000"/>
                        <a:ext cx="2744788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8" name="Object 10"/>
          <p:cNvGraphicFramePr>
            <a:graphicFrameLocks noChangeAspect="1"/>
          </p:cNvGraphicFramePr>
          <p:nvPr/>
        </p:nvGraphicFramePr>
        <p:xfrm>
          <a:off x="1476375" y="1916113"/>
          <a:ext cx="114300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00" name="Equation" r:id="rId11" imgW="421005" imgH="163830" progId="Equation.3">
                  <p:embed/>
                </p:oleObj>
              </mc:Choice>
              <mc:Fallback>
                <p:oleObj name="Equation" r:id="rId11" imgW="421005" imgH="16383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916113"/>
                        <a:ext cx="1143000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1"/>
          <p:cNvGrpSpPr/>
          <p:nvPr/>
        </p:nvGrpSpPr>
        <p:grpSpPr bwMode="auto">
          <a:xfrm>
            <a:off x="790575" y="3619500"/>
            <a:ext cx="7237413" cy="457200"/>
            <a:chOff x="432" y="515"/>
            <a:chExt cx="4559" cy="288"/>
          </a:xfrm>
        </p:grpSpPr>
        <p:sp>
          <p:nvSpPr>
            <p:cNvPr id="9237" name="Text Box 12"/>
            <p:cNvSpPr txBox="1">
              <a:spLocks noChangeArrowheads="1"/>
            </p:cNvSpPr>
            <p:nvPr/>
          </p:nvSpPr>
          <p:spPr bwMode="auto">
            <a:xfrm>
              <a:off x="432" y="515"/>
              <a:ext cx="455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</a:pPr>
              <a:r>
                <a:rPr lang="zh-CN" altLang="en-US"/>
                <a:t>只需     ，即只要二分</a:t>
              </a:r>
              <a:r>
                <a:rPr lang="en-US" altLang="zh-CN"/>
                <a:t>6</a:t>
              </a:r>
              <a:r>
                <a:rPr lang="zh-CN" altLang="en-US"/>
                <a:t>次，便能达到预定的精度</a:t>
              </a:r>
              <a:r>
                <a:rPr lang="en-US" altLang="zh-CN"/>
                <a:t>. </a:t>
              </a:r>
            </a:p>
          </p:txBody>
        </p:sp>
        <p:graphicFrame>
          <p:nvGraphicFramePr>
            <p:cNvPr id="9229" name="Object 13"/>
            <p:cNvGraphicFramePr>
              <a:graphicFrameLocks noChangeAspect="1"/>
            </p:cNvGraphicFramePr>
            <p:nvPr/>
          </p:nvGraphicFramePr>
          <p:xfrm>
            <a:off x="894" y="584"/>
            <a:ext cx="43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01" name="Equation" r:id="rId13" imgW="256540" imgH="126365" progId="Equation.3">
                    <p:embed/>
                  </p:oleObj>
                </mc:Choice>
                <mc:Fallback>
                  <p:oleObj name="Equation" r:id="rId13" imgW="256540" imgH="126365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4" y="584"/>
                          <a:ext cx="438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8622" name="Object 14"/>
          <p:cNvGraphicFramePr>
            <a:graphicFrameLocks noChangeAspect="1"/>
          </p:cNvGraphicFramePr>
          <p:nvPr/>
        </p:nvGraphicFramePr>
        <p:xfrm>
          <a:off x="1711325" y="3036888"/>
          <a:ext cx="2628900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02" name="Equation" r:id="rId15" imgW="866140" imgH="180975" progId="Equation.3">
                  <p:embed/>
                </p:oleObj>
              </mc:Choice>
              <mc:Fallback>
                <p:oleObj name="Equation" r:id="rId15" imgW="866140" imgH="18097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1325" y="3036888"/>
                        <a:ext cx="2628900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3" name="Object 15"/>
          <p:cNvGraphicFramePr>
            <a:graphicFrameLocks noChangeAspect="1"/>
          </p:cNvGraphicFramePr>
          <p:nvPr/>
        </p:nvGraphicFramePr>
        <p:xfrm>
          <a:off x="4325938" y="3057525"/>
          <a:ext cx="17160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03" name="Equation" r:id="rId17" imgW="565150" imgH="163830" progId="Equation.3">
                  <p:embed/>
                </p:oleObj>
              </mc:Choice>
              <mc:Fallback>
                <p:oleObj name="Equation" r:id="rId17" imgW="565150" imgH="16383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5938" y="3057525"/>
                        <a:ext cx="171608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4" name="Object 16"/>
          <p:cNvGraphicFramePr>
            <a:graphicFrameLocks noChangeAspect="1"/>
          </p:cNvGraphicFramePr>
          <p:nvPr/>
        </p:nvGraphicFramePr>
        <p:xfrm>
          <a:off x="6002338" y="2924175"/>
          <a:ext cx="2241550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04" name="Equation" r:id="rId19" imgW="739775" imgH="283210" progId="Equation.3">
                  <p:embed/>
                </p:oleObj>
              </mc:Choice>
              <mc:Fallback>
                <p:oleObj name="Equation" r:id="rId19" imgW="739775" imgH="28321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2338" y="2924175"/>
                        <a:ext cx="2241550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5" name="Rectangle 17"/>
          <p:cNvSpPr>
            <a:spLocks noChangeArrowheads="1"/>
          </p:cNvSpPr>
          <p:nvPr/>
        </p:nvSpPr>
        <p:spPr bwMode="auto">
          <a:xfrm>
            <a:off x="468313" y="1131888"/>
            <a:ext cx="795337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解 </a:t>
            </a:r>
          </a:p>
        </p:txBody>
      </p:sp>
      <p:graphicFrame>
        <p:nvGraphicFramePr>
          <p:cNvPr id="68626" name="Object 18"/>
          <p:cNvGraphicFramePr>
            <a:graphicFrameLocks noChangeAspect="1"/>
          </p:cNvGraphicFramePr>
          <p:nvPr/>
        </p:nvGraphicFramePr>
        <p:xfrm>
          <a:off x="2843213" y="1916113"/>
          <a:ext cx="11430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05" name="Equation" r:id="rId21" imgW="448945" imgH="163830" progId="Equation.3">
                  <p:embed/>
                </p:oleObj>
              </mc:Choice>
              <mc:Fallback>
                <p:oleObj name="Equation" r:id="rId21" imgW="448945" imgH="16383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1916113"/>
                        <a:ext cx="114300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7" name="Object 19"/>
          <p:cNvGraphicFramePr>
            <a:graphicFrameLocks noChangeAspect="1"/>
          </p:cNvGraphicFramePr>
          <p:nvPr/>
        </p:nvGraphicFramePr>
        <p:xfrm>
          <a:off x="4211638" y="1916113"/>
          <a:ext cx="32400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06" name="Equation" r:id="rId23" imgW="1078865" imgH="163830" progId="Equation.3">
                  <p:embed/>
                </p:oleObj>
              </mc:Choice>
              <mc:Fallback>
                <p:oleObj name="Equation" r:id="rId23" imgW="1078865" imgH="16383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1916113"/>
                        <a:ext cx="324008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8" name="Object 20"/>
          <p:cNvGraphicFramePr>
            <a:graphicFrameLocks noChangeAspect="1"/>
          </p:cNvGraphicFramePr>
          <p:nvPr/>
        </p:nvGraphicFramePr>
        <p:xfrm>
          <a:off x="3419475" y="2419350"/>
          <a:ext cx="1116013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07" name="Equation" r:id="rId25" imgW="339090" imgH="153670" progId="Equation.3">
                  <p:embed/>
                </p:oleObj>
              </mc:Choice>
              <mc:Fallback>
                <p:oleObj name="Equation" r:id="rId25" imgW="339090" imgH="15367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419350"/>
                        <a:ext cx="1116013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9" name="Text Box 21"/>
          <p:cNvSpPr txBox="1">
            <a:spLocks noChangeArrowheads="1"/>
          </p:cNvSpPr>
          <p:nvPr/>
        </p:nvSpPr>
        <p:spPr bwMode="auto">
          <a:xfrm>
            <a:off x="684213" y="2211388"/>
            <a:ext cx="263525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/>
              <a:t>得到新的有根区间</a:t>
            </a:r>
          </a:p>
        </p:txBody>
      </p:sp>
      <p:graphicFrame>
        <p:nvGraphicFramePr>
          <p:cNvPr id="68630" name="Object 22"/>
          <p:cNvGraphicFramePr>
            <a:graphicFrameLocks noChangeAspect="1"/>
          </p:cNvGraphicFramePr>
          <p:nvPr/>
        </p:nvGraphicFramePr>
        <p:xfrm>
          <a:off x="2195513" y="4005263"/>
          <a:ext cx="4032250" cy="2703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08" name="Equation" r:id="rId27" imgW="1890395" imgH="1354455" progId="Equation.DSMT4">
                  <p:embed/>
                </p:oleObj>
              </mc:Choice>
              <mc:Fallback>
                <p:oleObj name="Equation" r:id="rId27" imgW="1890395" imgH="1354455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005263"/>
                        <a:ext cx="4032250" cy="27035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6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6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6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6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6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6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5" grpId="0"/>
      <p:bldP spid="68625" grpId="0"/>
      <p:bldP spid="686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1547813" y="1844675"/>
            <a:ext cx="7402512" cy="142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>
                <a:latin typeface="Times New Roman" panose="02020603050405020304" pitchFamily="18" charset="0"/>
              </a:rPr>
              <a:t>二分法对多个零点的情况，只能算出其中一个零点。</a:t>
            </a:r>
            <a:br>
              <a:rPr lang="zh-CN" altLang="en-US">
                <a:latin typeface="Times New Roman" panose="02020603050405020304" pitchFamily="18" charset="0"/>
              </a:rPr>
            </a:br>
            <a:r>
              <a:rPr lang="zh-CN" altLang="en-US">
                <a:latin typeface="Times New Roman" panose="02020603050405020304" pitchFamily="18" charset="0"/>
              </a:rPr>
              <a:t>即使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在</a:t>
            </a:r>
            <a:r>
              <a:rPr lang="en-US" altLang="zh-CN">
                <a:latin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]</a:t>
            </a:r>
            <a:r>
              <a:rPr lang="zh-CN" altLang="en-US">
                <a:latin typeface="Times New Roman" panose="02020603050405020304" pitchFamily="18" charset="0"/>
              </a:rPr>
              <a:t>上有零点，也未必有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)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>
                <a:latin typeface="Times New Roman" panose="02020603050405020304" pitchFamily="18" charset="0"/>
              </a:rPr>
              <a:t>)&lt;0</a:t>
            </a:r>
            <a:r>
              <a:rPr lang="zh-CN" altLang="en-US">
                <a:latin typeface="Times New Roman" panose="02020603050405020304" pitchFamily="18" charset="0"/>
              </a:rPr>
              <a:t>。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</a:p>
        </p:txBody>
      </p:sp>
      <p:pic>
        <p:nvPicPr>
          <p:cNvPr id="69635" name="Picture 3" descr="tu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3284538"/>
            <a:ext cx="7488238" cy="264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1547813" y="476250"/>
            <a:ext cx="7056437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不管有根区间多大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zh-CN" altLang="en-US">
                <a:latin typeface="Times New Roman" panose="02020603050405020304" pitchFamily="18" charset="0"/>
              </a:rPr>
              <a:t>总能求出满足精度要求的根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</a:p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且对函数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zh-CN" altLang="en-US">
                <a:latin typeface="Times New Roman" panose="02020603050405020304" pitchFamily="18" charset="0"/>
              </a:rPr>
              <a:t>的要求不高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zh-CN" altLang="en-US">
                <a:latin typeface="Times New Roman" panose="02020603050405020304" pitchFamily="18" charset="0"/>
              </a:rPr>
              <a:t>只要连续即可</a:t>
            </a:r>
            <a:r>
              <a:rPr lang="en-US" altLang="zh-CN">
                <a:latin typeface="Times New Roman" panose="02020603050405020304" pitchFamily="18" charset="0"/>
              </a:rPr>
              <a:t>,</a:t>
            </a:r>
            <a:r>
              <a:rPr lang="zh-CN" altLang="en-US">
                <a:latin typeface="Times New Roman" panose="02020603050405020304" pitchFamily="18" charset="0"/>
              </a:rPr>
              <a:t>计算亦简单。</a:t>
            </a:r>
          </a:p>
        </p:txBody>
      </p:sp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539750" y="620713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kumimoji="0"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优点</a:t>
            </a:r>
          </a:p>
        </p:txBody>
      </p:sp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482600" y="22098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kumimoji="0"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缺点</a:t>
            </a:r>
          </a:p>
        </p:txBody>
      </p:sp>
      <p:sp>
        <p:nvSpPr>
          <p:cNvPr id="69639" name="AutoShape 7" descr="再生纸"/>
          <p:cNvSpPr>
            <a:spLocks noChangeArrowheads="1"/>
          </p:cNvSpPr>
          <p:nvPr/>
        </p:nvSpPr>
        <p:spPr bwMode="auto">
          <a:xfrm>
            <a:off x="539750" y="3789363"/>
            <a:ext cx="8064500" cy="1711325"/>
          </a:xfrm>
          <a:prstGeom prst="roundRect">
            <a:avLst>
              <a:gd name="adj" fmla="val 16667"/>
            </a:avLst>
          </a:prstGeom>
          <a:blipFill dpi="0" rotWithShape="0">
            <a:blip r:embed="rId4" cstate="print"/>
            <a:srcRect/>
            <a:tile tx="0" ty="0" sx="100000" sy="100000" flip="none" algn="tl"/>
          </a:blipFill>
          <a:ln w="9525">
            <a:noFill/>
            <a:round/>
          </a:ln>
          <a:effectLst>
            <a:prstShdw prst="shdw17" dist="17961" dir="2700000">
              <a:srgbClr val="FFFFFF">
                <a:gamma/>
                <a:shade val="60000"/>
                <a:invGamma/>
              </a:srgbClr>
            </a:prstShdw>
          </a:effectLst>
        </p:spPr>
        <p:txBody>
          <a:bodyPr anchor="ctr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注：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用二分法求根，最好先给出 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草图以确定根的大概位置。或用搜索程序，将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分为若干小区间，对每一个满足 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i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)·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) &lt; 0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的区间调用二分法程序，可找出区间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内的多个根，且不必要求 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)·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f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) &lt; 0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4" grpId="0"/>
      <p:bldP spid="69636" grpId="0"/>
      <p:bldP spid="69639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228601"/>
            <a:ext cx="7010400" cy="824136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提纲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124744"/>
            <a:ext cx="7772400" cy="4114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方程求根及二分法</a:t>
            </a:r>
            <a:endParaRPr lang="en-US" altLang="zh-C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迭代法</a:t>
            </a:r>
            <a:endParaRPr lang="en-US" altLang="zh-CN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迭代过程的加速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牛顿法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2" name="Rectangle 2"/>
          <p:cNvSpPr>
            <a:spLocks noGrp="1" noChangeArrowheads="1"/>
          </p:cNvSpPr>
          <p:nvPr>
            <p:ph type="title"/>
          </p:nvPr>
        </p:nvSpPr>
        <p:spPr>
          <a:xfrm>
            <a:off x="139931" y="152400"/>
            <a:ext cx="4360061" cy="838200"/>
          </a:xfrm>
        </p:spPr>
        <p:txBody>
          <a:bodyPr/>
          <a:lstStyle/>
          <a:p>
            <a:pPr eaLnBrk="1" hangingPunct="1"/>
            <a:r>
              <a:rPr lang="zh-CN" altLang="en-US" sz="3600" b="1" dirty="0"/>
              <a:t>迭代法的基本思想</a:t>
            </a:r>
          </a:p>
        </p:txBody>
      </p:sp>
      <p:graphicFrame>
        <p:nvGraphicFramePr>
          <p:cNvPr id="10242" name="Object 4"/>
          <p:cNvGraphicFramePr>
            <a:graphicFrameLocks noChangeAspect="1"/>
          </p:cNvGraphicFramePr>
          <p:nvPr/>
        </p:nvGraphicFramePr>
        <p:xfrm>
          <a:off x="1143000" y="1569368"/>
          <a:ext cx="15240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2" name="Equation" r:id="rId3" imgW="427990" imgH="146685" progId="Equation.3">
                  <p:embed/>
                </p:oleObj>
              </mc:Choice>
              <mc:Fallback>
                <p:oleObj name="Equation" r:id="rId3" imgW="427990" imgH="14668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569368"/>
                        <a:ext cx="15240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3" name="Text Box 5"/>
          <p:cNvSpPr txBox="1">
            <a:spLocks noChangeArrowheads="1"/>
          </p:cNvSpPr>
          <p:nvPr/>
        </p:nvSpPr>
        <p:spPr bwMode="auto">
          <a:xfrm>
            <a:off x="228600" y="1797968"/>
            <a:ext cx="533400" cy="15621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solidFill>
                  <a:schemeClr val="accent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基本思路</a:t>
            </a:r>
          </a:p>
        </p:txBody>
      </p:sp>
      <p:grpSp>
        <p:nvGrpSpPr>
          <p:cNvPr id="2" name="Group 29"/>
          <p:cNvGrpSpPr/>
          <p:nvPr/>
        </p:nvGrpSpPr>
        <p:grpSpPr bwMode="auto">
          <a:xfrm>
            <a:off x="2667000" y="1340768"/>
            <a:ext cx="2508250" cy="693738"/>
            <a:chOff x="1680" y="1152"/>
            <a:chExt cx="1580" cy="437"/>
          </a:xfrm>
        </p:grpSpPr>
        <p:sp>
          <p:nvSpPr>
            <p:cNvPr id="10278" name="Line 6"/>
            <p:cNvSpPr>
              <a:spLocks noChangeShapeType="1"/>
            </p:cNvSpPr>
            <p:nvPr/>
          </p:nvSpPr>
          <p:spPr bwMode="auto">
            <a:xfrm>
              <a:off x="1680" y="144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0251" name="Object 7"/>
            <p:cNvGraphicFramePr>
              <a:graphicFrameLocks noChangeAspect="1"/>
            </p:cNvGraphicFramePr>
            <p:nvPr/>
          </p:nvGraphicFramePr>
          <p:xfrm>
            <a:off x="2400" y="1296"/>
            <a:ext cx="860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33" name="Equation" r:id="rId5" imgW="427990" imgH="146685" progId="Equation.3">
                    <p:embed/>
                  </p:oleObj>
                </mc:Choice>
                <mc:Fallback>
                  <p:oleObj name="Equation" r:id="rId5" imgW="427990" imgH="146685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296"/>
                          <a:ext cx="860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79" name="Text Box 8"/>
            <p:cNvSpPr txBox="1">
              <a:spLocks noChangeArrowheads="1"/>
            </p:cNvSpPr>
            <p:nvPr/>
          </p:nvSpPr>
          <p:spPr bwMode="auto">
            <a:xfrm>
              <a:off x="1776" y="1152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zh-CN" altLang="en-US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同解</a:t>
              </a:r>
            </a:p>
          </p:txBody>
        </p:sp>
      </p:grpSp>
      <p:grpSp>
        <p:nvGrpSpPr>
          <p:cNvPr id="3" name="Group 30"/>
          <p:cNvGrpSpPr/>
          <p:nvPr/>
        </p:nvGrpSpPr>
        <p:grpSpPr bwMode="auto">
          <a:xfrm>
            <a:off x="5105400" y="1340768"/>
            <a:ext cx="3184525" cy="822325"/>
            <a:chOff x="3216" y="1152"/>
            <a:chExt cx="2006" cy="518"/>
          </a:xfrm>
        </p:grpSpPr>
        <p:sp>
          <p:nvSpPr>
            <p:cNvPr id="10276" name="Line 11"/>
            <p:cNvSpPr>
              <a:spLocks noChangeShapeType="1"/>
            </p:cNvSpPr>
            <p:nvPr/>
          </p:nvSpPr>
          <p:spPr bwMode="auto">
            <a:xfrm>
              <a:off x="3216" y="1440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77" name="Text Box 12"/>
            <p:cNvSpPr txBox="1">
              <a:spLocks noChangeArrowheads="1"/>
            </p:cNvSpPr>
            <p:nvPr/>
          </p:nvSpPr>
          <p:spPr bwMode="auto">
            <a:xfrm>
              <a:off x="3264" y="1152"/>
              <a:ext cx="624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zh-CN" altLang="en-US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迭代公式</a:t>
              </a:r>
            </a:p>
          </p:txBody>
        </p:sp>
        <p:graphicFrame>
          <p:nvGraphicFramePr>
            <p:cNvPr id="10250" name="Object 14"/>
            <p:cNvGraphicFramePr>
              <a:graphicFrameLocks noChangeAspect="1"/>
            </p:cNvGraphicFramePr>
            <p:nvPr/>
          </p:nvGraphicFramePr>
          <p:xfrm>
            <a:off x="4032" y="1296"/>
            <a:ext cx="1190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34" name="Equation" r:id="rId7" imgW="592455" imgH="163830" progId="Equation.3">
                    <p:embed/>
                  </p:oleObj>
                </mc:Choice>
                <mc:Fallback>
                  <p:oleObj name="Equation" r:id="rId7" imgW="592455" imgH="16383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1296"/>
                          <a:ext cx="1190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1"/>
          <p:cNvGrpSpPr/>
          <p:nvPr/>
        </p:nvGrpSpPr>
        <p:grpSpPr bwMode="auto">
          <a:xfrm>
            <a:off x="2514600" y="2178968"/>
            <a:ext cx="5410200" cy="800100"/>
            <a:chOff x="1584" y="1680"/>
            <a:chExt cx="3408" cy="504"/>
          </a:xfrm>
        </p:grpSpPr>
        <p:sp>
          <p:nvSpPr>
            <p:cNvPr id="10274" name="Line 9"/>
            <p:cNvSpPr>
              <a:spLocks noChangeShapeType="1"/>
            </p:cNvSpPr>
            <p:nvPr/>
          </p:nvSpPr>
          <p:spPr bwMode="auto">
            <a:xfrm>
              <a:off x="1632" y="196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75" name="Text Box 10"/>
            <p:cNvSpPr txBox="1">
              <a:spLocks noChangeArrowheads="1"/>
            </p:cNvSpPr>
            <p:nvPr/>
          </p:nvSpPr>
          <p:spPr bwMode="auto">
            <a:xfrm>
              <a:off x="1584" y="1680"/>
              <a:ext cx="9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zh-CN" altLang="en-US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给定初值</a:t>
              </a:r>
            </a:p>
          </p:txBody>
        </p:sp>
        <p:graphicFrame>
          <p:nvGraphicFramePr>
            <p:cNvPr id="10248" name="Object 15"/>
            <p:cNvGraphicFramePr>
              <a:graphicFrameLocks noChangeAspect="1"/>
            </p:cNvGraphicFramePr>
            <p:nvPr/>
          </p:nvGraphicFramePr>
          <p:xfrm>
            <a:off x="1920" y="1872"/>
            <a:ext cx="26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35" name="Equation" r:id="rId9" imgW="137160" imgH="163830" progId="Equation.3">
                    <p:embed/>
                  </p:oleObj>
                </mc:Choice>
                <mc:Fallback>
                  <p:oleObj name="Equation" r:id="rId9" imgW="137160" imgH="16383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0" y="1872"/>
                          <a:ext cx="260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9" name="Object 16"/>
            <p:cNvGraphicFramePr>
              <a:graphicFrameLocks noChangeAspect="1"/>
            </p:cNvGraphicFramePr>
            <p:nvPr/>
          </p:nvGraphicFramePr>
          <p:xfrm>
            <a:off x="2448" y="1824"/>
            <a:ext cx="2544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36" name="Equation" r:id="rId11" imgW="975995" imgH="163830" progId="Equation.3">
                    <p:embed/>
                  </p:oleObj>
                </mc:Choice>
                <mc:Fallback>
                  <p:oleObj name="Equation" r:id="rId11" imgW="975995" imgH="16383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8" y="1824"/>
                          <a:ext cx="2544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32"/>
          <p:cNvGrpSpPr/>
          <p:nvPr/>
        </p:nvGrpSpPr>
        <p:grpSpPr bwMode="auto">
          <a:xfrm>
            <a:off x="2438400" y="3093368"/>
            <a:ext cx="3352800" cy="990600"/>
            <a:chOff x="1536" y="2256"/>
            <a:chExt cx="2112" cy="624"/>
          </a:xfrm>
        </p:grpSpPr>
        <p:sp>
          <p:nvSpPr>
            <p:cNvPr id="10272" name="Line 18"/>
            <p:cNvSpPr>
              <a:spLocks noChangeShapeType="1"/>
            </p:cNvSpPr>
            <p:nvPr/>
          </p:nvSpPr>
          <p:spPr bwMode="auto">
            <a:xfrm>
              <a:off x="1536" y="2592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0246" name="Object 20"/>
            <p:cNvGraphicFramePr>
              <a:graphicFrameLocks noChangeAspect="1"/>
            </p:cNvGraphicFramePr>
            <p:nvPr/>
          </p:nvGraphicFramePr>
          <p:xfrm>
            <a:off x="1584" y="2256"/>
            <a:ext cx="864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37" name="Equation" r:id="rId13" imgW="548005" imgH="208280" progId="Equation.3">
                    <p:embed/>
                  </p:oleObj>
                </mc:Choice>
                <mc:Fallback>
                  <p:oleObj name="Equation" r:id="rId13" imgW="548005" imgH="20828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2256"/>
                          <a:ext cx="864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73" name="Text Box 21"/>
            <p:cNvSpPr txBox="1">
              <a:spLocks noChangeArrowheads="1"/>
            </p:cNvSpPr>
            <p:nvPr/>
          </p:nvSpPr>
          <p:spPr bwMode="auto">
            <a:xfrm>
              <a:off x="1584" y="2592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zh-CN" altLang="en-US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存在</a:t>
              </a:r>
            </a:p>
          </p:txBody>
        </p:sp>
        <p:graphicFrame>
          <p:nvGraphicFramePr>
            <p:cNvPr id="10247" name="Object 22"/>
            <p:cNvGraphicFramePr>
              <a:graphicFrameLocks noChangeAspect="1"/>
            </p:cNvGraphicFramePr>
            <p:nvPr/>
          </p:nvGraphicFramePr>
          <p:xfrm>
            <a:off x="2592" y="2400"/>
            <a:ext cx="105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38" name="Equation" r:id="rId15" imgW="510540" imgH="163830" progId="Equation.3">
                    <p:embed/>
                  </p:oleObj>
                </mc:Choice>
                <mc:Fallback>
                  <p:oleObj name="Equation" r:id="rId15" imgW="510540" imgH="16383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2400"/>
                          <a:ext cx="1056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33"/>
          <p:cNvGrpSpPr/>
          <p:nvPr/>
        </p:nvGrpSpPr>
        <p:grpSpPr bwMode="auto">
          <a:xfrm>
            <a:off x="2438400" y="4083968"/>
            <a:ext cx="3429000" cy="762000"/>
            <a:chOff x="1536" y="3024"/>
            <a:chExt cx="2160" cy="480"/>
          </a:xfrm>
        </p:grpSpPr>
        <p:sp>
          <p:nvSpPr>
            <p:cNvPr id="10270" name="Line 23"/>
            <p:cNvSpPr>
              <a:spLocks noChangeShapeType="1"/>
            </p:cNvSpPr>
            <p:nvPr/>
          </p:nvSpPr>
          <p:spPr bwMode="auto">
            <a:xfrm>
              <a:off x="1536" y="3360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0245" name="Object 24"/>
            <p:cNvGraphicFramePr>
              <a:graphicFrameLocks noChangeAspect="1"/>
            </p:cNvGraphicFramePr>
            <p:nvPr/>
          </p:nvGraphicFramePr>
          <p:xfrm>
            <a:off x="2592" y="3168"/>
            <a:ext cx="110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39" name="Equation" r:id="rId17" imgW="476250" imgH="163830" progId="Equation.3">
                    <p:embed/>
                  </p:oleObj>
                </mc:Choice>
                <mc:Fallback>
                  <p:oleObj name="Equation" r:id="rId17" imgW="476250" imgH="16383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3168"/>
                          <a:ext cx="110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71" name="Text Box 25"/>
            <p:cNvSpPr txBox="1">
              <a:spLocks noChangeArrowheads="1"/>
            </p:cNvSpPr>
            <p:nvPr/>
          </p:nvSpPr>
          <p:spPr bwMode="auto">
            <a:xfrm>
              <a:off x="1536" y="3024"/>
              <a:ext cx="7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zh-CN" altLang="en-US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等价于</a:t>
              </a:r>
            </a:p>
          </p:txBody>
        </p:sp>
      </p:grpSp>
      <p:grpSp>
        <p:nvGrpSpPr>
          <p:cNvPr id="7" name="Group 28"/>
          <p:cNvGrpSpPr/>
          <p:nvPr/>
        </p:nvGrpSpPr>
        <p:grpSpPr bwMode="auto">
          <a:xfrm>
            <a:off x="6300192" y="329639"/>
            <a:ext cx="2376264" cy="904876"/>
            <a:chOff x="3408" y="0"/>
            <a:chExt cx="720" cy="1008"/>
          </a:xfrm>
        </p:grpSpPr>
        <p:sp>
          <p:nvSpPr>
            <p:cNvPr id="10268" name="AutoShape 26"/>
            <p:cNvSpPr>
              <a:spLocks noChangeArrowheads="1"/>
            </p:cNvSpPr>
            <p:nvPr/>
          </p:nvSpPr>
          <p:spPr bwMode="auto">
            <a:xfrm>
              <a:off x="3408" y="0"/>
              <a:ext cx="576" cy="1008"/>
            </a:xfrm>
            <a:prstGeom prst="wedgeEllipseCallout">
              <a:avLst>
                <a:gd name="adj1" fmla="val -135417"/>
                <a:gd name="adj2" fmla="val 8710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endParaRPr lang="zh-CN" altLang="zh-CN" b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69" name="Text Box 27"/>
            <p:cNvSpPr txBox="1">
              <a:spLocks noChangeArrowheads="1"/>
            </p:cNvSpPr>
            <p:nvPr/>
          </p:nvSpPr>
          <p:spPr bwMode="auto">
            <a:xfrm>
              <a:off x="3456" y="192"/>
              <a:ext cx="67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zh-CN" altLang="en-US" dirty="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迭代函数</a:t>
              </a:r>
            </a:p>
          </p:txBody>
        </p:sp>
      </p:grpSp>
      <p:grpSp>
        <p:nvGrpSpPr>
          <p:cNvPr id="8" name="Group 39"/>
          <p:cNvGrpSpPr/>
          <p:nvPr/>
        </p:nvGrpSpPr>
        <p:grpSpPr bwMode="auto">
          <a:xfrm>
            <a:off x="914400" y="2331368"/>
            <a:ext cx="1524000" cy="1219200"/>
            <a:chOff x="576" y="1776"/>
            <a:chExt cx="960" cy="768"/>
          </a:xfrm>
        </p:grpSpPr>
        <p:sp>
          <p:nvSpPr>
            <p:cNvPr id="10266" name="AutoShape 34"/>
            <p:cNvSpPr>
              <a:spLocks noChangeArrowheads="1"/>
            </p:cNvSpPr>
            <p:nvPr/>
          </p:nvSpPr>
          <p:spPr bwMode="auto">
            <a:xfrm>
              <a:off x="576" y="1776"/>
              <a:ext cx="960" cy="768"/>
            </a:xfrm>
            <a:prstGeom prst="wedgeRoundRectCallout">
              <a:avLst>
                <a:gd name="adj1" fmla="val 94792"/>
                <a:gd name="adj2" fmla="val -95315"/>
                <a:gd name="adj3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endParaRPr lang="zh-CN" altLang="zh-CN" b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67" name="Text Box 35"/>
            <p:cNvSpPr txBox="1">
              <a:spLocks noChangeArrowheads="1"/>
            </p:cNvSpPr>
            <p:nvPr/>
          </p:nvSpPr>
          <p:spPr bwMode="auto">
            <a:xfrm>
              <a:off x="576" y="1824"/>
              <a:ext cx="960" cy="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zh-CN" altLang="en-US" sz="3200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？</a:t>
              </a:r>
              <a:r>
                <a:rPr lang="zh-CN" altLang="en-US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转换是否唯一</a:t>
              </a:r>
            </a:p>
          </p:txBody>
        </p:sp>
      </p:grpSp>
      <p:grpSp>
        <p:nvGrpSpPr>
          <p:cNvPr id="9" name="Group 38"/>
          <p:cNvGrpSpPr/>
          <p:nvPr/>
        </p:nvGrpSpPr>
        <p:grpSpPr bwMode="auto">
          <a:xfrm>
            <a:off x="5752306" y="4393531"/>
            <a:ext cx="3428206" cy="895101"/>
            <a:chOff x="3552" y="2976"/>
            <a:chExt cx="2208" cy="432"/>
          </a:xfrm>
        </p:grpSpPr>
        <p:sp>
          <p:nvSpPr>
            <p:cNvPr id="10265" name="AutoShape 36"/>
            <p:cNvSpPr>
              <a:spLocks noChangeArrowheads="1"/>
            </p:cNvSpPr>
            <p:nvPr/>
          </p:nvSpPr>
          <p:spPr bwMode="auto">
            <a:xfrm>
              <a:off x="3552" y="2976"/>
              <a:ext cx="2208" cy="432"/>
            </a:xfrm>
            <a:prstGeom prst="wedgeRoundRectCallout">
              <a:avLst>
                <a:gd name="adj1" fmla="val -51269"/>
                <a:gd name="adj2" fmla="val -136806"/>
                <a:gd name="adj3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endParaRPr lang="zh-CN" altLang="zh-CN" b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0244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7642075"/>
                </p:ext>
              </p:extLst>
            </p:nvPr>
          </p:nvGraphicFramePr>
          <p:xfrm>
            <a:off x="3745" y="2997"/>
            <a:ext cx="1692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40" name="Equation" r:id="rId19" imgW="904240" imgH="163830" progId="Equation.3">
                    <p:embed/>
                  </p:oleObj>
                </mc:Choice>
                <mc:Fallback>
                  <p:oleObj name="Equation" r:id="rId19" imgW="904240" imgH="16383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5" y="2997"/>
                          <a:ext cx="1692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47"/>
          <p:cNvGrpSpPr/>
          <p:nvPr/>
        </p:nvGrpSpPr>
        <p:grpSpPr bwMode="auto">
          <a:xfrm>
            <a:off x="2438400" y="4845968"/>
            <a:ext cx="3536950" cy="1352550"/>
            <a:chOff x="1536" y="3360"/>
            <a:chExt cx="2228" cy="852"/>
          </a:xfrm>
        </p:grpSpPr>
        <p:sp>
          <p:nvSpPr>
            <p:cNvPr id="10263" name="Line 44"/>
            <p:cNvSpPr>
              <a:spLocks noChangeShapeType="1"/>
            </p:cNvSpPr>
            <p:nvPr/>
          </p:nvSpPr>
          <p:spPr bwMode="auto">
            <a:xfrm>
              <a:off x="1536" y="3840"/>
              <a:ext cx="96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64" name="Text Box 45"/>
            <p:cNvSpPr txBox="1">
              <a:spLocks noChangeArrowheads="1"/>
            </p:cNvSpPr>
            <p:nvPr/>
          </p:nvSpPr>
          <p:spPr bwMode="auto">
            <a:xfrm>
              <a:off x="1584" y="3504"/>
              <a:ext cx="768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zh-CN" altLang="en-US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几何</a:t>
              </a: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zh-CN" altLang="en-US">
                  <a:solidFill>
                    <a:schemeClr val="hlink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意义</a:t>
              </a:r>
            </a:p>
          </p:txBody>
        </p:sp>
        <p:graphicFrame>
          <p:nvGraphicFramePr>
            <p:cNvPr id="10243" name="Object 46"/>
            <p:cNvGraphicFramePr>
              <a:graphicFrameLocks noChangeAspect="1"/>
            </p:cNvGraphicFramePr>
            <p:nvPr/>
          </p:nvGraphicFramePr>
          <p:xfrm>
            <a:off x="2544" y="3360"/>
            <a:ext cx="1220" cy="8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41" name="Equation" r:id="rId21" imgW="482600" imgH="337820" progId="Equation.3">
                    <p:embed/>
                  </p:oleObj>
                </mc:Choice>
                <mc:Fallback>
                  <p:oleObj name="Equation" r:id="rId21" imgW="482600" imgH="33782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3360"/>
                          <a:ext cx="1220" cy="8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文本框 140289"/>
          <p:cNvSpPr txBox="1">
            <a:spLocks noChangeArrowheads="1"/>
          </p:cNvSpPr>
          <p:nvPr/>
        </p:nvSpPr>
        <p:spPr bwMode="auto">
          <a:xfrm>
            <a:off x="457200" y="228600"/>
            <a:ext cx="6477000" cy="1831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5</a:t>
            </a:r>
            <a:r>
              <a:rPr lang="zh-CN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用迭代法求方程</a:t>
            </a: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   在</a:t>
            </a:r>
            <a:r>
              <a:rPr lang="en-US" altLang="zh-CN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x=1</a:t>
            </a:r>
            <a:r>
              <a:rPr lang="en-US" altLang="zh-CN" sz="28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.</a:t>
            </a:r>
            <a:r>
              <a:rPr lang="en-US" altLang="zh-CN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5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附近的一个根</a:t>
            </a: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解  将方程改写成如下两种等价形式</a:t>
            </a:r>
            <a:r>
              <a:rPr lang="zh-CN" altLang="en-US" sz="32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 </a:t>
            </a:r>
          </a:p>
        </p:txBody>
      </p:sp>
      <p:sp>
        <p:nvSpPr>
          <p:cNvPr id="31746" name="矩形 140291"/>
          <p:cNvSpPr>
            <a:spLocks noChangeArrowheads="1"/>
          </p:cNvSpPr>
          <p:nvPr/>
        </p:nvSpPr>
        <p:spPr bwMode="auto">
          <a:xfrm>
            <a:off x="4148138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31747" name="对象 140290"/>
          <p:cNvGraphicFramePr/>
          <p:nvPr/>
        </p:nvGraphicFramePr>
        <p:xfrm>
          <a:off x="4038600" y="304800"/>
          <a:ext cx="28194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68" r:id="rId3" imgW="850265" imgH="203200" progId="Equation.3">
                  <p:embed/>
                </p:oleObj>
              </mc:Choice>
              <mc:Fallback>
                <p:oleObj r:id="rId3" imgW="850265" imgH="203200" progId="Equation.3">
                  <p:embed/>
                  <p:pic>
                    <p:nvPicPr>
                      <p:cNvPr id="0" name="对象 14029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04800"/>
                        <a:ext cx="28194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8" name="矩形 140293"/>
          <p:cNvSpPr>
            <a:spLocks noChangeArrowheads="1"/>
          </p:cNvSpPr>
          <p:nvPr/>
        </p:nvSpPr>
        <p:spPr bwMode="auto">
          <a:xfrm>
            <a:off x="3924300" y="3162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31749" name="对象 140292"/>
          <p:cNvGraphicFramePr/>
          <p:nvPr/>
        </p:nvGraphicFramePr>
        <p:xfrm>
          <a:off x="1447800" y="2133600"/>
          <a:ext cx="4191000" cy="112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69" r:id="rId5" imgW="1295400" imgH="533400" progId="Equation.3">
                  <p:embed/>
                </p:oleObj>
              </mc:Choice>
              <mc:Fallback>
                <p:oleObj r:id="rId5" imgW="1295400" imgH="533400" progId="Equation.3">
                  <p:embed/>
                  <p:pic>
                    <p:nvPicPr>
                      <p:cNvPr id="0" name="对象 14029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133600"/>
                        <a:ext cx="4191000" cy="1128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文本框 140294"/>
          <p:cNvSpPr txBox="1">
            <a:spLocks noChangeArrowheads="1"/>
          </p:cNvSpPr>
          <p:nvPr/>
        </p:nvSpPr>
        <p:spPr bwMode="auto">
          <a:xfrm>
            <a:off x="1295400" y="3429000"/>
            <a:ext cx="556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相应地可得到两个迭代公式</a:t>
            </a:r>
          </a:p>
        </p:txBody>
      </p:sp>
      <p:sp>
        <p:nvSpPr>
          <p:cNvPr id="31751" name="矩形 140296"/>
          <p:cNvSpPr>
            <a:spLocks noChangeArrowheads="1"/>
          </p:cNvSpPr>
          <p:nvPr/>
        </p:nvSpPr>
        <p:spPr bwMode="auto">
          <a:xfrm>
            <a:off x="3833813" y="3176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31752" name="对象 140295"/>
          <p:cNvGraphicFramePr/>
          <p:nvPr/>
        </p:nvGraphicFramePr>
        <p:xfrm>
          <a:off x="1447800" y="4038600"/>
          <a:ext cx="3810000" cy="130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0" r:id="rId7" imgW="1473200" imgH="508000" progId="Equation.3">
                  <p:embed/>
                </p:oleObj>
              </mc:Choice>
              <mc:Fallback>
                <p:oleObj r:id="rId7" imgW="1473200" imgH="508000" progId="Equation.3">
                  <p:embed/>
                  <p:pic>
                    <p:nvPicPr>
                      <p:cNvPr id="0" name="对象 14029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038600"/>
                        <a:ext cx="3810000" cy="1303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3" name="文本框 140297"/>
          <p:cNvSpPr txBox="1">
            <a:spLocks noChangeArrowheads="1"/>
          </p:cNvSpPr>
          <p:nvPr/>
        </p:nvSpPr>
        <p:spPr bwMode="auto">
          <a:xfrm>
            <a:off x="990600" y="5486400"/>
            <a:ext cx="72390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如果取初始值    ＝1.5，用上述两个迭代公式分别迭代，计算结果</a:t>
            </a:r>
          </a:p>
        </p:txBody>
      </p:sp>
      <p:sp>
        <p:nvSpPr>
          <p:cNvPr id="31754" name="矩形 140299"/>
          <p:cNvSpPr>
            <a:spLocks noChangeArrowheads="1"/>
          </p:cNvSpPr>
          <p:nvPr/>
        </p:nvSpPr>
        <p:spPr bwMode="auto">
          <a:xfrm>
            <a:off x="4481513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31755" name="对象 140298"/>
          <p:cNvGraphicFramePr/>
          <p:nvPr/>
        </p:nvGraphicFramePr>
        <p:xfrm>
          <a:off x="3429000" y="5486400"/>
          <a:ext cx="482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1" r:id="rId9" imgW="177800" imgH="228600" progId="Equation.3">
                  <p:embed/>
                </p:oleObj>
              </mc:Choice>
              <mc:Fallback>
                <p:oleObj r:id="rId9" imgW="177800" imgH="228600" progId="Equation.3">
                  <p:embed/>
                  <p:pic>
                    <p:nvPicPr>
                      <p:cNvPr id="0" name="对象 140298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486400"/>
                        <a:ext cx="482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827" name="对象 205826"/>
          <p:cNvGraphicFramePr/>
          <p:nvPr/>
        </p:nvGraphicFramePr>
        <p:xfrm>
          <a:off x="755650" y="476250"/>
          <a:ext cx="757555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6" r:id="rId4" imgW="2638425" imgH="266065" progId="Equation.DSMT4">
                  <p:embed/>
                </p:oleObj>
              </mc:Choice>
              <mc:Fallback>
                <p:oleObj r:id="rId4" imgW="2638425" imgH="266065" progId="Equation.DSMT4">
                  <p:embed/>
                  <p:pic>
                    <p:nvPicPr>
                      <p:cNvPr id="0" name="对象 20582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76250"/>
                        <a:ext cx="7575550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28" name="表格 205827"/>
          <p:cNvGraphicFramePr/>
          <p:nvPr/>
        </p:nvGraphicFramePr>
        <p:xfrm>
          <a:off x="2627784" y="1241425"/>
          <a:ext cx="3240088" cy="3986756"/>
        </p:xfrm>
        <a:graphic>
          <a:graphicData uri="http://schemas.openxmlformats.org/drawingml/2006/table">
            <a:tbl>
              <a:tblPr/>
              <a:tblGrid>
                <a:gridCol w="752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7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34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Blip>
                          <a:blip r:embed="rId6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buChar char="w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k</a:t>
                      </a:r>
                    </a:p>
                  </a:txBody>
                  <a:tcPr marT="45713" marB="4571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Blip>
                          <a:blip r:embed="rId6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buChar char="w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 err="1"/>
                        <a:t>x</a:t>
                      </a:r>
                      <a:r>
                        <a:rPr lang="en-US" altLang="zh-CN" sz="2400" baseline="-25000" err="1"/>
                        <a:t>k</a:t>
                      </a:r>
                      <a:endParaRPr lang="zh-CN" altLang="en-US" sz="2400" baseline="-25000" dirty="0"/>
                    </a:p>
                  </a:txBody>
                  <a:tcPr marT="45713" marB="4571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907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Blip>
                          <a:blip r:embed="rId6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buChar char="w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0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1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2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3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4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5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6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2400"/>
                        <a:t>7</a:t>
                      </a:r>
                    </a:p>
                  </a:txBody>
                  <a:tcPr marT="45713" marB="4571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buBlip>
                          <a:blip r:embed="rId6"/>
                        </a:buBlip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buChar char="w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400" dirty="0"/>
                        <a:t>1.5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2400" dirty="0"/>
                        <a:t>1.35721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2400" dirty="0"/>
                        <a:t>1.33086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2400" dirty="0"/>
                        <a:t>1.32588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2400" dirty="0"/>
                        <a:t>1.32494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2400" dirty="0"/>
                        <a:t>1.32476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2400" dirty="0"/>
                        <a:t>1.32473</a:t>
                      </a:r>
                    </a:p>
                    <a:p>
                      <a:pPr marL="0" lvl="0" indent="0">
                        <a:buNone/>
                      </a:pPr>
                      <a:r>
                        <a:rPr lang="en-US" altLang="zh-CN" sz="2400" dirty="0"/>
                        <a:t>1.32472</a:t>
                      </a:r>
                    </a:p>
                  </a:txBody>
                  <a:tcPr marT="45713" marB="4571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5839" name="对象 205838"/>
          <p:cNvGraphicFramePr/>
          <p:nvPr/>
        </p:nvGraphicFramePr>
        <p:xfrm>
          <a:off x="250825" y="5416550"/>
          <a:ext cx="7416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7" r:id="rId7" imgW="7413625" imgH="533400" progId="Equation.3">
                  <p:embed/>
                </p:oleObj>
              </mc:Choice>
              <mc:Fallback>
                <p:oleObj r:id="rId7" imgW="7413625" imgH="533400" progId="Equation.3">
                  <p:embed/>
                  <p:pic>
                    <p:nvPicPr>
                      <p:cNvPr id="0" name="对象 205838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5416550"/>
                        <a:ext cx="7416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05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5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98565" y="161285"/>
            <a:ext cx="2703715" cy="895643"/>
          </a:xfrm>
        </p:spPr>
        <p:txBody>
          <a:bodyPr/>
          <a:lstStyle/>
          <a:p>
            <a:pPr eaLnBrk="1" hangingPunct="1"/>
            <a:r>
              <a:rPr lang="zh-CN" altLang="en-US" sz="3600" b="1" dirty="0"/>
              <a:t>几何含义</a:t>
            </a:r>
          </a:p>
        </p:txBody>
      </p:sp>
      <p:sp>
        <p:nvSpPr>
          <p:cNvPr id="44035" name="Rectangle 59"/>
          <p:cNvSpPr>
            <a:spLocks noChangeArrowheads="1"/>
          </p:cNvSpPr>
          <p:nvPr/>
        </p:nvSpPr>
        <p:spPr bwMode="auto">
          <a:xfrm>
            <a:off x="6248400" y="980728"/>
            <a:ext cx="2895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endParaRPr lang="zh-CN" altLang="zh-CN" b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60"/>
          <p:cNvGrpSpPr/>
          <p:nvPr/>
        </p:nvGrpSpPr>
        <p:grpSpPr bwMode="auto">
          <a:xfrm>
            <a:off x="533400" y="1285528"/>
            <a:ext cx="3505200" cy="2971800"/>
            <a:chOff x="1296" y="1056"/>
            <a:chExt cx="2208" cy="1872"/>
          </a:xfrm>
        </p:grpSpPr>
        <p:sp>
          <p:nvSpPr>
            <p:cNvPr id="44084" name="Line 61"/>
            <p:cNvSpPr>
              <a:spLocks noChangeShapeType="1"/>
            </p:cNvSpPr>
            <p:nvPr/>
          </p:nvSpPr>
          <p:spPr bwMode="auto">
            <a:xfrm>
              <a:off x="1296" y="2784"/>
              <a:ext cx="22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5" name="Line 62"/>
            <p:cNvSpPr>
              <a:spLocks noChangeShapeType="1"/>
            </p:cNvSpPr>
            <p:nvPr/>
          </p:nvSpPr>
          <p:spPr bwMode="auto">
            <a:xfrm flipV="1">
              <a:off x="1344" y="1104"/>
              <a:ext cx="0" cy="1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6" name="Text Box 63"/>
            <p:cNvSpPr txBox="1">
              <a:spLocks noChangeArrowheads="1"/>
            </p:cNvSpPr>
            <p:nvPr/>
          </p:nvSpPr>
          <p:spPr bwMode="auto">
            <a:xfrm>
              <a:off x="3312" y="2592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</a:rPr>
                <a:t>x</a:t>
              </a:r>
              <a:endParaRPr lang="en-US" altLang="zh-CN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87" name="Text Box 64"/>
            <p:cNvSpPr txBox="1">
              <a:spLocks noChangeArrowheads="1"/>
            </p:cNvSpPr>
            <p:nvPr/>
          </p:nvSpPr>
          <p:spPr bwMode="auto">
            <a:xfrm>
              <a:off x="1344" y="105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</a:rPr>
                <a:t>y</a:t>
              </a:r>
              <a:endParaRPr lang="en-US" altLang="zh-CN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88" name="Line 65"/>
            <p:cNvSpPr>
              <a:spLocks noChangeShapeType="1"/>
            </p:cNvSpPr>
            <p:nvPr/>
          </p:nvSpPr>
          <p:spPr bwMode="auto">
            <a:xfrm flipV="1">
              <a:off x="1344" y="1296"/>
              <a:ext cx="1488" cy="14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9" name="Text Box 66"/>
            <p:cNvSpPr txBox="1">
              <a:spLocks noChangeArrowheads="1"/>
            </p:cNvSpPr>
            <p:nvPr/>
          </p:nvSpPr>
          <p:spPr bwMode="auto">
            <a:xfrm>
              <a:off x="2832" y="1104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</a:rPr>
                <a:t>y = x</a:t>
              </a:r>
              <a:endParaRPr lang="en-US" altLang="zh-CN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67"/>
          <p:cNvGrpSpPr/>
          <p:nvPr/>
        </p:nvGrpSpPr>
        <p:grpSpPr bwMode="auto">
          <a:xfrm>
            <a:off x="5105400" y="1285528"/>
            <a:ext cx="3505200" cy="2971800"/>
            <a:chOff x="1296" y="1056"/>
            <a:chExt cx="2208" cy="1872"/>
          </a:xfrm>
        </p:grpSpPr>
        <p:sp>
          <p:nvSpPr>
            <p:cNvPr id="44078" name="Line 68"/>
            <p:cNvSpPr>
              <a:spLocks noChangeShapeType="1"/>
            </p:cNvSpPr>
            <p:nvPr/>
          </p:nvSpPr>
          <p:spPr bwMode="auto">
            <a:xfrm>
              <a:off x="1296" y="2784"/>
              <a:ext cx="22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9" name="Line 69"/>
            <p:cNvSpPr>
              <a:spLocks noChangeShapeType="1"/>
            </p:cNvSpPr>
            <p:nvPr/>
          </p:nvSpPr>
          <p:spPr bwMode="auto">
            <a:xfrm flipV="1">
              <a:off x="1344" y="1104"/>
              <a:ext cx="0" cy="1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0" name="Text Box 70"/>
            <p:cNvSpPr txBox="1">
              <a:spLocks noChangeArrowheads="1"/>
            </p:cNvSpPr>
            <p:nvPr/>
          </p:nvSpPr>
          <p:spPr bwMode="auto">
            <a:xfrm>
              <a:off x="3312" y="2592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</a:rPr>
                <a:t>x</a:t>
              </a:r>
              <a:endParaRPr lang="en-US" altLang="zh-CN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81" name="Text Box 71"/>
            <p:cNvSpPr txBox="1">
              <a:spLocks noChangeArrowheads="1"/>
            </p:cNvSpPr>
            <p:nvPr/>
          </p:nvSpPr>
          <p:spPr bwMode="auto">
            <a:xfrm>
              <a:off x="1344" y="105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</a:rPr>
                <a:t>y</a:t>
              </a:r>
              <a:endParaRPr lang="en-US" altLang="zh-CN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82" name="Line 72"/>
            <p:cNvSpPr>
              <a:spLocks noChangeShapeType="1"/>
            </p:cNvSpPr>
            <p:nvPr/>
          </p:nvSpPr>
          <p:spPr bwMode="auto">
            <a:xfrm flipV="1">
              <a:off x="1344" y="1296"/>
              <a:ext cx="1488" cy="14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3" name="Text Box 73"/>
            <p:cNvSpPr txBox="1">
              <a:spLocks noChangeArrowheads="1"/>
            </p:cNvSpPr>
            <p:nvPr/>
          </p:nvSpPr>
          <p:spPr bwMode="auto">
            <a:xfrm>
              <a:off x="2832" y="1104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</a:rPr>
                <a:t>y = x</a:t>
              </a:r>
              <a:endParaRPr lang="en-US" altLang="zh-CN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74"/>
          <p:cNvGrpSpPr/>
          <p:nvPr/>
        </p:nvGrpSpPr>
        <p:grpSpPr bwMode="auto">
          <a:xfrm>
            <a:off x="2438400" y="1971328"/>
            <a:ext cx="533400" cy="2347913"/>
            <a:chOff x="1536" y="624"/>
            <a:chExt cx="336" cy="1479"/>
          </a:xfrm>
        </p:grpSpPr>
        <p:sp>
          <p:nvSpPr>
            <p:cNvPr id="44076" name="Line 75"/>
            <p:cNvSpPr>
              <a:spLocks noChangeShapeType="1"/>
            </p:cNvSpPr>
            <p:nvPr/>
          </p:nvSpPr>
          <p:spPr bwMode="auto">
            <a:xfrm>
              <a:off x="1680" y="624"/>
              <a:ext cx="0" cy="129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7" name="Text Box 76"/>
            <p:cNvSpPr txBox="1">
              <a:spLocks noChangeArrowheads="1"/>
            </p:cNvSpPr>
            <p:nvPr/>
          </p:nvSpPr>
          <p:spPr bwMode="auto">
            <a:xfrm>
              <a:off x="1536" y="1872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solidFill>
                    <a:srgbClr val="FF3300"/>
                  </a:solidFill>
                  <a:latin typeface="Times New Roman" panose="02020603050405020304" pitchFamily="18" charset="0"/>
                </a:rPr>
                <a:t>x*</a:t>
              </a:r>
              <a:endParaRPr lang="en-US" altLang="zh-CN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77"/>
          <p:cNvGrpSpPr/>
          <p:nvPr/>
        </p:nvGrpSpPr>
        <p:grpSpPr bwMode="auto">
          <a:xfrm>
            <a:off x="6172200" y="2809528"/>
            <a:ext cx="533400" cy="1509713"/>
            <a:chOff x="3888" y="1152"/>
            <a:chExt cx="336" cy="951"/>
          </a:xfrm>
        </p:grpSpPr>
        <p:sp>
          <p:nvSpPr>
            <p:cNvPr id="44074" name="Line 78"/>
            <p:cNvSpPr>
              <a:spLocks noChangeShapeType="1"/>
            </p:cNvSpPr>
            <p:nvPr/>
          </p:nvSpPr>
          <p:spPr bwMode="auto">
            <a:xfrm>
              <a:off x="4055" y="1152"/>
              <a:ext cx="0" cy="76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5" name="Text Box 79"/>
            <p:cNvSpPr txBox="1">
              <a:spLocks noChangeArrowheads="1"/>
            </p:cNvSpPr>
            <p:nvPr/>
          </p:nvSpPr>
          <p:spPr bwMode="auto">
            <a:xfrm>
              <a:off x="3888" y="1872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solidFill>
                    <a:srgbClr val="FF3300"/>
                  </a:solidFill>
                  <a:latin typeface="Times New Roman" panose="02020603050405020304" pitchFamily="18" charset="0"/>
                </a:rPr>
                <a:t>x*</a:t>
              </a:r>
              <a:endParaRPr lang="en-US" altLang="zh-CN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80"/>
          <p:cNvGrpSpPr/>
          <p:nvPr/>
        </p:nvGrpSpPr>
        <p:grpSpPr bwMode="auto">
          <a:xfrm>
            <a:off x="381000" y="1895128"/>
            <a:ext cx="3505200" cy="1143000"/>
            <a:chOff x="240" y="576"/>
            <a:chExt cx="2208" cy="720"/>
          </a:xfrm>
        </p:grpSpPr>
        <p:sp>
          <p:nvSpPr>
            <p:cNvPr id="44072" name="Freeform 81"/>
            <p:cNvSpPr/>
            <p:nvPr/>
          </p:nvSpPr>
          <p:spPr bwMode="auto">
            <a:xfrm>
              <a:off x="240" y="616"/>
              <a:ext cx="2016" cy="680"/>
            </a:xfrm>
            <a:custGeom>
              <a:avLst/>
              <a:gdLst>
                <a:gd name="T0" fmla="*/ 0 w 2016"/>
                <a:gd name="T1" fmla="*/ 680 h 680"/>
                <a:gd name="T2" fmla="*/ 336 w 2016"/>
                <a:gd name="T3" fmla="*/ 392 h 680"/>
                <a:gd name="T4" fmla="*/ 720 w 2016"/>
                <a:gd name="T5" fmla="*/ 200 h 680"/>
                <a:gd name="T6" fmla="*/ 1200 w 2016"/>
                <a:gd name="T7" fmla="*/ 56 h 680"/>
                <a:gd name="T8" fmla="*/ 1584 w 2016"/>
                <a:gd name="T9" fmla="*/ 8 h 680"/>
                <a:gd name="T10" fmla="*/ 2016 w 2016"/>
                <a:gd name="T11" fmla="*/ 8 h 6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16"/>
                <a:gd name="T19" fmla="*/ 0 h 680"/>
                <a:gd name="T20" fmla="*/ 2016 w 2016"/>
                <a:gd name="T21" fmla="*/ 680 h 68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16" h="680">
                  <a:moveTo>
                    <a:pt x="0" y="680"/>
                  </a:moveTo>
                  <a:cubicBezTo>
                    <a:pt x="108" y="576"/>
                    <a:pt x="216" y="472"/>
                    <a:pt x="336" y="392"/>
                  </a:cubicBezTo>
                  <a:cubicBezTo>
                    <a:pt x="456" y="312"/>
                    <a:pt x="576" y="256"/>
                    <a:pt x="720" y="200"/>
                  </a:cubicBezTo>
                  <a:cubicBezTo>
                    <a:pt x="864" y="144"/>
                    <a:pt x="1056" y="88"/>
                    <a:pt x="1200" y="56"/>
                  </a:cubicBezTo>
                  <a:cubicBezTo>
                    <a:pt x="1344" y="24"/>
                    <a:pt x="1448" y="16"/>
                    <a:pt x="1584" y="8"/>
                  </a:cubicBezTo>
                  <a:cubicBezTo>
                    <a:pt x="1720" y="0"/>
                    <a:pt x="1868" y="4"/>
                    <a:pt x="2016" y="8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3" name="Text Box 82"/>
            <p:cNvSpPr txBox="1">
              <a:spLocks noChangeArrowheads="1"/>
            </p:cNvSpPr>
            <p:nvPr/>
          </p:nvSpPr>
          <p:spPr bwMode="auto">
            <a:xfrm>
              <a:off x="1872" y="576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</a:rPr>
                <a:t>y=g</a:t>
              </a:r>
              <a:r>
                <a:rPr kumimoji="0" lang="en-US" altLang="zh-CN" sz="1800">
                  <a:latin typeface="Times New Roman" panose="02020603050405020304" pitchFamily="18" charset="0"/>
                </a:rPr>
                <a:t>(</a:t>
              </a:r>
              <a:r>
                <a:rPr kumimoji="0" lang="en-US" altLang="zh-CN" sz="1800" i="1">
                  <a:latin typeface="Times New Roman" panose="02020603050405020304" pitchFamily="18" charset="0"/>
                </a:rPr>
                <a:t>x</a:t>
              </a:r>
              <a:r>
                <a:rPr kumimoji="0" lang="en-US" altLang="zh-CN" sz="1800">
                  <a:latin typeface="Times New Roman" panose="02020603050405020304" pitchFamily="18" charset="0"/>
                </a:rPr>
                <a:t>)</a:t>
              </a:r>
              <a:endParaRPr lang="en-US" altLang="zh-CN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83"/>
          <p:cNvGrpSpPr/>
          <p:nvPr/>
        </p:nvGrpSpPr>
        <p:grpSpPr bwMode="auto">
          <a:xfrm>
            <a:off x="5562600" y="1895128"/>
            <a:ext cx="3048000" cy="1284288"/>
            <a:chOff x="3504" y="624"/>
            <a:chExt cx="1920" cy="739"/>
          </a:xfrm>
        </p:grpSpPr>
        <p:sp>
          <p:nvSpPr>
            <p:cNvPr id="44070" name="Freeform 84"/>
            <p:cNvSpPr/>
            <p:nvPr/>
          </p:nvSpPr>
          <p:spPr bwMode="auto">
            <a:xfrm>
              <a:off x="3504" y="624"/>
              <a:ext cx="1632" cy="720"/>
            </a:xfrm>
            <a:custGeom>
              <a:avLst/>
              <a:gdLst>
                <a:gd name="T0" fmla="*/ 0 w 1632"/>
                <a:gd name="T1" fmla="*/ 0 h 720"/>
                <a:gd name="T2" fmla="*/ 144 w 1632"/>
                <a:gd name="T3" fmla="*/ 240 h 720"/>
                <a:gd name="T4" fmla="*/ 384 w 1632"/>
                <a:gd name="T5" fmla="*/ 432 h 720"/>
                <a:gd name="T6" fmla="*/ 720 w 1632"/>
                <a:gd name="T7" fmla="*/ 576 h 720"/>
                <a:gd name="T8" fmla="*/ 1104 w 1632"/>
                <a:gd name="T9" fmla="*/ 672 h 720"/>
                <a:gd name="T10" fmla="*/ 1632 w 1632"/>
                <a:gd name="T11" fmla="*/ 720 h 7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32"/>
                <a:gd name="T19" fmla="*/ 0 h 720"/>
                <a:gd name="T20" fmla="*/ 1632 w 1632"/>
                <a:gd name="T21" fmla="*/ 720 h 7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32" h="720">
                  <a:moveTo>
                    <a:pt x="0" y="0"/>
                  </a:moveTo>
                  <a:cubicBezTo>
                    <a:pt x="40" y="84"/>
                    <a:pt x="80" y="168"/>
                    <a:pt x="144" y="240"/>
                  </a:cubicBezTo>
                  <a:cubicBezTo>
                    <a:pt x="208" y="312"/>
                    <a:pt x="288" y="376"/>
                    <a:pt x="384" y="432"/>
                  </a:cubicBezTo>
                  <a:cubicBezTo>
                    <a:pt x="480" y="488"/>
                    <a:pt x="600" y="536"/>
                    <a:pt x="720" y="576"/>
                  </a:cubicBezTo>
                  <a:cubicBezTo>
                    <a:pt x="840" y="616"/>
                    <a:pt x="952" y="648"/>
                    <a:pt x="1104" y="672"/>
                  </a:cubicBezTo>
                  <a:cubicBezTo>
                    <a:pt x="1256" y="696"/>
                    <a:pt x="1444" y="708"/>
                    <a:pt x="1632" y="720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1" name="Text Box 85"/>
            <p:cNvSpPr txBox="1">
              <a:spLocks noChangeArrowheads="1"/>
            </p:cNvSpPr>
            <p:nvPr/>
          </p:nvSpPr>
          <p:spPr bwMode="auto">
            <a:xfrm>
              <a:off x="4848" y="1152"/>
              <a:ext cx="57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</a:rPr>
                <a:t>y=g</a:t>
              </a:r>
              <a:r>
                <a:rPr kumimoji="0" lang="en-US" altLang="zh-CN" sz="1800">
                  <a:latin typeface="Times New Roman" panose="02020603050405020304" pitchFamily="18" charset="0"/>
                </a:rPr>
                <a:t>(</a:t>
              </a:r>
              <a:r>
                <a:rPr kumimoji="0" lang="en-US" altLang="zh-CN" sz="1800" i="1">
                  <a:latin typeface="Times New Roman" panose="02020603050405020304" pitchFamily="18" charset="0"/>
                </a:rPr>
                <a:t>x</a:t>
              </a:r>
              <a:r>
                <a:rPr kumimoji="0" lang="en-US" altLang="zh-CN" sz="1800">
                  <a:latin typeface="Times New Roman" panose="02020603050405020304" pitchFamily="18" charset="0"/>
                </a:rPr>
                <a:t>)</a:t>
              </a:r>
              <a:endParaRPr lang="en-US" altLang="zh-CN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Group 86"/>
          <p:cNvGrpSpPr/>
          <p:nvPr/>
        </p:nvGrpSpPr>
        <p:grpSpPr bwMode="auto">
          <a:xfrm>
            <a:off x="685800" y="2199928"/>
            <a:ext cx="457200" cy="2119313"/>
            <a:chOff x="432" y="768"/>
            <a:chExt cx="288" cy="1335"/>
          </a:xfrm>
        </p:grpSpPr>
        <p:sp>
          <p:nvSpPr>
            <p:cNvPr id="44067" name="Line 87"/>
            <p:cNvSpPr>
              <a:spLocks noChangeShapeType="1"/>
            </p:cNvSpPr>
            <p:nvPr/>
          </p:nvSpPr>
          <p:spPr bwMode="auto">
            <a:xfrm>
              <a:off x="576" y="1008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8" name="Text Box 88"/>
            <p:cNvSpPr txBox="1">
              <a:spLocks noChangeArrowheads="1"/>
            </p:cNvSpPr>
            <p:nvPr/>
          </p:nvSpPr>
          <p:spPr bwMode="auto">
            <a:xfrm>
              <a:off x="480" y="187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</a:rPr>
                <a:t>x</a:t>
              </a:r>
              <a:r>
                <a:rPr kumimoji="0" lang="en-US" altLang="zh-CN" sz="1800" baseline="-25000">
                  <a:latin typeface="Times New Roman" panose="02020603050405020304" pitchFamily="18" charset="0"/>
                </a:rPr>
                <a:t>0</a:t>
              </a:r>
              <a:endParaRPr lang="en-US" altLang="zh-CN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69" name="Text Box 89"/>
            <p:cNvSpPr txBox="1">
              <a:spLocks noChangeArrowheads="1"/>
            </p:cNvSpPr>
            <p:nvPr/>
          </p:nvSpPr>
          <p:spPr bwMode="auto">
            <a:xfrm>
              <a:off x="432" y="768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</a:rPr>
                <a:t>p</a:t>
              </a:r>
              <a:r>
                <a:rPr kumimoji="0" lang="en-US" altLang="zh-CN" sz="1800" baseline="-25000">
                  <a:latin typeface="Times New Roman" panose="02020603050405020304" pitchFamily="18" charset="0"/>
                </a:rPr>
                <a:t>0</a:t>
              </a:r>
              <a:endParaRPr lang="en-US" altLang="zh-CN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90"/>
          <p:cNvGrpSpPr/>
          <p:nvPr/>
        </p:nvGrpSpPr>
        <p:grpSpPr bwMode="auto">
          <a:xfrm>
            <a:off x="914400" y="2580928"/>
            <a:ext cx="1371600" cy="1738313"/>
            <a:chOff x="576" y="1008"/>
            <a:chExt cx="864" cy="1095"/>
          </a:xfrm>
        </p:grpSpPr>
        <p:sp>
          <p:nvSpPr>
            <p:cNvPr id="44064" name="Line 91"/>
            <p:cNvSpPr>
              <a:spLocks noChangeShapeType="1"/>
            </p:cNvSpPr>
            <p:nvPr/>
          </p:nvSpPr>
          <p:spPr bwMode="auto">
            <a:xfrm>
              <a:off x="576" y="1008"/>
              <a:ext cx="7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5" name="Line 92"/>
            <p:cNvSpPr>
              <a:spLocks noChangeShapeType="1"/>
            </p:cNvSpPr>
            <p:nvPr/>
          </p:nvSpPr>
          <p:spPr bwMode="auto">
            <a:xfrm>
              <a:off x="1296" y="1008"/>
              <a:ext cx="0" cy="9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6" name="Text Box 93"/>
            <p:cNvSpPr txBox="1">
              <a:spLocks noChangeArrowheads="1"/>
            </p:cNvSpPr>
            <p:nvPr/>
          </p:nvSpPr>
          <p:spPr bwMode="auto">
            <a:xfrm>
              <a:off x="1200" y="187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</a:rPr>
                <a:t>x</a:t>
              </a:r>
              <a:r>
                <a:rPr kumimoji="0" lang="en-US" altLang="zh-CN" sz="1800" baseline="-25000">
                  <a:latin typeface="Times New Roman" panose="02020603050405020304" pitchFamily="18" charset="0"/>
                </a:rPr>
                <a:t>1</a:t>
              </a:r>
              <a:endParaRPr lang="en-US" altLang="zh-CN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" name="Group 94"/>
          <p:cNvGrpSpPr/>
          <p:nvPr/>
        </p:nvGrpSpPr>
        <p:grpSpPr bwMode="auto">
          <a:xfrm>
            <a:off x="1828800" y="1742728"/>
            <a:ext cx="381000" cy="838200"/>
            <a:chOff x="1152" y="480"/>
            <a:chExt cx="240" cy="528"/>
          </a:xfrm>
        </p:grpSpPr>
        <p:sp>
          <p:nvSpPr>
            <p:cNvPr id="44062" name="Text Box 95"/>
            <p:cNvSpPr txBox="1">
              <a:spLocks noChangeArrowheads="1"/>
            </p:cNvSpPr>
            <p:nvPr/>
          </p:nvSpPr>
          <p:spPr bwMode="auto">
            <a:xfrm>
              <a:off x="1152" y="48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</a:rPr>
                <a:t>p</a:t>
              </a:r>
              <a:r>
                <a:rPr kumimoji="0" lang="en-US" altLang="zh-CN" sz="1800" baseline="-25000">
                  <a:latin typeface="Times New Roman" panose="02020603050405020304" pitchFamily="18" charset="0"/>
                </a:rPr>
                <a:t>1</a:t>
              </a:r>
              <a:endParaRPr lang="en-US" altLang="zh-CN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63" name="Line 96"/>
            <p:cNvSpPr>
              <a:spLocks noChangeShapeType="1"/>
            </p:cNvSpPr>
            <p:nvPr/>
          </p:nvSpPr>
          <p:spPr bwMode="auto">
            <a:xfrm flipV="1">
              <a:off x="1296" y="72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97"/>
          <p:cNvGrpSpPr/>
          <p:nvPr/>
        </p:nvGrpSpPr>
        <p:grpSpPr bwMode="auto">
          <a:xfrm>
            <a:off x="2057400" y="2123728"/>
            <a:ext cx="457200" cy="1905000"/>
            <a:chOff x="1296" y="720"/>
            <a:chExt cx="288" cy="1200"/>
          </a:xfrm>
        </p:grpSpPr>
        <p:sp>
          <p:nvSpPr>
            <p:cNvPr id="44060" name="Line 98"/>
            <p:cNvSpPr>
              <a:spLocks noChangeShapeType="1"/>
            </p:cNvSpPr>
            <p:nvPr/>
          </p:nvSpPr>
          <p:spPr bwMode="auto">
            <a:xfrm>
              <a:off x="1296" y="720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1" name="Line 99"/>
            <p:cNvSpPr>
              <a:spLocks noChangeShapeType="1"/>
            </p:cNvSpPr>
            <p:nvPr/>
          </p:nvSpPr>
          <p:spPr bwMode="auto">
            <a:xfrm>
              <a:off x="1584" y="720"/>
              <a:ext cx="0" cy="1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268" name="Text Box 100"/>
          <p:cNvSpPr txBox="1">
            <a:spLocks noChangeArrowheads="1"/>
          </p:cNvSpPr>
          <p:nvPr/>
        </p:nvSpPr>
        <p:spPr bwMode="auto">
          <a:xfrm>
            <a:off x="2971800" y="2580928"/>
            <a:ext cx="914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kumimoji="0" lang="en-US" altLang="zh-CN" sz="4800">
                <a:solidFill>
                  <a:srgbClr val="FF33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</a:t>
            </a:r>
          </a:p>
        </p:txBody>
      </p:sp>
      <p:grpSp>
        <p:nvGrpSpPr>
          <p:cNvPr id="12" name="Group 101"/>
          <p:cNvGrpSpPr/>
          <p:nvPr/>
        </p:nvGrpSpPr>
        <p:grpSpPr bwMode="auto">
          <a:xfrm>
            <a:off x="5486400" y="1666528"/>
            <a:ext cx="457200" cy="2652713"/>
            <a:chOff x="3456" y="432"/>
            <a:chExt cx="288" cy="1671"/>
          </a:xfrm>
        </p:grpSpPr>
        <p:sp>
          <p:nvSpPr>
            <p:cNvPr id="44057" name="Line 102"/>
            <p:cNvSpPr>
              <a:spLocks noChangeShapeType="1"/>
            </p:cNvSpPr>
            <p:nvPr/>
          </p:nvSpPr>
          <p:spPr bwMode="auto">
            <a:xfrm>
              <a:off x="3552" y="672"/>
              <a:ext cx="0" cy="12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8" name="Text Box 103"/>
            <p:cNvSpPr txBox="1">
              <a:spLocks noChangeArrowheads="1"/>
            </p:cNvSpPr>
            <p:nvPr/>
          </p:nvSpPr>
          <p:spPr bwMode="auto">
            <a:xfrm>
              <a:off x="3456" y="187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</a:rPr>
                <a:t>x</a:t>
              </a:r>
              <a:r>
                <a:rPr kumimoji="0" lang="en-US" altLang="zh-CN" sz="1800" baseline="-25000">
                  <a:latin typeface="Times New Roman" panose="02020603050405020304" pitchFamily="18" charset="0"/>
                </a:rPr>
                <a:t>0</a:t>
              </a:r>
              <a:endParaRPr lang="en-US" altLang="zh-CN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59" name="Text Box 104"/>
            <p:cNvSpPr txBox="1">
              <a:spLocks noChangeArrowheads="1"/>
            </p:cNvSpPr>
            <p:nvPr/>
          </p:nvSpPr>
          <p:spPr bwMode="auto">
            <a:xfrm>
              <a:off x="3504" y="43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</a:rPr>
                <a:t>p</a:t>
              </a:r>
              <a:r>
                <a:rPr kumimoji="0" lang="en-US" altLang="zh-CN" sz="1800" baseline="-25000">
                  <a:latin typeface="Times New Roman" panose="02020603050405020304" pitchFamily="18" charset="0"/>
                </a:rPr>
                <a:t>0</a:t>
              </a:r>
              <a:endParaRPr lang="en-US" altLang="zh-CN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273" name="Line 105"/>
          <p:cNvSpPr>
            <a:spLocks noChangeShapeType="1"/>
          </p:cNvSpPr>
          <p:nvPr/>
        </p:nvSpPr>
        <p:spPr bwMode="auto">
          <a:xfrm>
            <a:off x="5638800" y="2047528"/>
            <a:ext cx="1524000" cy="158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" name="Group 106"/>
          <p:cNvGrpSpPr/>
          <p:nvPr/>
        </p:nvGrpSpPr>
        <p:grpSpPr bwMode="auto">
          <a:xfrm>
            <a:off x="7010400" y="2047528"/>
            <a:ext cx="381000" cy="2271713"/>
            <a:chOff x="4416" y="672"/>
            <a:chExt cx="240" cy="1431"/>
          </a:xfrm>
        </p:grpSpPr>
        <p:sp>
          <p:nvSpPr>
            <p:cNvPr id="44055" name="Line 107"/>
            <p:cNvSpPr>
              <a:spLocks noChangeShapeType="1"/>
            </p:cNvSpPr>
            <p:nvPr/>
          </p:nvSpPr>
          <p:spPr bwMode="auto">
            <a:xfrm>
              <a:off x="4512" y="672"/>
              <a:ext cx="0" cy="12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6" name="Text Box 108"/>
            <p:cNvSpPr txBox="1">
              <a:spLocks noChangeArrowheads="1"/>
            </p:cNvSpPr>
            <p:nvPr/>
          </p:nvSpPr>
          <p:spPr bwMode="auto">
            <a:xfrm>
              <a:off x="4416" y="187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</a:rPr>
                <a:t>x</a:t>
              </a:r>
              <a:r>
                <a:rPr kumimoji="0" lang="en-US" altLang="zh-CN" sz="1800" baseline="-25000">
                  <a:latin typeface="Times New Roman" panose="02020603050405020304" pitchFamily="18" charset="0"/>
                </a:rPr>
                <a:t>1</a:t>
              </a:r>
              <a:endParaRPr lang="en-US" altLang="zh-CN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" name="Group 109"/>
          <p:cNvGrpSpPr/>
          <p:nvPr/>
        </p:nvGrpSpPr>
        <p:grpSpPr bwMode="auto">
          <a:xfrm>
            <a:off x="6172200" y="2961928"/>
            <a:ext cx="1371600" cy="1066800"/>
            <a:chOff x="3888" y="1248"/>
            <a:chExt cx="864" cy="672"/>
          </a:xfrm>
        </p:grpSpPr>
        <p:sp>
          <p:nvSpPr>
            <p:cNvPr id="44052" name="Text Box 110"/>
            <p:cNvSpPr txBox="1">
              <a:spLocks noChangeArrowheads="1"/>
            </p:cNvSpPr>
            <p:nvPr/>
          </p:nvSpPr>
          <p:spPr bwMode="auto">
            <a:xfrm>
              <a:off x="4512" y="1248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</a:rPr>
                <a:t>p</a:t>
              </a:r>
              <a:r>
                <a:rPr kumimoji="0" lang="en-US" altLang="zh-CN" sz="1800" baseline="-25000">
                  <a:latin typeface="Times New Roman" panose="02020603050405020304" pitchFamily="18" charset="0"/>
                </a:rPr>
                <a:t>1</a:t>
              </a:r>
              <a:endParaRPr lang="en-US" altLang="zh-CN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053" name="Line 111"/>
            <p:cNvSpPr>
              <a:spLocks noChangeShapeType="1"/>
            </p:cNvSpPr>
            <p:nvPr/>
          </p:nvSpPr>
          <p:spPr bwMode="auto">
            <a:xfrm flipH="1">
              <a:off x="3888" y="1296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4" name="Line 112"/>
            <p:cNvSpPr>
              <a:spLocks noChangeShapeType="1"/>
            </p:cNvSpPr>
            <p:nvPr/>
          </p:nvSpPr>
          <p:spPr bwMode="auto">
            <a:xfrm>
              <a:off x="3888" y="1296"/>
              <a:ext cx="0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281" name="Text Box 113"/>
          <p:cNvSpPr txBox="1">
            <a:spLocks noChangeArrowheads="1"/>
          </p:cNvSpPr>
          <p:nvPr/>
        </p:nvSpPr>
        <p:spPr bwMode="auto">
          <a:xfrm>
            <a:off x="7467600" y="1971328"/>
            <a:ext cx="914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kumimoji="0" lang="en-US" altLang="zh-CN" sz="4800">
                <a:solidFill>
                  <a:srgbClr val="FF33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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72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72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68" grpId="0" autoUpdateAnimBg="0"/>
      <p:bldP spid="728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/>
          <p:nvPr/>
        </p:nvGrpSpPr>
        <p:grpSpPr bwMode="auto">
          <a:xfrm>
            <a:off x="5103168" y="1200944"/>
            <a:ext cx="3505200" cy="2971800"/>
            <a:chOff x="1296" y="1056"/>
            <a:chExt cx="2208" cy="1872"/>
          </a:xfrm>
        </p:grpSpPr>
        <p:sp>
          <p:nvSpPr>
            <p:cNvPr id="45105" name="Line 58"/>
            <p:cNvSpPr>
              <a:spLocks noChangeShapeType="1"/>
            </p:cNvSpPr>
            <p:nvPr/>
          </p:nvSpPr>
          <p:spPr bwMode="auto">
            <a:xfrm>
              <a:off x="1296" y="2784"/>
              <a:ext cx="22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6" name="Line 59"/>
            <p:cNvSpPr>
              <a:spLocks noChangeShapeType="1"/>
            </p:cNvSpPr>
            <p:nvPr/>
          </p:nvSpPr>
          <p:spPr bwMode="auto">
            <a:xfrm flipV="1">
              <a:off x="1344" y="1104"/>
              <a:ext cx="0" cy="1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7" name="Text Box 60"/>
            <p:cNvSpPr txBox="1">
              <a:spLocks noChangeArrowheads="1"/>
            </p:cNvSpPr>
            <p:nvPr/>
          </p:nvSpPr>
          <p:spPr bwMode="auto">
            <a:xfrm>
              <a:off x="3312" y="2592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45108" name="Text Box 61"/>
            <p:cNvSpPr txBox="1">
              <a:spLocks noChangeArrowheads="1"/>
            </p:cNvSpPr>
            <p:nvPr/>
          </p:nvSpPr>
          <p:spPr bwMode="auto">
            <a:xfrm>
              <a:off x="1344" y="105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45109" name="Line 62"/>
            <p:cNvSpPr>
              <a:spLocks noChangeShapeType="1"/>
            </p:cNvSpPr>
            <p:nvPr/>
          </p:nvSpPr>
          <p:spPr bwMode="auto">
            <a:xfrm flipV="1">
              <a:off x="1344" y="1296"/>
              <a:ext cx="1488" cy="14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0" name="Text Box 63"/>
            <p:cNvSpPr txBox="1">
              <a:spLocks noChangeArrowheads="1"/>
            </p:cNvSpPr>
            <p:nvPr/>
          </p:nvSpPr>
          <p:spPr bwMode="auto">
            <a:xfrm>
              <a:off x="2832" y="1104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y = x</a:t>
              </a:r>
            </a:p>
          </p:txBody>
        </p:sp>
      </p:grpSp>
      <p:grpSp>
        <p:nvGrpSpPr>
          <p:cNvPr id="3" name="Group 64"/>
          <p:cNvGrpSpPr/>
          <p:nvPr/>
        </p:nvGrpSpPr>
        <p:grpSpPr bwMode="auto">
          <a:xfrm>
            <a:off x="683568" y="1124744"/>
            <a:ext cx="3505200" cy="2971800"/>
            <a:chOff x="1296" y="1056"/>
            <a:chExt cx="2208" cy="1872"/>
          </a:xfrm>
        </p:grpSpPr>
        <p:sp>
          <p:nvSpPr>
            <p:cNvPr id="45099" name="Line 65"/>
            <p:cNvSpPr>
              <a:spLocks noChangeShapeType="1"/>
            </p:cNvSpPr>
            <p:nvPr/>
          </p:nvSpPr>
          <p:spPr bwMode="auto">
            <a:xfrm>
              <a:off x="1296" y="2784"/>
              <a:ext cx="22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0" name="Line 66"/>
            <p:cNvSpPr>
              <a:spLocks noChangeShapeType="1"/>
            </p:cNvSpPr>
            <p:nvPr/>
          </p:nvSpPr>
          <p:spPr bwMode="auto">
            <a:xfrm flipV="1">
              <a:off x="1344" y="1104"/>
              <a:ext cx="0" cy="18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1" name="Text Box 67"/>
            <p:cNvSpPr txBox="1">
              <a:spLocks noChangeArrowheads="1"/>
            </p:cNvSpPr>
            <p:nvPr/>
          </p:nvSpPr>
          <p:spPr bwMode="auto">
            <a:xfrm>
              <a:off x="3312" y="2592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45102" name="Text Box 68"/>
            <p:cNvSpPr txBox="1">
              <a:spLocks noChangeArrowheads="1"/>
            </p:cNvSpPr>
            <p:nvPr/>
          </p:nvSpPr>
          <p:spPr bwMode="auto">
            <a:xfrm>
              <a:off x="1344" y="105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45103" name="Line 69"/>
            <p:cNvSpPr>
              <a:spLocks noChangeShapeType="1"/>
            </p:cNvSpPr>
            <p:nvPr/>
          </p:nvSpPr>
          <p:spPr bwMode="auto">
            <a:xfrm flipV="1">
              <a:off x="1344" y="1296"/>
              <a:ext cx="1488" cy="14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04" name="Text Box 70"/>
            <p:cNvSpPr txBox="1">
              <a:spLocks noChangeArrowheads="1"/>
            </p:cNvSpPr>
            <p:nvPr/>
          </p:nvSpPr>
          <p:spPr bwMode="auto">
            <a:xfrm>
              <a:off x="2832" y="1104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y = x</a:t>
              </a:r>
            </a:p>
          </p:txBody>
        </p:sp>
      </p:grpSp>
      <p:grpSp>
        <p:nvGrpSpPr>
          <p:cNvPr id="4" name="Group 71"/>
          <p:cNvGrpSpPr/>
          <p:nvPr/>
        </p:nvGrpSpPr>
        <p:grpSpPr bwMode="auto">
          <a:xfrm>
            <a:off x="2553643" y="1810544"/>
            <a:ext cx="533400" cy="2347913"/>
            <a:chOff x="1536" y="624"/>
            <a:chExt cx="336" cy="1479"/>
          </a:xfrm>
        </p:grpSpPr>
        <p:sp>
          <p:nvSpPr>
            <p:cNvPr id="45097" name="Line 72"/>
            <p:cNvSpPr>
              <a:spLocks noChangeShapeType="1"/>
            </p:cNvSpPr>
            <p:nvPr/>
          </p:nvSpPr>
          <p:spPr bwMode="auto">
            <a:xfrm>
              <a:off x="1680" y="624"/>
              <a:ext cx="0" cy="129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8" name="Text Box 73"/>
            <p:cNvSpPr txBox="1">
              <a:spLocks noChangeArrowheads="1"/>
            </p:cNvSpPr>
            <p:nvPr/>
          </p:nvSpPr>
          <p:spPr bwMode="auto">
            <a:xfrm>
              <a:off x="1536" y="1872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x*</a:t>
              </a:r>
            </a:p>
          </p:txBody>
        </p:sp>
      </p:grpSp>
      <p:grpSp>
        <p:nvGrpSpPr>
          <p:cNvPr id="5" name="Group 74"/>
          <p:cNvGrpSpPr/>
          <p:nvPr/>
        </p:nvGrpSpPr>
        <p:grpSpPr bwMode="auto">
          <a:xfrm>
            <a:off x="6246168" y="2648744"/>
            <a:ext cx="533400" cy="1585913"/>
            <a:chOff x="3984" y="3168"/>
            <a:chExt cx="336" cy="999"/>
          </a:xfrm>
        </p:grpSpPr>
        <p:sp>
          <p:nvSpPr>
            <p:cNvPr id="45095" name="Line 75"/>
            <p:cNvSpPr>
              <a:spLocks noChangeShapeType="1"/>
            </p:cNvSpPr>
            <p:nvPr/>
          </p:nvSpPr>
          <p:spPr bwMode="auto">
            <a:xfrm>
              <a:off x="4128" y="3168"/>
              <a:ext cx="0" cy="81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6" name="Text Box 76"/>
            <p:cNvSpPr txBox="1">
              <a:spLocks noChangeArrowheads="1"/>
            </p:cNvSpPr>
            <p:nvPr/>
          </p:nvSpPr>
          <p:spPr bwMode="auto">
            <a:xfrm>
              <a:off x="3984" y="3936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x*</a:t>
              </a:r>
            </a:p>
          </p:txBody>
        </p:sp>
      </p:grpSp>
      <p:grpSp>
        <p:nvGrpSpPr>
          <p:cNvPr id="6" name="Group 77"/>
          <p:cNvGrpSpPr/>
          <p:nvPr/>
        </p:nvGrpSpPr>
        <p:grpSpPr bwMode="auto">
          <a:xfrm>
            <a:off x="759768" y="1353344"/>
            <a:ext cx="2286000" cy="2743200"/>
            <a:chOff x="384" y="2400"/>
            <a:chExt cx="1440" cy="1728"/>
          </a:xfrm>
        </p:grpSpPr>
        <p:sp>
          <p:nvSpPr>
            <p:cNvPr id="45093" name="Freeform 78"/>
            <p:cNvSpPr/>
            <p:nvPr/>
          </p:nvSpPr>
          <p:spPr bwMode="auto">
            <a:xfrm>
              <a:off x="384" y="2400"/>
              <a:ext cx="1392" cy="1728"/>
            </a:xfrm>
            <a:custGeom>
              <a:avLst/>
              <a:gdLst>
                <a:gd name="T0" fmla="*/ 0 w 1392"/>
                <a:gd name="T1" fmla="*/ 1728 h 1728"/>
                <a:gd name="T2" fmla="*/ 432 w 1392"/>
                <a:gd name="T3" fmla="*/ 1536 h 1728"/>
                <a:gd name="T4" fmla="*/ 816 w 1392"/>
                <a:gd name="T5" fmla="*/ 1104 h 1728"/>
                <a:gd name="T6" fmla="*/ 1152 w 1392"/>
                <a:gd name="T7" fmla="*/ 576 h 1728"/>
                <a:gd name="T8" fmla="*/ 1392 w 1392"/>
                <a:gd name="T9" fmla="*/ 0 h 17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92"/>
                <a:gd name="T16" fmla="*/ 0 h 1728"/>
                <a:gd name="T17" fmla="*/ 1392 w 1392"/>
                <a:gd name="T18" fmla="*/ 1728 h 17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92" h="1728">
                  <a:moveTo>
                    <a:pt x="0" y="1728"/>
                  </a:moveTo>
                  <a:cubicBezTo>
                    <a:pt x="148" y="1684"/>
                    <a:pt x="296" y="1640"/>
                    <a:pt x="432" y="1536"/>
                  </a:cubicBezTo>
                  <a:cubicBezTo>
                    <a:pt x="568" y="1432"/>
                    <a:pt x="696" y="1264"/>
                    <a:pt x="816" y="1104"/>
                  </a:cubicBezTo>
                  <a:cubicBezTo>
                    <a:pt x="936" y="944"/>
                    <a:pt x="1056" y="760"/>
                    <a:pt x="1152" y="576"/>
                  </a:cubicBezTo>
                  <a:cubicBezTo>
                    <a:pt x="1248" y="392"/>
                    <a:pt x="1320" y="196"/>
                    <a:pt x="1392" y="0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4" name="Text Box 79"/>
            <p:cNvSpPr txBox="1">
              <a:spLocks noChangeArrowheads="1"/>
            </p:cNvSpPr>
            <p:nvPr/>
          </p:nvSpPr>
          <p:spPr bwMode="auto">
            <a:xfrm>
              <a:off x="1248" y="2400"/>
              <a:ext cx="5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y= </a:t>
              </a:r>
              <a:r>
                <a:rPr kumimoji="0" lang="en-US" altLang="zh-CN" sz="200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</a:t>
              </a:r>
              <a:r>
                <a:rPr kumimoji="0"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kumimoji="0"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</p:grpSp>
      <p:grpSp>
        <p:nvGrpSpPr>
          <p:cNvPr id="7" name="Group 80"/>
          <p:cNvGrpSpPr/>
          <p:nvPr/>
        </p:nvGrpSpPr>
        <p:grpSpPr bwMode="auto">
          <a:xfrm>
            <a:off x="5331768" y="1429544"/>
            <a:ext cx="2514600" cy="2057400"/>
            <a:chOff x="3408" y="2400"/>
            <a:chExt cx="1584" cy="1296"/>
          </a:xfrm>
        </p:grpSpPr>
        <p:sp>
          <p:nvSpPr>
            <p:cNvPr id="45091" name="Freeform 81"/>
            <p:cNvSpPr/>
            <p:nvPr/>
          </p:nvSpPr>
          <p:spPr bwMode="auto">
            <a:xfrm>
              <a:off x="3888" y="2400"/>
              <a:ext cx="1104" cy="1296"/>
            </a:xfrm>
            <a:custGeom>
              <a:avLst/>
              <a:gdLst>
                <a:gd name="T0" fmla="*/ 0 w 1104"/>
                <a:gd name="T1" fmla="*/ 0 h 1296"/>
                <a:gd name="T2" fmla="*/ 96 w 1104"/>
                <a:gd name="T3" fmla="*/ 528 h 1296"/>
                <a:gd name="T4" fmla="*/ 336 w 1104"/>
                <a:gd name="T5" fmla="*/ 864 h 1296"/>
                <a:gd name="T6" fmla="*/ 672 w 1104"/>
                <a:gd name="T7" fmla="*/ 1152 h 1296"/>
                <a:gd name="T8" fmla="*/ 1104 w 1104"/>
                <a:gd name="T9" fmla="*/ 1296 h 12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04"/>
                <a:gd name="T16" fmla="*/ 0 h 1296"/>
                <a:gd name="T17" fmla="*/ 1104 w 1104"/>
                <a:gd name="T18" fmla="*/ 1296 h 12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04" h="1296">
                  <a:moveTo>
                    <a:pt x="0" y="0"/>
                  </a:moveTo>
                  <a:cubicBezTo>
                    <a:pt x="20" y="192"/>
                    <a:pt x="40" y="384"/>
                    <a:pt x="96" y="528"/>
                  </a:cubicBezTo>
                  <a:cubicBezTo>
                    <a:pt x="152" y="672"/>
                    <a:pt x="240" y="760"/>
                    <a:pt x="336" y="864"/>
                  </a:cubicBezTo>
                  <a:cubicBezTo>
                    <a:pt x="432" y="968"/>
                    <a:pt x="544" y="1080"/>
                    <a:pt x="672" y="1152"/>
                  </a:cubicBezTo>
                  <a:cubicBezTo>
                    <a:pt x="800" y="1224"/>
                    <a:pt x="952" y="1260"/>
                    <a:pt x="1104" y="1296"/>
                  </a:cubicBezTo>
                </a:path>
              </a:pathLst>
            </a:custGeom>
            <a:noFill/>
            <a:ln w="222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2" name="Text Box 82"/>
            <p:cNvSpPr txBox="1">
              <a:spLocks noChangeArrowheads="1"/>
            </p:cNvSpPr>
            <p:nvPr/>
          </p:nvSpPr>
          <p:spPr bwMode="auto">
            <a:xfrm>
              <a:off x="3408" y="2496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y=</a:t>
              </a:r>
              <a:r>
                <a:rPr kumimoji="0"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</a:t>
              </a:r>
              <a:r>
                <a:rPr kumimoji="0"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kumimoji="0"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180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</p:txBody>
        </p:sp>
      </p:grpSp>
      <p:grpSp>
        <p:nvGrpSpPr>
          <p:cNvPr id="8" name="Group 83"/>
          <p:cNvGrpSpPr/>
          <p:nvPr/>
        </p:nvGrpSpPr>
        <p:grpSpPr bwMode="auto">
          <a:xfrm>
            <a:off x="2207568" y="2420144"/>
            <a:ext cx="533400" cy="1738313"/>
            <a:chOff x="1296" y="3072"/>
            <a:chExt cx="336" cy="1095"/>
          </a:xfrm>
        </p:grpSpPr>
        <p:sp>
          <p:nvSpPr>
            <p:cNvPr id="45088" name="Text Box 84"/>
            <p:cNvSpPr txBox="1">
              <a:spLocks noChangeArrowheads="1"/>
            </p:cNvSpPr>
            <p:nvPr/>
          </p:nvSpPr>
          <p:spPr bwMode="auto">
            <a:xfrm>
              <a:off x="1296" y="393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18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0"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89" name="Line 85"/>
            <p:cNvSpPr>
              <a:spLocks noChangeShapeType="1"/>
            </p:cNvSpPr>
            <p:nvPr/>
          </p:nvSpPr>
          <p:spPr bwMode="auto">
            <a:xfrm flipV="1">
              <a:off x="1392" y="3216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90" name="Text Box 86"/>
            <p:cNvSpPr txBox="1">
              <a:spLocks noChangeArrowheads="1"/>
            </p:cNvSpPr>
            <p:nvPr/>
          </p:nvSpPr>
          <p:spPr bwMode="auto">
            <a:xfrm>
              <a:off x="1392" y="307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kumimoji="0" lang="en-US" altLang="zh-CN" sz="18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0"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87"/>
          <p:cNvGrpSpPr/>
          <p:nvPr/>
        </p:nvGrpSpPr>
        <p:grpSpPr bwMode="auto">
          <a:xfrm>
            <a:off x="1826568" y="2648744"/>
            <a:ext cx="533400" cy="1509713"/>
            <a:chOff x="1056" y="3216"/>
            <a:chExt cx="336" cy="951"/>
          </a:xfrm>
        </p:grpSpPr>
        <p:sp>
          <p:nvSpPr>
            <p:cNvPr id="45085" name="Line 88"/>
            <p:cNvSpPr>
              <a:spLocks noChangeShapeType="1"/>
            </p:cNvSpPr>
            <p:nvPr/>
          </p:nvSpPr>
          <p:spPr bwMode="auto">
            <a:xfrm flipH="1">
              <a:off x="1152" y="3216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6" name="Line 89"/>
            <p:cNvSpPr>
              <a:spLocks noChangeShapeType="1"/>
            </p:cNvSpPr>
            <p:nvPr/>
          </p:nvSpPr>
          <p:spPr bwMode="auto">
            <a:xfrm>
              <a:off x="1152" y="3216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7" name="Text Box 90"/>
            <p:cNvSpPr txBox="1">
              <a:spLocks noChangeArrowheads="1"/>
            </p:cNvSpPr>
            <p:nvPr/>
          </p:nvSpPr>
          <p:spPr bwMode="auto">
            <a:xfrm>
              <a:off x="1056" y="393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18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" name="Group 91"/>
          <p:cNvGrpSpPr/>
          <p:nvPr/>
        </p:nvGrpSpPr>
        <p:grpSpPr bwMode="auto">
          <a:xfrm>
            <a:off x="1445568" y="3029744"/>
            <a:ext cx="914400" cy="838200"/>
            <a:chOff x="816" y="3456"/>
            <a:chExt cx="576" cy="528"/>
          </a:xfrm>
        </p:grpSpPr>
        <p:sp>
          <p:nvSpPr>
            <p:cNvPr id="45082" name="Text Box 92"/>
            <p:cNvSpPr txBox="1">
              <a:spLocks noChangeArrowheads="1"/>
            </p:cNvSpPr>
            <p:nvPr/>
          </p:nvSpPr>
          <p:spPr bwMode="auto">
            <a:xfrm>
              <a:off x="1152" y="345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kumimoji="0" lang="en-US" altLang="zh-CN" sz="18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83" name="Line 93"/>
            <p:cNvSpPr>
              <a:spLocks noChangeShapeType="1"/>
            </p:cNvSpPr>
            <p:nvPr/>
          </p:nvSpPr>
          <p:spPr bwMode="auto">
            <a:xfrm flipH="1">
              <a:off x="816" y="3552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4" name="Line 94"/>
            <p:cNvSpPr>
              <a:spLocks noChangeShapeType="1"/>
            </p:cNvSpPr>
            <p:nvPr/>
          </p:nvSpPr>
          <p:spPr bwMode="auto">
            <a:xfrm>
              <a:off x="816" y="3552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87" name="Text Box 95"/>
          <p:cNvSpPr txBox="1">
            <a:spLocks noChangeArrowheads="1"/>
          </p:cNvSpPr>
          <p:nvPr/>
        </p:nvSpPr>
        <p:spPr bwMode="auto">
          <a:xfrm>
            <a:off x="3121968" y="2267744"/>
            <a:ext cx="914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kumimoji="0" lang="en-US" altLang="zh-CN" sz="4800" b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ebdings" panose="05030102010509060703" pitchFamily="18" charset="2"/>
              </a:rPr>
              <a:t></a:t>
            </a:r>
            <a:endParaRPr kumimoji="0" lang="en-US" altLang="zh-CN" sz="4800" b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88" name="Line 96"/>
          <p:cNvSpPr>
            <a:spLocks noChangeShapeType="1"/>
          </p:cNvSpPr>
          <p:nvPr/>
        </p:nvSpPr>
        <p:spPr bwMode="auto">
          <a:xfrm>
            <a:off x="6169968" y="2039144"/>
            <a:ext cx="914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" name="Group 97"/>
          <p:cNvGrpSpPr/>
          <p:nvPr/>
        </p:nvGrpSpPr>
        <p:grpSpPr bwMode="auto">
          <a:xfrm>
            <a:off x="5865168" y="1810544"/>
            <a:ext cx="533400" cy="2424113"/>
            <a:chOff x="3744" y="2640"/>
            <a:chExt cx="336" cy="1527"/>
          </a:xfrm>
        </p:grpSpPr>
        <p:sp>
          <p:nvSpPr>
            <p:cNvPr id="45079" name="Text Box 98"/>
            <p:cNvSpPr txBox="1">
              <a:spLocks noChangeArrowheads="1"/>
            </p:cNvSpPr>
            <p:nvPr/>
          </p:nvSpPr>
          <p:spPr bwMode="auto">
            <a:xfrm>
              <a:off x="3840" y="393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18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0"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80" name="Line 99"/>
            <p:cNvSpPr>
              <a:spLocks noChangeShapeType="1"/>
            </p:cNvSpPr>
            <p:nvPr/>
          </p:nvSpPr>
          <p:spPr bwMode="auto">
            <a:xfrm flipV="1">
              <a:off x="3936" y="2784"/>
              <a:ext cx="0" cy="1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81" name="Text Box 100"/>
            <p:cNvSpPr txBox="1">
              <a:spLocks noChangeArrowheads="1"/>
            </p:cNvSpPr>
            <p:nvPr/>
          </p:nvSpPr>
          <p:spPr bwMode="auto">
            <a:xfrm>
              <a:off x="3744" y="2640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kumimoji="0" lang="en-US" altLang="zh-CN" sz="18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kumimoji="0"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" name="Group 101"/>
          <p:cNvGrpSpPr/>
          <p:nvPr/>
        </p:nvGrpSpPr>
        <p:grpSpPr bwMode="auto">
          <a:xfrm>
            <a:off x="6931968" y="2039144"/>
            <a:ext cx="381000" cy="2195513"/>
            <a:chOff x="4416" y="2784"/>
            <a:chExt cx="240" cy="1383"/>
          </a:xfrm>
        </p:grpSpPr>
        <p:sp>
          <p:nvSpPr>
            <p:cNvPr id="45077" name="Line 102"/>
            <p:cNvSpPr>
              <a:spLocks noChangeShapeType="1"/>
            </p:cNvSpPr>
            <p:nvPr/>
          </p:nvSpPr>
          <p:spPr bwMode="auto">
            <a:xfrm>
              <a:off x="4512" y="2784"/>
              <a:ext cx="0" cy="1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8" name="Text Box 103"/>
            <p:cNvSpPr txBox="1">
              <a:spLocks noChangeArrowheads="1"/>
            </p:cNvSpPr>
            <p:nvPr/>
          </p:nvSpPr>
          <p:spPr bwMode="auto">
            <a:xfrm>
              <a:off x="4416" y="3936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sz="18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" name="Group 104"/>
          <p:cNvGrpSpPr/>
          <p:nvPr/>
        </p:nvGrpSpPr>
        <p:grpSpPr bwMode="auto">
          <a:xfrm>
            <a:off x="5941368" y="2877344"/>
            <a:ext cx="1524000" cy="1066800"/>
            <a:chOff x="3792" y="3312"/>
            <a:chExt cx="960" cy="672"/>
          </a:xfrm>
        </p:grpSpPr>
        <p:sp>
          <p:nvSpPr>
            <p:cNvPr id="45074" name="Text Box 105"/>
            <p:cNvSpPr txBox="1">
              <a:spLocks noChangeArrowheads="1"/>
            </p:cNvSpPr>
            <p:nvPr/>
          </p:nvSpPr>
          <p:spPr bwMode="auto">
            <a:xfrm>
              <a:off x="4512" y="3312"/>
              <a:ext cx="2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sz="1800" i="1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kumimoji="0" lang="en-US" altLang="zh-CN" sz="1800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0" lang="en-US" altLang="zh-CN" sz="1800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75" name="Line 106"/>
            <p:cNvSpPr>
              <a:spLocks noChangeShapeType="1"/>
            </p:cNvSpPr>
            <p:nvPr/>
          </p:nvSpPr>
          <p:spPr bwMode="auto">
            <a:xfrm flipH="1">
              <a:off x="3792" y="3513"/>
              <a:ext cx="6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6" name="Line 107"/>
            <p:cNvSpPr>
              <a:spLocks noChangeShapeType="1"/>
            </p:cNvSpPr>
            <p:nvPr/>
          </p:nvSpPr>
          <p:spPr bwMode="auto">
            <a:xfrm>
              <a:off x="3792" y="3504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300" name="Text Box 108"/>
          <p:cNvSpPr txBox="1">
            <a:spLocks noChangeArrowheads="1"/>
          </p:cNvSpPr>
          <p:nvPr/>
        </p:nvSpPr>
        <p:spPr bwMode="auto">
          <a:xfrm>
            <a:off x="7465368" y="2267744"/>
            <a:ext cx="914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kumimoji="0" lang="en-US" altLang="zh-CN" sz="4800" b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Webdings" panose="05030102010509060703" pitchFamily="18" charset="2"/>
              </a:rPr>
              <a:t></a:t>
            </a:r>
            <a:endParaRPr kumimoji="0" lang="en-US" altLang="zh-CN" sz="4800" b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" name="Rectangle 2"/>
          <p:cNvSpPr txBox="1">
            <a:spLocks noChangeArrowheads="1"/>
          </p:cNvSpPr>
          <p:nvPr/>
        </p:nvSpPr>
        <p:spPr bwMode="auto">
          <a:xfrm>
            <a:off x="298565" y="161285"/>
            <a:ext cx="2703715" cy="89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 sz="3600" b="1" kern="0"/>
              <a:t>几何含义</a:t>
            </a:r>
            <a:endParaRPr lang="zh-CN" altLang="en-US" sz="3600" b="1" kern="0" dirty="0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8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87" grpId="0" autoUpdateAnimBg="0"/>
      <p:bldP spid="8300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35496" y="141375"/>
            <a:ext cx="3161159" cy="745009"/>
          </a:xfrm>
        </p:spPr>
        <p:txBody>
          <a:bodyPr/>
          <a:lstStyle/>
          <a:p>
            <a:pPr eaLnBrk="1" hangingPunct="1"/>
            <a:r>
              <a:rPr lang="zh-CN" altLang="en-US" sz="3600" b="1" dirty="0"/>
              <a:t>压缩映像定理</a:t>
            </a: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323528" y="980728"/>
            <a:ext cx="825500" cy="4953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57150" cmpd="thickThin">
            <a:solidFill>
              <a:srgbClr val="FF0000"/>
            </a:solidFill>
            <a:miter lim="800000"/>
          </a:ln>
        </p:spPr>
        <p:txBody>
          <a:bodyPr lIns="54000" tIns="36000" rIns="54000" bIns="360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kumimoji="0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1187128" y="1052165"/>
            <a:ext cx="502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 </a:t>
            </a:r>
            <a:r>
              <a:rPr lang="zh-CN" altLang="en-US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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且可导，若</a:t>
            </a:r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1547491" y="2060228"/>
            <a:ext cx="7272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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0 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&lt; 1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，使得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|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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 | 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L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对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[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成立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547491" y="1556990"/>
            <a:ext cx="5834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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b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对一切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[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都成立</a:t>
            </a:r>
          </a:p>
        </p:txBody>
      </p:sp>
      <p:sp>
        <p:nvSpPr>
          <p:cNvPr id="9224" name="Rectangle 8"/>
          <p:cNvSpPr>
            <a:spLocks noChangeArrowheads="1"/>
          </p:cNvSpPr>
          <p:nvPr/>
        </p:nvSpPr>
        <p:spPr bwMode="auto">
          <a:xfrm>
            <a:off x="1042666" y="2565053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则有</a:t>
            </a:r>
          </a:p>
        </p:txBody>
      </p:sp>
      <p:grpSp>
        <p:nvGrpSpPr>
          <p:cNvPr id="2" name="Group 9"/>
          <p:cNvGrpSpPr/>
          <p:nvPr/>
        </p:nvGrpSpPr>
        <p:grpSpPr bwMode="auto">
          <a:xfrm>
            <a:off x="1476053" y="2996853"/>
            <a:ext cx="7273925" cy="1046162"/>
            <a:chOff x="930" y="2160"/>
            <a:chExt cx="4582" cy="659"/>
          </a:xfrm>
        </p:grpSpPr>
        <p:sp>
          <p:nvSpPr>
            <p:cNvPr id="12307" name="Rectangle 10"/>
            <p:cNvSpPr>
              <a:spLocks noChangeArrowheads="1"/>
            </p:cNvSpPr>
            <p:nvPr/>
          </p:nvSpPr>
          <p:spPr bwMode="auto">
            <a:xfrm>
              <a:off x="930" y="2160"/>
              <a:ext cx="4582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(a) </a:t>
              </a:r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对任意 </a:t>
              </a:r>
              <a:r>
                <a:rPr lang="en-US" altLang="zh-CN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[</a:t>
              </a:r>
              <a:r>
                <a:rPr lang="en-US" altLang="zh-CN" i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, </a:t>
              </a:r>
              <a:r>
                <a:rPr lang="en-US" altLang="zh-CN" i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]</a:t>
              </a:r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，由</a:t>
              </a:r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 i="1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lang="en-US" altLang="zh-CN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+1</a:t>
              </a:r>
              <a:r>
                <a:rPr lang="en-US" altLang="zh-CN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dirty="0">
                  <a:latin typeface="Courier New" panose="02070309020205020404" pitchFamily="49" charset="0"/>
                  <a:ea typeface="宋体" panose="02010600030101010101" pitchFamily="2" charset="-122"/>
                </a:rPr>
                <a:t>=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i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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i="1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 i="1" baseline="-25000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r>
                <a:rPr lang="en-US" altLang="zh-CN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产生的迭代序列 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均收敛到 </a:t>
              </a:r>
              <a:r>
                <a:rPr kumimoji="0" lang="zh-CN" altLang="en-US" i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 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 </a:t>
              </a:r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在 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[</a:t>
              </a:r>
              <a:r>
                <a:rPr lang="en-US" altLang="zh-CN" i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, </a:t>
              </a:r>
              <a:r>
                <a:rPr lang="en-US" altLang="zh-CN" i="1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]</a:t>
              </a:r>
              <a:r>
                <a:rPr lang="en-US" altLang="zh-CN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中的唯一不动点 </a:t>
              </a:r>
              <a:r>
                <a:rPr lang="en-US" altLang="zh-CN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。</a:t>
              </a:r>
            </a:p>
          </p:txBody>
        </p:sp>
        <p:graphicFrame>
          <p:nvGraphicFramePr>
            <p:cNvPr id="12292" name="Object 11"/>
            <p:cNvGraphicFramePr>
              <a:graphicFrameLocks noChangeAspect="1"/>
            </p:cNvGraphicFramePr>
            <p:nvPr/>
          </p:nvGraphicFramePr>
          <p:xfrm>
            <a:off x="1021" y="2477"/>
            <a:ext cx="575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15" name="Equation" r:id="rId4" imgW="558800" imgH="279400" progId="Equation.3">
                    <p:embed/>
                  </p:oleObj>
                </mc:Choice>
                <mc:Fallback>
                  <p:oleObj name="Equation" r:id="rId4" imgW="558800" imgH="2794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1" y="2477"/>
                          <a:ext cx="575" cy="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28" name="Rectangle 12"/>
          <p:cNvSpPr>
            <a:spLocks noChangeArrowheads="1"/>
          </p:cNvSpPr>
          <p:nvPr/>
        </p:nvSpPr>
        <p:spPr bwMode="auto">
          <a:xfrm>
            <a:off x="1476053" y="4004915"/>
            <a:ext cx="669607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(b)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有如下的误差估计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9229" name="Object 13"/>
          <p:cNvGraphicFramePr>
            <a:graphicFrameLocks noChangeAspect="1"/>
          </p:cNvGraphicFramePr>
          <p:nvPr/>
        </p:nvGraphicFramePr>
        <p:xfrm>
          <a:off x="2487291" y="4581178"/>
          <a:ext cx="314642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6" name="Equation" r:id="rId6" imgW="1726565" imgH="393700" progId="Equation.DSMT4">
                  <p:embed/>
                </p:oleObj>
              </mc:Choice>
              <mc:Fallback>
                <p:oleObj name="Equation" r:id="rId6" imgW="1726565" imgH="3937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291" y="4581178"/>
                        <a:ext cx="314642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0" name="Object 14"/>
          <p:cNvGraphicFramePr>
            <a:graphicFrameLocks noChangeAspect="1"/>
          </p:cNvGraphicFramePr>
          <p:nvPr/>
        </p:nvGraphicFramePr>
        <p:xfrm>
          <a:off x="2484116" y="5373340"/>
          <a:ext cx="310197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7" name="Equation" r:id="rId8" imgW="1612900" imgH="419100" progId="Equation.DSMT4">
                  <p:embed/>
                </p:oleObj>
              </mc:Choice>
              <mc:Fallback>
                <p:oleObj name="Equation" r:id="rId8" imgW="1612900" imgH="4191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116" y="5373340"/>
                        <a:ext cx="310197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5"/>
          <p:cNvGrpSpPr/>
          <p:nvPr/>
        </p:nvGrpSpPr>
        <p:grpSpPr bwMode="auto">
          <a:xfrm>
            <a:off x="5651178" y="4436715"/>
            <a:ext cx="2914650" cy="868363"/>
            <a:chOff x="3560" y="3067"/>
            <a:chExt cx="1836" cy="547"/>
          </a:xfrm>
        </p:grpSpPr>
        <p:sp>
          <p:nvSpPr>
            <p:cNvPr id="12305" name="Rectangle 16"/>
            <p:cNvSpPr>
              <a:spLocks noChangeArrowheads="1"/>
            </p:cNvSpPr>
            <p:nvPr/>
          </p:nvSpPr>
          <p:spPr bwMode="auto">
            <a:xfrm>
              <a:off x="3923" y="3067"/>
              <a:ext cx="1473" cy="547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10000"/>
                </a:spcBef>
              </a:pPr>
              <a:r>
                <a:rPr lang="zh-CN" altLang="en-US">
                  <a:latin typeface="Times New Roman" panose="02020603050405020304" pitchFamily="18" charset="0"/>
                </a:rPr>
                <a:t>可用</a:t>
              </a:r>
              <a:r>
                <a:rPr lang="en-US" altLang="zh-CN">
                  <a:latin typeface="Times New Roman" panose="02020603050405020304" pitchFamily="18" charset="0"/>
                </a:rPr>
                <a:t>| </a:t>
              </a:r>
              <a:r>
                <a:rPr lang="en-US" altLang="zh-CN" i="1">
                  <a:latin typeface="Times New Roman" panose="02020603050405020304" pitchFamily="18" charset="0"/>
                </a:rPr>
                <a:t>x 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k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+1</a:t>
              </a:r>
              <a:r>
                <a:rPr lang="en-US" altLang="zh-CN">
                  <a:latin typeface="Courier New" panose="02070309020205020404" pitchFamily="49" charset="0"/>
                </a:rPr>
                <a:t>-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k</a:t>
              </a:r>
              <a:r>
                <a:rPr lang="en-US" altLang="zh-CN" baseline="30000">
                  <a:latin typeface="Times New Roman" panose="02020603050405020304" pitchFamily="18" charset="0"/>
                </a:rPr>
                <a:t> </a:t>
              </a:r>
              <a:r>
                <a:rPr lang="en-US" altLang="zh-CN">
                  <a:latin typeface="Times New Roman" panose="02020603050405020304" pitchFamily="18" charset="0"/>
                </a:rPr>
                <a:t>| </a:t>
              </a:r>
            </a:p>
            <a:p>
              <a:pPr eaLnBrk="1" hangingPunct="1">
                <a:lnSpc>
                  <a:spcPct val="100000"/>
                </a:lnSpc>
                <a:spcBef>
                  <a:spcPct val="10000"/>
                </a:spcBef>
              </a:pPr>
              <a:r>
                <a:rPr lang="zh-CN" altLang="en-US">
                  <a:latin typeface="Times New Roman" panose="02020603050405020304" pitchFamily="18" charset="0"/>
                </a:rPr>
                <a:t>来控制收敛精度</a:t>
              </a:r>
            </a:p>
          </p:txBody>
        </p:sp>
        <p:sp>
          <p:nvSpPr>
            <p:cNvPr id="12306" name="Line 17"/>
            <p:cNvSpPr>
              <a:spLocks noChangeShapeType="1"/>
            </p:cNvSpPr>
            <p:nvPr/>
          </p:nvSpPr>
          <p:spPr bwMode="auto">
            <a:xfrm flipV="1">
              <a:off x="3560" y="3339"/>
              <a:ext cx="363" cy="91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" name="Group 18"/>
          <p:cNvGrpSpPr/>
          <p:nvPr/>
        </p:nvGrpSpPr>
        <p:grpSpPr bwMode="auto">
          <a:xfrm>
            <a:off x="5579741" y="5589240"/>
            <a:ext cx="2870200" cy="466725"/>
            <a:chOff x="3515" y="3793"/>
            <a:chExt cx="1808" cy="294"/>
          </a:xfrm>
        </p:grpSpPr>
        <p:sp>
          <p:nvSpPr>
            <p:cNvPr id="12303" name="Line 19"/>
            <p:cNvSpPr>
              <a:spLocks noChangeShapeType="1"/>
            </p:cNvSpPr>
            <p:nvPr/>
          </p:nvSpPr>
          <p:spPr bwMode="auto">
            <a:xfrm flipV="1">
              <a:off x="3515" y="3929"/>
              <a:ext cx="363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04" name="Rectangle 20"/>
            <p:cNvSpPr>
              <a:spLocks noChangeArrowheads="1"/>
            </p:cNvSpPr>
            <p:nvPr/>
          </p:nvSpPr>
          <p:spPr bwMode="auto">
            <a:xfrm>
              <a:off x="3878" y="3793"/>
              <a:ext cx="1445" cy="294"/>
            </a:xfrm>
            <a:prstGeom prst="rect">
              <a:avLst/>
            </a:prstGeom>
            <a:noFill/>
            <a:ln w="9525">
              <a:solidFill>
                <a:schemeClr val="hlink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10000"/>
                </a:spcBef>
              </a:pPr>
              <a:r>
                <a:rPr lang="en-US" altLang="zh-CN" i="1">
                  <a:latin typeface="Times New Roman" panose="02020603050405020304" pitchFamily="18" charset="0"/>
                </a:rPr>
                <a:t>L</a:t>
              </a:r>
              <a:r>
                <a:rPr lang="en-US" altLang="zh-CN">
                  <a:latin typeface="Times New Roman" panose="02020603050405020304" pitchFamily="18" charset="0"/>
                </a:rPr>
                <a:t> </a:t>
              </a:r>
              <a:r>
                <a:rPr lang="zh-CN" altLang="en-US">
                  <a:latin typeface="Times New Roman" panose="02020603050405020304" pitchFamily="18" charset="0"/>
                </a:rPr>
                <a:t>越小收敛越快</a:t>
              </a:r>
            </a:p>
          </p:txBody>
        </p:sp>
      </p:grp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nimBg="1" autoUpdateAnimBg="0"/>
      <p:bldP spid="9221" grpId="0" autoUpdateAnimBg="0"/>
      <p:bldP spid="9222" grpId="0" autoUpdateAnimBg="0"/>
      <p:bldP spid="9223" grpId="0" autoUpdateAnimBg="0"/>
      <p:bldP spid="9224" grpId="0" autoUpdateAnimBg="0"/>
      <p:bldP spid="9228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266811"/>
            <a:ext cx="4318248" cy="699864"/>
          </a:xfrm>
        </p:spPr>
        <p:txBody>
          <a:bodyPr/>
          <a:lstStyle/>
          <a:p>
            <a:pPr eaLnBrk="1" hangingPunct="1"/>
            <a:r>
              <a:rPr lang="zh-CN" altLang="en-US" sz="3600" b="1" dirty="0"/>
              <a:t>压缩映像定理证明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622895" y="1196752"/>
            <a:ext cx="7605713" cy="592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600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(a) </a:t>
            </a:r>
            <a:r>
              <a:rPr lang="zh-CN" altLang="en-US" sz="2600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不动点若 </a:t>
            </a:r>
            <a:r>
              <a:rPr lang="en-US" altLang="zh-CN" sz="26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600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60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存在则唯一</a:t>
            </a:r>
            <a:r>
              <a:rPr lang="zh-CN" altLang="en-US" sz="2600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1080095" y="2111152"/>
          <a:ext cx="71247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8" name="Equation" r:id="rId3" imgW="3911600" imgH="254000" progId="Equation.DSMT4">
                  <p:embed/>
                </p:oleObj>
              </mc:Choice>
              <mc:Fallback>
                <p:oleObj name="Equation" r:id="rId3" imgW="39116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095" y="2111152"/>
                        <a:ext cx="712470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6"/>
          <p:cNvGraphicFramePr>
            <a:graphicFrameLocks noChangeAspect="1"/>
          </p:cNvGraphicFramePr>
          <p:nvPr/>
        </p:nvGraphicFramePr>
        <p:xfrm>
          <a:off x="1246783" y="2895377"/>
          <a:ext cx="6523037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9" name="Equation" r:id="rId5" imgW="3581400" imgH="241300" progId="Equation.DSMT4">
                  <p:embed/>
                </p:oleObj>
              </mc:Choice>
              <mc:Fallback>
                <p:oleObj name="Equation" r:id="rId5" imgW="3581400" imgH="241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783" y="2895377"/>
                        <a:ext cx="6523037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AutoShape 7"/>
          <p:cNvSpPr>
            <a:spLocks noChangeArrowheads="1"/>
          </p:cNvSpPr>
          <p:nvPr/>
        </p:nvSpPr>
        <p:spPr bwMode="auto">
          <a:xfrm>
            <a:off x="338733" y="2954115"/>
            <a:ext cx="792162" cy="360362"/>
          </a:xfrm>
          <a:prstGeom prst="rightArrow">
            <a:avLst>
              <a:gd name="adj1" fmla="val 50000"/>
              <a:gd name="adj2" fmla="val 549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72" name="AutoShape 8"/>
          <p:cNvSpPr>
            <a:spLocks noChangeArrowheads="1"/>
          </p:cNvSpPr>
          <p:nvPr/>
        </p:nvSpPr>
        <p:spPr bwMode="auto">
          <a:xfrm>
            <a:off x="448270" y="4087590"/>
            <a:ext cx="792163" cy="360362"/>
          </a:xfrm>
          <a:prstGeom prst="rightArrow">
            <a:avLst>
              <a:gd name="adj1" fmla="val 50000"/>
              <a:gd name="adj2" fmla="val 549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273" name="Object 9"/>
          <p:cNvGraphicFramePr>
            <a:graphicFrameLocks noChangeAspect="1"/>
          </p:cNvGraphicFramePr>
          <p:nvPr/>
        </p:nvGraphicFramePr>
        <p:xfrm>
          <a:off x="1384895" y="4016152"/>
          <a:ext cx="19431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0" name="Equation" r:id="rId7" imgW="1066165" imgH="266700" progId="Equation.DSMT4">
                  <p:embed/>
                </p:oleObj>
              </mc:Choice>
              <mc:Fallback>
                <p:oleObj name="Equation" r:id="rId7" imgW="1066165" imgH="2667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895" y="4016152"/>
                        <a:ext cx="1943100" cy="5064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autoUpdateAnimBg="0"/>
      <p:bldP spid="11271" grpId="0" animBg="1"/>
      <p:bldP spid="1127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Rectangle 2"/>
          <p:cNvSpPr>
            <a:spLocks noGrp="1" noChangeArrowheads="1"/>
          </p:cNvSpPr>
          <p:nvPr>
            <p:ph type="title"/>
          </p:nvPr>
        </p:nvSpPr>
        <p:spPr>
          <a:xfrm>
            <a:off x="178792" y="312738"/>
            <a:ext cx="4462264" cy="771872"/>
          </a:xfrm>
        </p:spPr>
        <p:txBody>
          <a:bodyPr/>
          <a:lstStyle/>
          <a:p>
            <a:pPr eaLnBrk="1" hangingPunct="1"/>
            <a:r>
              <a:rPr lang="zh-CN" altLang="en-US" sz="3600" b="1" dirty="0"/>
              <a:t>压缩映像定理证明</a:t>
            </a: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613073" y="1268314"/>
            <a:ext cx="720725" cy="58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60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(b)</a:t>
            </a:r>
          </a:p>
        </p:txBody>
      </p:sp>
      <p:graphicFrame>
        <p:nvGraphicFramePr>
          <p:cNvPr id="12292" name="Object 4"/>
          <p:cNvGraphicFramePr>
            <a:graphicFrameLocks noChangeAspect="1"/>
          </p:cNvGraphicFramePr>
          <p:nvPr/>
        </p:nvGraphicFramePr>
        <p:xfrm>
          <a:off x="1403648" y="1412776"/>
          <a:ext cx="275272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2" name="Equation" r:id="rId3" imgW="1511300" imgH="228600" progId="Equation.DSMT4">
                  <p:embed/>
                </p:oleObj>
              </mc:Choice>
              <mc:Fallback>
                <p:oleObj name="Equation" r:id="rId3" imgW="15113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1412776"/>
                        <a:ext cx="275272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5"/>
          <p:cNvGraphicFramePr>
            <a:graphicFrameLocks noChangeAspect="1"/>
          </p:cNvGraphicFramePr>
          <p:nvPr/>
        </p:nvGraphicFramePr>
        <p:xfrm>
          <a:off x="1403648" y="1844576"/>
          <a:ext cx="66167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3" name="Equation" r:id="rId5" imgW="3632200" imgH="254000" progId="Equation.DSMT4">
                  <p:embed/>
                </p:oleObj>
              </mc:Choice>
              <mc:Fallback>
                <p:oleObj name="Equation" r:id="rId5" imgW="36322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1844576"/>
                        <a:ext cx="661670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6"/>
          <p:cNvGraphicFramePr>
            <a:graphicFrameLocks noChangeAspect="1"/>
          </p:cNvGraphicFramePr>
          <p:nvPr/>
        </p:nvGraphicFramePr>
        <p:xfrm>
          <a:off x="5435898" y="2349401"/>
          <a:ext cx="201295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4" name="Equation" r:id="rId7" imgW="1104900" imgH="254000" progId="Equation.DSMT4">
                  <p:embed/>
                </p:oleObj>
              </mc:Choice>
              <mc:Fallback>
                <p:oleObj name="Equation" r:id="rId7" imgW="1104900" imgH="254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898" y="2349401"/>
                        <a:ext cx="201295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AutoShape 7"/>
          <p:cNvSpPr>
            <a:spLocks noChangeArrowheads="1"/>
          </p:cNvSpPr>
          <p:nvPr/>
        </p:nvSpPr>
        <p:spPr bwMode="auto">
          <a:xfrm>
            <a:off x="1238548" y="3203476"/>
            <a:ext cx="792163" cy="360363"/>
          </a:xfrm>
          <a:prstGeom prst="rightArrow">
            <a:avLst>
              <a:gd name="adj1" fmla="val 50000"/>
              <a:gd name="adj2" fmla="val 549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2175173" y="2914551"/>
          <a:ext cx="2960688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5" name="Equation" r:id="rId9" imgW="1625600" imgH="393700" progId="Equation.DSMT4">
                  <p:embed/>
                </p:oleObj>
              </mc:Choice>
              <mc:Fallback>
                <p:oleObj name="Equation" r:id="rId9" imgW="1625600" imgH="3937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173" y="2914551"/>
                        <a:ext cx="2960688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9"/>
          <p:cNvGraphicFramePr>
            <a:graphicFrameLocks noChangeAspect="1"/>
          </p:cNvGraphicFramePr>
          <p:nvPr/>
        </p:nvGraphicFramePr>
        <p:xfrm>
          <a:off x="1527473" y="3635276"/>
          <a:ext cx="724058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6" name="Equation" r:id="rId11" imgW="3975100" imgH="254000" progId="Equation.DSMT4">
                  <p:embed/>
                </p:oleObj>
              </mc:Choice>
              <mc:Fallback>
                <p:oleObj name="Equation" r:id="rId11" imgW="3975100" imgH="254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7473" y="3635276"/>
                        <a:ext cx="7240588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8" name="Rectangle 10"/>
          <p:cNvSpPr>
            <a:spLocks noChangeArrowheads="1"/>
          </p:cNvSpPr>
          <p:nvPr/>
        </p:nvSpPr>
        <p:spPr bwMode="auto">
          <a:xfrm>
            <a:off x="1022648" y="3635276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又</a:t>
            </a:r>
          </a:p>
        </p:txBody>
      </p:sp>
      <p:sp>
        <p:nvSpPr>
          <p:cNvPr id="12299" name="AutoShape 11"/>
          <p:cNvSpPr/>
          <p:nvPr/>
        </p:nvSpPr>
        <p:spPr bwMode="auto">
          <a:xfrm>
            <a:off x="951211" y="3274914"/>
            <a:ext cx="144462" cy="792162"/>
          </a:xfrm>
          <a:prstGeom prst="leftBrace">
            <a:avLst>
              <a:gd name="adj1" fmla="val 45696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300" name="AutoShape 12"/>
          <p:cNvSpPr>
            <a:spLocks noChangeArrowheads="1"/>
          </p:cNvSpPr>
          <p:nvPr/>
        </p:nvSpPr>
        <p:spPr bwMode="auto">
          <a:xfrm>
            <a:off x="519411" y="3562251"/>
            <a:ext cx="360362" cy="1368425"/>
          </a:xfrm>
          <a:prstGeom prst="curvedRightArrow">
            <a:avLst>
              <a:gd name="adj1" fmla="val 68177"/>
              <a:gd name="adj2" fmla="val 151894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2301" name="Object 13"/>
          <p:cNvGraphicFramePr>
            <a:graphicFrameLocks noChangeAspect="1"/>
          </p:cNvGraphicFramePr>
          <p:nvPr/>
        </p:nvGraphicFramePr>
        <p:xfrm>
          <a:off x="1022648" y="4282976"/>
          <a:ext cx="7148513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7" name="Equation" r:id="rId13" imgW="3924300" imgH="419100" progId="Equation.DSMT4">
                  <p:embed/>
                </p:oleObj>
              </mc:Choice>
              <mc:Fallback>
                <p:oleObj name="Equation" r:id="rId13" imgW="3924300" imgH="4191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648" y="4282976"/>
                        <a:ext cx="7148513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utoUpdateAnimBg="0"/>
      <p:bldP spid="12295" grpId="0" animBg="1"/>
      <p:bldP spid="12298" grpId="0" autoUpdateAnimBg="0"/>
      <p:bldP spid="12299" grpId="0" animBg="1"/>
      <p:bldP spid="1230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文本框 149505"/>
          <p:cNvSpPr txBox="1">
            <a:spLocks noChangeArrowheads="1"/>
          </p:cNvSpPr>
          <p:nvPr/>
        </p:nvSpPr>
        <p:spPr bwMode="auto">
          <a:xfrm>
            <a:off x="228600" y="152400"/>
            <a:ext cx="8610600" cy="2951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6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对方程              ,构造收敛的迭代格式,</a:t>
            </a: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   求其最小正根,计算过程保留</a:t>
            </a:r>
            <a:r>
              <a:rPr lang="zh-CN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4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位小数。</a:t>
            </a: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解  容易判断[1,2]是方程的有根区间, 且在此区间</a:t>
            </a: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   内               ,所以此方程在区间[1,2]有</a:t>
            </a: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   且仅有一根。将原方程改写成以下两种等价形式。</a:t>
            </a:r>
            <a:r>
              <a:rPr lang="zh-CN" altLang="en-US" sz="32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43010" name="矩形 149507"/>
          <p:cNvSpPr>
            <a:spLocks noChangeArrowheads="1"/>
          </p:cNvSpPr>
          <p:nvPr/>
        </p:nvSpPr>
        <p:spPr bwMode="auto">
          <a:xfrm>
            <a:off x="409575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3011" name="对象 149506"/>
          <p:cNvGraphicFramePr/>
          <p:nvPr>
            <p:extLst>
              <p:ext uri="{D42A27DB-BD31-4B8C-83A1-F6EECF244321}">
                <p14:modId xmlns:p14="http://schemas.microsoft.com/office/powerpoint/2010/main" val="2392622638"/>
              </p:ext>
            </p:extLst>
          </p:nvPr>
        </p:nvGraphicFramePr>
        <p:xfrm>
          <a:off x="2280940" y="220662"/>
          <a:ext cx="1981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70" r:id="rId3" imgW="951865" imgH="203200" progId="Equation.3">
                  <p:embed/>
                </p:oleObj>
              </mc:Choice>
              <mc:Fallback>
                <p:oleObj r:id="rId3" imgW="951865" imgH="203200" progId="Equation.3">
                  <p:embed/>
                  <p:pic>
                    <p:nvPicPr>
                      <p:cNvPr id="0" name="对象 14950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0940" y="220662"/>
                        <a:ext cx="1981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2" name="矩形 149509"/>
          <p:cNvSpPr>
            <a:spLocks noChangeArrowheads="1"/>
          </p:cNvSpPr>
          <p:nvPr/>
        </p:nvSpPr>
        <p:spPr bwMode="auto">
          <a:xfrm>
            <a:off x="396240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3013" name="对象 149508"/>
          <p:cNvGraphicFramePr/>
          <p:nvPr/>
        </p:nvGraphicFramePr>
        <p:xfrm>
          <a:off x="1524000" y="1981200"/>
          <a:ext cx="22098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71" r:id="rId5" imgW="1219200" imgH="228600" progId="Equation.3">
                  <p:embed/>
                </p:oleObj>
              </mc:Choice>
              <mc:Fallback>
                <p:oleObj r:id="rId5" imgW="1219200" imgH="228600" progId="Equation.3">
                  <p:embed/>
                  <p:pic>
                    <p:nvPicPr>
                      <p:cNvPr id="0" name="对象 14950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981200"/>
                        <a:ext cx="22098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4" name="文本框 149510"/>
          <p:cNvSpPr txBox="1">
            <a:spLocks noChangeArrowheads="1"/>
          </p:cNvSpPr>
          <p:nvPr/>
        </p:nvSpPr>
        <p:spPr bwMode="auto">
          <a:xfrm>
            <a:off x="228600" y="3048000"/>
            <a:ext cx="8610600" cy="358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①</a:t>
            </a:r>
            <a:r>
              <a:rPr lang="zh-CN" altLang="en-US" sz="3200" b="1">
                <a:solidFill>
                  <a:srgbClr val="000000"/>
                </a:solidFill>
                <a:ea typeface="黑体" panose="02010609060101010101" pitchFamily="49" charset="-122"/>
              </a:rPr>
              <a:t>	        ,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即</a:t>
            </a: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</a:t>
            </a: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不满足收敛条件。</a:t>
            </a: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②              ,即</a:t>
            </a: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endParaRPr lang="zh-CN" altLang="en-US" sz="2800" b="1">
              <a:solidFill>
                <a:srgbClr val="000000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   此时迭代公式满足迭代收敛条件。</a:t>
            </a:r>
            <a:endParaRPr lang="en-US" altLang="zh-CN" sz="2800" b="1">
              <a:solidFill>
                <a:srgbClr val="000000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</p:txBody>
      </p:sp>
      <p:sp>
        <p:nvSpPr>
          <p:cNvPr id="43015" name="矩形 149512"/>
          <p:cNvSpPr>
            <a:spLocks noChangeArrowheads="1"/>
          </p:cNvSpPr>
          <p:nvPr/>
        </p:nvSpPr>
        <p:spPr bwMode="auto">
          <a:xfrm>
            <a:off x="422910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3016" name="对象 149511"/>
          <p:cNvGraphicFramePr/>
          <p:nvPr/>
        </p:nvGraphicFramePr>
        <p:xfrm>
          <a:off x="838200" y="3191510"/>
          <a:ext cx="1295400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72" r:id="rId7" imgW="685800" imgH="419100" progId="Equation.3">
                  <p:embed/>
                </p:oleObj>
              </mc:Choice>
              <mc:Fallback>
                <p:oleObj r:id="rId7" imgW="685800" imgH="419100" progId="Equation.3">
                  <p:embed/>
                  <p:pic>
                    <p:nvPicPr>
                      <p:cNvPr id="0" name="对象 149511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191510"/>
                        <a:ext cx="1295400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7" name="矩形 149514"/>
          <p:cNvSpPr>
            <a:spLocks noChangeArrowheads="1"/>
          </p:cNvSpPr>
          <p:nvPr/>
        </p:nvSpPr>
        <p:spPr bwMode="auto">
          <a:xfrm>
            <a:off x="31432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3018" name="对象 149513"/>
          <p:cNvGraphicFramePr/>
          <p:nvPr/>
        </p:nvGraphicFramePr>
        <p:xfrm>
          <a:off x="2819400" y="3119755"/>
          <a:ext cx="5715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73" r:id="rId9" imgW="2857500" imgH="419100" progId="Equation.3">
                  <p:embed/>
                </p:oleObj>
              </mc:Choice>
              <mc:Fallback>
                <p:oleObj r:id="rId9" imgW="2857500" imgH="419100" progId="Equation.3">
                  <p:embed/>
                  <p:pic>
                    <p:nvPicPr>
                      <p:cNvPr id="0" name="对象 149513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119755"/>
                        <a:ext cx="57150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9" name="矩形 149516"/>
          <p:cNvSpPr>
            <a:spLocks noChangeArrowheads="1"/>
          </p:cNvSpPr>
          <p:nvPr/>
        </p:nvSpPr>
        <p:spPr bwMode="auto">
          <a:xfrm>
            <a:off x="4176713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3020" name="对象 149515"/>
          <p:cNvGraphicFramePr/>
          <p:nvPr/>
        </p:nvGraphicFramePr>
        <p:xfrm>
          <a:off x="1143000" y="4787265"/>
          <a:ext cx="14478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74" r:id="rId11" imgW="787400" imgH="228600" progId="Equation.3">
                  <p:embed/>
                </p:oleObj>
              </mc:Choice>
              <mc:Fallback>
                <p:oleObj r:id="rId11" imgW="787400" imgH="228600" progId="Equation.3">
                  <p:embed/>
                  <p:pic>
                    <p:nvPicPr>
                      <p:cNvPr id="0" name="对象 149515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787265"/>
                        <a:ext cx="14478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1" name="矩形 149518"/>
          <p:cNvSpPr>
            <a:spLocks noChangeArrowheads="1"/>
          </p:cNvSpPr>
          <p:nvPr/>
        </p:nvSpPr>
        <p:spPr bwMode="auto">
          <a:xfrm>
            <a:off x="4062413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3022" name="对象 149517"/>
          <p:cNvGraphicFramePr/>
          <p:nvPr/>
        </p:nvGraphicFramePr>
        <p:xfrm>
          <a:off x="3827780" y="4787265"/>
          <a:ext cx="26670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75" r:id="rId13" imgW="1016000" imgH="241300" progId="Equation.3">
                  <p:embed/>
                </p:oleObj>
              </mc:Choice>
              <mc:Fallback>
                <p:oleObj r:id="rId13" imgW="1016000" imgH="241300" progId="Equation.3">
                  <p:embed/>
                  <p:pic>
                    <p:nvPicPr>
                      <p:cNvPr id="0" name="对象 149517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7780" y="4787265"/>
                        <a:ext cx="26670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3" name="矩形 149520"/>
          <p:cNvSpPr>
            <a:spLocks noChangeArrowheads="1"/>
          </p:cNvSpPr>
          <p:nvPr/>
        </p:nvSpPr>
        <p:spPr bwMode="auto">
          <a:xfrm>
            <a:off x="2757488" y="31956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3024" name="对象 149519"/>
          <p:cNvGraphicFramePr/>
          <p:nvPr/>
        </p:nvGraphicFramePr>
        <p:xfrm>
          <a:off x="762000" y="5257800"/>
          <a:ext cx="76200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76" r:id="rId15" imgW="3556000" imgH="469900" progId="Equation.3">
                  <p:embed/>
                </p:oleObj>
              </mc:Choice>
              <mc:Fallback>
                <p:oleObj r:id="rId15" imgW="3556000" imgH="469900" progId="Equation.3">
                  <p:embed/>
                  <p:pic>
                    <p:nvPicPr>
                      <p:cNvPr id="0" name="对象 149519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257800"/>
                        <a:ext cx="76200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33E6E80-590E-4B8F-B87F-185A8EC0A23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1625" y="609600"/>
            <a:ext cx="8540750" cy="685800"/>
          </a:xfrm>
        </p:spPr>
        <p:txBody>
          <a:bodyPr/>
          <a:lstStyle/>
          <a:p>
            <a:pPr algn="l"/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全局收敛性和局部收敛性</a:t>
            </a:r>
          </a:p>
        </p:txBody>
      </p:sp>
      <p:grpSp>
        <p:nvGrpSpPr>
          <p:cNvPr id="15390" name="Group 30">
            <a:extLst>
              <a:ext uri="{FF2B5EF4-FFF2-40B4-BE49-F238E27FC236}">
                <a16:creationId xmlns:a16="http://schemas.microsoft.com/office/drawing/2014/main" id="{93C36ABC-3FBD-4274-90C0-49BACD295571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1341438"/>
            <a:ext cx="7956550" cy="1990725"/>
            <a:chOff x="385" y="709"/>
            <a:chExt cx="5012" cy="1254"/>
          </a:xfrm>
        </p:grpSpPr>
        <p:sp>
          <p:nvSpPr>
            <p:cNvPr id="15364" name="Text Box 4">
              <a:extLst>
                <a:ext uri="{FF2B5EF4-FFF2-40B4-BE49-F238E27FC236}">
                  <a16:creationId xmlns:a16="http://schemas.microsoft.com/office/drawing/2014/main" id="{A6328A01-D68E-44CB-9C34-09E5A15B27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709"/>
              <a:ext cx="5012" cy="1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en-US" altLang="zh-CN" sz="2400" dirty="0">
                  <a:latin typeface="楷体_GB2312" pitchFamily="49" charset="-122"/>
                  <a:ea typeface="楷体_GB2312" pitchFamily="49" charset="-122"/>
                </a:rPr>
                <a:t>    </a:t>
              </a:r>
              <a:r>
                <a:rPr kumimoji="1" lang="zh-CN" altLang="en-US" sz="2400" dirty="0">
                  <a:latin typeface="楷体_GB2312" pitchFamily="49" charset="-122"/>
                  <a:ea typeface="楷体_GB2312" pitchFamily="49" charset="-122"/>
                </a:rPr>
                <a:t>上面给出了迭代序列      在区间         上的收敛性，</a:t>
              </a:r>
            </a:p>
            <a:p>
              <a:pPr>
                <a:lnSpc>
                  <a:spcPct val="130000"/>
                </a:lnSpc>
              </a:pPr>
              <a:r>
                <a:rPr kumimoji="1" lang="zh-CN" altLang="en-US" sz="2400" dirty="0">
                  <a:latin typeface="楷体_GB2312" pitchFamily="49" charset="-122"/>
                  <a:ea typeface="楷体_GB2312" pitchFamily="49" charset="-122"/>
                </a:rPr>
                <a:t>通常称为全局收敛性</a:t>
              </a:r>
              <a:r>
                <a:rPr kumimoji="1" lang="en-US" altLang="zh-CN" sz="2400" dirty="0">
                  <a:latin typeface="楷体_GB2312" pitchFamily="49" charset="-122"/>
                  <a:ea typeface="楷体_GB2312" pitchFamily="49" charset="-122"/>
                </a:rPr>
                <a:t>.  </a:t>
              </a:r>
              <a:r>
                <a:rPr kumimoji="1" lang="zh-CN" altLang="en-US" sz="2400" dirty="0">
                  <a:latin typeface="楷体_GB2312" pitchFamily="49" charset="-122"/>
                  <a:ea typeface="楷体_GB2312" pitchFamily="49" charset="-122"/>
                </a:rPr>
                <a:t>定理的条件有时不易检验，实际应</a:t>
              </a:r>
            </a:p>
            <a:p>
              <a:pPr>
                <a:lnSpc>
                  <a:spcPct val="130000"/>
                </a:lnSpc>
              </a:pPr>
              <a:r>
                <a:rPr kumimoji="1" lang="zh-CN" altLang="en-US" sz="2400" dirty="0">
                  <a:latin typeface="楷体_GB2312" pitchFamily="49" charset="-122"/>
                  <a:ea typeface="楷体_GB2312" pitchFamily="49" charset="-122"/>
                </a:rPr>
                <a:t>用时通常只在不动点      的邻近考察其收敛性，即局部收</a:t>
              </a:r>
            </a:p>
            <a:p>
              <a:pPr>
                <a:lnSpc>
                  <a:spcPct val="130000"/>
                </a:lnSpc>
              </a:pPr>
              <a:r>
                <a:rPr kumimoji="1" lang="zh-CN" altLang="en-US" sz="2400" dirty="0">
                  <a:latin typeface="楷体_GB2312" pitchFamily="49" charset="-122"/>
                  <a:ea typeface="楷体_GB2312" pitchFamily="49" charset="-122"/>
                </a:rPr>
                <a:t>敛性</a:t>
              </a:r>
              <a:r>
                <a:rPr kumimoji="1" lang="en-US" altLang="zh-CN" sz="2400" dirty="0"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  <p:pic>
          <p:nvPicPr>
            <p:cNvPr id="15365" name="Picture 5">
              <a:extLst>
                <a:ext uri="{FF2B5EF4-FFF2-40B4-BE49-F238E27FC236}">
                  <a16:creationId xmlns:a16="http://schemas.microsoft.com/office/drawing/2014/main" id="{82F54694-1131-4E16-8173-18B3325598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7" y="771"/>
              <a:ext cx="410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5366" name="Picture 6">
              <a:extLst>
                <a:ext uri="{FF2B5EF4-FFF2-40B4-BE49-F238E27FC236}">
                  <a16:creationId xmlns:a16="http://schemas.microsoft.com/office/drawing/2014/main" id="{24AA8ACE-9DF7-47CF-A54A-00719EA2FD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5" y="779"/>
              <a:ext cx="481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5367" name="Picture 7">
              <a:extLst>
                <a:ext uri="{FF2B5EF4-FFF2-40B4-BE49-F238E27FC236}">
                  <a16:creationId xmlns:a16="http://schemas.microsoft.com/office/drawing/2014/main" id="{36214DC8-94F5-468B-A762-9C603D4402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9" y="1370"/>
              <a:ext cx="304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15391" name="Group 31">
            <a:extLst>
              <a:ext uri="{FF2B5EF4-FFF2-40B4-BE49-F238E27FC236}">
                <a16:creationId xmlns:a16="http://schemas.microsoft.com/office/drawing/2014/main" id="{CACCDCB3-4092-4941-B209-6AC30CD50779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390900"/>
            <a:ext cx="8191503" cy="1563688"/>
            <a:chOff x="295" y="2136"/>
            <a:chExt cx="5160" cy="985"/>
          </a:xfrm>
        </p:grpSpPr>
        <p:sp>
          <p:nvSpPr>
            <p:cNvPr id="15369" name="Text Box 9">
              <a:extLst>
                <a:ext uri="{FF2B5EF4-FFF2-40B4-BE49-F238E27FC236}">
                  <a16:creationId xmlns:a16="http://schemas.microsoft.com/office/drawing/2014/main" id="{3005578A-1136-46A5-AC48-F175266B92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136"/>
              <a:ext cx="5160" cy="9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kumimoji="1" lang="en-US" altLang="zh-CN" sz="2400" dirty="0"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kumimoji="1" lang="zh-CN" altLang="en-US" sz="2400" b="1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定义</a:t>
              </a:r>
              <a:r>
                <a:rPr kumimoji="1" lang="en-US" altLang="zh-CN" sz="2400" b="1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      </a:t>
              </a:r>
              <a:r>
                <a:rPr kumimoji="1" lang="zh-CN" altLang="en-US" sz="2400" dirty="0">
                  <a:latin typeface="楷体_GB2312" pitchFamily="49" charset="-122"/>
                  <a:ea typeface="楷体_GB2312" pitchFamily="49" charset="-122"/>
                </a:rPr>
                <a:t>设         有不动点     ，如果存在     的某个邻域，</a:t>
              </a:r>
              <a:endParaRPr kumimoji="1" lang="en-US" altLang="zh-CN" sz="2400" dirty="0">
                <a:latin typeface="楷体_GB2312" pitchFamily="49" charset="-122"/>
                <a:ea typeface="楷体_GB2312" pitchFamily="49" charset="-122"/>
              </a:endParaRPr>
            </a:p>
            <a:p>
              <a:pPr>
                <a:lnSpc>
                  <a:spcPct val="135000"/>
                </a:lnSpc>
              </a:pPr>
              <a:r>
                <a:rPr lang="en-US" altLang="zh-CN" dirty="0"/>
                <a:t>                </a:t>
              </a:r>
              <a:r>
                <a:rPr kumimoji="1" lang="zh-CN" altLang="en-US" sz="2400" dirty="0">
                  <a:latin typeface="楷体_GB2312" pitchFamily="49" charset="-122"/>
                  <a:ea typeface="楷体_GB2312" pitchFamily="49" charset="-122"/>
                </a:rPr>
                <a:t>       对任意           ，迭代过程产生的序列 </a:t>
              </a:r>
            </a:p>
            <a:p>
              <a:pPr>
                <a:lnSpc>
                  <a:spcPct val="135000"/>
                </a:lnSpc>
              </a:pPr>
              <a:r>
                <a:rPr kumimoji="1" lang="zh-CN" altLang="en-US" sz="2400" dirty="0">
                  <a:latin typeface="楷体_GB2312" pitchFamily="49" charset="-122"/>
                  <a:ea typeface="楷体_GB2312" pitchFamily="49" charset="-122"/>
                </a:rPr>
                <a:t>             ，都收敛到      ，则称</a:t>
              </a:r>
              <a:r>
                <a:rPr lang="zh-CN" altLang="en-US" dirty="0"/>
                <a:t>该迭代过程</a:t>
              </a:r>
              <a:r>
                <a:rPr kumimoji="1" lang="zh-CN" altLang="en-US" sz="2400" b="1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局部收敛</a:t>
              </a:r>
              <a:r>
                <a:rPr kumimoji="1" lang="en-US" altLang="zh-CN" sz="2400" dirty="0">
                  <a:latin typeface="楷体_GB2312" pitchFamily="49" charset="-122"/>
                  <a:ea typeface="楷体_GB2312" pitchFamily="49" charset="-122"/>
                </a:rPr>
                <a:t>.</a:t>
              </a:r>
            </a:p>
          </p:txBody>
        </p:sp>
        <p:pic>
          <p:nvPicPr>
            <p:cNvPr id="15370" name="Picture 10">
              <a:extLst>
                <a:ext uri="{FF2B5EF4-FFF2-40B4-BE49-F238E27FC236}">
                  <a16:creationId xmlns:a16="http://schemas.microsoft.com/office/drawing/2014/main" id="{F084EEA0-F818-4169-A5B0-2A6276EBE2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7" y="2224"/>
              <a:ext cx="4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5371" name="Picture 11">
              <a:extLst>
                <a:ext uri="{FF2B5EF4-FFF2-40B4-BE49-F238E27FC236}">
                  <a16:creationId xmlns:a16="http://schemas.microsoft.com/office/drawing/2014/main" id="{03E7589B-0A59-44F7-BFED-BEEB667A90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8" y="2237"/>
              <a:ext cx="285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5372" name="Picture 12">
              <a:extLst>
                <a:ext uri="{FF2B5EF4-FFF2-40B4-BE49-F238E27FC236}">
                  <a16:creationId xmlns:a16="http://schemas.microsoft.com/office/drawing/2014/main" id="{39A9822F-20CE-40CF-B5B8-45592B0FC0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2" y="2237"/>
              <a:ext cx="285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5373" name="Picture 13">
              <a:extLst>
                <a:ext uri="{FF2B5EF4-FFF2-40B4-BE49-F238E27FC236}">
                  <a16:creationId xmlns:a16="http://schemas.microsoft.com/office/drawing/2014/main" id="{7DD4C841-7BEE-42B5-96A3-163D4696E5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" y="2554"/>
              <a:ext cx="1247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5374" name="Picture 14">
              <a:extLst>
                <a:ext uri="{FF2B5EF4-FFF2-40B4-BE49-F238E27FC236}">
                  <a16:creationId xmlns:a16="http://schemas.microsoft.com/office/drawing/2014/main" id="{951868D6-6C8C-47A6-8759-2548837332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9" y="2525"/>
              <a:ext cx="606" cy="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5375" name="Picture 15">
              <a:extLst>
                <a:ext uri="{FF2B5EF4-FFF2-40B4-BE49-F238E27FC236}">
                  <a16:creationId xmlns:a16="http://schemas.microsoft.com/office/drawing/2014/main" id="{1934D45D-7CF2-42CA-A1F7-EF630FB96D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" y="2886"/>
              <a:ext cx="767" cy="2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5376" name="Picture 16">
              <a:extLst>
                <a:ext uri="{FF2B5EF4-FFF2-40B4-BE49-F238E27FC236}">
                  <a16:creationId xmlns:a16="http://schemas.microsoft.com/office/drawing/2014/main" id="{8FADDC1D-0302-40B5-9903-312260AF28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4" y="2886"/>
              <a:ext cx="285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Text Box 5">
            <a:extLst>
              <a:ext uri="{FF2B5EF4-FFF2-40B4-BE49-F238E27FC236}">
                <a16:creationId xmlns:a16="http://schemas.microsoft.com/office/drawing/2014/main" id="{8BF5DA22-FCD5-444F-9265-FCF2136F7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04813"/>
            <a:ext cx="8063426" cy="1070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kumimoji="1" lang="zh-CN" altLang="en-US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r>
              <a:rPr kumimoji="1" lang="en-US" altLang="zh-CN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2         </a:t>
            </a:r>
            <a:r>
              <a:rPr kumimoji="1" lang="zh-CN" altLang="en-US" sz="2400" dirty="0">
                <a:latin typeface="楷体_GB2312" pitchFamily="49" charset="-122"/>
                <a:ea typeface="楷体_GB2312" pitchFamily="49" charset="-122"/>
              </a:rPr>
              <a:t>设      为         的不动点，       在      的某个邻</a:t>
            </a:r>
          </a:p>
          <a:p>
            <a:pPr>
              <a:lnSpc>
                <a:spcPct val="140000"/>
              </a:lnSpc>
            </a:pPr>
            <a:r>
              <a:rPr kumimoji="1" lang="zh-CN" altLang="en-US" sz="2400" dirty="0">
                <a:latin typeface="楷体_GB2312" pitchFamily="49" charset="-122"/>
                <a:ea typeface="楷体_GB2312" pitchFamily="49" charset="-122"/>
              </a:rPr>
              <a:t>域连续，且                ，则迭代过程局部收敛</a:t>
            </a:r>
            <a:r>
              <a:rPr kumimoji="1" lang="en-US" altLang="zh-CN" sz="2400" dirty="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pSp>
        <p:nvGrpSpPr>
          <p:cNvPr id="52241" name="Group 17">
            <a:extLst>
              <a:ext uri="{FF2B5EF4-FFF2-40B4-BE49-F238E27FC236}">
                <a16:creationId xmlns:a16="http://schemas.microsoft.com/office/drawing/2014/main" id="{90A57855-A9E1-4276-883A-B889610B62DA}"/>
              </a:ext>
            </a:extLst>
          </p:cNvPr>
          <p:cNvGrpSpPr>
            <a:grpSpLocks/>
          </p:cNvGrpSpPr>
          <p:nvPr/>
        </p:nvGrpSpPr>
        <p:grpSpPr bwMode="auto">
          <a:xfrm>
            <a:off x="1848643" y="571501"/>
            <a:ext cx="4906963" cy="922337"/>
            <a:chOff x="1202" y="391"/>
            <a:chExt cx="3091" cy="581"/>
          </a:xfrm>
        </p:grpSpPr>
        <p:pic>
          <p:nvPicPr>
            <p:cNvPr id="52230" name="Picture 6">
              <a:extLst>
                <a:ext uri="{FF2B5EF4-FFF2-40B4-BE49-F238E27FC236}">
                  <a16:creationId xmlns:a16="http://schemas.microsoft.com/office/drawing/2014/main" id="{EB8F5A83-496A-4E52-9CF3-9A88F9376A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4" y="391"/>
              <a:ext cx="285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52231" name="Picture 7">
              <a:extLst>
                <a:ext uri="{FF2B5EF4-FFF2-40B4-BE49-F238E27FC236}">
                  <a16:creationId xmlns:a16="http://schemas.microsoft.com/office/drawing/2014/main" id="{FC8DC763-169A-4091-9E7F-2832977B28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3" y="391"/>
              <a:ext cx="462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52232" name="Picture 8">
              <a:extLst>
                <a:ext uri="{FF2B5EF4-FFF2-40B4-BE49-F238E27FC236}">
                  <a16:creationId xmlns:a16="http://schemas.microsoft.com/office/drawing/2014/main" id="{D31F6E18-ADFE-4420-994A-AFE9C11178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8" y="394"/>
              <a:ext cx="49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52233" name="Picture 9">
              <a:extLst>
                <a:ext uri="{FF2B5EF4-FFF2-40B4-BE49-F238E27FC236}">
                  <a16:creationId xmlns:a16="http://schemas.microsoft.com/office/drawing/2014/main" id="{DC3BCCBF-E547-4724-B18D-E7B689937E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08" y="394"/>
              <a:ext cx="285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52234" name="Picture 10">
              <a:extLst>
                <a:ext uri="{FF2B5EF4-FFF2-40B4-BE49-F238E27FC236}">
                  <a16:creationId xmlns:a16="http://schemas.microsoft.com/office/drawing/2014/main" id="{99EC350B-7256-4422-BFE1-A18A271A78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2" y="709"/>
              <a:ext cx="924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52242" name="Group 18">
            <a:extLst>
              <a:ext uri="{FF2B5EF4-FFF2-40B4-BE49-F238E27FC236}">
                <a16:creationId xmlns:a16="http://schemas.microsoft.com/office/drawing/2014/main" id="{8AF3D7DE-D9C8-4DDF-B8D3-27C62C0F583A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1700214"/>
            <a:ext cx="7369176" cy="1065213"/>
            <a:chOff x="204" y="1071"/>
            <a:chExt cx="4642" cy="671"/>
          </a:xfrm>
        </p:grpSpPr>
        <p:sp>
          <p:nvSpPr>
            <p:cNvPr id="52236" name="Text Box 12">
              <a:extLst>
                <a:ext uri="{FF2B5EF4-FFF2-40B4-BE49-F238E27FC236}">
                  <a16:creationId xmlns:a16="http://schemas.microsoft.com/office/drawing/2014/main" id="{A19ABA53-9374-491B-A5A1-15B7C0F84D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1071"/>
              <a:ext cx="4642" cy="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kumimoji="1" lang="en-US" altLang="zh-CN" sz="2400" dirty="0">
                  <a:latin typeface="楷体_GB2312" pitchFamily="49" charset="-122"/>
                  <a:ea typeface="楷体_GB2312" pitchFamily="49" charset="-122"/>
                </a:rPr>
                <a:t>    </a:t>
              </a:r>
              <a:r>
                <a:rPr kumimoji="1" lang="zh-CN" altLang="en-US" sz="2400" b="1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证明  </a:t>
              </a:r>
              <a:r>
                <a:rPr kumimoji="1" lang="zh-CN" altLang="en-US" sz="2400" dirty="0">
                  <a:latin typeface="楷体_GB2312" pitchFamily="49" charset="-122"/>
                  <a:ea typeface="楷体_GB2312" pitchFamily="49" charset="-122"/>
                </a:rPr>
                <a:t>由连续函数的性质，存在      的某个邻域      </a:t>
              </a:r>
            </a:p>
            <a:p>
              <a:pPr>
                <a:lnSpc>
                  <a:spcPct val="135000"/>
                </a:lnSpc>
              </a:pPr>
              <a:r>
                <a:rPr kumimoji="1" lang="zh-CN" altLang="en-US" sz="2400" dirty="0">
                  <a:latin typeface="楷体_GB2312" pitchFamily="49" charset="-122"/>
                  <a:ea typeface="楷体_GB2312" pitchFamily="49" charset="-122"/>
                </a:rPr>
                <a:t>                      ，使对于任意          成立 </a:t>
              </a:r>
            </a:p>
          </p:txBody>
        </p:sp>
        <p:pic>
          <p:nvPicPr>
            <p:cNvPr id="52237" name="Picture 13">
              <a:extLst>
                <a:ext uri="{FF2B5EF4-FFF2-40B4-BE49-F238E27FC236}">
                  <a16:creationId xmlns:a16="http://schemas.microsoft.com/office/drawing/2014/main" id="{1F5C1465-76BE-46B5-B7BF-E22363C15D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8" y="1178"/>
              <a:ext cx="285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52238" name="Picture 14">
              <a:extLst>
                <a:ext uri="{FF2B5EF4-FFF2-40B4-BE49-F238E27FC236}">
                  <a16:creationId xmlns:a16="http://schemas.microsoft.com/office/drawing/2014/main" id="{D2019A58-CD5C-4055-B754-B51C8BBF64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" y="1480"/>
              <a:ext cx="1247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52239" name="Picture 15">
              <a:extLst>
                <a:ext uri="{FF2B5EF4-FFF2-40B4-BE49-F238E27FC236}">
                  <a16:creationId xmlns:a16="http://schemas.microsoft.com/office/drawing/2014/main" id="{5964D691-8D60-48C6-8199-E842B94FCB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3" y="1480"/>
              <a:ext cx="517" cy="1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pic>
        <p:nvPicPr>
          <p:cNvPr id="52240" name="Picture 16">
            <a:extLst>
              <a:ext uri="{FF2B5EF4-FFF2-40B4-BE49-F238E27FC236}">
                <a16:creationId xmlns:a16="http://schemas.microsoft.com/office/drawing/2014/main" id="{D4CB2CD8-10C4-4095-BA2D-A96AED3A91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2852738"/>
            <a:ext cx="2305050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52243" name="Group 19">
            <a:extLst>
              <a:ext uri="{FF2B5EF4-FFF2-40B4-BE49-F238E27FC236}">
                <a16:creationId xmlns:a16="http://schemas.microsoft.com/office/drawing/2014/main" id="{FD6ADB9B-84CF-47B9-9AE0-5DF0DF50DE67}"/>
              </a:ext>
            </a:extLst>
          </p:cNvPr>
          <p:cNvGrpSpPr>
            <a:grpSpLocks/>
          </p:cNvGrpSpPr>
          <p:nvPr/>
        </p:nvGrpSpPr>
        <p:grpSpPr bwMode="auto">
          <a:xfrm>
            <a:off x="504825" y="3416300"/>
            <a:ext cx="6994527" cy="581025"/>
            <a:chOff x="384" y="737"/>
            <a:chExt cx="4406" cy="366"/>
          </a:xfrm>
        </p:grpSpPr>
        <p:sp>
          <p:nvSpPr>
            <p:cNvPr id="52244" name="Text Box 20">
              <a:extLst>
                <a:ext uri="{FF2B5EF4-FFF2-40B4-BE49-F238E27FC236}">
                  <a16:creationId xmlns:a16="http://schemas.microsoft.com/office/drawing/2014/main" id="{40B66E6E-EBEB-4585-83C6-00FB037D56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737"/>
              <a:ext cx="4406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400" dirty="0">
                  <a:latin typeface="楷体_GB2312" pitchFamily="49" charset="-122"/>
                  <a:ea typeface="楷体_GB2312" pitchFamily="49" charset="-122"/>
                </a:rPr>
                <a:t>此外，对于任意         ，总有              ，这是因为 </a:t>
              </a:r>
            </a:p>
          </p:txBody>
        </p:sp>
        <p:pic>
          <p:nvPicPr>
            <p:cNvPr id="52245" name="Picture 21">
              <a:extLst>
                <a:ext uri="{FF2B5EF4-FFF2-40B4-BE49-F238E27FC236}">
                  <a16:creationId xmlns:a16="http://schemas.microsoft.com/office/drawing/2014/main" id="{8C4199DF-1BAA-4F47-B6AF-4452CEF512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7" y="854"/>
              <a:ext cx="51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52246" name="Picture 22">
              <a:extLst>
                <a:ext uri="{FF2B5EF4-FFF2-40B4-BE49-F238E27FC236}">
                  <a16:creationId xmlns:a16="http://schemas.microsoft.com/office/drawing/2014/main" id="{937AAAA2-8F8B-4229-9174-2169826CF1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8" y="850"/>
              <a:ext cx="802" cy="2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pic>
        <p:nvPicPr>
          <p:cNvPr id="52247" name="Picture 23">
            <a:extLst>
              <a:ext uri="{FF2B5EF4-FFF2-40B4-BE49-F238E27FC236}">
                <a16:creationId xmlns:a16="http://schemas.microsoft.com/office/drawing/2014/main" id="{ADC86FCC-77DB-492A-9535-238797997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4005263"/>
            <a:ext cx="6397625" cy="41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52253" name="Group 29">
            <a:extLst>
              <a:ext uri="{FF2B5EF4-FFF2-40B4-BE49-F238E27FC236}">
                <a16:creationId xmlns:a16="http://schemas.microsoft.com/office/drawing/2014/main" id="{523A07AE-56E6-422E-8C7C-F1ACDA2BBC9C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4508501"/>
            <a:ext cx="7985127" cy="1541463"/>
            <a:chOff x="340" y="2840"/>
            <a:chExt cx="5030" cy="971"/>
          </a:xfrm>
        </p:grpSpPr>
        <p:sp>
          <p:nvSpPr>
            <p:cNvPr id="52249" name="Text Box 25">
              <a:extLst>
                <a:ext uri="{FF2B5EF4-FFF2-40B4-BE49-F238E27FC236}">
                  <a16:creationId xmlns:a16="http://schemas.microsoft.com/office/drawing/2014/main" id="{4FEC83ED-FB8B-40F2-B3AA-C511BE4C9F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2840"/>
              <a:ext cx="5030" cy="9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zh-CN" altLang="en-US" sz="2400" dirty="0">
                  <a:latin typeface="楷体_GB2312" pitchFamily="49" charset="-122"/>
                  <a:ea typeface="楷体_GB2312" pitchFamily="49" charset="-122"/>
                </a:rPr>
                <a:t>于是依据压缩映像原理可以断定迭代过程                  对于</a:t>
              </a:r>
              <a:endParaRPr kumimoji="1" lang="en-US" altLang="zh-CN" sz="2400" dirty="0">
                <a:latin typeface="楷体_GB2312" pitchFamily="49" charset="-122"/>
                <a:ea typeface="楷体_GB2312" pitchFamily="49" charset="-122"/>
              </a:endParaRPr>
            </a:p>
            <a:p>
              <a:pPr>
                <a:lnSpc>
                  <a:spcPct val="130000"/>
                </a:lnSpc>
              </a:pPr>
              <a:r>
                <a:rPr kumimoji="1" lang="zh-CN" altLang="en-US" sz="2400" dirty="0">
                  <a:latin typeface="楷体_GB2312" pitchFamily="49" charset="-122"/>
                  <a:ea typeface="楷体_GB2312" pitchFamily="49" charset="-122"/>
                </a:rPr>
                <a:t>任意初值           均收敛</a:t>
              </a:r>
              <a:r>
                <a:rPr kumimoji="1" lang="en-US" altLang="zh-CN" sz="2400" dirty="0">
                  <a:latin typeface="楷体_GB2312" pitchFamily="49" charset="-122"/>
                  <a:ea typeface="楷体_GB2312" pitchFamily="49" charset="-122"/>
                </a:rPr>
                <a:t>.           </a:t>
              </a:r>
            </a:p>
            <a:p>
              <a:r>
                <a:rPr kumimoji="1" lang="en-US" altLang="zh-CN" sz="2400" dirty="0">
                  <a:latin typeface="楷体_GB2312" pitchFamily="49" charset="-122"/>
                  <a:ea typeface="楷体_GB2312" pitchFamily="49" charset="-122"/>
                </a:rPr>
                <a:t>                                             </a:t>
              </a:r>
            </a:p>
          </p:txBody>
        </p:sp>
        <p:pic>
          <p:nvPicPr>
            <p:cNvPr id="52250" name="Picture 26">
              <a:extLst>
                <a:ext uri="{FF2B5EF4-FFF2-40B4-BE49-F238E27FC236}">
                  <a16:creationId xmlns:a16="http://schemas.microsoft.com/office/drawing/2014/main" id="{1ACCE7A7-5657-46C2-A68A-D4CFC0BEE1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33" y="2919"/>
              <a:ext cx="1069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52251" name="Picture 27">
              <a:extLst>
                <a:ext uri="{FF2B5EF4-FFF2-40B4-BE49-F238E27FC236}">
                  <a16:creationId xmlns:a16="http://schemas.microsoft.com/office/drawing/2014/main" id="{C5A7B05E-3C91-4DD0-B58A-131F9F4123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4" y="3190"/>
              <a:ext cx="606" cy="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52254" name="Rectangle 30">
            <a:extLst>
              <a:ext uri="{FF2B5EF4-FFF2-40B4-BE49-F238E27FC236}">
                <a16:creationId xmlns:a16="http://schemas.microsoft.com/office/drawing/2014/main" id="{DD2631E3-0EFB-48B5-A7AC-89B21A5FC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5949950"/>
            <a:ext cx="877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400"/>
              <a:t>证毕</a:t>
            </a:r>
            <a:r>
              <a:rPr kumimoji="1" lang="en-US" altLang="zh-CN" sz="2400"/>
              <a:t>.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2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2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2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2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52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13" name="Group 29">
            <a:extLst>
              <a:ext uri="{FF2B5EF4-FFF2-40B4-BE49-F238E27FC236}">
                <a16:creationId xmlns:a16="http://schemas.microsoft.com/office/drawing/2014/main" id="{602F583F-45C0-4950-A588-6403EF81298F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1926407"/>
            <a:ext cx="8261350" cy="1135063"/>
            <a:chOff x="249" y="1207"/>
            <a:chExt cx="5204" cy="715"/>
          </a:xfrm>
        </p:grpSpPr>
        <p:sp>
          <p:nvSpPr>
            <p:cNvPr id="16401" name="Text Box 17">
              <a:extLst>
                <a:ext uri="{FF2B5EF4-FFF2-40B4-BE49-F238E27FC236}">
                  <a16:creationId xmlns:a16="http://schemas.microsoft.com/office/drawing/2014/main" id="{39F6D18B-877E-4EB2-A6EE-46DD64247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1207"/>
              <a:ext cx="5204" cy="7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en-US" altLang="zh-CN" sz="2400" dirty="0">
                  <a:latin typeface="楷体_GB2312" pitchFamily="49" charset="-122"/>
                  <a:ea typeface="楷体_GB2312" pitchFamily="49" charset="-122"/>
                </a:rPr>
                <a:t>    </a:t>
              </a:r>
              <a:r>
                <a:rPr kumimoji="1" lang="zh-CN" altLang="en-US" sz="2400" b="1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解  </a:t>
              </a:r>
              <a:r>
                <a:rPr kumimoji="1" lang="zh-CN" altLang="en-US" sz="2400" dirty="0">
                  <a:latin typeface="楷体_GB2312" pitchFamily="49" charset="-122"/>
                  <a:ea typeface="楷体_GB2312" pitchFamily="49" charset="-122"/>
                </a:rPr>
                <a:t>这里                    ，可改写为各种不同的等价形</a:t>
              </a:r>
            </a:p>
            <a:p>
              <a:pPr>
                <a:lnSpc>
                  <a:spcPct val="150000"/>
                </a:lnSpc>
              </a:pPr>
              <a:r>
                <a:rPr kumimoji="1" lang="zh-CN" altLang="en-US" sz="2400" dirty="0">
                  <a:latin typeface="楷体_GB2312" pitchFamily="49" charset="-122"/>
                  <a:ea typeface="楷体_GB2312" pitchFamily="49" charset="-122"/>
                </a:rPr>
                <a:t>式              ，其不动点为             由此构造不同的迭代法：</a:t>
              </a:r>
            </a:p>
          </p:txBody>
        </p:sp>
        <p:pic>
          <p:nvPicPr>
            <p:cNvPr id="16402" name="Picture 18">
              <a:extLst>
                <a:ext uri="{FF2B5EF4-FFF2-40B4-BE49-F238E27FC236}">
                  <a16:creationId xmlns:a16="http://schemas.microsoft.com/office/drawing/2014/main" id="{6F8D564C-3105-4FF4-B956-72AD9F9CF5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9" y="1266"/>
              <a:ext cx="1177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6403" name="Picture 19">
              <a:extLst>
                <a:ext uri="{FF2B5EF4-FFF2-40B4-BE49-F238E27FC236}">
                  <a16:creationId xmlns:a16="http://schemas.microsoft.com/office/drawing/2014/main" id="{AE615D7B-6D3F-40AB-9981-1935D7D788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" y="1706"/>
              <a:ext cx="784" cy="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6404" name="Picture 20">
              <a:extLst>
                <a:ext uri="{FF2B5EF4-FFF2-40B4-BE49-F238E27FC236}">
                  <a16:creationId xmlns:a16="http://schemas.microsoft.com/office/drawing/2014/main" id="{6BC2766D-A7E7-4E5C-A30D-39BF7B4E10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6" y="1668"/>
              <a:ext cx="766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pic>
        <p:nvPicPr>
          <p:cNvPr id="16405" name="Picture 21">
            <a:extLst>
              <a:ext uri="{FF2B5EF4-FFF2-40B4-BE49-F238E27FC236}">
                <a16:creationId xmlns:a16="http://schemas.microsoft.com/office/drawing/2014/main" id="{4ECE021E-225D-47B8-A3B8-473164A44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475" y="3860800"/>
            <a:ext cx="6022975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6412" name="Group 28">
            <a:extLst>
              <a:ext uri="{FF2B5EF4-FFF2-40B4-BE49-F238E27FC236}">
                <a16:creationId xmlns:a16="http://schemas.microsoft.com/office/drawing/2014/main" id="{B742D4E8-B78C-4C05-A821-EDB6353994B0}"/>
              </a:ext>
            </a:extLst>
          </p:cNvPr>
          <p:cNvGrpSpPr>
            <a:grpSpLocks/>
          </p:cNvGrpSpPr>
          <p:nvPr/>
        </p:nvGrpSpPr>
        <p:grpSpPr bwMode="auto">
          <a:xfrm>
            <a:off x="0" y="765175"/>
            <a:ext cx="7278688" cy="1033463"/>
            <a:chOff x="0" y="482"/>
            <a:chExt cx="4585" cy="651"/>
          </a:xfrm>
        </p:grpSpPr>
        <p:sp>
          <p:nvSpPr>
            <p:cNvPr id="16397" name="Text Box 13">
              <a:extLst>
                <a:ext uri="{FF2B5EF4-FFF2-40B4-BE49-F238E27FC236}">
                  <a16:creationId xmlns:a16="http://schemas.microsoft.com/office/drawing/2014/main" id="{58834B91-E9DD-4ACA-ACA2-C2609DD782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82"/>
              <a:ext cx="4436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dirty="0">
                  <a:latin typeface="楷体_GB2312" pitchFamily="49" charset="-122"/>
                  <a:ea typeface="楷体_GB2312" pitchFamily="49" charset="-122"/>
                </a:rPr>
                <a:t>    </a:t>
              </a:r>
              <a:r>
                <a:rPr kumimoji="1" lang="zh-CN" altLang="en-US" sz="2400" b="1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例</a:t>
              </a:r>
              <a:r>
                <a:rPr kumimoji="1" lang="en-US" altLang="zh-CN" sz="2400" b="1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       </a:t>
              </a:r>
              <a:r>
                <a:rPr kumimoji="1" lang="zh-CN" altLang="en-US" sz="2400" dirty="0">
                  <a:latin typeface="楷体_GB2312" pitchFamily="49" charset="-122"/>
                  <a:ea typeface="楷体_GB2312" pitchFamily="49" charset="-122"/>
                </a:rPr>
                <a:t>用不同方法求方程                 的根          </a:t>
              </a:r>
            </a:p>
          </p:txBody>
        </p:sp>
        <p:pic>
          <p:nvPicPr>
            <p:cNvPr id="16398" name="Picture 14">
              <a:extLst>
                <a:ext uri="{FF2B5EF4-FFF2-40B4-BE49-F238E27FC236}">
                  <a16:creationId xmlns:a16="http://schemas.microsoft.com/office/drawing/2014/main" id="{A3B6162E-0C80-45A6-B722-3AC3EF6CC3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3" y="568"/>
              <a:ext cx="874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6399" name="Picture 15">
              <a:extLst>
                <a:ext uri="{FF2B5EF4-FFF2-40B4-BE49-F238E27FC236}">
                  <a16:creationId xmlns:a16="http://schemas.microsoft.com/office/drawing/2014/main" id="{FCAD0AC2-F0D8-4C19-994E-232A31E6B2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9" y="572"/>
              <a:ext cx="766" cy="2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6406" name="Text Box 22">
              <a:extLst>
                <a:ext uri="{FF2B5EF4-FFF2-40B4-BE49-F238E27FC236}">
                  <a16:creationId xmlns:a16="http://schemas.microsoft.com/office/drawing/2014/main" id="{C782FDC8-42BA-40B9-BA17-F9788B23A3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845"/>
              <a:ext cx="28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latin typeface="楷体_GB2312" pitchFamily="49" charset="-122"/>
                  <a:ea typeface="楷体_GB2312" pitchFamily="49" charset="-122"/>
                </a:rPr>
                <a:t>    </a:t>
              </a:r>
              <a:r>
                <a:rPr kumimoji="1" lang="zh-CN" altLang="en-US" sz="2400">
                  <a:latin typeface="楷体_GB2312" pitchFamily="49" charset="-122"/>
                  <a:ea typeface="楷体_GB2312" pitchFamily="49" charset="-122"/>
                </a:rPr>
                <a:t>讨论迭代序列的收敛速度</a:t>
              </a:r>
              <a:r>
                <a:rPr kumimoji="1" lang="en-US" altLang="zh-CN" sz="2400">
                  <a:latin typeface="楷体_GB2312" pitchFamily="49" charset="-122"/>
                  <a:ea typeface="楷体_GB2312" pitchFamily="49" charset="-122"/>
                </a:rPr>
                <a:t>. </a:t>
              </a:r>
            </a:p>
          </p:txBody>
        </p:sp>
      </p:grpSp>
      <p:pic>
        <p:nvPicPr>
          <p:cNvPr id="16408" name="Picture 24">
            <a:extLst>
              <a:ext uri="{FF2B5EF4-FFF2-40B4-BE49-F238E27FC236}">
                <a16:creationId xmlns:a16="http://schemas.microsoft.com/office/drawing/2014/main" id="{9AE92F9D-C051-4AC5-ADFA-AD8780F2C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3284538"/>
            <a:ext cx="4773612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409" name="Picture 25">
            <a:extLst>
              <a:ext uri="{FF2B5EF4-FFF2-40B4-BE49-F238E27FC236}">
                <a16:creationId xmlns:a16="http://schemas.microsoft.com/office/drawing/2014/main" id="{A8EEE87D-5B63-4B0C-BBEB-4D7C9602B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5300663"/>
            <a:ext cx="4608513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411" name="Picture 27">
            <a:extLst>
              <a:ext uri="{FF2B5EF4-FFF2-40B4-BE49-F238E27FC236}">
                <a16:creationId xmlns:a16="http://schemas.microsoft.com/office/drawing/2014/main" id="{D777ECAD-76B7-4255-A9C0-A2E1BE863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4508500"/>
            <a:ext cx="4032250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67EA8035-77CC-4385-A52C-E9D1CB82E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268413"/>
            <a:ext cx="5797550" cy="79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7411" name="Picture 3">
            <a:extLst>
              <a:ext uri="{FF2B5EF4-FFF2-40B4-BE49-F238E27FC236}">
                <a16:creationId xmlns:a16="http://schemas.microsoft.com/office/drawing/2014/main" id="{81C81C04-8DA6-4031-8CB2-1FD4B6DB1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3068638"/>
            <a:ext cx="5514975" cy="719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7412" name="Group 4">
            <a:extLst>
              <a:ext uri="{FF2B5EF4-FFF2-40B4-BE49-F238E27FC236}">
                <a16:creationId xmlns:a16="http://schemas.microsoft.com/office/drawing/2014/main" id="{8179B33D-2DCC-42FB-B52C-018B7737123C}"/>
              </a:ext>
            </a:extLst>
          </p:cNvPr>
          <p:cNvGrpSpPr>
            <a:grpSpLocks/>
          </p:cNvGrpSpPr>
          <p:nvPr/>
        </p:nvGrpSpPr>
        <p:grpSpPr bwMode="auto">
          <a:xfrm>
            <a:off x="649288" y="3930650"/>
            <a:ext cx="8329614" cy="581025"/>
            <a:chOff x="374" y="3299"/>
            <a:chExt cx="5247" cy="366"/>
          </a:xfrm>
        </p:grpSpPr>
        <p:sp>
          <p:nvSpPr>
            <p:cNvPr id="17413" name="Text Box 5">
              <a:extLst>
                <a:ext uri="{FF2B5EF4-FFF2-40B4-BE49-F238E27FC236}">
                  <a16:creationId xmlns:a16="http://schemas.microsoft.com/office/drawing/2014/main" id="{653C0000-7696-4728-9403-AAC663F3A7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" y="3299"/>
              <a:ext cx="5247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400" dirty="0">
                  <a:latin typeface="楷体_GB2312" pitchFamily="49" charset="-122"/>
                  <a:ea typeface="楷体_GB2312" pitchFamily="49" charset="-122"/>
                </a:rPr>
                <a:t>取           ，对上述</a:t>
              </a:r>
              <a:r>
                <a:rPr kumimoji="1" lang="en-US" altLang="zh-CN" sz="2400" dirty="0">
                  <a:latin typeface="楷体_GB2312" pitchFamily="49" charset="-122"/>
                  <a:ea typeface="楷体_GB2312" pitchFamily="49" charset="-122"/>
                </a:rPr>
                <a:t>4</a:t>
              </a:r>
              <a:r>
                <a:rPr kumimoji="1" lang="zh-CN" altLang="en-US" sz="2400" dirty="0">
                  <a:latin typeface="楷体_GB2312" pitchFamily="49" charset="-122"/>
                  <a:ea typeface="楷体_GB2312" pitchFamily="49" charset="-122"/>
                </a:rPr>
                <a:t>种迭代法，计算三步所得的结果如下表</a:t>
              </a:r>
              <a:r>
                <a:rPr kumimoji="1" lang="en-US" altLang="zh-CN" sz="2400" dirty="0">
                  <a:latin typeface="楷体_GB2312" pitchFamily="49" charset="-122"/>
                  <a:ea typeface="楷体_GB2312" pitchFamily="49" charset="-122"/>
                </a:rPr>
                <a:t>. </a:t>
              </a:r>
            </a:p>
          </p:txBody>
        </p:sp>
        <p:pic>
          <p:nvPicPr>
            <p:cNvPr id="17414" name="Picture 6">
              <a:extLst>
                <a:ext uri="{FF2B5EF4-FFF2-40B4-BE49-F238E27FC236}">
                  <a16:creationId xmlns:a16="http://schemas.microsoft.com/office/drawing/2014/main" id="{3BADF48B-24BB-4BAF-A50D-6E4063E39D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" y="3415"/>
              <a:ext cx="572" cy="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pic>
        <p:nvPicPr>
          <p:cNvPr id="17418" name="Picture 10">
            <a:extLst>
              <a:ext uri="{FF2B5EF4-FFF2-40B4-BE49-F238E27FC236}">
                <a16:creationId xmlns:a16="http://schemas.microsoft.com/office/drawing/2014/main" id="{53F6F5A3-08E0-44AE-9475-62AA74C12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133600"/>
            <a:ext cx="5014912" cy="79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9" name="Picture 11">
            <a:extLst>
              <a:ext uri="{FF2B5EF4-FFF2-40B4-BE49-F238E27FC236}">
                <a16:creationId xmlns:a16="http://schemas.microsoft.com/office/drawing/2014/main" id="{F94D333D-E642-41F8-986F-141B204F5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549275"/>
            <a:ext cx="6769100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>
            <a:extLst>
              <a:ext uri="{FF2B5EF4-FFF2-40B4-BE49-F238E27FC236}">
                <a16:creationId xmlns:a16="http://schemas.microsoft.com/office/drawing/2014/main" id="{6E978305-D49E-49D2-A755-4E08C1A87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765175"/>
            <a:ext cx="7086600" cy="274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8439" name="Group 7">
            <a:extLst>
              <a:ext uri="{FF2B5EF4-FFF2-40B4-BE49-F238E27FC236}">
                <a16:creationId xmlns:a16="http://schemas.microsoft.com/office/drawing/2014/main" id="{7A9574CF-9B5F-43E5-AAE7-3971EE498AA6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3789363"/>
            <a:ext cx="8108950" cy="2282825"/>
            <a:chOff x="476" y="2387"/>
            <a:chExt cx="5108" cy="1438"/>
          </a:xfrm>
        </p:grpSpPr>
        <p:sp>
          <p:nvSpPr>
            <p:cNvPr id="18436" name="Text Box 4">
              <a:extLst>
                <a:ext uri="{FF2B5EF4-FFF2-40B4-BE49-F238E27FC236}">
                  <a16:creationId xmlns:a16="http://schemas.microsoft.com/office/drawing/2014/main" id="{B6C4D209-8A44-4350-AE6E-52AC4F7D64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2387"/>
              <a:ext cx="5108" cy="1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en-US" altLang="zh-CN" sz="2400">
                  <a:latin typeface="楷体_GB2312" pitchFamily="49" charset="-122"/>
                  <a:ea typeface="楷体_GB2312" pitchFamily="49" charset="-122"/>
                </a:rPr>
                <a:t>    </a:t>
              </a:r>
              <a:r>
                <a:rPr kumimoji="1" lang="zh-CN" altLang="en-US" sz="2400">
                  <a:latin typeface="楷体_GB2312" pitchFamily="49" charset="-122"/>
                  <a:ea typeface="楷体_GB2312" pitchFamily="49" charset="-122"/>
                </a:rPr>
                <a:t>注意                 ，从计算结果看到迭代法（</a:t>
              </a:r>
              <a:r>
                <a:rPr kumimoji="1" lang="en-US" altLang="zh-CN" sz="2400">
                  <a:latin typeface="楷体_GB2312" pitchFamily="49" charset="-122"/>
                  <a:ea typeface="楷体_GB2312" pitchFamily="49" charset="-122"/>
                </a:rPr>
                <a:t>1</a:t>
              </a:r>
              <a:r>
                <a:rPr kumimoji="1" lang="zh-CN" altLang="en-US" sz="2400">
                  <a:latin typeface="楷体_GB2312" pitchFamily="49" charset="-122"/>
                  <a:ea typeface="楷体_GB2312" pitchFamily="49" charset="-122"/>
                </a:rPr>
                <a:t>）</a:t>
              </a:r>
            </a:p>
            <a:p>
              <a:pPr>
                <a:lnSpc>
                  <a:spcPct val="150000"/>
                </a:lnSpc>
              </a:pPr>
              <a:r>
                <a:rPr kumimoji="1" lang="zh-CN" altLang="en-US" sz="2400">
                  <a:latin typeface="楷体_GB2312" pitchFamily="49" charset="-122"/>
                  <a:ea typeface="楷体_GB2312" pitchFamily="49" charset="-122"/>
                </a:rPr>
                <a:t>及（</a:t>
              </a:r>
              <a:r>
                <a:rPr kumimoji="1" lang="en-US" altLang="zh-CN" sz="2400">
                  <a:latin typeface="楷体_GB2312" pitchFamily="49" charset="-122"/>
                  <a:ea typeface="楷体_GB2312" pitchFamily="49" charset="-122"/>
                </a:rPr>
                <a:t>2</a:t>
              </a:r>
              <a:r>
                <a:rPr kumimoji="1" lang="zh-CN" altLang="en-US" sz="2400">
                  <a:latin typeface="楷体_GB2312" pitchFamily="49" charset="-122"/>
                  <a:ea typeface="楷体_GB2312" pitchFamily="49" charset="-122"/>
                </a:rPr>
                <a:t>）均不收敛，且它们均不满足定理</a:t>
              </a:r>
              <a:r>
                <a:rPr kumimoji="1" lang="en-US" altLang="zh-CN" sz="2400">
                  <a:latin typeface="楷体_GB2312" pitchFamily="49" charset="-122"/>
                  <a:ea typeface="楷体_GB2312" pitchFamily="49" charset="-122"/>
                </a:rPr>
                <a:t>3</a:t>
              </a:r>
              <a:r>
                <a:rPr kumimoji="1" lang="zh-CN" altLang="en-US" sz="2400">
                  <a:latin typeface="楷体_GB2312" pitchFamily="49" charset="-122"/>
                  <a:ea typeface="楷体_GB2312" pitchFamily="49" charset="-122"/>
                </a:rPr>
                <a:t>中的局部收敛条</a:t>
              </a:r>
            </a:p>
            <a:p>
              <a:pPr>
                <a:lnSpc>
                  <a:spcPct val="150000"/>
                </a:lnSpc>
              </a:pPr>
              <a:r>
                <a:rPr kumimoji="1" lang="zh-CN" altLang="en-US" sz="2400">
                  <a:latin typeface="楷体_GB2312" pitchFamily="49" charset="-122"/>
                  <a:ea typeface="楷体_GB2312" pitchFamily="49" charset="-122"/>
                </a:rPr>
                <a:t>件，迭代法（</a:t>
              </a:r>
              <a:r>
                <a:rPr kumimoji="1" lang="en-US" altLang="zh-CN" sz="2400">
                  <a:latin typeface="楷体_GB2312" pitchFamily="49" charset="-122"/>
                  <a:ea typeface="楷体_GB2312" pitchFamily="49" charset="-122"/>
                </a:rPr>
                <a:t>3</a:t>
              </a:r>
              <a:r>
                <a:rPr kumimoji="1" lang="zh-CN" altLang="en-US" sz="2400">
                  <a:latin typeface="楷体_GB2312" pitchFamily="49" charset="-122"/>
                  <a:ea typeface="楷体_GB2312" pitchFamily="49" charset="-122"/>
                </a:rPr>
                <a:t>）和（</a:t>
              </a:r>
              <a:r>
                <a:rPr kumimoji="1" lang="en-US" altLang="zh-CN" sz="2400">
                  <a:latin typeface="楷体_GB2312" pitchFamily="49" charset="-122"/>
                  <a:ea typeface="楷体_GB2312" pitchFamily="49" charset="-122"/>
                </a:rPr>
                <a:t>4</a:t>
              </a:r>
              <a:r>
                <a:rPr kumimoji="1" lang="zh-CN" altLang="en-US" sz="2400">
                  <a:latin typeface="楷体_GB2312" pitchFamily="49" charset="-122"/>
                  <a:ea typeface="楷体_GB2312" pitchFamily="49" charset="-122"/>
                </a:rPr>
                <a:t>）均满足局部收敛条件，且迭代法</a:t>
              </a:r>
            </a:p>
            <a:p>
              <a:pPr>
                <a:lnSpc>
                  <a:spcPct val="150000"/>
                </a:lnSpc>
              </a:pPr>
              <a:r>
                <a:rPr kumimoji="1" lang="zh-CN" altLang="en-US" sz="2400">
                  <a:latin typeface="楷体_GB2312" pitchFamily="49" charset="-122"/>
                  <a:ea typeface="楷体_GB2312" pitchFamily="49" charset="-122"/>
                </a:rPr>
                <a:t>（</a:t>
              </a:r>
              <a:r>
                <a:rPr kumimoji="1" lang="en-US" altLang="zh-CN" sz="2400">
                  <a:latin typeface="楷体_GB2312" pitchFamily="49" charset="-122"/>
                  <a:ea typeface="楷体_GB2312" pitchFamily="49" charset="-122"/>
                </a:rPr>
                <a:t>4</a:t>
              </a:r>
              <a:r>
                <a:rPr kumimoji="1" lang="zh-CN" altLang="en-US" sz="2400">
                  <a:latin typeface="楷体_GB2312" pitchFamily="49" charset="-122"/>
                  <a:ea typeface="楷体_GB2312" pitchFamily="49" charset="-122"/>
                </a:rPr>
                <a:t>）比（</a:t>
              </a:r>
              <a:r>
                <a:rPr kumimoji="1" lang="en-US" altLang="zh-CN" sz="2400">
                  <a:latin typeface="楷体_GB2312" pitchFamily="49" charset="-122"/>
                  <a:ea typeface="楷体_GB2312" pitchFamily="49" charset="-122"/>
                </a:rPr>
                <a:t>3</a:t>
              </a:r>
              <a:r>
                <a:rPr kumimoji="1" lang="zh-CN" altLang="en-US" sz="2400">
                  <a:latin typeface="楷体_GB2312" pitchFamily="49" charset="-122"/>
                  <a:ea typeface="楷体_GB2312" pitchFamily="49" charset="-122"/>
                </a:rPr>
                <a:t>）收敛快，因在迭代法（</a:t>
              </a:r>
              <a:r>
                <a:rPr kumimoji="1" lang="en-US" altLang="zh-CN" sz="2400">
                  <a:latin typeface="楷体_GB2312" pitchFamily="49" charset="-122"/>
                  <a:ea typeface="楷体_GB2312" pitchFamily="49" charset="-122"/>
                </a:rPr>
                <a:t>4</a:t>
              </a:r>
              <a:r>
                <a:rPr kumimoji="1" lang="zh-CN" altLang="en-US" sz="2400">
                  <a:latin typeface="楷体_GB2312" pitchFamily="49" charset="-122"/>
                  <a:ea typeface="楷体_GB2312" pitchFamily="49" charset="-122"/>
                </a:rPr>
                <a:t>）中          </a:t>
              </a:r>
              <a:r>
                <a:rPr kumimoji="1" lang="en-US" altLang="zh-CN" sz="2400">
                  <a:latin typeface="楷体_GB2312" pitchFamily="49" charset="-122"/>
                  <a:ea typeface="楷体_GB2312" pitchFamily="49" charset="-122"/>
                </a:rPr>
                <a:t>. </a:t>
              </a:r>
            </a:p>
          </p:txBody>
        </p:sp>
        <p:pic>
          <p:nvPicPr>
            <p:cNvPr id="18437" name="Picture 5">
              <a:extLst>
                <a:ext uri="{FF2B5EF4-FFF2-40B4-BE49-F238E27FC236}">
                  <a16:creationId xmlns:a16="http://schemas.microsoft.com/office/drawing/2014/main" id="{AD0AC400-A1AD-4831-B908-52C1C0A913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0" y="2521"/>
              <a:ext cx="1621" cy="2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8438" name="Picture 6">
              <a:extLst>
                <a:ext uri="{FF2B5EF4-FFF2-40B4-BE49-F238E27FC236}">
                  <a16:creationId xmlns:a16="http://schemas.microsoft.com/office/drawing/2014/main" id="{B027D5FF-8EC0-4092-9C8B-800A9DB4ED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1" y="3566"/>
              <a:ext cx="92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文本框 151553"/>
          <p:cNvSpPr txBox="1">
            <a:spLocks noChangeArrowheads="1"/>
          </p:cNvSpPr>
          <p:nvPr/>
        </p:nvSpPr>
        <p:spPr bwMode="auto">
          <a:xfrm>
            <a:off x="304800" y="228600"/>
            <a:ext cx="8534400" cy="3431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例     设                           ,要使迭代过程</a:t>
            </a: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     局部收敛到       ,求   的取值范围。</a:t>
            </a: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解：</a:t>
            </a:r>
            <a:r>
              <a:rPr lang="zh-CN" altLang="en-US" sz="2800" b="1" dirty="0">
                <a:solidFill>
                  <a:srgbClr val="00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</a:t>
            </a:r>
            <a:r>
              <a:rPr lang="zh-CN" altLang="en-US" sz="2800" dirty="0"/>
              <a:t>                            </a:t>
            </a: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dirty="0"/>
              <a:t>   </a:t>
            </a: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          由在根              邻域具有局部收敛性时, 收敛</a:t>
            </a:r>
          </a:p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          条件 </a:t>
            </a:r>
          </a:p>
        </p:txBody>
      </p:sp>
      <p:graphicFrame>
        <p:nvGraphicFramePr>
          <p:cNvPr id="45058" name="对象 151554"/>
          <p:cNvGraphicFramePr/>
          <p:nvPr/>
        </p:nvGraphicFramePr>
        <p:xfrm>
          <a:off x="1547813" y="333375"/>
          <a:ext cx="25908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55" r:id="rId3" imgW="1282700" imgH="228600" progId="Equation.3">
                  <p:embed/>
                </p:oleObj>
              </mc:Choice>
              <mc:Fallback>
                <p:oleObj r:id="rId3" imgW="1282700" imgH="228600" progId="Equation.3">
                  <p:embed/>
                  <p:pic>
                    <p:nvPicPr>
                      <p:cNvPr id="0" name="对象 15155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33375"/>
                        <a:ext cx="259080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9" name="矩形 151557"/>
          <p:cNvSpPr>
            <a:spLocks noChangeArrowheads="1"/>
          </p:cNvSpPr>
          <p:nvPr/>
        </p:nvSpPr>
        <p:spPr bwMode="auto">
          <a:xfrm>
            <a:off x="417195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5060" name="对象 151556"/>
          <p:cNvGraphicFramePr/>
          <p:nvPr/>
        </p:nvGraphicFramePr>
        <p:xfrm>
          <a:off x="7086600" y="381000"/>
          <a:ext cx="1371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56" r:id="rId5" imgW="800100" imgH="228600" progId="Equation.3">
                  <p:embed/>
                </p:oleObj>
              </mc:Choice>
              <mc:Fallback>
                <p:oleObj r:id="rId5" imgW="800100" imgH="228600" progId="Equation.3">
                  <p:embed/>
                  <p:pic>
                    <p:nvPicPr>
                      <p:cNvPr id="0" name="对象 15155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381000"/>
                        <a:ext cx="1371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1" name="矩形 151559"/>
          <p:cNvSpPr>
            <a:spLocks noChangeArrowheads="1"/>
          </p:cNvSpPr>
          <p:nvPr/>
        </p:nvSpPr>
        <p:spPr bwMode="auto">
          <a:xfrm>
            <a:off x="430053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5062" name="对象 151558"/>
          <p:cNvGraphicFramePr/>
          <p:nvPr/>
        </p:nvGraphicFramePr>
        <p:xfrm>
          <a:off x="3276600" y="914400"/>
          <a:ext cx="129540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57" r:id="rId7" imgW="546100" imgH="228600" progId="Equation.3">
                  <p:embed/>
                </p:oleObj>
              </mc:Choice>
              <mc:Fallback>
                <p:oleObj r:id="rId7" imgW="546100" imgH="228600" progId="Equation.3">
                  <p:embed/>
                  <p:pic>
                    <p:nvPicPr>
                      <p:cNvPr id="0" name="对象 151558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914400"/>
                        <a:ext cx="1295400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3" name="矩形 151561"/>
          <p:cNvSpPr>
            <a:spLocks noChangeArrowheads="1"/>
          </p:cNvSpPr>
          <p:nvPr/>
        </p:nvSpPr>
        <p:spPr bwMode="auto">
          <a:xfrm>
            <a:off x="4495800" y="3357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5064" name="对象 151560"/>
          <p:cNvGraphicFramePr/>
          <p:nvPr/>
        </p:nvGraphicFramePr>
        <p:xfrm>
          <a:off x="5181600" y="1066800"/>
          <a:ext cx="304800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58" r:id="rId9" imgW="152400" imgH="139700" progId="Equation.3">
                  <p:embed/>
                </p:oleObj>
              </mc:Choice>
              <mc:Fallback>
                <p:oleObj r:id="rId9" imgW="152400" imgH="139700" progId="Equation.3">
                  <p:embed/>
                  <p:pic>
                    <p:nvPicPr>
                      <p:cNvPr id="0" name="对象 151560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066800"/>
                        <a:ext cx="304800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对象 151562"/>
          <p:cNvGraphicFramePr/>
          <p:nvPr/>
        </p:nvGraphicFramePr>
        <p:xfrm>
          <a:off x="1676400" y="1447800"/>
          <a:ext cx="32004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59" r:id="rId11" imgW="1282700" imgH="228600" progId="Equation.3">
                  <p:embed/>
                </p:oleObj>
              </mc:Choice>
              <mc:Fallback>
                <p:oleObj r:id="rId11" imgW="1282700" imgH="228600" progId="Equation.3">
                  <p:embed/>
                  <p:pic>
                    <p:nvPicPr>
                      <p:cNvPr id="0" name="对象 15156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447800"/>
                        <a:ext cx="320040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6" name="矩形 151565"/>
          <p:cNvSpPr>
            <a:spLocks noChangeArrowheads="1"/>
          </p:cNvSpPr>
          <p:nvPr/>
        </p:nvSpPr>
        <p:spPr bwMode="auto">
          <a:xfrm>
            <a:off x="409575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5067" name="对象 151564"/>
          <p:cNvGraphicFramePr/>
          <p:nvPr/>
        </p:nvGraphicFramePr>
        <p:xfrm>
          <a:off x="1676400" y="2057400"/>
          <a:ext cx="3352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0" r:id="rId12" imgW="951865" imgH="203200" progId="Equation.3">
                  <p:embed/>
                </p:oleObj>
              </mc:Choice>
              <mc:Fallback>
                <p:oleObj r:id="rId12" imgW="951865" imgH="203200" progId="Equation.3">
                  <p:embed/>
                  <p:pic>
                    <p:nvPicPr>
                      <p:cNvPr id="0" name="对象 151564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057400"/>
                        <a:ext cx="3352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8" name="对象 151566"/>
          <p:cNvGraphicFramePr/>
          <p:nvPr/>
        </p:nvGraphicFramePr>
        <p:xfrm>
          <a:off x="2590800" y="2590800"/>
          <a:ext cx="11430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1" r:id="rId14" imgW="546100" imgH="228600" progId="Equation.3">
                  <p:embed/>
                </p:oleObj>
              </mc:Choice>
              <mc:Fallback>
                <p:oleObj r:id="rId14" imgW="546100" imgH="228600" progId="Equation.3">
                  <p:embed/>
                  <p:pic>
                    <p:nvPicPr>
                      <p:cNvPr id="0" name="对象 15156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590800"/>
                        <a:ext cx="11430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9" name="矩形 151569"/>
          <p:cNvSpPr>
            <a:spLocks noChangeArrowheads="1"/>
          </p:cNvSpPr>
          <p:nvPr/>
        </p:nvSpPr>
        <p:spPr bwMode="auto">
          <a:xfrm>
            <a:off x="3862388" y="3276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5070" name="对象 151568"/>
          <p:cNvGraphicFramePr/>
          <p:nvPr/>
        </p:nvGraphicFramePr>
        <p:xfrm>
          <a:off x="3200400" y="3429000"/>
          <a:ext cx="2971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2" r:id="rId15" imgW="1422400" imgH="304800" progId="Equation.3">
                  <p:embed/>
                </p:oleObj>
              </mc:Choice>
              <mc:Fallback>
                <p:oleObj r:id="rId15" imgW="1422400" imgH="304800" progId="Equation.3">
                  <p:embed/>
                  <p:pic>
                    <p:nvPicPr>
                      <p:cNvPr id="0" name="对象 151568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429000"/>
                        <a:ext cx="29718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1" name="对象 151570"/>
          <p:cNvGraphicFramePr/>
          <p:nvPr/>
        </p:nvGraphicFramePr>
        <p:xfrm>
          <a:off x="3276600" y="4267200"/>
          <a:ext cx="26670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3" r:id="rId17" imgW="1117600" imgH="228600" progId="Equation.3">
                  <p:embed/>
                </p:oleObj>
              </mc:Choice>
              <mc:Fallback>
                <p:oleObj r:id="rId17" imgW="1117600" imgH="228600" progId="Equation.3">
                  <p:embed/>
                  <p:pic>
                    <p:nvPicPr>
                      <p:cNvPr id="0" name="对象 151570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267200"/>
                        <a:ext cx="266700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2" name="矩形 151573"/>
          <p:cNvSpPr>
            <a:spLocks noChangeArrowheads="1"/>
          </p:cNvSpPr>
          <p:nvPr/>
        </p:nvSpPr>
        <p:spPr bwMode="auto">
          <a:xfrm>
            <a:off x="4114800" y="3505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5073" name="对象 151572"/>
          <p:cNvGraphicFramePr/>
          <p:nvPr/>
        </p:nvGraphicFramePr>
        <p:xfrm>
          <a:off x="3429000" y="4953000"/>
          <a:ext cx="25146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4" r:id="rId19" imgW="977900" imgH="228600" progId="Equation.3">
                  <p:embed/>
                </p:oleObj>
              </mc:Choice>
              <mc:Fallback>
                <p:oleObj r:id="rId19" imgW="977900" imgH="228600" progId="Equation.3">
                  <p:embed/>
                  <p:pic>
                    <p:nvPicPr>
                      <p:cNvPr id="0" name="对象 151572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953000"/>
                        <a:ext cx="251460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4" name="文本框 151574"/>
          <p:cNvSpPr txBox="1">
            <a:spLocks noChangeArrowheads="1"/>
          </p:cNvSpPr>
          <p:nvPr/>
        </p:nvSpPr>
        <p:spPr bwMode="auto">
          <a:xfrm>
            <a:off x="1447800" y="5791200"/>
            <a:ext cx="129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所以</a:t>
            </a:r>
            <a:r>
              <a:rPr lang="zh-CN" altLang="en-US"/>
              <a:t> </a:t>
            </a:r>
          </a:p>
        </p:txBody>
      </p:sp>
      <p:sp>
        <p:nvSpPr>
          <p:cNvPr id="45075" name="矩形 151576"/>
          <p:cNvSpPr>
            <a:spLocks noChangeArrowheads="1"/>
          </p:cNvSpPr>
          <p:nvPr/>
        </p:nvSpPr>
        <p:spPr bwMode="auto">
          <a:xfrm>
            <a:off x="4148138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5076" name="对象 151575"/>
          <p:cNvGraphicFramePr/>
          <p:nvPr/>
        </p:nvGraphicFramePr>
        <p:xfrm>
          <a:off x="3124200" y="5638800"/>
          <a:ext cx="3276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65" r:id="rId21" imgW="850265" imgH="419100" progId="Equation.3">
                  <p:embed/>
                </p:oleObj>
              </mc:Choice>
              <mc:Fallback>
                <p:oleObj r:id="rId21" imgW="850265" imgH="419100" progId="Equation.3">
                  <p:embed/>
                  <p:pic>
                    <p:nvPicPr>
                      <p:cNvPr id="0" name="对象 151575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5638800"/>
                        <a:ext cx="3276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>
          <a:xfrm>
            <a:off x="27816" y="43619"/>
            <a:ext cx="4678288" cy="987896"/>
          </a:xfrm>
        </p:spPr>
        <p:txBody>
          <a:bodyPr/>
          <a:lstStyle/>
          <a:p>
            <a:pPr eaLnBrk="1" hangingPunct="1"/>
            <a:r>
              <a:rPr lang="zh-CN" altLang="en-US" sz="3600" b="1" dirty="0"/>
              <a:t>迭代过程的收敛速度</a:t>
            </a:r>
          </a:p>
        </p:txBody>
      </p:sp>
      <p:graphicFrame>
        <p:nvGraphicFramePr>
          <p:cNvPr id="14346" name="Object 10"/>
          <p:cNvGraphicFramePr>
            <a:graphicFrameLocks noChangeAspect="1"/>
          </p:cNvGraphicFramePr>
          <p:nvPr/>
        </p:nvGraphicFramePr>
        <p:xfrm>
          <a:off x="2520752" y="909291"/>
          <a:ext cx="25257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4" name="Equation" r:id="rId3" imgW="1104900" imgH="431800" progId="Equation.DSMT4">
                  <p:embed/>
                </p:oleObj>
              </mc:Choice>
              <mc:Fallback>
                <p:oleObj name="Equation" r:id="rId3" imgW="1104900" imgH="431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752" y="909291"/>
                        <a:ext cx="252571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7" name="Rectangle 11"/>
          <p:cNvSpPr>
            <a:spLocks noChangeArrowheads="1"/>
          </p:cNvSpPr>
          <p:nvPr/>
        </p:nvSpPr>
        <p:spPr bwMode="auto">
          <a:xfrm>
            <a:off x="539552" y="980728"/>
            <a:ext cx="825500" cy="4953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57150" cmpd="thickThin">
            <a:solidFill>
              <a:srgbClr val="FF0000"/>
            </a:solidFill>
            <a:miter lim="800000"/>
          </a:ln>
        </p:spPr>
        <p:txBody>
          <a:bodyPr lIns="54000" tIns="36000" rIns="54000" bIns="360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kumimoji="0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</a:p>
        </p:txBody>
      </p:sp>
      <p:sp>
        <p:nvSpPr>
          <p:cNvPr id="14348" name="Rectangle 12"/>
          <p:cNvSpPr>
            <a:spLocks noChangeArrowheads="1"/>
          </p:cNvSpPr>
          <p:nvPr/>
        </p:nvSpPr>
        <p:spPr bwMode="auto">
          <a:xfrm>
            <a:off x="401440" y="1722091"/>
            <a:ext cx="3514725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则称该迭代为 </a:t>
            </a:r>
            <a:r>
              <a:rPr lang="en-US" altLang="zh-CN" i="1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 </a:t>
            </a:r>
            <a:r>
              <a:rPr lang="zh-CN" altLang="en-US" b="0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阶收敛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834827" y="2298353"/>
            <a:ext cx="5716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r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=1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时称为</a:t>
            </a:r>
            <a:r>
              <a:rPr lang="zh-CN" altLang="en-US" b="0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线性收敛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，此时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C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&lt; 1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</a:p>
        </p:txBody>
      </p:sp>
      <p:sp>
        <p:nvSpPr>
          <p:cNvPr id="14350" name="Rectangle 14"/>
          <p:cNvSpPr>
            <a:spLocks noChangeArrowheads="1"/>
          </p:cNvSpPr>
          <p:nvPr/>
        </p:nvSpPr>
        <p:spPr bwMode="auto">
          <a:xfrm>
            <a:off x="834827" y="2730153"/>
            <a:ext cx="5872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r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=2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时称为</a:t>
            </a:r>
            <a:r>
              <a:rPr lang="zh-CN" altLang="en-US" b="0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二次收敛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，或</a:t>
            </a:r>
            <a:r>
              <a:rPr lang="zh-CN" altLang="en-US" b="0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平方收敛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</a:p>
        </p:txBody>
      </p:sp>
      <p:sp>
        <p:nvSpPr>
          <p:cNvPr id="14351" name="Rectangle 15"/>
          <p:cNvSpPr>
            <a:spLocks noChangeArrowheads="1"/>
          </p:cNvSpPr>
          <p:nvPr/>
        </p:nvSpPr>
        <p:spPr bwMode="auto">
          <a:xfrm>
            <a:off x="834827" y="3163541"/>
            <a:ext cx="4344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(3)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r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&gt;1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时称为</a:t>
            </a:r>
            <a:r>
              <a:rPr lang="zh-CN" altLang="en-US" b="0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超线性收敛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4352" name="Rectangle 16"/>
          <p:cNvSpPr>
            <a:spLocks noChangeArrowheads="1"/>
          </p:cNvSpPr>
          <p:nvPr/>
        </p:nvSpPr>
        <p:spPr bwMode="auto">
          <a:xfrm>
            <a:off x="330002" y="3665191"/>
            <a:ext cx="73453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chemeClr val="hlink"/>
              </a:buClr>
              <a:buFont typeface="Wingdings" panose="05000000000000000000" pitchFamily="2" charset="2"/>
              <a:buChar char="p"/>
            </a:pPr>
            <a:r>
              <a:rPr lang="en-US" altLang="zh-CN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二分法线性收敛</a:t>
            </a:r>
          </a:p>
        </p:txBody>
      </p:sp>
      <p:sp>
        <p:nvSpPr>
          <p:cNvPr id="14353" name="Rectangle 17"/>
          <p:cNvSpPr>
            <a:spLocks noChangeArrowheads="1"/>
          </p:cNvSpPr>
          <p:nvPr/>
        </p:nvSpPr>
        <p:spPr bwMode="auto">
          <a:xfrm>
            <a:off x="330002" y="4170016"/>
            <a:ext cx="73453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chemeClr val="hlink"/>
              </a:buClr>
              <a:buFont typeface="Wingdings" panose="05000000000000000000" pitchFamily="2" charset="2"/>
              <a:buChar char="p"/>
            </a:pPr>
            <a:r>
              <a:rPr lang="en-US" altLang="zh-CN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不动点迭代中，若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</a:t>
            </a:r>
            <a:r>
              <a:rPr lang="zh-CN" altLang="en-US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*)  0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则</a:t>
            </a:r>
            <a:endParaRPr lang="zh-CN" altLang="en-US">
              <a:solidFill>
                <a:srgbClr val="0000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4354" name="Object 18"/>
          <p:cNvGraphicFramePr>
            <a:graphicFrameLocks noChangeAspect="1"/>
          </p:cNvGraphicFramePr>
          <p:nvPr/>
        </p:nvGraphicFramePr>
        <p:xfrm>
          <a:off x="761802" y="4673253"/>
          <a:ext cx="53149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5" name="Equation" r:id="rId6" imgW="2590800" imgH="228600" progId="Equation.DSMT4">
                  <p:embed/>
                </p:oleObj>
              </mc:Choice>
              <mc:Fallback>
                <p:oleObj name="Equation" r:id="rId6" imgW="25908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802" y="4673253"/>
                        <a:ext cx="5314950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5" name="Rectangle 19"/>
          <p:cNvSpPr>
            <a:spLocks noChangeArrowheads="1"/>
          </p:cNvSpPr>
          <p:nvPr/>
        </p:nvSpPr>
        <p:spPr bwMode="auto">
          <a:xfrm>
            <a:off x="474465" y="5178078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取极限得</a:t>
            </a:r>
          </a:p>
        </p:txBody>
      </p:sp>
      <p:graphicFrame>
        <p:nvGraphicFramePr>
          <p:cNvPr id="14356" name="Object 20"/>
          <p:cNvGraphicFramePr>
            <a:graphicFrameLocks noChangeAspect="1"/>
          </p:cNvGraphicFramePr>
          <p:nvPr/>
        </p:nvGraphicFramePr>
        <p:xfrm>
          <a:off x="1804790" y="5079653"/>
          <a:ext cx="2979737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6" name="Equation" r:id="rId8" imgW="1447800" imgH="431800" progId="Equation.DSMT4">
                  <p:embed/>
                </p:oleObj>
              </mc:Choice>
              <mc:Fallback>
                <p:oleObj name="Equation" r:id="rId8" imgW="1447800" imgH="4318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4790" y="5079653"/>
                        <a:ext cx="2979737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7" name="Rectangle 21"/>
          <p:cNvSpPr>
            <a:spLocks noChangeArrowheads="1"/>
          </p:cNvSpPr>
          <p:nvPr/>
        </p:nvSpPr>
        <p:spPr bwMode="auto">
          <a:xfrm>
            <a:off x="5644952" y="1214091"/>
            <a:ext cx="1509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为常数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14358" name="Rectangle 22"/>
          <p:cNvSpPr>
            <a:spLocks noChangeArrowheads="1"/>
          </p:cNvSpPr>
          <p:nvPr/>
        </p:nvSpPr>
        <p:spPr bwMode="auto">
          <a:xfrm>
            <a:off x="5514777" y="5249516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线性收敛</a:t>
            </a:r>
          </a:p>
        </p:txBody>
      </p:sp>
      <p:sp>
        <p:nvSpPr>
          <p:cNvPr id="14359" name="AutoShape 23"/>
          <p:cNvSpPr>
            <a:spLocks noChangeArrowheads="1"/>
          </p:cNvSpPr>
          <p:nvPr/>
        </p:nvSpPr>
        <p:spPr bwMode="auto">
          <a:xfrm>
            <a:off x="4794052" y="5393978"/>
            <a:ext cx="720725" cy="215900"/>
          </a:xfrm>
          <a:prstGeom prst="rightArrow">
            <a:avLst>
              <a:gd name="adj1" fmla="val 50000"/>
              <a:gd name="adj2" fmla="val 834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7" grpId="0" animBg="1" autoUpdateAnimBg="0"/>
      <p:bldP spid="14348" grpId="0" autoUpdateAnimBg="0"/>
      <p:bldP spid="14349" grpId="0" autoUpdateAnimBg="0"/>
      <p:bldP spid="14350" grpId="0" autoUpdateAnimBg="0"/>
      <p:bldP spid="14351" grpId="0" autoUpdateAnimBg="0"/>
      <p:bldP spid="14352" grpId="0" autoUpdateAnimBg="0"/>
      <p:bldP spid="14353" grpId="0" autoUpdateAnimBg="0"/>
      <p:bldP spid="14355" grpId="0" autoUpdateAnimBg="0"/>
      <p:bldP spid="14357" grpId="0" autoUpdateAnimBg="0"/>
      <p:bldP spid="14358" grpId="0" autoUpdateAnimBg="0"/>
      <p:bldP spid="1435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1" name="Rectangle 2"/>
          <p:cNvSpPr>
            <a:spLocks noGrp="1" noChangeArrowheads="1"/>
          </p:cNvSpPr>
          <p:nvPr>
            <p:ph type="title"/>
          </p:nvPr>
        </p:nvSpPr>
        <p:spPr>
          <a:xfrm>
            <a:off x="32396" y="76200"/>
            <a:ext cx="2446040" cy="762000"/>
          </a:xfrm>
        </p:spPr>
        <p:txBody>
          <a:bodyPr/>
          <a:lstStyle/>
          <a:p>
            <a:pPr eaLnBrk="1" hangingPunct="1"/>
            <a:r>
              <a:rPr lang="en-US" altLang="zh-CN" sz="3600" b="1" dirty="0"/>
              <a:t>P</a:t>
            </a:r>
            <a:r>
              <a:rPr lang="zh-CN" altLang="en-US" sz="3600" b="1" dirty="0"/>
              <a:t>阶收敛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403648" y="865308"/>
            <a:ext cx="727392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设迭代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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，若 </a:t>
            </a:r>
            <a:r>
              <a:rPr lang="zh-CN" altLang="en-US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</a:t>
            </a:r>
            <a:r>
              <a:rPr lang="en-US" altLang="zh-CN" baseline="300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baseline="300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*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的某邻域内连续，则该迭代法具有 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阶收敛的充要条件是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336848" y="941508"/>
            <a:ext cx="825500" cy="4953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57150" cmpd="thickThin">
            <a:solidFill>
              <a:srgbClr val="FF0000"/>
            </a:solidFill>
            <a:miter lim="800000"/>
          </a:ln>
        </p:spPr>
        <p:txBody>
          <a:bodyPr lIns="54000" tIns="36000" rIns="54000" bIns="360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kumimoji="0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</a:p>
        </p:txBody>
      </p:sp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1479848" y="1855908"/>
          <a:ext cx="5370513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6" name="Equation" r:id="rId4" imgW="2349500" imgH="698500" progId="Equation.DSMT4">
                  <p:embed/>
                </p:oleObj>
              </mc:Choice>
              <mc:Fallback>
                <p:oleObj name="Equation" r:id="rId4" imgW="2349500" imgH="6985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848" y="1855908"/>
                        <a:ext cx="5370513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/>
          <p:cNvGraphicFramePr>
            <a:graphicFrameLocks noChangeAspect="1"/>
          </p:cNvGraphicFramePr>
          <p:nvPr/>
        </p:nvGraphicFramePr>
        <p:xfrm>
          <a:off x="2013248" y="3227508"/>
          <a:ext cx="31369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7" name="Equation" r:id="rId6" imgW="1371600" imgH="431800" progId="Equation.DSMT4">
                  <p:embed/>
                </p:oleObj>
              </mc:Choice>
              <mc:Fallback>
                <p:oleObj name="Equation" r:id="rId6" imgW="13716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3248" y="3227508"/>
                        <a:ext cx="31369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789286" y="3156071"/>
            <a:ext cx="1103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并且有</a:t>
            </a:r>
          </a:p>
        </p:txBody>
      </p:sp>
      <p:graphicFrame>
        <p:nvGraphicFramePr>
          <p:cNvPr id="15368" name="Object 8"/>
          <p:cNvGraphicFramePr>
            <a:graphicFrameLocks noChangeAspect="1"/>
          </p:cNvGraphicFramePr>
          <p:nvPr/>
        </p:nvGraphicFramePr>
        <p:xfrm>
          <a:off x="1479848" y="4294308"/>
          <a:ext cx="71691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8" name="Equation" r:id="rId8" imgW="3987800" imgH="457200" progId="Equation.DSMT4">
                  <p:embed/>
                </p:oleObj>
              </mc:Choice>
              <mc:Fallback>
                <p:oleObj name="Equation" r:id="rId8" imgW="3987800" imgH="457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848" y="4294308"/>
                        <a:ext cx="716915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Rectangle 9"/>
          <p:cNvSpPr>
            <a:spLocks noChangeArrowheads="1"/>
          </p:cNvSpPr>
          <p:nvPr/>
        </p:nvSpPr>
        <p:spPr bwMode="auto">
          <a:xfrm>
            <a:off x="692448" y="3968871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 b="0">
                <a:latin typeface="Times New Roman" panose="02020603050405020304" pitchFamily="18" charset="0"/>
                <a:ea typeface="黑体" panose="02010609060101010101" pitchFamily="49" charset="-122"/>
              </a:rPr>
              <a:t>证明：</a:t>
            </a:r>
          </a:p>
        </p:txBody>
      </p:sp>
      <p:sp>
        <p:nvSpPr>
          <p:cNvPr id="15370" name="Rectangle 10"/>
          <p:cNvSpPr>
            <a:spLocks noChangeArrowheads="1"/>
          </p:cNvSpPr>
          <p:nvPr/>
        </p:nvSpPr>
        <p:spPr bwMode="auto">
          <a:xfrm>
            <a:off x="1556048" y="3989508"/>
            <a:ext cx="3476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充分性</a:t>
            </a:r>
            <a:r>
              <a:rPr lang="en-US" altLang="zh-CN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 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根据泰勒展开有</a:t>
            </a:r>
          </a:p>
        </p:txBody>
      </p:sp>
      <p:sp>
        <p:nvSpPr>
          <p:cNvPr id="15371" name="AutoShape 11"/>
          <p:cNvSpPr>
            <a:spLocks noChangeArrowheads="1"/>
          </p:cNvSpPr>
          <p:nvPr/>
        </p:nvSpPr>
        <p:spPr bwMode="auto">
          <a:xfrm>
            <a:off x="755948" y="5310308"/>
            <a:ext cx="431800" cy="287338"/>
          </a:xfrm>
          <a:prstGeom prst="rightArrow">
            <a:avLst>
              <a:gd name="adj1" fmla="val 50000"/>
              <a:gd name="adj2" fmla="val 3756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5372" name="Object 12"/>
          <p:cNvGraphicFramePr>
            <a:graphicFrameLocks noChangeAspect="1"/>
          </p:cNvGraphicFramePr>
          <p:nvPr/>
        </p:nvGraphicFramePr>
        <p:xfrm>
          <a:off x="1259186" y="5022971"/>
          <a:ext cx="34020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9" name="Equation" r:id="rId10" imgW="1892300" imgH="457200" progId="Equation.DSMT4">
                  <p:embed/>
                </p:oleObj>
              </mc:Choice>
              <mc:Fallback>
                <p:oleObj name="Equation" r:id="rId10" imgW="1892300" imgH="457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186" y="5022971"/>
                        <a:ext cx="340201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3" name="AutoShape 13"/>
          <p:cNvSpPr>
            <a:spLocks noChangeArrowheads="1"/>
          </p:cNvSpPr>
          <p:nvPr/>
        </p:nvSpPr>
        <p:spPr bwMode="auto">
          <a:xfrm>
            <a:off x="4788198" y="5310308"/>
            <a:ext cx="433388" cy="288925"/>
          </a:xfrm>
          <a:prstGeom prst="rightArrow">
            <a:avLst>
              <a:gd name="adj1" fmla="val 50000"/>
              <a:gd name="adj2" fmla="val 3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5374" name="Object 14"/>
          <p:cNvGraphicFramePr>
            <a:graphicFrameLocks noChangeAspect="1"/>
          </p:cNvGraphicFramePr>
          <p:nvPr/>
        </p:nvGraphicFramePr>
        <p:xfrm>
          <a:off x="5293023" y="5022971"/>
          <a:ext cx="31369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0" name="Equation" r:id="rId12" imgW="1371600" imgH="431800" progId="Equation.DSMT4">
                  <p:embed/>
                </p:oleObj>
              </mc:Choice>
              <mc:Fallback>
                <p:oleObj name="Equation" r:id="rId12" imgW="1371600" imgH="4318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3023" y="5022971"/>
                        <a:ext cx="31369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autoUpdateAnimBg="0"/>
      <p:bldP spid="15364" grpId="0" animBg="1" autoUpdateAnimBg="0"/>
      <p:bldP spid="15367" grpId="0" autoUpdateAnimBg="0"/>
      <p:bldP spid="15369" grpId="0" autoUpdateAnimBg="0"/>
      <p:bldP spid="15370" grpId="0" autoUpdateAnimBg="0"/>
      <p:bldP spid="15371" grpId="0" animBg="1"/>
      <p:bldP spid="1537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105414" y="50800"/>
            <a:ext cx="3670176" cy="850900"/>
          </a:xfrm>
        </p:spPr>
        <p:txBody>
          <a:bodyPr/>
          <a:lstStyle/>
          <a:p>
            <a:pPr eaLnBrk="1" hangingPunct="1"/>
            <a:r>
              <a:rPr lang="zh-CN" altLang="en-US" sz="3600" b="1" dirty="0"/>
              <a:t>必要性的证明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467544" y="980728"/>
            <a:ext cx="5602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必要性</a:t>
            </a:r>
            <a:r>
              <a:rPr lang="en-US" altLang="zh-CN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设迭代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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p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阶收敛。</a:t>
            </a: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754881" y="1556990"/>
            <a:ext cx="732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迭代两边取极限</a:t>
            </a:r>
            <a:r>
              <a:rPr lang="zh-CN" altLang="en-US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，由 </a:t>
            </a:r>
            <a:r>
              <a:rPr lang="zh-CN" altLang="en-US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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的连续性可知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* =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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*)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683444" y="2204690"/>
            <a:ext cx="1790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 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是满足</a:t>
            </a:r>
          </a:p>
        </p:txBody>
      </p:sp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1043806" y="2707928"/>
          <a:ext cx="74009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5" name="Equation" r:id="rId3" imgW="3238500" imgH="228600" progId="Equation.DSMT4">
                  <p:embed/>
                </p:oleObj>
              </mc:Choice>
              <mc:Fallback>
                <p:oleObj name="Equation" r:id="rId3" imgW="32385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806" y="2707928"/>
                        <a:ext cx="74009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Rectangle 7"/>
          <p:cNvSpPr>
            <a:spLocks noChangeArrowheads="1"/>
          </p:cNvSpPr>
          <p:nvPr/>
        </p:nvSpPr>
        <p:spPr bwMode="auto">
          <a:xfrm>
            <a:off x="610419" y="3141315"/>
            <a:ext cx="2328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的最小正整数。</a:t>
            </a:r>
          </a:p>
        </p:txBody>
      </p:sp>
      <p:sp>
        <p:nvSpPr>
          <p:cNvPr id="16392" name="Rectangle 8"/>
          <p:cNvSpPr>
            <a:spLocks noChangeArrowheads="1"/>
          </p:cNvSpPr>
          <p:nvPr/>
        </p:nvSpPr>
        <p:spPr bwMode="auto">
          <a:xfrm>
            <a:off x="610419" y="3573115"/>
            <a:ext cx="5773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由充分性的证明过程可知迭代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阶收敛。</a:t>
            </a:r>
          </a:p>
        </p:txBody>
      </p:sp>
      <p:sp>
        <p:nvSpPr>
          <p:cNvPr id="16393" name="AutoShape 9"/>
          <p:cNvSpPr>
            <a:spLocks noChangeArrowheads="1"/>
          </p:cNvSpPr>
          <p:nvPr/>
        </p:nvSpPr>
        <p:spPr bwMode="auto">
          <a:xfrm>
            <a:off x="3634606" y="4508153"/>
            <a:ext cx="431800" cy="287337"/>
          </a:xfrm>
          <a:prstGeom prst="rightArrow">
            <a:avLst>
              <a:gd name="adj1" fmla="val 50000"/>
              <a:gd name="adj2" fmla="val 3756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6394" name="Object 10"/>
          <p:cNvGraphicFramePr>
            <a:graphicFrameLocks noChangeAspect="1"/>
          </p:cNvGraphicFramePr>
          <p:nvPr/>
        </p:nvGraphicFramePr>
        <p:xfrm>
          <a:off x="1115244" y="4149378"/>
          <a:ext cx="249555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96" name="Equation" r:id="rId5" imgW="1091565" imgH="431800" progId="Equation.DSMT4">
                  <p:embed/>
                </p:oleObj>
              </mc:Choice>
              <mc:Fallback>
                <p:oleObj name="Equation" r:id="rId5" imgW="1091565" imgH="431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244" y="4149378"/>
                        <a:ext cx="249555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5" name="Rectangle 11"/>
          <p:cNvSpPr>
            <a:spLocks noChangeArrowheads="1"/>
          </p:cNvSpPr>
          <p:nvPr/>
        </p:nvSpPr>
        <p:spPr bwMode="auto">
          <a:xfrm>
            <a:off x="538981" y="4365278"/>
            <a:ext cx="49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又</a:t>
            </a:r>
          </a:p>
        </p:txBody>
      </p:sp>
      <p:sp>
        <p:nvSpPr>
          <p:cNvPr id="16396" name="Rectangle 12"/>
          <p:cNvSpPr>
            <a:spLocks noChangeArrowheads="1"/>
          </p:cNvSpPr>
          <p:nvPr/>
        </p:nvSpPr>
        <p:spPr bwMode="auto">
          <a:xfrm>
            <a:off x="4210869" y="4292253"/>
            <a:ext cx="4437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若</a:t>
            </a:r>
            <a:r>
              <a:rPr lang="zh-CN" altLang="en-US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&lt;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与迭代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阶收敛矛盾</a:t>
            </a:r>
          </a:p>
        </p:txBody>
      </p:sp>
      <p:sp>
        <p:nvSpPr>
          <p:cNvPr id="16397" name="AutoShape 13"/>
          <p:cNvSpPr>
            <a:spLocks noChangeArrowheads="1"/>
          </p:cNvSpPr>
          <p:nvPr/>
        </p:nvSpPr>
        <p:spPr bwMode="auto">
          <a:xfrm>
            <a:off x="3652069" y="5136803"/>
            <a:ext cx="431800" cy="287337"/>
          </a:xfrm>
          <a:prstGeom prst="rightArrow">
            <a:avLst>
              <a:gd name="adj1" fmla="val 50000"/>
              <a:gd name="adj2" fmla="val 3756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98" name="Rectangle 14"/>
          <p:cNvSpPr>
            <a:spLocks noChangeArrowheads="1"/>
          </p:cNvSpPr>
          <p:nvPr/>
        </p:nvSpPr>
        <p:spPr bwMode="auto">
          <a:xfrm>
            <a:off x="4228331" y="4992340"/>
            <a:ext cx="915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=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endParaRPr lang="en-US" altLang="zh-CN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8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autoUpdateAnimBg="0"/>
      <p:bldP spid="16388" grpId="0" autoUpdateAnimBg="0"/>
      <p:bldP spid="16389" grpId="0" autoUpdateAnimBg="0"/>
      <p:bldP spid="16391" grpId="0" autoUpdateAnimBg="0"/>
      <p:bldP spid="16392" grpId="0" autoUpdateAnimBg="0"/>
      <p:bldP spid="16393" grpId="0" animBg="1"/>
      <p:bldP spid="16395" grpId="0" autoUpdateAnimBg="0"/>
      <p:bldP spid="16396" grpId="0" autoUpdateAnimBg="0"/>
      <p:bldP spid="16397" grpId="0" animBg="1"/>
      <p:bldP spid="16398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文本框 156674"/>
          <p:cNvSpPr txBox="1">
            <a:spLocks noChangeArrowheads="1"/>
          </p:cNvSpPr>
          <p:nvPr/>
        </p:nvSpPr>
        <p:spPr bwMode="auto">
          <a:xfrm>
            <a:off x="152400" y="228600"/>
            <a:ext cx="8763000" cy="3022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5000"/>
              </a:spcBef>
            </a:pPr>
            <a:r>
              <a:rPr lang="zh-CN" altLang="en-US" sz="3200" b="1" dirty="0">
                <a:solidFill>
                  <a:srgbClr val="000000"/>
                </a:solidFill>
                <a:ea typeface="黑体" panose="02010609060101010101" pitchFamily="49" charset="-122"/>
              </a:rPr>
              <a:t>例  </a:t>
            </a:r>
            <a:r>
              <a:rPr lang="en-US" altLang="zh-CN" sz="3200" dirty="0">
                <a:solidFill>
                  <a:srgbClr val="000000"/>
                </a:solidFill>
                <a:ea typeface="黑体" panose="02010609060101010101" pitchFamily="49" charset="-122"/>
              </a:rPr>
              <a:t>8</a:t>
            </a:r>
            <a:r>
              <a:rPr lang="zh-CN" altLang="en-US" sz="3200" b="1" dirty="0">
                <a:solidFill>
                  <a:srgbClr val="000000"/>
                </a:solidFill>
                <a:ea typeface="黑体" panose="02010609060101010101" pitchFamily="49" charset="-122"/>
              </a:rPr>
              <a:t>  已知迭代公式                  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收敛于</a:t>
            </a:r>
          </a:p>
          <a:p>
            <a:pPr>
              <a:lnSpc>
                <a:spcPct val="115000"/>
              </a:lnSpc>
              <a:spcBef>
                <a:spcPct val="5000"/>
              </a:spcBef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    证明该迭代公式平方收敛。</a:t>
            </a:r>
            <a:endParaRPr lang="zh-CN" altLang="en-US" sz="3200" b="1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 algn="just">
              <a:lnSpc>
                <a:spcPct val="115000"/>
              </a:lnSpc>
              <a:spcBef>
                <a:spcPct val="5000"/>
              </a:spcBef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证: 迭代公式相应的迭代函数为</a:t>
            </a:r>
            <a:endParaRPr lang="zh-CN" altLang="en-US" sz="3200" b="1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>
              <a:lnSpc>
                <a:spcPct val="115000"/>
              </a:lnSpc>
              <a:spcBef>
                <a:spcPct val="5000"/>
              </a:spcBef>
            </a:pP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15000"/>
              </a:lnSpc>
              <a:spcBef>
                <a:spcPct val="5000"/>
              </a:spcBef>
            </a:pP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9154" name="矩形 156676"/>
          <p:cNvSpPr>
            <a:spLocks noChangeArrowheads="1"/>
          </p:cNvSpPr>
          <p:nvPr/>
        </p:nvSpPr>
        <p:spPr bwMode="auto">
          <a:xfrm>
            <a:off x="40528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9155" name="对象 156675"/>
          <p:cNvGraphicFramePr/>
          <p:nvPr/>
        </p:nvGraphicFramePr>
        <p:xfrm>
          <a:off x="4038600" y="228600"/>
          <a:ext cx="2286000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18" r:id="rId3" imgW="1040765" imgH="431800" progId="Equation.3">
                  <p:embed/>
                </p:oleObj>
              </mc:Choice>
              <mc:Fallback>
                <p:oleObj r:id="rId3" imgW="1040765" imgH="431800" progId="Equation.3">
                  <p:embed/>
                  <p:pic>
                    <p:nvPicPr>
                      <p:cNvPr id="0" name="对象 15667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228600"/>
                        <a:ext cx="2286000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6" name="矩形 156678"/>
          <p:cNvSpPr>
            <a:spLocks noChangeArrowheads="1"/>
          </p:cNvSpPr>
          <p:nvPr/>
        </p:nvSpPr>
        <p:spPr bwMode="auto">
          <a:xfrm>
            <a:off x="430530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9157" name="对象 156677"/>
          <p:cNvGraphicFramePr/>
          <p:nvPr/>
        </p:nvGraphicFramePr>
        <p:xfrm>
          <a:off x="7620000" y="339725"/>
          <a:ext cx="9906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19" r:id="rId5" imgW="533400" imgH="228600" progId="Equation.3">
                  <p:embed/>
                </p:oleObj>
              </mc:Choice>
              <mc:Fallback>
                <p:oleObj r:id="rId5" imgW="533400" imgH="228600" progId="Equation.3">
                  <p:embed/>
                  <p:pic>
                    <p:nvPicPr>
                      <p:cNvPr id="0" name="对象 15667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339725"/>
                        <a:ext cx="9906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8" name="矩形 156680"/>
          <p:cNvSpPr>
            <a:spLocks noChangeArrowheads="1"/>
          </p:cNvSpPr>
          <p:nvPr/>
        </p:nvSpPr>
        <p:spPr bwMode="auto">
          <a:xfrm>
            <a:off x="4062413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9159" name="对象 156679"/>
          <p:cNvGraphicFramePr/>
          <p:nvPr/>
        </p:nvGraphicFramePr>
        <p:xfrm>
          <a:off x="5867400" y="1295400"/>
          <a:ext cx="2209800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0" r:id="rId7" imgW="1016000" imgH="393700" progId="Equation.3">
                  <p:embed/>
                </p:oleObj>
              </mc:Choice>
              <mc:Fallback>
                <p:oleObj r:id="rId7" imgW="1016000" imgH="393700" progId="Equation.3">
                  <p:embed/>
                  <p:pic>
                    <p:nvPicPr>
                      <p:cNvPr id="0" name="对象 156679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295400"/>
                        <a:ext cx="2209800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0" name="矩形 156682"/>
          <p:cNvSpPr>
            <a:spLocks noChangeArrowheads="1"/>
          </p:cNvSpPr>
          <p:nvPr/>
        </p:nvSpPr>
        <p:spPr bwMode="auto">
          <a:xfrm>
            <a:off x="367665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9161" name="对象 156681"/>
          <p:cNvGraphicFramePr/>
          <p:nvPr/>
        </p:nvGraphicFramePr>
        <p:xfrm>
          <a:off x="1447800" y="2133600"/>
          <a:ext cx="4267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1" r:id="rId9" imgW="1790700" imgH="393700" progId="Equation.3">
                  <p:embed/>
                </p:oleObj>
              </mc:Choice>
              <mc:Fallback>
                <p:oleObj r:id="rId9" imgW="1790700" imgH="393700" progId="Equation.3">
                  <p:embed/>
                  <p:pic>
                    <p:nvPicPr>
                      <p:cNvPr id="0" name="对象 156681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133600"/>
                        <a:ext cx="4267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2" name="文本框 156683"/>
          <p:cNvSpPr txBox="1">
            <a:spLocks noChangeArrowheads="1"/>
          </p:cNvSpPr>
          <p:nvPr/>
        </p:nvSpPr>
        <p:spPr bwMode="auto">
          <a:xfrm>
            <a:off x="533400" y="3124200"/>
            <a:ext cx="739140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5000"/>
              </a:spcBef>
            </a:pP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将              代入，</a:t>
            </a:r>
            <a:endParaRPr lang="zh-CN" altLang="en-US"/>
          </a:p>
        </p:txBody>
      </p:sp>
      <p:sp>
        <p:nvSpPr>
          <p:cNvPr id="49163" name="文本框 156684"/>
          <p:cNvSpPr txBox="1">
            <a:spLocks noChangeArrowheads="1"/>
          </p:cNvSpPr>
          <p:nvPr/>
        </p:nvSpPr>
        <p:spPr bwMode="auto">
          <a:xfrm>
            <a:off x="685800" y="3962400"/>
            <a:ext cx="716280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根据定理可知，迭代公式平方收敛。</a:t>
            </a:r>
          </a:p>
        </p:txBody>
      </p:sp>
      <p:sp>
        <p:nvSpPr>
          <p:cNvPr id="49164" name="矩形 156686"/>
          <p:cNvSpPr>
            <a:spLocks noChangeArrowheads="1"/>
          </p:cNvSpPr>
          <p:nvPr/>
        </p:nvSpPr>
        <p:spPr bwMode="auto">
          <a:xfrm>
            <a:off x="430530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9165" name="对象 156685"/>
          <p:cNvGraphicFramePr/>
          <p:nvPr/>
        </p:nvGraphicFramePr>
        <p:xfrm>
          <a:off x="990600" y="3200400"/>
          <a:ext cx="14097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2" r:id="rId11" imgW="533400" imgH="228600" progId="Equation.3">
                  <p:embed/>
                </p:oleObj>
              </mc:Choice>
              <mc:Fallback>
                <p:oleObj r:id="rId11" imgW="533400" imgH="228600" progId="Equation.3">
                  <p:embed/>
                  <p:pic>
                    <p:nvPicPr>
                      <p:cNvPr id="0" name="对象 156685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200400"/>
                        <a:ext cx="14097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6" name="矩形 156688"/>
          <p:cNvSpPr>
            <a:spLocks noChangeArrowheads="1"/>
          </p:cNvSpPr>
          <p:nvPr/>
        </p:nvSpPr>
        <p:spPr bwMode="auto">
          <a:xfrm>
            <a:off x="3433763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9167" name="对象 156687"/>
          <p:cNvGraphicFramePr/>
          <p:nvPr/>
        </p:nvGraphicFramePr>
        <p:xfrm>
          <a:off x="3581400" y="3130550"/>
          <a:ext cx="45720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23" r:id="rId13" imgW="2273300" imgH="419100" progId="Equation.3">
                  <p:embed/>
                </p:oleObj>
              </mc:Choice>
              <mc:Fallback>
                <p:oleObj r:id="rId13" imgW="2273300" imgH="419100" progId="Equation.3">
                  <p:embed/>
                  <p:pic>
                    <p:nvPicPr>
                      <p:cNvPr id="0" name="对象 156687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130550"/>
                        <a:ext cx="457200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8" name="文本框 156689"/>
          <p:cNvSpPr txBox="1">
            <a:spLocks noChangeArrowheads="1"/>
          </p:cNvSpPr>
          <p:nvPr/>
        </p:nvSpPr>
        <p:spPr bwMode="auto">
          <a:xfrm>
            <a:off x="228600" y="4572000"/>
            <a:ext cx="8686800" cy="196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5000"/>
              </a:spcBef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为了使迭代过程收敛或提高收敛的速度, 可设法</a:t>
            </a:r>
          </a:p>
          <a:p>
            <a:pPr algn="just">
              <a:lnSpc>
                <a:spcPct val="125000"/>
              </a:lnSpc>
              <a:spcBef>
                <a:spcPct val="5000"/>
              </a:spcBef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①  提高初值的精度以减少迭代的次数</a:t>
            </a:r>
          </a:p>
          <a:p>
            <a:pPr algn="just">
              <a:lnSpc>
                <a:spcPct val="125000"/>
              </a:lnSpc>
              <a:spcBef>
                <a:spcPct val="5000"/>
              </a:spcBef>
            </a:pPr>
            <a:r>
              <a:rPr lang="zh-CN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②  提高收敛的阶数 </a:t>
            </a:r>
            <a:r>
              <a:rPr lang="en-US" altLang="zh-CN" sz="3200" b="1" i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endParaRPr lang="zh-CN" altLang="en-US" sz="3200" b="1" i="1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4" name="Rectangle 2"/>
          <p:cNvSpPr>
            <a:spLocks noGrp="1" noChangeArrowheads="1"/>
          </p:cNvSpPr>
          <p:nvPr>
            <p:ph type="title"/>
          </p:nvPr>
        </p:nvSpPr>
        <p:spPr>
          <a:xfrm>
            <a:off x="3174" y="130096"/>
            <a:ext cx="4136777" cy="771872"/>
          </a:xfrm>
        </p:spPr>
        <p:txBody>
          <a:bodyPr/>
          <a:lstStyle/>
          <a:p>
            <a:pPr eaLnBrk="1" hangingPunct="1"/>
            <a:r>
              <a:rPr lang="zh-CN" altLang="en-US" sz="3600" b="1" dirty="0"/>
              <a:t>埃特金加速算法</a:t>
            </a:r>
          </a:p>
        </p:txBody>
      </p:sp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1547664" y="901968"/>
          <a:ext cx="3429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90" name="Equation" r:id="rId3" imgW="1714500" imgH="228600" progId="Equation.DSMT4">
                  <p:embed/>
                </p:oleObj>
              </mc:Choice>
              <mc:Fallback>
                <p:oleObj name="Equation" r:id="rId3" imgW="17145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901968"/>
                        <a:ext cx="3429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/>
          <p:nvPr/>
        </p:nvGrpSpPr>
        <p:grpSpPr bwMode="auto">
          <a:xfrm>
            <a:off x="609452" y="2124343"/>
            <a:ext cx="2859087" cy="530225"/>
            <a:chOff x="339" y="1660"/>
            <a:chExt cx="1801" cy="334"/>
          </a:xfrm>
        </p:grpSpPr>
        <p:sp>
          <p:nvSpPr>
            <p:cNvPr id="19471" name="Rectangle 6"/>
            <p:cNvSpPr>
              <a:spLocks noChangeArrowheads="1"/>
            </p:cNvSpPr>
            <p:nvPr/>
          </p:nvSpPr>
          <p:spPr bwMode="auto">
            <a:xfrm>
              <a:off x="339" y="1660"/>
              <a:ext cx="56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>
                  <a:schemeClr val="hlink"/>
                </a:buClr>
                <a:buFont typeface="Wingdings" panose="05000000000000000000" pitchFamily="2" charset="2"/>
                <a:buNone/>
              </a:pPr>
              <a:r>
                <a:rPr lang="zh-CN" altLang="en-US" sz="28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设：</a:t>
              </a:r>
            </a:p>
          </p:txBody>
        </p:sp>
        <p:graphicFrame>
          <p:nvGraphicFramePr>
            <p:cNvPr id="19463" name="Object 7"/>
            <p:cNvGraphicFramePr>
              <a:graphicFrameLocks noChangeAspect="1"/>
            </p:cNvGraphicFramePr>
            <p:nvPr/>
          </p:nvGraphicFramePr>
          <p:xfrm>
            <a:off x="748" y="1706"/>
            <a:ext cx="139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91" name="Equation" r:id="rId5" imgW="1104900" imgH="228600" progId="Equation.DSMT4">
                    <p:embed/>
                  </p:oleObj>
                </mc:Choice>
                <mc:Fallback>
                  <p:oleObj name="Equation" r:id="rId5" imgW="1104900" imgH="2286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1706"/>
                          <a:ext cx="1392" cy="288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hlink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60" name="AutoShape 8"/>
          <p:cNvSpPr>
            <a:spLocks noChangeArrowheads="1"/>
          </p:cNvSpPr>
          <p:nvPr/>
        </p:nvSpPr>
        <p:spPr bwMode="auto">
          <a:xfrm>
            <a:off x="3635227" y="2270393"/>
            <a:ext cx="720725" cy="287337"/>
          </a:xfrm>
          <a:prstGeom prst="rightArrow">
            <a:avLst>
              <a:gd name="adj1" fmla="val 50000"/>
              <a:gd name="adj2" fmla="val 6270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3561" name="Object 9"/>
          <p:cNvGraphicFramePr>
            <a:graphicFrameLocks noChangeAspect="1"/>
          </p:cNvGraphicFramePr>
          <p:nvPr/>
        </p:nvGraphicFramePr>
        <p:xfrm>
          <a:off x="4643289" y="2054493"/>
          <a:ext cx="26162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92" name="Equation" r:id="rId7" imgW="1307465" imgH="431800" progId="Equation.DSMT4">
                  <p:embed/>
                </p:oleObj>
              </mc:Choice>
              <mc:Fallback>
                <p:oleObj name="Equation" r:id="rId7" imgW="1307465" imgH="431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289" y="2054493"/>
                        <a:ext cx="26162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2" name="AutoShape 10"/>
          <p:cNvSpPr>
            <a:spLocks noChangeArrowheads="1"/>
          </p:cNvSpPr>
          <p:nvPr/>
        </p:nvSpPr>
        <p:spPr bwMode="auto">
          <a:xfrm>
            <a:off x="682477" y="4502418"/>
            <a:ext cx="720725" cy="287337"/>
          </a:xfrm>
          <a:prstGeom prst="rightArrow">
            <a:avLst>
              <a:gd name="adj1" fmla="val 50000"/>
              <a:gd name="adj2" fmla="val 6270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5148114" y="4286518"/>
            <a:ext cx="2044700" cy="547687"/>
          </a:xfrm>
          <a:prstGeom prst="rect">
            <a:avLst/>
          </a:prstGeom>
          <a:noFill/>
          <a:ln w="28575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Aitken 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加速</a:t>
            </a:r>
          </a:p>
        </p:txBody>
      </p:sp>
      <p:graphicFrame>
        <p:nvGraphicFramePr>
          <p:cNvPr id="23564" name="Object 12"/>
          <p:cNvGraphicFramePr>
            <a:graphicFrameLocks noChangeAspect="1"/>
          </p:cNvGraphicFramePr>
          <p:nvPr/>
        </p:nvGraphicFramePr>
        <p:xfrm>
          <a:off x="1547664" y="1405205"/>
          <a:ext cx="3810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93" name="Equation" r:id="rId9" imgW="1905000" imgH="228600" progId="Equation.DSMT4">
                  <p:embed/>
                </p:oleObj>
              </mc:Choice>
              <mc:Fallback>
                <p:oleObj name="Equation" r:id="rId9" imgW="1905000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1405205"/>
                        <a:ext cx="3810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5" name="Object 13"/>
          <p:cNvGraphicFramePr>
            <a:graphicFrameLocks noChangeAspect="1"/>
          </p:cNvGraphicFramePr>
          <p:nvPr/>
        </p:nvGraphicFramePr>
        <p:xfrm>
          <a:off x="1474639" y="2846655"/>
          <a:ext cx="3378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94" name="Equation" r:id="rId11" imgW="1688465" imgH="495300" progId="Equation.DSMT4">
                  <p:embed/>
                </p:oleObj>
              </mc:Choice>
              <mc:Fallback>
                <p:oleObj name="Equation" r:id="rId11" imgW="1688465" imgH="4953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639" y="2846655"/>
                        <a:ext cx="33782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6" name="AutoShape 14"/>
          <p:cNvSpPr>
            <a:spLocks noChangeArrowheads="1"/>
          </p:cNvSpPr>
          <p:nvPr/>
        </p:nvSpPr>
        <p:spPr bwMode="auto">
          <a:xfrm>
            <a:off x="682477" y="3207018"/>
            <a:ext cx="720725" cy="287337"/>
          </a:xfrm>
          <a:prstGeom prst="rightArrow">
            <a:avLst>
              <a:gd name="adj1" fmla="val 50000"/>
              <a:gd name="adj2" fmla="val 6270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3567" name="Object 15"/>
          <p:cNvGraphicFramePr>
            <a:graphicFrameLocks noChangeAspect="1"/>
          </p:cNvGraphicFramePr>
          <p:nvPr/>
        </p:nvGraphicFramePr>
        <p:xfrm>
          <a:off x="1474639" y="3926155"/>
          <a:ext cx="32766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95" name="Equation" r:id="rId13" imgW="1637665" imgH="761365" progId="Equation.DSMT4">
                  <p:embed/>
                </p:oleObj>
              </mc:Choice>
              <mc:Fallback>
                <p:oleObj name="Equation" r:id="rId13" imgW="1637665" imgH="76136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639" y="3926155"/>
                        <a:ext cx="32766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8" name="AutoShape 16" descr="再生纸"/>
          <p:cNvSpPr>
            <a:spLocks noChangeArrowheads="1"/>
          </p:cNvSpPr>
          <p:nvPr/>
        </p:nvSpPr>
        <p:spPr bwMode="auto">
          <a:xfrm>
            <a:off x="539602" y="5510480"/>
            <a:ext cx="8307387" cy="536575"/>
          </a:xfrm>
          <a:prstGeom prst="roundRect">
            <a:avLst>
              <a:gd name="adj" fmla="val 16667"/>
            </a:avLst>
          </a:prstGeom>
          <a:blipFill dpi="0" rotWithShape="0">
            <a:blip r:embed="rId1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当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收敛到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*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时，修正项分子趋于零。</a:t>
            </a:r>
            <a:r>
              <a:rPr lang="zh-CN" altLang="en-US" b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3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0" grpId="0" animBg="1"/>
      <p:bldP spid="23562" grpId="0" animBg="1"/>
      <p:bldP spid="23563" grpId="0" animBg="1" autoUpdateAnimBg="0"/>
      <p:bldP spid="23566" grpId="0" animBg="1"/>
      <p:bldP spid="23568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文本框 160769"/>
          <p:cNvSpPr txBox="1">
            <a:spLocks noChangeArrowheads="1"/>
          </p:cNvSpPr>
          <p:nvPr/>
        </p:nvSpPr>
        <p:spPr bwMode="auto">
          <a:xfrm>
            <a:off x="228600" y="228600"/>
            <a:ext cx="8458200" cy="2437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  </a:t>
            </a:r>
            <a:r>
              <a:rPr lang="en-US" altLang="zh-CN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9</a:t>
            </a:r>
            <a:r>
              <a:rPr lang="zh-CN" altLang="en-US" sz="2800" b="1" dirty="0">
                <a:solidFill>
                  <a:srgbClr val="000000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用埃特金方法求方程                            在初值</a:t>
            </a:r>
          </a:p>
          <a:p>
            <a:pPr>
              <a:lnSpc>
                <a:spcPct val="110000"/>
              </a:lnSpc>
              <a:spcBef>
                <a:spcPct val="5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                   附近的一个根, 精度要求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     ，</a:t>
            </a:r>
            <a:endParaRPr lang="zh-CN" altLang="en-US" sz="3200" b="1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ct val="5000"/>
              </a:spcBef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 </a:t>
            </a:r>
            <a:endParaRPr lang="zh-CN" altLang="en-US" sz="3200" b="1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endParaRPr lang="zh-CN" altLang="en-US" dirty="0"/>
          </a:p>
        </p:txBody>
      </p:sp>
      <p:sp>
        <p:nvSpPr>
          <p:cNvPr id="54274" name="矩形 160771"/>
          <p:cNvSpPr>
            <a:spLocks noChangeArrowheads="1"/>
          </p:cNvSpPr>
          <p:nvPr/>
        </p:nvSpPr>
        <p:spPr bwMode="auto">
          <a:xfrm>
            <a:off x="4024313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54275" name="对象 160770"/>
          <p:cNvGraphicFramePr/>
          <p:nvPr/>
        </p:nvGraphicFramePr>
        <p:xfrm>
          <a:off x="4594225" y="304800"/>
          <a:ext cx="22860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8" r:id="rId3" imgW="1091565" imgH="203200" progId="Equation.3">
                  <p:embed/>
                </p:oleObj>
              </mc:Choice>
              <mc:Fallback>
                <p:oleObj r:id="rId3" imgW="1091565" imgH="203200" progId="Equation.3">
                  <p:embed/>
                  <p:pic>
                    <p:nvPicPr>
                      <p:cNvPr id="0" name="对象 16077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4225" y="304800"/>
                        <a:ext cx="22860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6" name="矩形 160773"/>
          <p:cNvSpPr>
            <a:spLocks noChangeArrowheads="1"/>
          </p:cNvSpPr>
          <p:nvPr/>
        </p:nvSpPr>
        <p:spPr bwMode="auto">
          <a:xfrm>
            <a:off x="4310063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54277" name="对象 160772"/>
          <p:cNvGraphicFramePr/>
          <p:nvPr/>
        </p:nvGraphicFramePr>
        <p:xfrm>
          <a:off x="1447800" y="838200"/>
          <a:ext cx="1219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9" r:id="rId5" imgW="520700" imgH="228600" progId="Equation.3">
                  <p:embed/>
                </p:oleObj>
              </mc:Choice>
              <mc:Fallback>
                <p:oleObj r:id="rId5" imgW="520700" imgH="228600" progId="Equation.3">
                  <p:embed/>
                  <p:pic>
                    <p:nvPicPr>
                      <p:cNvPr id="0" name="对象 16077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838200"/>
                        <a:ext cx="1219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8" name="矩形 160775"/>
          <p:cNvSpPr>
            <a:spLocks noChangeArrowheads="1"/>
          </p:cNvSpPr>
          <p:nvPr/>
        </p:nvSpPr>
        <p:spPr bwMode="auto">
          <a:xfrm>
            <a:off x="430530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54279" name="对象 160774"/>
          <p:cNvGraphicFramePr/>
          <p:nvPr/>
        </p:nvGraphicFramePr>
        <p:xfrm>
          <a:off x="6553200" y="762000"/>
          <a:ext cx="12954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0" r:id="rId7" imgW="533400" imgH="203200" progId="Equation.3">
                  <p:embed/>
                </p:oleObj>
              </mc:Choice>
              <mc:Fallback>
                <p:oleObj r:id="rId7" imgW="533400" imgH="203200" progId="Equation.3">
                  <p:embed/>
                  <p:pic>
                    <p:nvPicPr>
                      <p:cNvPr id="0" name="对象 160774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762000"/>
                        <a:ext cx="12954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0" name="矩形 160777"/>
          <p:cNvSpPr>
            <a:spLocks noChangeArrowheads="1"/>
          </p:cNvSpPr>
          <p:nvPr/>
        </p:nvSpPr>
        <p:spPr bwMode="auto">
          <a:xfrm>
            <a:off x="4157663" y="31670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54281" name="对象 160776"/>
          <p:cNvGraphicFramePr/>
          <p:nvPr/>
        </p:nvGraphicFramePr>
        <p:xfrm>
          <a:off x="4114800" y="1447800"/>
          <a:ext cx="160020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1" r:id="rId9" imgW="825500" imgH="520700" progId="Equation.3">
                  <p:embed/>
                </p:oleObj>
              </mc:Choice>
              <mc:Fallback>
                <p:oleObj r:id="rId9" imgW="825500" imgH="520700" progId="Equation.3">
                  <p:embed/>
                  <p:pic>
                    <p:nvPicPr>
                      <p:cNvPr id="0" name="对象 160776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447800"/>
                        <a:ext cx="160020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2" name="文本框 160778"/>
          <p:cNvSpPr txBox="1">
            <a:spLocks noChangeArrowheads="1"/>
          </p:cNvSpPr>
          <p:nvPr/>
        </p:nvSpPr>
        <p:spPr bwMode="auto">
          <a:xfrm>
            <a:off x="1447800" y="1600200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取迭代格式</a:t>
            </a:r>
          </a:p>
        </p:txBody>
      </p:sp>
      <p:sp>
        <p:nvSpPr>
          <p:cNvPr id="54283" name="文本框 160779"/>
          <p:cNvSpPr txBox="1">
            <a:spLocks noChangeArrowheads="1"/>
          </p:cNvSpPr>
          <p:nvPr/>
        </p:nvSpPr>
        <p:spPr bwMode="auto">
          <a:xfrm>
            <a:off x="381000" y="2438400"/>
            <a:ext cx="510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  埃特金方法迭代格式为</a:t>
            </a:r>
          </a:p>
        </p:txBody>
      </p:sp>
      <p:sp>
        <p:nvSpPr>
          <p:cNvPr id="54284" name="矩形 160781"/>
          <p:cNvSpPr>
            <a:spLocks noChangeArrowheads="1"/>
          </p:cNvSpPr>
          <p:nvPr/>
        </p:nvSpPr>
        <p:spPr bwMode="auto">
          <a:xfrm>
            <a:off x="3376613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54285" name="对象 160780"/>
          <p:cNvGraphicFramePr/>
          <p:nvPr/>
        </p:nvGraphicFramePr>
        <p:xfrm>
          <a:off x="1066800" y="3124200"/>
          <a:ext cx="5257800" cy="118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2" r:id="rId11" imgW="2387600" imgH="571500" progId="Equation.3">
                  <p:embed/>
                </p:oleObj>
              </mc:Choice>
              <mc:Fallback>
                <p:oleObj r:id="rId11" imgW="2387600" imgH="571500" progId="Equation.3">
                  <p:embed/>
                  <p:pic>
                    <p:nvPicPr>
                      <p:cNvPr id="0" name="对象 160780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124200"/>
                        <a:ext cx="5257800" cy="118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6" name="矩形 160783"/>
          <p:cNvSpPr>
            <a:spLocks noChangeArrowheads="1"/>
          </p:cNvSpPr>
          <p:nvPr/>
        </p:nvSpPr>
        <p:spPr bwMode="auto">
          <a:xfrm>
            <a:off x="3090863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54287" name="对象 160782"/>
          <p:cNvGraphicFramePr/>
          <p:nvPr/>
        </p:nvGraphicFramePr>
        <p:xfrm>
          <a:off x="990600" y="4572000"/>
          <a:ext cx="6781800" cy="116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23" r:id="rId13" imgW="2959100" imgH="457200" progId="Equation.3">
                  <p:embed/>
                </p:oleObj>
              </mc:Choice>
              <mc:Fallback>
                <p:oleObj r:id="rId13" imgW="2959100" imgH="457200" progId="Equation.3">
                  <p:embed/>
                  <p:pic>
                    <p:nvPicPr>
                      <p:cNvPr id="0" name="对象 160782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572000"/>
                        <a:ext cx="6781800" cy="1163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8" name="文本框 160784"/>
          <p:cNvSpPr txBox="1">
            <a:spLocks noChangeArrowheads="1"/>
          </p:cNvSpPr>
          <p:nvPr/>
        </p:nvSpPr>
        <p:spPr bwMode="auto">
          <a:xfrm>
            <a:off x="838200" y="5943600"/>
            <a:ext cx="731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只迭代二次就得到满足精度要求的解。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1" name="Rectangle 2"/>
          <p:cNvSpPr>
            <a:spLocks noGrp="1" noChangeArrowheads="1"/>
          </p:cNvSpPr>
          <p:nvPr>
            <p:ph type="title"/>
          </p:nvPr>
        </p:nvSpPr>
        <p:spPr>
          <a:xfrm>
            <a:off x="95249" y="6856"/>
            <a:ext cx="4730831" cy="830997"/>
          </a:xfrm>
          <a:noFill/>
        </p:spPr>
        <p:txBody>
          <a:bodyPr wrap="square" anchor="b">
            <a:spAutoFit/>
          </a:bodyPr>
          <a:lstStyle/>
          <a:p>
            <a:pPr algn="l" eaLnBrk="1" hangingPunct="1"/>
            <a:r>
              <a:rPr lang="en-US" altLang="zh-CN" sz="4800" dirty="0"/>
              <a:t>Newton</a:t>
            </a:r>
            <a:r>
              <a:rPr lang="zh-CN" altLang="en-US" sz="4800" dirty="0"/>
              <a:t>迭代</a:t>
            </a:r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323528" y="980728"/>
            <a:ext cx="23764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>
                <a:schemeClr val="hlink"/>
              </a:buClr>
              <a:buFont typeface="Wingdings" panose="05000000000000000000" pitchFamily="2" charset="2"/>
              <a:buChar char="p"/>
            </a:pPr>
            <a:r>
              <a:rPr lang="en-US" altLang="zh-CN" sz="280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基本思想：</a:t>
            </a: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2557141" y="980728"/>
            <a:ext cx="4103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将非线性方程</a:t>
            </a:r>
            <a:r>
              <a:rPr lang="zh-CN" altLang="en-US" sz="2800" b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线性化</a:t>
            </a: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683891" y="1555403"/>
            <a:ext cx="8208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863600" indent="-863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1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设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是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 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)=0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的近似根， 将 </a:t>
            </a:r>
            <a:r>
              <a:rPr lang="en-US" altLang="zh-CN" i="1">
                <a:latin typeface="Times New Roman" panose="02020603050405020304" pitchFamily="18" charset="0"/>
              </a:rPr>
              <a:t>f</a:t>
            </a:r>
            <a:r>
              <a:rPr lang="en-US" altLang="zh-CN">
                <a:latin typeface="Times New Roman" panose="02020603050405020304" pitchFamily="18" charset="0"/>
              </a:rPr>
              <a:t> 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在</a:t>
            </a:r>
            <a:r>
              <a:rPr lang="zh-CN" altLang="en-US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r>
              <a:rPr lang="en-US" altLang="zh-CN" baseline="-25000"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一阶 </a:t>
            </a:r>
            <a:r>
              <a:rPr lang="en-US" altLang="zh-CN">
                <a:solidFill>
                  <a:srgbClr val="006600"/>
                </a:solidFill>
                <a:latin typeface="Times New Roman" panose="02020603050405020304" pitchFamily="18" charset="0"/>
              </a:rPr>
              <a:t>Taylor </a:t>
            </a:r>
            <a:r>
              <a:rPr lang="zh-CN" altLang="en-US">
                <a:solidFill>
                  <a:srgbClr val="006600"/>
                </a:solidFill>
                <a:latin typeface="Times New Roman" panose="02020603050405020304" pitchFamily="18" charset="0"/>
              </a:rPr>
              <a:t>展开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:</a:t>
            </a:r>
          </a:p>
        </p:txBody>
      </p:sp>
      <p:grpSp>
        <p:nvGrpSpPr>
          <p:cNvPr id="2" name="Group 6"/>
          <p:cNvGrpSpPr/>
          <p:nvPr/>
        </p:nvGrpSpPr>
        <p:grpSpPr bwMode="auto">
          <a:xfrm>
            <a:off x="612453" y="1990378"/>
            <a:ext cx="8355013" cy="784225"/>
            <a:chOff x="340" y="1525"/>
            <a:chExt cx="5263" cy="494"/>
          </a:xfrm>
        </p:grpSpPr>
        <p:graphicFrame>
          <p:nvGraphicFramePr>
            <p:cNvPr id="21510" name="Object 7"/>
            <p:cNvGraphicFramePr>
              <a:graphicFrameLocks noChangeAspect="1"/>
            </p:cNvGraphicFramePr>
            <p:nvPr/>
          </p:nvGraphicFramePr>
          <p:xfrm>
            <a:off x="340" y="1525"/>
            <a:ext cx="3555" cy="4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5" name="Equation" r:id="rId3" imgW="3009900" imgH="393700" progId="Equation.DSMT4">
                    <p:embed/>
                  </p:oleObj>
                </mc:Choice>
                <mc:Fallback>
                  <p:oleObj name="Equation" r:id="rId3" imgW="3009900" imgH="3937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" y="1525"/>
                          <a:ext cx="3555" cy="4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47" name="Text Box 8"/>
            <p:cNvSpPr txBox="1">
              <a:spLocks noChangeArrowheads="1"/>
            </p:cNvSpPr>
            <p:nvPr/>
          </p:nvSpPr>
          <p:spPr bwMode="auto">
            <a:xfrm>
              <a:off x="3827" y="1621"/>
              <a:ext cx="17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863600" indent="-863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10000"/>
                </a:spcBef>
              </a:pPr>
              <a:r>
                <a:rPr lang="zh-CN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，</a:t>
              </a:r>
              <a:r>
                <a:rPr lang="zh-CN" altLang="en-US" i="1">
                  <a:latin typeface="Times New Roman" panose="02020603050405020304" pitchFamily="18" charset="0"/>
                  <a:sym typeface="Symbol" panose="05050102010706020507" pitchFamily="18" charset="2"/>
                </a:rPr>
                <a:t> </a:t>
              </a: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</a:rPr>
                <a:t>在 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k</a:t>
              </a: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</a:rPr>
                <a:t>和 </a:t>
              </a:r>
              <a:r>
                <a:rPr lang="en-US" altLang="zh-CN" i="1">
                  <a:latin typeface="Times New Roman" panose="02020603050405020304" pitchFamily="18" charset="0"/>
                </a:rPr>
                <a:t>x</a:t>
              </a: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</a:rPr>
                <a:t>之间。</a:t>
              </a:r>
            </a:p>
          </p:txBody>
        </p:sp>
      </p:grpSp>
      <p:sp>
        <p:nvSpPr>
          <p:cNvPr id="26633" name="Line 9"/>
          <p:cNvSpPr>
            <a:spLocks noChangeShapeType="1"/>
          </p:cNvSpPr>
          <p:nvPr/>
        </p:nvSpPr>
        <p:spPr bwMode="auto">
          <a:xfrm>
            <a:off x="1549078" y="2709515"/>
            <a:ext cx="2592388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634" name="Rectangle 10"/>
          <p:cNvSpPr>
            <a:spLocks noChangeArrowheads="1"/>
          </p:cNvSpPr>
          <p:nvPr/>
        </p:nvSpPr>
        <p:spPr bwMode="auto">
          <a:xfrm>
            <a:off x="4212903" y="2060228"/>
            <a:ext cx="2160588" cy="720725"/>
          </a:xfrm>
          <a:prstGeom prst="rect">
            <a:avLst/>
          </a:prstGeom>
          <a:solidFill>
            <a:schemeClr val="accent1">
              <a:alpha val="4392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6635" name="Object 11"/>
          <p:cNvGraphicFramePr>
            <a:graphicFrameLocks noChangeAspect="1"/>
          </p:cNvGraphicFramePr>
          <p:nvPr/>
        </p:nvGraphicFramePr>
        <p:xfrm>
          <a:off x="1115691" y="2995265"/>
          <a:ext cx="123825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6" name="Equation" r:id="rId5" imgW="660400" imgH="203200" progId="Equation.DSMT4">
                  <p:embed/>
                </p:oleObj>
              </mc:Choice>
              <mc:Fallback>
                <p:oleObj name="Equation" r:id="rId5" imgW="660400" imgH="203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91" y="2995265"/>
                        <a:ext cx="123825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6" name="AutoShape 12"/>
          <p:cNvSpPr>
            <a:spLocks noChangeArrowheads="1"/>
          </p:cNvSpPr>
          <p:nvPr/>
        </p:nvSpPr>
        <p:spPr bwMode="auto">
          <a:xfrm>
            <a:off x="541016" y="2995265"/>
            <a:ext cx="503237" cy="360363"/>
          </a:xfrm>
          <a:prstGeom prst="rightArrow">
            <a:avLst>
              <a:gd name="adj1" fmla="val 50000"/>
              <a:gd name="adj2" fmla="val 3491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6637" name="Object 13"/>
          <p:cNvGraphicFramePr>
            <a:graphicFrameLocks noChangeAspect="1"/>
          </p:cNvGraphicFramePr>
          <p:nvPr/>
        </p:nvGraphicFramePr>
        <p:xfrm>
          <a:off x="2341241" y="2923828"/>
          <a:ext cx="307181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7" name="Equation" r:id="rId7" imgW="1638300" imgH="228600" progId="Equation.DSMT4">
                  <p:embed/>
                </p:oleObj>
              </mc:Choice>
              <mc:Fallback>
                <p:oleObj name="Equation" r:id="rId7" imgW="16383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1241" y="2923828"/>
                        <a:ext cx="3071812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8" name="AutoShape 14"/>
          <p:cNvSpPr>
            <a:spLocks noChangeArrowheads="1"/>
          </p:cNvSpPr>
          <p:nvPr/>
        </p:nvSpPr>
        <p:spPr bwMode="auto">
          <a:xfrm>
            <a:off x="5652766" y="2995265"/>
            <a:ext cx="503237" cy="360363"/>
          </a:xfrm>
          <a:prstGeom prst="rightArrow">
            <a:avLst>
              <a:gd name="adj1" fmla="val 50000"/>
              <a:gd name="adj2" fmla="val 3491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6639" name="Object 15"/>
          <p:cNvGraphicFramePr>
            <a:graphicFrameLocks noChangeAspect="1"/>
          </p:cNvGraphicFramePr>
          <p:nvPr/>
        </p:nvGraphicFramePr>
        <p:xfrm>
          <a:off x="6300466" y="2780953"/>
          <a:ext cx="2024062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8" name="Equation" r:id="rId9" imgW="1078865" imgH="431800" progId="Equation.DSMT4">
                  <p:embed/>
                </p:oleObj>
              </mc:Choice>
              <mc:Fallback>
                <p:oleObj name="Equation" r:id="rId9" imgW="1078865" imgH="431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466" y="2780953"/>
                        <a:ext cx="2024062" cy="8604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0" name="AutoShape 16"/>
          <p:cNvSpPr>
            <a:spLocks noChangeArrowheads="1"/>
          </p:cNvSpPr>
          <p:nvPr/>
        </p:nvSpPr>
        <p:spPr bwMode="auto">
          <a:xfrm>
            <a:off x="541016" y="3860453"/>
            <a:ext cx="503237" cy="360362"/>
          </a:xfrm>
          <a:prstGeom prst="rightArrow">
            <a:avLst>
              <a:gd name="adj1" fmla="val 50000"/>
              <a:gd name="adj2" fmla="val 34912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6641" name="Object 17"/>
          <p:cNvGraphicFramePr>
            <a:graphicFrameLocks noChangeAspect="1"/>
          </p:cNvGraphicFramePr>
          <p:nvPr/>
        </p:nvGraphicFramePr>
        <p:xfrm>
          <a:off x="1188716" y="3644553"/>
          <a:ext cx="2166937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9" name="Equation" r:id="rId11" imgW="1155700" imgH="431800" progId="Equation.DSMT4">
                  <p:embed/>
                </p:oleObj>
              </mc:Choice>
              <mc:Fallback>
                <p:oleObj name="Equation" r:id="rId11" imgW="1155700" imgH="4318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8716" y="3644553"/>
                        <a:ext cx="2166937" cy="860425"/>
                      </a:xfrm>
                      <a:prstGeom prst="rect">
                        <a:avLst/>
                      </a:prstGeom>
                      <a:noFill/>
                      <a:ln w="57150" cmpd="thickThin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8"/>
          <p:cNvGrpSpPr/>
          <p:nvPr/>
        </p:nvGrpSpPr>
        <p:grpSpPr bwMode="auto">
          <a:xfrm>
            <a:off x="4139878" y="3500090"/>
            <a:ext cx="4105275" cy="2592388"/>
            <a:chOff x="528" y="2640"/>
            <a:chExt cx="2064" cy="1344"/>
          </a:xfrm>
        </p:grpSpPr>
        <p:sp>
          <p:nvSpPr>
            <p:cNvPr id="21543" name="Line 19"/>
            <p:cNvSpPr>
              <a:spLocks noChangeShapeType="1"/>
            </p:cNvSpPr>
            <p:nvPr/>
          </p:nvSpPr>
          <p:spPr bwMode="auto">
            <a:xfrm>
              <a:off x="528" y="3696"/>
              <a:ext cx="20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4" name="Line 20"/>
            <p:cNvSpPr>
              <a:spLocks noChangeShapeType="1"/>
            </p:cNvSpPr>
            <p:nvPr/>
          </p:nvSpPr>
          <p:spPr bwMode="auto">
            <a:xfrm flipV="1">
              <a:off x="624" y="2736"/>
              <a:ext cx="0" cy="12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5" name="Text Box 21"/>
            <p:cNvSpPr txBox="1">
              <a:spLocks noChangeArrowheads="1"/>
            </p:cNvSpPr>
            <p:nvPr/>
          </p:nvSpPr>
          <p:spPr bwMode="auto">
            <a:xfrm>
              <a:off x="2352" y="3408"/>
              <a:ext cx="24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21546" name="Rectangle 22"/>
            <p:cNvSpPr>
              <a:spLocks noChangeArrowheads="1"/>
            </p:cNvSpPr>
            <p:nvPr/>
          </p:nvSpPr>
          <p:spPr bwMode="auto">
            <a:xfrm>
              <a:off x="672" y="2640"/>
              <a:ext cx="201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</a:pPr>
              <a:r>
                <a:rPr kumimoji="0"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</a:p>
          </p:txBody>
        </p:sp>
      </p:grpSp>
      <p:grpSp>
        <p:nvGrpSpPr>
          <p:cNvPr id="4" name="Group 23"/>
          <p:cNvGrpSpPr/>
          <p:nvPr/>
        </p:nvGrpSpPr>
        <p:grpSpPr bwMode="auto">
          <a:xfrm>
            <a:off x="4428803" y="3573115"/>
            <a:ext cx="2447925" cy="2354263"/>
            <a:chOff x="720" y="2736"/>
            <a:chExt cx="1008" cy="1152"/>
          </a:xfrm>
        </p:grpSpPr>
        <p:sp>
          <p:nvSpPr>
            <p:cNvPr id="21541" name="Freeform 24"/>
            <p:cNvSpPr/>
            <p:nvPr/>
          </p:nvSpPr>
          <p:spPr bwMode="auto">
            <a:xfrm>
              <a:off x="720" y="2736"/>
              <a:ext cx="1008" cy="1152"/>
            </a:xfrm>
            <a:custGeom>
              <a:avLst/>
              <a:gdLst>
                <a:gd name="T0" fmla="*/ 0 w 1008"/>
                <a:gd name="T1" fmla="*/ 1152 h 1152"/>
                <a:gd name="T2" fmla="*/ 240 w 1008"/>
                <a:gd name="T3" fmla="*/ 1104 h 1152"/>
                <a:gd name="T4" fmla="*/ 576 w 1008"/>
                <a:gd name="T5" fmla="*/ 864 h 1152"/>
                <a:gd name="T6" fmla="*/ 816 w 1008"/>
                <a:gd name="T7" fmla="*/ 480 h 1152"/>
                <a:gd name="T8" fmla="*/ 1008 w 1008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8"/>
                <a:gd name="T16" fmla="*/ 0 h 1152"/>
                <a:gd name="T17" fmla="*/ 1008 w 1008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8" h="1152">
                  <a:moveTo>
                    <a:pt x="0" y="1152"/>
                  </a:moveTo>
                  <a:cubicBezTo>
                    <a:pt x="72" y="1152"/>
                    <a:pt x="144" y="1152"/>
                    <a:pt x="240" y="1104"/>
                  </a:cubicBezTo>
                  <a:cubicBezTo>
                    <a:pt x="336" y="1056"/>
                    <a:pt x="480" y="968"/>
                    <a:pt x="576" y="864"/>
                  </a:cubicBezTo>
                  <a:cubicBezTo>
                    <a:pt x="672" y="760"/>
                    <a:pt x="744" y="624"/>
                    <a:pt x="816" y="480"/>
                  </a:cubicBezTo>
                  <a:cubicBezTo>
                    <a:pt x="888" y="336"/>
                    <a:pt x="948" y="168"/>
                    <a:pt x="1008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2" name="Text Box 25"/>
            <p:cNvSpPr txBox="1">
              <a:spLocks noChangeArrowheads="1"/>
            </p:cNvSpPr>
            <p:nvPr/>
          </p:nvSpPr>
          <p:spPr bwMode="auto">
            <a:xfrm>
              <a:off x="1008" y="3456"/>
              <a:ext cx="384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i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x*</a:t>
              </a:r>
            </a:p>
          </p:txBody>
        </p:sp>
      </p:grpSp>
      <p:sp>
        <p:nvSpPr>
          <p:cNvPr id="26650" name="Oval 26"/>
          <p:cNvSpPr>
            <a:spLocks noChangeArrowheads="1"/>
          </p:cNvSpPr>
          <p:nvPr/>
        </p:nvSpPr>
        <p:spPr bwMode="auto">
          <a:xfrm>
            <a:off x="5508303" y="5479703"/>
            <a:ext cx="111125" cy="111125"/>
          </a:xfrm>
          <a:prstGeom prst="ellipse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5" name="Group 27"/>
          <p:cNvGrpSpPr/>
          <p:nvPr/>
        </p:nvGrpSpPr>
        <p:grpSpPr bwMode="auto">
          <a:xfrm>
            <a:off x="6660828" y="5444778"/>
            <a:ext cx="533400" cy="457200"/>
            <a:chOff x="4150" y="3657"/>
            <a:chExt cx="336" cy="288"/>
          </a:xfrm>
        </p:grpSpPr>
        <p:sp>
          <p:nvSpPr>
            <p:cNvPr id="21539" name="Text Box 28"/>
            <p:cNvSpPr txBox="1">
              <a:spLocks noChangeArrowheads="1"/>
            </p:cNvSpPr>
            <p:nvPr/>
          </p:nvSpPr>
          <p:spPr bwMode="auto">
            <a:xfrm>
              <a:off x="4150" y="3657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i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kumimoji="0" lang="en-US" altLang="zh-CN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40" name="Oval 29"/>
            <p:cNvSpPr>
              <a:spLocks noChangeAspect="1" noChangeArrowheads="1"/>
            </p:cNvSpPr>
            <p:nvPr/>
          </p:nvSpPr>
          <p:spPr bwMode="auto">
            <a:xfrm>
              <a:off x="4212" y="3695"/>
              <a:ext cx="57" cy="5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6" name="Group 30"/>
          <p:cNvGrpSpPr/>
          <p:nvPr/>
        </p:nvGrpSpPr>
        <p:grpSpPr bwMode="auto">
          <a:xfrm>
            <a:off x="6748141" y="3715990"/>
            <a:ext cx="90487" cy="1800225"/>
            <a:chOff x="4205" y="2568"/>
            <a:chExt cx="57" cy="1134"/>
          </a:xfrm>
        </p:grpSpPr>
        <p:sp>
          <p:nvSpPr>
            <p:cNvPr id="21537" name="Line 31"/>
            <p:cNvSpPr>
              <a:spLocks noChangeShapeType="1"/>
            </p:cNvSpPr>
            <p:nvPr/>
          </p:nvSpPr>
          <p:spPr bwMode="auto">
            <a:xfrm flipV="1">
              <a:off x="4241" y="2568"/>
              <a:ext cx="0" cy="1134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8" name="Oval 32"/>
            <p:cNvSpPr>
              <a:spLocks noChangeAspect="1" noChangeArrowheads="1"/>
            </p:cNvSpPr>
            <p:nvPr/>
          </p:nvSpPr>
          <p:spPr bwMode="auto">
            <a:xfrm>
              <a:off x="4205" y="2568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7" name="Group 33"/>
          <p:cNvGrpSpPr/>
          <p:nvPr/>
        </p:nvGrpSpPr>
        <p:grpSpPr bwMode="auto">
          <a:xfrm>
            <a:off x="5940103" y="3715990"/>
            <a:ext cx="935038" cy="2185988"/>
            <a:chOff x="3696" y="2568"/>
            <a:chExt cx="589" cy="1377"/>
          </a:xfrm>
        </p:grpSpPr>
        <p:sp>
          <p:nvSpPr>
            <p:cNvPr id="21534" name="Line 34"/>
            <p:cNvSpPr>
              <a:spLocks noChangeShapeType="1"/>
            </p:cNvSpPr>
            <p:nvPr/>
          </p:nvSpPr>
          <p:spPr bwMode="auto">
            <a:xfrm flipH="1">
              <a:off x="3869" y="2568"/>
              <a:ext cx="376" cy="1134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5" name="Text Box 35"/>
            <p:cNvSpPr txBox="1">
              <a:spLocks noChangeArrowheads="1"/>
            </p:cNvSpPr>
            <p:nvPr/>
          </p:nvSpPr>
          <p:spPr bwMode="auto">
            <a:xfrm>
              <a:off x="3696" y="3657"/>
              <a:ext cx="58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i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kumimoji="0" lang="en-US" altLang="zh-CN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+1</a:t>
              </a:r>
              <a:endParaRPr kumimoji="0" lang="en-US" altLang="zh-CN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36" name="Oval 36"/>
            <p:cNvSpPr>
              <a:spLocks noChangeAspect="1" noChangeArrowheads="1"/>
            </p:cNvSpPr>
            <p:nvPr/>
          </p:nvSpPr>
          <p:spPr bwMode="auto">
            <a:xfrm>
              <a:off x="3844" y="3695"/>
              <a:ext cx="57" cy="5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8" name="Group 37"/>
          <p:cNvGrpSpPr/>
          <p:nvPr/>
        </p:nvGrpSpPr>
        <p:grpSpPr bwMode="auto">
          <a:xfrm>
            <a:off x="6175053" y="4797078"/>
            <a:ext cx="90488" cy="752475"/>
            <a:chOff x="3844" y="3249"/>
            <a:chExt cx="57" cy="474"/>
          </a:xfrm>
        </p:grpSpPr>
        <p:sp>
          <p:nvSpPr>
            <p:cNvPr id="21532" name="Line 38"/>
            <p:cNvSpPr>
              <a:spLocks noChangeShapeType="1"/>
            </p:cNvSpPr>
            <p:nvPr/>
          </p:nvSpPr>
          <p:spPr bwMode="auto">
            <a:xfrm flipV="1">
              <a:off x="3878" y="3294"/>
              <a:ext cx="0" cy="429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3" name="Oval 39"/>
            <p:cNvSpPr>
              <a:spLocks noChangeAspect="1" noChangeArrowheads="1"/>
            </p:cNvSpPr>
            <p:nvPr/>
          </p:nvSpPr>
          <p:spPr bwMode="auto">
            <a:xfrm>
              <a:off x="3844" y="3249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9" name="Group 40"/>
          <p:cNvGrpSpPr/>
          <p:nvPr/>
        </p:nvGrpSpPr>
        <p:grpSpPr bwMode="auto">
          <a:xfrm>
            <a:off x="5732141" y="4868515"/>
            <a:ext cx="482600" cy="738188"/>
            <a:chOff x="3565" y="3294"/>
            <a:chExt cx="304" cy="465"/>
          </a:xfrm>
        </p:grpSpPr>
        <p:sp>
          <p:nvSpPr>
            <p:cNvPr id="21530" name="Line 41"/>
            <p:cNvSpPr>
              <a:spLocks noChangeShapeType="1"/>
            </p:cNvSpPr>
            <p:nvPr/>
          </p:nvSpPr>
          <p:spPr bwMode="auto">
            <a:xfrm flipH="1">
              <a:off x="3606" y="3294"/>
              <a:ext cx="263" cy="408"/>
            </a:xfrm>
            <a:prstGeom prst="line">
              <a:avLst/>
            </a:prstGeom>
            <a:noFill/>
            <a:ln w="22225">
              <a:solidFill>
                <a:schemeClr val="hlink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1" name="Oval 42"/>
            <p:cNvSpPr>
              <a:spLocks noChangeAspect="1" noChangeArrowheads="1"/>
            </p:cNvSpPr>
            <p:nvPr/>
          </p:nvSpPr>
          <p:spPr bwMode="auto">
            <a:xfrm>
              <a:off x="3565" y="3702"/>
              <a:ext cx="57" cy="57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6667" name="Rectangle 43"/>
          <p:cNvSpPr>
            <a:spLocks noChangeArrowheads="1"/>
          </p:cNvSpPr>
          <p:nvPr/>
        </p:nvSpPr>
        <p:spPr bwMode="auto">
          <a:xfrm>
            <a:off x="467991" y="4939953"/>
            <a:ext cx="2952750" cy="528637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条件：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2800" i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 0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6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6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66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6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6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6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4" dur="500"/>
                                        <p:tgtEl>
                                          <p:spTgt spid="26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/>
      <p:bldP spid="26628" grpId="0"/>
      <p:bldP spid="26629" grpId="0"/>
      <p:bldP spid="26634" grpId="0" animBg="1"/>
      <p:bldP spid="26636" grpId="0" animBg="1"/>
      <p:bldP spid="26638" grpId="0" animBg="1"/>
      <p:bldP spid="26640" grpId="0" animBg="1"/>
      <p:bldP spid="26650" grpId="0" animBg="1"/>
      <p:bldP spid="2666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5414"/>
            <a:ext cx="5395913" cy="823912"/>
          </a:xfrm>
          <a:noFill/>
        </p:spPr>
        <p:txBody>
          <a:bodyPr anchor="b">
            <a:spAutoFit/>
          </a:bodyPr>
          <a:lstStyle/>
          <a:p>
            <a:pPr eaLnBrk="1" hangingPunct="1"/>
            <a:r>
              <a:rPr lang="en-US" altLang="zh-CN" sz="4800" dirty="0"/>
              <a:t>Newton</a:t>
            </a:r>
            <a:r>
              <a:rPr lang="zh-CN" altLang="en-US" sz="4800" dirty="0"/>
              <a:t>迭代</a:t>
            </a: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250825" y="1341438"/>
            <a:ext cx="6846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>
                <a:schemeClr val="hlink"/>
              </a:buClr>
              <a:buFont typeface="Wingdings" panose="05000000000000000000" pitchFamily="2" charset="2"/>
              <a:buChar char="p"/>
            </a:pPr>
            <a:r>
              <a:rPr lang="en-US" altLang="zh-CN" sz="280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Newton 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法可以看作下面的不动点迭代：</a:t>
            </a:r>
          </a:p>
        </p:txBody>
      </p:sp>
      <p:graphicFrame>
        <p:nvGraphicFramePr>
          <p:cNvPr id="27652" name="Object 4"/>
          <p:cNvGraphicFramePr>
            <a:graphicFrameLocks noChangeAspect="1"/>
          </p:cNvGraphicFramePr>
          <p:nvPr/>
        </p:nvGraphicFramePr>
        <p:xfrm>
          <a:off x="684213" y="1989138"/>
          <a:ext cx="1871662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0" name="Equation" r:id="rId3" imgW="800100" imgH="228600" progId="Equation.DSMT4">
                  <p:embed/>
                </p:oleObj>
              </mc:Choice>
              <mc:Fallback>
                <p:oleObj name="Equation" r:id="rId3" imgW="8001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989138"/>
                        <a:ext cx="1871662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2555875" y="2060575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其中</a:t>
            </a:r>
          </a:p>
        </p:txBody>
      </p:sp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3492500" y="1916113"/>
          <a:ext cx="2071688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1" name="Equation" r:id="rId5" imgW="1104900" imgH="419100" progId="Equation.DSMT4">
                  <p:embed/>
                </p:oleObj>
              </mc:Choice>
              <mc:Fallback>
                <p:oleObj name="Equation" r:id="rId5" imgW="1104900" imgH="419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1916113"/>
                        <a:ext cx="2071688" cy="835025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7"/>
          <p:cNvGraphicFramePr>
            <a:graphicFrameLocks noChangeAspect="1"/>
          </p:cNvGraphicFramePr>
          <p:nvPr/>
        </p:nvGraphicFramePr>
        <p:xfrm>
          <a:off x="6300788" y="1916113"/>
          <a:ext cx="238125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2" name="Equation" r:id="rId7" imgW="1270000" imgH="457200" progId="Equation.DSMT4">
                  <p:embed/>
                </p:oleObj>
              </mc:Choice>
              <mc:Fallback>
                <p:oleObj name="Equation" r:id="rId7" imgW="1270000" imgH="457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1916113"/>
                        <a:ext cx="238125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AutoShape 8"/>
          <p:cNvSpPr>
            <a:spLocks noChangeArrowheads="1"/>
          </p:cNvSpPr>
          <p:nvPr/>
        </p:nvSpPr>
        <p:spPr bwMode="auto">
          <a:xfrm>
            <a:off x="2916238" y="3068638"/>
            <a:ext cx="495300" cy="360362"/>
          </a:xfrm>
          <a:prstGeom prst="rightArrow">
            <a:avLst>
              <a:gd name="adj1" fmla="val 50000"/>
              <a:gd name="adj2" fmla="val 34361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1042988" y="2995613"/>
            <a:ext cx="17637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</a:t>
            </a:r>
            <a:r>
              <a:rPr lang="en-US" altLang="zh-CN" sz="28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*) = 0</a:t>
            </a:r>
            <a:endParaRPr lang="en-US" altLang="zh-CN" sz="2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8" name="AutoShape 10"/>
          <p:cNvSpPr>
            <a:spLocks noChangeArrowheads="1"/>
          </p:cNvSpPr>
          <p:nvPr/>
        </p:nvSpPr>
        <p:spPr bwMode="auto">
          <a:xfrm>
            <a:off x="539750" y="3068638"/>
            <a:ext cx="503238" cy="360362"/>
          </a:xfrm>
          <a:prstGeom prst="rightArrow">
            <a:avLst>
              <a:gd name="adj1" fmla="val 50000"/>
              <a:gd name="adj2" fmla="val 3491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3563938" y="2997200"/>
            <a:ext cx="5256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Newton 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法至少 </a:t>
            </a:r>
            <a:r>
              <a:rPr lang="zh-CN" altLang="en-US" sz="2800" b="0">
                <a:latin typeface="Times New Roman" panose="02020603050405020304" pitchFamily="18" charset="0"/>
                <a:ea typeface="黑体" panose="02010609060101010101" pitchFamily="49" charset="-122"/>
              </a:rPr>
              <a:t>二阶 </a:t>
            </a:r>
            <a:r>
              <a:rPr lang="zh-CN" altLang="en-US" sz="2800" b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局部收敛</a:t>
            </a:r>
          </a:p>
        </p:txBody>
      </p:sp>
      <p:sp>
        <p:nvSpPr>
          <p:cNvPr id="27660" name="Rectangle 12"/>
          <p:cNvSpPr>
            <a:spLocks noChangeArrowheads="1"/>
          </p:cNvSpPr>
          <p:nvPr/>
        </p:nvSpPr>
        <p:spPr bwMode="auto">
          <a:xfrm>
            <a:off x="395288" y="3860800"/>
            <a:ext cx="825500" cy="495300"/>
          </a:xfrm>
          <a:prstGeom prst="rect">
            <a:avLst/>
          </a:prstGeom>
          <a:blipFill dpi="0" rotWithShape="1">
            <a:blip r:embed="rId9"/>
            <a:srcRect/>
            <a:tile tx="0" ty="0" sx="100000" sy="100000" flip="none" algn="tl"/>
          </a:blipFill>
          <a:ln w="57150" cmpd="thickThin">
            <a:solidFill>
              <a:srgbClr val="FF0000"/>
            </a:solidFill>
            <a:miter lim="800000"/>
          </a:ln>
        </p:spPr>
        <p:txBody>
          <a:bodyPr lIns="54000" tIns="36000" rIns="54000" bIns="360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kumimoji="0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</a:p>
        </p:txBody>
      </p:sp>
      <p:sp>
        <p:nvSpPr>
          <p:cNvPr id="27661" name="Text Box 13"/>
          <p:cNvSpPr txBox="1">
            <a:spLocks noChangeArrowheads="1"/>
          </p:cNvSpPr>
          <p:nvPr/>
        </p:nvSpPr>
        <p:spPr bwMode="auto">
          <a:xfrm>
            <a:off x="323850" y="3860800"/>
            <a:ext cx="8569325" cy="199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6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 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26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6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在其零点 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600">
                <a:latin typeface="Times New Roman" panose="02020603050405020304" pitchFamily="18" charset="0"/>
                <a:ea typeface="宋体" panose="02010600030101010101" pitchFamily="2" charset="-122"/>
              </a:rPr>
              <a:t>* 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的某个邻域内</a:t>
            </a:r>
            <a:r>
              <a:rPr lang="zh-CN" altLang="en-US" sz="2600">
                <a:latin typeface="Times New Roman" panose="02020603050405020304" pitchFamily="18" charset="0"/>
                <a:ea typeface="宋体" panose="02010600030101010101" pitchFamily="2" charset="-122"/>
              </a:rPr>
              <a:t>二阶连续可导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且 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2600" i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6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600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en-US" altLang="zh-CN" sz="2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 0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，则存在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x* 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的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某个</a:t>
            </a:r>
            <a:r>
              <a:rPr lang="zh-CN" altLang="en-US" sz="26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600" i="1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 </a:t>
            </a:r>
            <a:r>
              <a:rPr lang="zh-CN" altLang="en-US" sz="260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邻域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6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x*</a:t>
            </a:r>
            <a:r>
              <a:rPr lang="en-US" altLang="zh-CN" sz="26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=[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*-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 </a:t>
            </a:r>
            <a:r>
              <a:rPr lang="en-US" altLang="zh-CN" sz="2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x* </a:t>
            </a:r>
            <a:r>
              <a:rPr lang="en-US" altLang="zh-CN" sz="2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 </a:t>
            </a:r>
            <a:r>
              <a:rPr lang="en-US" altLang="zh-CN" sz="2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],</a:t>
            </a:r>
            <a:r>
              <a:rPr lang="en-US" altLang="zh-CN" sz="26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使得对 </a:t>
            </a:r>
            <a:r>
              <a:rPr lang="zh-CN" altLang="en-US" sz="2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600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 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26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x*</a:t>
            </a:r>
            <a:r>
              <a:rPr lang="en-US" altLang="zh-CN" sz="26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60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6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Newton 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法产生的序列以</a:t>
            </a:r>
            <a:r>
              <a:rPr lang="zh-CN" altLang="en-US" sz="26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不低于</a:t>
            </a:r>
            <a:r>
              <a:rPr lang="zh-CN" altLang="en-US" sz="260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二阶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的收敛速度收敛到 </a:t>
            </a:r>
            <a:r>
              <a:rPr lang="en-US" altLang="zh-CN" sz="26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600"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6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27662" name="AutoShape 14"/>
          <p:cNvSpPr>
            <a:spLocks noChangeArrowheads="1"/>
          </p:cNvSpPr>
          <p:nvPr/>
        </p:nvSpPr>
        <p:spPr bwMode="auto">
          <a:xfrm>
            <a:off x="5795963" y="2205038"/>
            <a:ext cx="503237" cy="360362"/>
          </a:xfrm>
          <a:prstGeom prst="rightArrow">
            <a:avLst>
              <a:gd name="adj1" fmla="val 50000"/>
              <a:gd name="adj2" fmla="val 3491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6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76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76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/>
      <p:bldP spid="27653" grpId="0"/>
      <p:bldP spid="27656" grpId="0" animBg="1"/>
      <p:bldP spid="27657" grpId="0"/>
      <p:bldP spid="27658" grpId="0" animBg="1"/>
      <p:bldP spid="27659" grpId="0"/>
      <p:bldP spid="27660" grpId="0" animBg="1"/>
      <p:bldP spid="27661" grpId="0"/>
      <p:bldP spid="2766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3500289" cy="830997"/>
          </a:xfrm>
          <a:noFill/>
        </p:spPr>
        <p:txBody>
          <a:bodyPr wrap="square" anchor="b">
            <a:spAutoFit/>
          </a:bodyPr>
          <a:lstStyle/>
          <a:p>
            <a:pPr eaLnBrk="1" hangingPunct="1"/>
            <a:r>
              <a:rPr lang="zh-CN" altLang="en-US" sz="4800" dirty="0"/>
              <a:t>收敛性定理</a:t>
            </a:r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396602" y="1124744"/>
            <a:ext cx="825500" cy="4953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57150" cmpd="thickThin">
            <a:solidFill>
              <a:srgbClr val="FF0000"/>
            </a:solidFill>
            <a:miter lim="800000"/>
          </a:ln>
        </p:spPr>
        <p:txBody>
          <a:bodyPr lIns="54000" tIns="36000" rIns="54000" bIns="360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kumimoji="0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1331640" y="1124744"/>
            <a:ext cx="5113337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baseline="300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，且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满足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1331640" y="1988344"/>
            <a:ext cx="56896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(1)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 &lt; 0</a:t>
            </a:r>
            <a:endParaRPr lang="en-US" altLang="zh-CN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1404665" y="2493169"/>
            <a:ext cx="669607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(2)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对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[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i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 0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且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i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”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 0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；</a:t>
            </a:r>
          </a:p>
        </p:txBody>
      </p:sp>
      <p:sp>
        <p:nvSpPr>
          <p:cNvPr id="29703" name="Text Box 7"/>
          <p:cNvSpPr txBox="1">
            <a:spLocks noChangeArrowheads="1"/>
          </p:cNvSpPr>
          <p:nvPr/>
        </p:nvSpPr>
        <p:spPr bwMode="auto">
          <a:xfrm>
            <a:off x="1404665" y="2996407"/>
            <a:ext cx="67691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(3)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初始点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0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满足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i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”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 &gt; 0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；</a:t>
            </a:r>
          </a:p>
        </p:txBody>
      </p:sp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828402" y="3501232"/>
            <a:ext cx="80645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则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Newton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法产生的序列收敛到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在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的唯一零点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animBg="1"/>
      <p:bldP spid="29700" grpId="0" autoUpdateAnimBg="0"/>
      <p:bldP spid="29701" grpId="0" autoUpdateAnimBg="0"/>
      <p:bldP spid="29702" grpId="0" autoUpdateAnimBg="0"/>
      <p:bldP spid="29703" grpId="0" autoUpdateAnimBg="0"/>
      <p:bldP spid="29704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17588" y="159176"/>
            <a:ext cx="4508401" cy="830997"/>
          </a:xfrm>
          <a:noFill/>
        </p:spPr>
        <p:txBody>
          <a:bodyPr wrap="square" anchor="b">
            <a:spAutoFit/>
          </a:bodyPr>
          <a:lstStyle/>
          <a:p>
            <a:pPr eaLnBrk="1" hangingPunct="1"/>
            <a:r>
              <a:rPr lang="zh-CN" altLang="en-US" sz="4800" dirty="0"/>
              <a:t>全局收敛性定理</a:t>
            </a: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180577" y="1268760"/>
            <a:ext cx="825500" cy="4953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57150" cmpd="thickThin">
            <a:solidFill>
              <a:srgbClr val="FF0000"/>
            </a:solidFill>
            <a:miter lim="800000"/>
          </a:ln>
        </p:spPr>
        <p:txBody>
          <a:bodyPr lIns="54000" tIns="36000" rIns="54000" bIns="360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kumimoji="0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1115616" y="1268760"/>
            <a:ext cx="410520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baseline="30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，且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满足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1115615" y="1771997"/>
            <a:ext cx="56896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(1)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 &lt; 0</a:t>
            </a:r>
            <a:endParaRPr lang="en-US" altLang="zh-CN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1188640" y="2276822"/>
            <a:ext cx="669607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(2)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对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[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i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 0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且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i="1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”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 0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；</a:t>
            </a:r>
          </a:p>
        </p:txBody>
      </p:sp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612377" y="4004022"/>
            <a:ext cx="770572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则对任意初始点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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Newton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法产生的序列收敛到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在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的唯一零点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</p:txBody>
      </p:sp>
      <p:grpSp>
        <p:nvGrpSpPr>
          <p:cNvPr id="2" name="Group 8"/>
          <p:cNvGrpSpPr/>
          <p:nvPr/>
        </p:nvGrpSpPr>
        <p:grpSpPr bwMode="auto">
          <a:xfrm>
            <a:off x="1188640" y="2924522"/>
            <a:ext cx="4352925" cy="962025"/>
            <a:chOff x="839" y="1888"/>
            <a:chExt cx="2742" cy="606"/>
          </a:xfrm>
        </p:grpSpPr>
        <p:sp>
          <p:nvSpPr>
            <p:cNvPr id="24586" name="Text Box 9"/>
            <p:cNvSpPr txBox="1">
              <a:spLocks noChangeArrowheads="1"/>
            </p:cNvSpPr>
            <p:nvPr/>
          </p:nvSpPr>
          <p:spPr bwMode="auto">
            <a:xfrm>
              <a:off x="839" y="1979"/>
              <a:ext cx="726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(3)</a:t>
              </a:r>
            </a:p>
          </p:txBody>
        </p:sp>
        <p:graphicFrame>
          <p:nvGraphicFramePr>
            <p:cNvPr id="24578" name="Object 10"/>
            <p:cNvGraphicFramePr>
              <a:graphicFrameLocks noChangeAspect="1"/>
            </p:cNvGraphicFramePr>
            <p:nvPr/>
          </p:nvGraphicFramePr>
          <p:xfrm>
            <a:off x="1202" y="1888"/>
            <a:ext cx="2379" cy="6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25" name="Equation" r:id="rId4" imgW="1892300" imgH="482600" progId="Equation.DSMT4">
                    <p:embed/>
                  </p:oleObj>
                </mc:Choice>
                <mc:Fallback>
                  <p:oleObj name="Equation" r:id="rId4" imgW="1892300" imgH="4826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2" y="1888"/>
                          <a:ext cx="2379" cy="6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animBg="1"/>
      <p:bldP spid="30724" grpId="0" autoUpdateAnimBg="0"/>
      <p:bldP spid="30725" grpId="0" autoUpdateAnimBg="0"/>
      <p:bldP spid="30726" grpId="0" autoUpdateAnimBg="0"/>
      <p:bldP spid="30727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 bwMode="auto">
          <a:xfrm>
            <a:off x="395536" y="260647"/>
            <a:ext cx="6480175" cy="609599"/>
            <a:chOff x="204" y="845"/>
            <a:chExt cx="4082" cy="384"/>
          </a:xfrm>
        </p:grpSpPr>
        <p:sp>
          <p:nvSpPr>
            <p:cNvPr id="25617" name="Text Box 4"/>
            <p:cNvSpPr txBox="1">
              <a:spLocks noChangeArrowheads="1"/>
            </p:cNvSpPr>
            <p:nvPr/>
          </p:nvSpPr>
          <p:spPr bwMode="auto">
            <a:xfrm>
              <a:off x="204" y="845"/>
              <a:ext cx="4082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sz="2800" b="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例</a:t>
              </a:r>
              <a:r>
                <a:rPr lang="en-US" altLang="zh-CN" sz="2800" b="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10</a:t>
              </a:r>
              <a:r>
                <a:rPr lang="zh-CN" altLang="en-US" sz="2800" b="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：</a:t>
              </a:r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设计一个二阶收敛算法计算        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 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&gt; 0)</a:t>
              </a:r>
              <a:r>
                <a:rPr lang="zh-CN" altLang="en-US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。</a:t>
              </a:r>
              <a:endPara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25607" name="Object 5"/>
            <p:cNvGraphicFramePr>
              <a:graphicFrameLocks noChangeAspect="1"/>
            </p:cNvGraphicFramePr>
            <p:nvPr/>
          </p:nvGraphicFramePr>
          <p:xfrm>
            <a:off x="3212" y="890"/>
            <a:ext cx="303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6" name="Equation" r:id="rId3" imgW="241300" imgH="241300" progId="Equation.DSMT4">
                    <p:embed/>
                  </p:oleObj>
                </mc:Choice>
                <mc:Fallback>
                  <p:oleObj name="Equation" r:id="rId3" imgW="241300" imgH="2413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2" y="890"/>
                          <a:ext cx="303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395536" y="908348"/>
            <a:ext cx="5040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 sz="2800" b="0">
                <a:latin typeface="Times New Roman" panose="02020603050405020304" pitchFamily="18" charset="0"/>
                <a:ea typeface="黑体" panose="02010609060101010101" pitchFamily="49" charset="-122"/>
              </a:rPr>
              <a:t>解：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转化为求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30000">
                <a:latin typeface="Times New Roman" panose="02020603050405020304" pitchFamily="18" charset="0"/>
              </a:rPr>
              <a:t>2</a:t>
            </a:r>
            <a:r>
              <a:rPr lang="en-US" altLang="zh-CN">
                <a:latin typeface="Courier New" panose="02070309020205020404" pitchFamily="49" charset="0"/>
              </a:rPr>
              <a:t>-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>
                <a:latin typeface="Times New Roman" panose="02020603050405020304" pitchFamily="18" charset="0"/>
              </a:rPr>
              <a:t> = 0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的正根</a:t>
            </a:r>
          </a:p>
        </p:txBody>
      </p:sp>
      <p:sp>
        <p:nvSpPr>
          <p:cNvPr id="31751" name="Rectangle 7"/>
          <p:cNvSpPr>
            <a:spLocks noChangeArrowheads="1"/>
          </p:cNvSpPr>
          <p:nvPr/>
        </p:nvSpPr>
        <p:spPr bwMode="auto">
          <a:xfrm>
            <a:off x="466974" y="1627485"/>
            <a:ext cx="2179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Newton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迭代：</a:t>
            </a:r>
          </a:p>
        </p:txBody>
      </p:sp>
      <p:graphicFrame>
        <p:nvGraphicFramePr>
          <p:cNvPr id="31752" name="Object 8"/>
          <p:cNvGraphicFramePr>
            <a:graphicFrameLocks noChangeAspect="1"/>
          </p:cNvGraphicFramePr>
          <p:nvPr/>
        </p:nvGraphicFramePr>
        <p:xfrm>
          <a:off x="2556124" y="1411585"/>
          <a:ext cx="542925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7" name="Equation" r:id="rId5" imgW="2895600" imgH="482600" progId="Equation.DSMT4">
                  <p:embed/>
                </p:oleObj>
              </mc:Choice>
              <mc:Fallback>
                <p:oleObj name="Equation" r:id="rId5" imgW="2895600" imgH="482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6124" y="1411585"/>
                        <a:ext cx="542925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3" name="AutoShape 9"/>
          <p:cNvSpPr>
            <a:spLocks noChangeArrowheads="1"/>
          </p:cNvSpPr>
          <p:nvPr/>
        </p:nvSpPr>
        <p:spPr bwMode="auto">
          <a:xfrm>
            <a:off x="611436" y="2780010"/>
            <a:ext cx="576263" cy="360363"/>
          </a:xfrm>
          <a:prstGeom prst="rightArrow">
            <a:avLst>
              <a:gd name="adj1" fmla="val 50000"/>
              <a:gd name="adj2" fmla="val 3997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1754" name="Object 10"/>
          <p:cNvGraphicFramePr>
            <a:graphicFrameLocks noChangeAspect="1"/>
          </p:cNvGraphicFramePr>
          <p:nvPr/>
        </p:nvGraphicFramePr>
        <p:xfrm>
          <a:off x="1330574" y="2564110"/>
          <a:ext cx="2833687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8" name="Equation" r:id="rId7" imgW="1511300" imgH="457200" progId="Equation.DSMT4">
                  <p:embed/>
                </p:oleObj>
              </mc:Choice>
              <mc:Fallback>
                <p:oleObj name="Equation" r:id="rId7" imgW="1511300" imgH="457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0574" y="2564110"/>
                        <a:ext cx="2833687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5" name="Object 11"/>
          <p:cNvGraphicFramePr>
            <a:graphicFrameLocks noChangeAspect="1"/>
          </p:cNvGraphicFramePr>
          <p:nvPr/>
        </p:nvGraphicFramePr>
        <p:xfrm>
          <a:off x="4211886" y="2419648"/>
          <a:ext cx="3714750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9" name="Equation" r:id="rId9" imgW="1981200" imgH="546100" progId="Equation.DSMT4">
                  <p:embed/>
                </p:oleObj>
              </mc:Choice>
              <mc:Fallback>
                <p:oleObj name="Equation" r:id="rId9" imgW="1981200" imgH="5461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886" y="2419648"/>
                        <a:ext cx="3714750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6" name="AutoShape 12"/>
          <p:cNvSpPr>
            <a:spLocks noChangeArrowheads="1"/>
          </p:cNvSpPr>
          <p:nvPr/>
        </p:nvSpPr>
        <p:spPr bwMode="auto">
          <a:xfrm>
            <a:off x="539999" y="3861098"/>
            <a:ext cx="576262" cy="360362"/>
          </a:xfrm>
          <a:prstGeom prst="rightArrow">
            <a:avLst>
              <a:gd name="adj1" fmla="val 50000"/>
              <a:gd name="adj2" fmla="val 3997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1757" name="Object 13"/>
          <p:cNvGraphicFramePr>
            <a:graphicFrameLocks noChangeAspect="1"/>
          </p:cNvGraphicFramePr>
          <p:nvPr/>
        </p:nvGraphicFramePr>
        <p:xfrm>
          <a:off x="1330574" y="3500735"/>
          <a:ext cx="2143125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40" name="Equation" r:id="rId11" imgW="1143000" imgH="558800" progId="Equation.DSMT4">
                  <p:embed/>
                </p:oleObj>
              </mc:Choice>
              <mc:Fallback>
                <p:oleObj name="Equation" r:id="rId11" imgW="1143000" imgH="558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0574" y="3500735"/>
                        <a:ext cx="2143125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8" name="Line 14"/>
          <p:cNvSpPr>
            <a:spLocks noChangeShapeType="1"/>
          </p:cNvSpPr>
          <p:nvPr/>
        </p:nvSpPr>
        <p:spPr bwMode="auto">
          <a:xfrm>
            <a:off x="3564186" y="4003973"/>
            <a:ext cx="647700" cy="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31759" name="Object 15"/>
          <p:cNvGraphicFramePr>
            <a:graphicFrameLocks noChangeAspect="1"/>
          </p:cNvGraphicFramePr>
          <p:nvPr/>
        </p:nvGraphicFramePr>
        <p:xfrm>
          <a:off x="4283324" y="3643610"/>
          <a:ext cx="642937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41" name="Equation" r:id="rId13" imgW="342900" imgH="419100" progId="Equation.DSMT4">
                  <p:embed/>
                </p:oleObj>
              </mc:Choice>
              <mc:Fallback>
                <p:oleObj name="Equation" r:id="rId13" imgW="342900" imgH="4191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324" y="3643610"/>
                        <a:ext cx="642937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0" name="Rectangle 16"/>
          <p:cNvSpPr>
            <a:spLocks noChangeArrowheads="1"/>
          </p:cNvSpPr>
          <p:nvPr/>
        </p:nvSpPr>
        <p:spPr bwMode="auto">
          <a:xfrm>
            <a:off x="6156574" y="3788073"/>
            <a:ext cx="2303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二阶收敛</a:t>
            </a:r>
          </a:p>
        </p:txBody>
      </p:sp>
      <p:sp>
        <p:nvSpPr>
          <p:cNvPr id="31761" name="AutoShape 17"/>
          <p:cNvSpPr>
            <a:spLocks noChangeArrowheads="1"/>
          </p:cNvSpPr>
          <p:nvPr/>
        </p:nvSpPr>
        <p:spPr bwMode="auto">
          <a:xfrm>
            <a:off x="5219949" y="3861098"/>
            <a:ext cx="863600" cy="358775"/>
          </a:xfrm>
          <a:prstGeom prst="rightArrow">
            <a:avLst>
              <a:gd name="adj1" fmla="val 50000"/>
              <a:gd name="adj2" fmla="val 6017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7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17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0" grpId="0"/>
      <p:bldP spid="31751" grpId="0"/>
      <p:bldP spid="31753" grpId="0" animBg="1"/>
      <p:bldP spid="31756" grpId="0" animBg="1"/>
      <p:bldP spid="31760" grpId="0"/>
      <p:bldP spid="3176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3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14491"/>
            <a:ext cx="3130996" cy="823912"/>
          </a:xfrm>
          <a:noFill/>
        </p:spPr>
        <p:txBody>
          <a:bodyPr wrap="square" anchor="b">
            <a:spAutoFit/>
          </a:bodyPr>
          <a:lstStyle/>
          <a:p>
            <a:pPr eaLnBrk="1" hangingPunct="1"/>
            <a:r>
              <a:rPr lang="zh-CN" altLang="en-US" sz="4800" dirty="0"/>
              <a:t>重根情形</a:t>
            </a: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250825" y="1335088"/>
            <a:ext cx="8893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>
                <a:schemeClr val="hlink"/>
              </a:buClr>
              <a:buFont typeface="Wingdings" panose="05000000000000000000" pitchFamily="2" charset="2"/>
              <a:buChar char="p"/>
            </a:pPr>
            <a:r>
              <a:rPr lang="en-US" altLang="zh-CN" sz="280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*</a:t>
            </a: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 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</a:t>
            </a:r>
            <a:r>
              <a:rPr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2)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重根，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Newton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法是否收敛？</a:t>
            </a:r>
          </a:p>
        </p:txBody>
      </p:sp>
      <p:graphicFrame>
        <p:nvGraphicFramePr>
          <p:cNvPr id="32772" name="Object 4"/>
          <p:cNvGraphicFramePr>
            <a:graphicFrameLocks noChangeAspect="1"/>
          </p:cNvGraphicFramePr>
          <p:nvPr/>
        </p:nvGraphicFramePr>
        <p:xfrm>
          <a:off x="900113" y="1916113"/>
          <a:ext cx="64484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6" name="Equation" r:id="rId3" imgW="3225800" imgH="228600" progId="Equation.DSMT4">
                  <p:embed/>
                </p:oleObj>
              </mc:Choice>
              <mc:Fallback>
                <p:oleObj name="Equation" r:id="rId3" imgW="32258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916113"/>
                        <a:ext cx="64484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827088" y="2565400"/>
            <a:ext cx="2017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863600" indent="-863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10000"/>
              </a:spcBef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Taylor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展式</a:t>
            </a:r>
          </a:p>
        </p:txBody>
      </p:sp>
      <p:sp>
        <p:nvSpPr>
          <p:cNvPr id="32774" name="AutoShape 6"/>
          <p:cNvSpPr>
            <a:spLocks noChangeArrowheads="1"/>
          </p:cNvSpPr>
          <p:nvPr/>
        </p:nvSpPr>
        <p:spPr bwMode="auto">
          <a:xfrm>
            <a:off x="2700338" y="2636838"/>
            <a:ext cx="504825" cy="288925"/>
          </a:xfrm>
          <a:prstGeom prst="rightArrow">
            <a:avLst>
              <a:gd name="adj1" fmla="val 50000"/>
              <a:gd name="adj2" fmla="val 4368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775" name="Object 7"/>
          <p:cNvGraphicFramePr>
            <a:graphicFrameLocks noChangeAspect="1"/>
          </p:cNvGraphicFramePr>
          <p:nvPr/>
        </p:nvGraphicFramePr>
        <p:xfrm>
          <a:off x="3492500" y="2420938"/>
          <a:ext cx="3317875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7" name="Equation" r:id="rId5" imgW="1841500" imgH="393700" progId="Equation.DSMT4">
                  <p:embed/>
                </p:oleObj>
              </mc:Choice>
              <mc:Fallback>
                <p:oleObj name="Equation" r:id="rId5" imgW="1841500" imgH="393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2420938"/>
                        <a:ext cx="3317875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6" name="Object 8"/>
          <p:cNvGraphicFramePr>
            <a:graphicFrameLocks noChangeAspect="1"/>
          </p:cNvGraphicFramePr>
          <p:nvPr/>
        </p:nvGraphicFramePr>
        <p:xfrm>
          <a:off x="3492500" y="3068638"/>
          <a:ext cx="41465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8" name="Equation" r:id="rId7" imgW="2298700" imgH="419100" progId="Equation.DSMT4">
                  <p:embed/>
                </p:oleObj>
              </mc:Choice>
              <mc:Fallback>
                <p:oleObj name="Equation" r:id="rId7" imgW="2298700" imgH="419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3068638"/>
                        <a:ext cx="414655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7" name="Object 9"/>
          <p:cNvGraphicFramePr>
            <a:graphicFrameLocks noChangeAspect="1"/>
          </p:cNvGraphicFramePr>
          <p:nvPr/>
        </p:nvGraphicFramePr>
        <p:xfrm>
          <a:off x="3492500" y="3789363"/>
          <a:ext cx="42830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9" name="Equation" r:id="rId9" imgW="2374900" imgH="419100" progId="Equation.DSMT4">
                  <p:embed/>
                </p:oleObj>
              </mc:Choice>
              <mc:Fallback>
                <p:oleObj name="Equation" r:id="rId9" imgW="2374900" imgH="419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3789363"/>
                        <a:ext cx="428307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468313" y="4652963"/>
            <a:ext cx="2179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Newton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迭代：</a:t>
            </a:r>
          </a:p>
        </p:txBody>
      </p:sp>
      <p:graphicFrame>
        <p:nvGraphicFramePr>
          <p:cNvPr id="32779" name="Object 11"/>
          <p:cNvGraphicFramePr>
            <a:graphicFrameLocks noChangeAspect="1"/>
          </p:cNvGraphicFramePr>
          <p:nvPr/>
        </p:nvGraphicFramePr>
        <p:xfrm>
          <a:off x="2484438" y="4508500"/>
          <a:ext cx="2071687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00" name="Equation" r:id="rId11" imgW="1104900" imgH="419100" progId="Equation.DSMT4">
                  <p:embed/>
                </p:oleObj>
              </mc:Choice>
              <mc:Fallback>
                <p:oleObj name="Equation" r:id="rId11" imgW="1104900" imgH="4191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508500"/>
                        <a:ext cx="2071687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0" name="AutoShape 12"/>
          <p:cNvSpPr>
            <a:spLocks noChangeArrowheads="1"/>
          </p:cNvSpPr>
          <p:nvPr/>
        </p:nvSpPr>
        <p:spPr bwMode="auto">
          <a:xfrm>
            <a:off x="755650" y="5518150"/>
            <a:ext cx="504825" cy="288925"/>
          </a:xfrm>
          <a:prstGeom prst="rightArrow">
            <a:avLst>
              <a:gd name="adj1" fmla="val 50000"/>
              <a:gd name="adj2" fmla="val 4368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2781" name="Object 13"/>
          <p:cNvGraphicFramePr>
            <a:graphicFrameLocks noChangeAspect="1"/>
          </p:cNvGraphicFramePr>
          <p:nvPr/>
        </p:nvGraphicFramePr>
        <p:xfrm>
          <a:off x="1403350" y="5229225"/>
          <a:ext cx="440531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01" name="Equation" r:id="rId13" imgW="2349500" imgH="457200" progId="Equation.DSMT4">
                  <p:embed/>
                </p:oleObj>
              </mc:Choice>
              <mc:Fallback>
                <p:oleObj name="Equation" r:id="rId13" imgW="2349500" imgH="457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229225"/>
                        <a:ext cx="4405313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2" name="Object 14"/>
          <p:cNvGraphicFramePr>
            <a:graphicFrameLocks noChangeAspect="1"/>
          </p:cNvGraphicFramePr>
          <p:nvPr/>
        </p:nvGraphicFramePr>
        <p:xfrm>
          <a:off x="5940425" y="5229225"/>
          <a:ext cx="95250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902" name="Equation" r:id="rId15" imgW="508000" imgH="393700" progId="Equation.DSMT4">
                  <p:embed/>
                </p:oleObj>
              </mc:Choice>
              <mc:Fallback>
                <p:oleObj name="Equation" r:id="rId15" imgW="508000" imgH="3937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5229225"/>
                        <a:ext cx="952500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3" name="AutoShape 15"/>
          <p:cNvSpPr>
            <a:spLocks noChangeArrowheads="1"/>
          </p:cNvSpPr>
          <p:nvPr/>
        </p:nvSpPr>
        <p:spPr bwMode="auto">
          <a:xfrm>
            <a:off x="755650" y="6237288"/>
            <a:ext cx="504825" cy="288925"/>
          </a:xfrm>
          <a:prstGeom prst="rightArrow">
            <a:avLst>
              <a:gd name="adj1" fmla="val 50000"/>
              <a:gd name="adj2" fmla="val 4368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84" name="Rectangle 16"/>
          <p:cNvSpPr>
            <a:spLocks noChangeArrowheads="1"/>
          </p:cNvSpPr>
          <p:nvPr/>
        </p:nvSpPr>
        <p:spPr bwMode="auto">
          <a:xfrm>
            <a:off x="1331913" y="6145213"/>
            <a:ext cx="1716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线性收敛。</a:t>
            </a:r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2987675" y="6165850"/>
            <a:ext cx="394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</a:rPr>
              <a:t>且重数 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</a:rPr>
              <a:t>越高，收敛越慢。</a:t>
            </a:r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2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5" dur="5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27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27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4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/>
      <p:bldP spid="32773" grpId="0"/>
      <p:bldP spid="32774" grpId="0" animBg="1"/>
      <p:bldP spid="32778" grpId="0"/>
      <p:bldP spid="32780" grpId="0" animBg="1"/>
      <p:bldP spid="32783" grpId="0" animBg="1"/>
      <p:bldP spid="32784" grpId="0"/>
      <p:bldP spid="3278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4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60" y="110332"/>
            <a:ext cx="3739729" cy="823912"/>
          </a:xfrm>
          <a:noFill/>
        </p:spPr>
        <p:txBody>
          <a:bodyPr wrap="square" anchor="b">
            <a:spAutoFit/>
          </a:bodyPr>
          <a:lstStyle/>
          <a:p>
            <a:pPr eaLnBrk="1" hangingPunct="1"/>
            <a:r>
              <a:rPr lang="zh-CN" altLang="en-US" sz="4800" dirty="0"/>
              <a:t>提高收敛阶</a:t>
            </a: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323528" y="934244"/>
            <a:ext cx="2733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>
                <a:schemeClr val="hlink"/>
              </a:buClr>
              <a:buFont typeface="Wingdings" panose="05000000000000000000" pitchFamily="2" charset="2"/>
              <a:buChar char="p"/>
            </a:pP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提高收敛速度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1836416" y="2374106"/>
            <a:ext cx="3646487" cy="4667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>
                <a:latin typeface="Times New Roman" panose="02020603050405020304" pitchFamily="18" charset="0"/>
              </a:rPr>
              <a:t>但 </a:t>
            </a:r>
            <a:r>
              <a:rPr lang="en-US" altLang="zh-CN" i="1">
                <a:latin typeface="Times New Roman" panose="02020603050405020304" pitchFamily="18" charset="0"/>
              </a:rPr>
              <a:t>m </a:t>
            </a:r>
            <a:r>
              <a:rPr lang="zh-CN" altLang="en-US">
                <a:latin typeface="Times New Roman" panose="02020603050405020304" pitchFamily="18" charset="0"/>
              </a:rPr>
              <a:t>通常无法预先知道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！</a:t>
            </a:r>
          </a:p>
        </p:txBody>
      </p:sp>
      <p:grpSp>
        <p:nvGrpSpPr>
          <p:cNvPr id="2" name="Group 5"/>
          <p:cNvGrpSpPr/>
          <p:nvPr/>
        </p:nvGrpSpPr>
        <p:grpSpPr bwMode="auto">
          <a:xfrm>
            <a:off x="756916" y="1437481"/>
            <a:ext cx="3700462" cy="835025"/>
            <a:chOff x="431" y="1162"/>
            <a:chExt cx="2331" cy="526"/>
          </a:xfrm>
        </p:grpSpPr>
        <p:sp>
          <p:nvSpPr>
            <p:cNvPr id="27667" name="Text Box 6"/>
            <p:cNvSpPr txBox="1">
              <a:spLocks noChangeArrowheads="1"/>
            </p:cNvSpPr>
            <p:nvPr/>
          </p:nvSpPr>
          <p:spPr bwMode="auto">
            <a:xfrm>
              <a:off x="431" y="1253"/>
              <a:ext cx="12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863600" indent="-863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10000"/>
                </a:spcBef>
              </a:pP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法一：取 </a:t>
              </a:r>
            </a:p>
          </p:txBody>
        </p:sp>
        <p:graphicFrame>
          <p:nvGraphicFramePr>
            <p:cNvPr id="27653" name="Object 7"/>
            <p:cNvGraphicFramePr>
              <a:graphicFrameLocks noChangeAspect="1"/>
            </p:cNvGraphicFramePr>
            <p:nvPr/>
          </p:nvGraphicFramePr>
          <p:xfrm>
            <a:off x="1292" y="1162"/>
            <a:ext cx="1470" cy="5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14" name="Equation" r:id="rId3" imgW="1244600" imgH="419100" progId="Equation.DSMT4">
                    <p:embed/>
                  </p:oleObj>
                </mc:Choice>
                <mc:Fallback>
                  <p:oleObj name="Equation" r:id="rId3" imgW="1244600" imgH="4191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2" y="1162"/>
                          <a:ext cx="1470" cy="5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8"/>
          <p:cNvGrpSpPr/>
          <p:nvPr/>
        </p:nvGrpSpPr>
        <p:grpSpPr bwMode="auto">
          <a:xfrm>
            <a:off x="4716141" y="1653381"/>
            <a:ext cx="1935162" cy="404813"/>
            <a:chOff x="2925" y="1298"/>
            <a:chExt cx="1219" cy="255"/>
          </a:xfrm>
        </p:grpSpPr>
        <p:sp>
          <p:nvSpPr>
            <p:cNvPr id="27666" name="AutoShape 9"/>
            <p:cNvSpPr>
              <a:spLocks noChangeArrowheads="1"/>
            </p:cNvSpPr>
            <p:nvPr/>
          </p:nvSpPr>
          <p:spPr bwMode="auto">
            <a:xfrm>
              <a:off x="2925" y="1344"/>
              <a:ext cx="318" cy="182"/>
            </a:xfrm>
            <a:prstGeom prst="rightArrow">
              <a:avLst>
                <a:gd name="adj1" fmla="val 50000"/>
                <a:gd name="adj2" fmla="val 4368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7652" name="Object 10"/>
            <p:cNvGraphicFramePr>
              <a:graphicFrameLocks noChangeAspect="1"/>
            </p:cNvGraphicFramePr>
            <p:nvPr/>
          </p:nvGraphicFramePr>
          <p:xfrm>
            <a:off x="3334" y="1298"/>
            <a:ext cx="81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15" name="Equation" r:id="rId5" imgW="685800" imgH="203200" progId="Equation.DSMT4">
                    <p:embed/>
                  </p:oleObj>
                </mc:Choice>
                <mc:Fallback>
                  <p:oleObj name="Equation" r:id="rId5" imgW="685800" imgH="2032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4" y="1298"/>
                          <a:ext cx="81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1"/>
          <p:cNvGrpSpPr/>
          <p:nvPr/>
        </p:nvGrpSpPr>
        <p:grpSpPr bwMode="auto">
          <a:xfrm>
            <a:off x="6805291" y="1653381"/>
            <a:ext cx="1985962" cy="457200"/>
            <a:chOff x="4241" y="1298"/>
            <a:chExt cx="1251" cy="288"/>
          </a:xfrm>
        </p:grpSpPr>
        <p:sp>
          <p:nvSpPr>
            <p:cNvPr id="27664" name="AutoShape 12"/>
            <p:cNvSpPr>
              <a:spLocks noChangeArrowheads="1"/>
            </p:cNvSpPr>
            <p:nvPr/>
          </p:nvSpPr>
          <p:spPr bwMode="auto">
            <a:xfrm>
              <a:off x="4241" y="1344"/>
              <a:ext cx="318" cy="182"/>
            </a:xfrm>
            <a:prstGeom prst="rightArrow">
              <a:avLst>
                <a:gd name="adj1" fmla="val 50000"/>
                <a:gd name="adj2" fmla="val 4368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65" name="Rectangle 13"/>
            <p:cNvSpPr>
              <a:spLocks noChangeArrowheads="1"/>
            </p:cNvSpPr>
            <p:nvPr/>
          </p:nvSpPr>
          <p:spPr bwMode="auto">
            <a:xfrm>
              <a:off x="4604" y="1298"/>
              <a:ext cx="8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</a:pP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二阶收敛</a:t>
              </a:r>
            </a:p>
          </p:txBody>
        </p:sp>
      </p:grpSp>
      <p:sp>
        <p:nvSpPr>
          <p:cNvPr id="33806" name="Text Box 14"/>
          <p:cNvSpPr txBox="1">
            <a:spLocks noChangeArrowheads="1"/>
          </p:cNvSpPr>
          <p:nvPr/>
        </p:nvSpPr>
        <p:spPr bwMode="auto">
          <a:xfrm>
            <a:off x="756916" y="3166269"/>
            <a:ext cx="7991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863600" indent="-863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1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法二：将求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的重根转化为求 </a:t>
            </a:r>
            <a:r>
              <a:rPr lang="zh-CN" altLang="en-US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另一个函数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的单根。 </a:t>
            </a:r>
          </a:p>
        </p:txBody>
      </p:sp>
      <p:sp>
        <p:nvSpPr>
          <p:cNvPr id="33807" name="Rectangle 15"/>
          <p:cNvSpPr>
            <a:spLocks noChangeArrowheads="1"/>
          </p:cNvSpPr>
          <p:nvPr/>
        </p:nvSpPr>
        <p:spPr bwMode="auto">
          <a:xfrm>
            <a:off x="1691953" y="4533106"/>
            <a:ext cx="6592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>
                <a:latin typeface="Times New Roman" panose="02020603050405020304" pitchFamily="18" charset="0"/>
              </a:rPr>
              <a:t>构造针对 </a:t>
            </a:r>
            <a:r>
              <a:rPr lang="zh-CN" altLang="en-US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zh-CN" altLang="en-US">
                <a:latin typeface="Times New Roman" panose="02020603050405020304" pitchFamily="18" charset="0"/>
              </a:rPr>
              <a:t>的具有二阶收敛的 </a:t>
            </a:r>
            <a:r>
              <a:rPr lang="en-US" altLang="zh-CN">
                <a:latin typeface="Times New Roman" panose="02020603050405020304" pitchFamily="18" charset="0"/>
              </a:rPr>
              <a:t>Newton </a:t>
            </a:r>
            <a:r>
              <a:rPr lang="zh-CN" altLang="en-US">
                <a:latin typeface="Times New Roman" panose="02020603050405020304" pitchFamily="18" charset="0"/>
              </a:rPr>
              <a:t>迭代：</a:t>
            </a:r>
          </a:p>
        </p:txBody>
      </p:sp>
      <p:graphicFrame>
        <p:nvGraphicFramePr>
          <p:cNvPr id="33808" name="Object 16"/>
          <p:cNvGraphicFramePr>
            <a:graphicFrameLocks noChangeAspect="1"/>
          </p:cNvGraphicFramePr>
          <p:nvPr/>
        </p:nvGraphicFramePr>
        <p:xfrm>
          <a:off x="1836416" y="5037931"/>
          <a:ext cx="538162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16" name="Equation" r:id="rId7" imgW="2870200" imgH="457200" progId="Equation.DSMT4">
                  <p:embed/>
                </p:oleObj>
              </mc:Choice>
              <mc:Fallback>
                <p:oleObj name="Equation" r:id="rId7" imgW="2870200" imgH="457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416" y="5037931"/>
                        <a:ext cx="5381625" cy="911225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7"/>
          <p:cNvGrpSpPr/>
          <p:nvPr/>
        </p:nvGrpSpPr>
        <p:grpSpPr bwMode="auto">
          <a:xfrm>
            <a:off x="1620516" y="3669506"/>
            <a:ext cx="6840537" cy="835025"/>
            <a:chOff x="975" y="2568"/>
            <a:chExt cx="4309" cy="526"/>
          </a:xfrm>
        </p:grpSpPr>
        <p:sp>
          <p:nvSpPr>
            <p:cNvPr id="27663" name="Text Box 18"/>
            <p:cNvSpPr txBox="1">
              <a:spLocks noChangeArrowheads="1"/>
            </p:cNvSpPr>
            <p:nvPr/>
          </p:nvSpPr>
          <p:spPr bwMode="auto">
            <a:xfrm>
              <a:off x="975" y="2659"/>
              <a:ext cx="43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863600" indent="-863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10000"/>
                </a:spcBef>
              </a:pP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令                      ，则 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* </a:t>
              </a: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是 </a:t>
              </a:r>
              <a:r>
                <a:rPr lang="zh-CN" altLang="en-US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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(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) </a:t>
              </a: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的单重根。 </a:t>
              </a:r>
            </a:p>
          </p:txBody>
        </p:sp>
        <p:graphicFrame>
          <p:nvGraphicFramePr>
            <p:cNvPr id="27651" name="Object 19"/>
            <p:cNvGraphicFramePr>
              <a:graphicFrameLocks noChangeAspect="1"/>
            </p:cNvGraphicFramePr>
            <p:nvPr/>
          </p:nvGraphicFramePr>
          <p:xfrm>
            <a:off x="1246" y="2568"/>
            <a:ext cx="1035" cy="5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17" name="Equation" r:id="rId9" imgW="876300" imgH="419100" progId="Equation.DSMT4">
                    <p:embed/>
                  </p:oleObj>
                </mc:Choice>
                <mc:Fallback>
                  <p:oleObj name="Equation" r:id="rId9" imgW="876300" imgH="41910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6" y="2568"/>
                          <a:ext cx="1035" cy="5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3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/>
      <p:bldP spid="33796" grpId="0" animBg="1"/>
      <p:bldP spid="33806" grpId="0"/>
      <p:bldP spid="3380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116622"/>
            <a:ext cx="5395913" cy="823912"/>
          </a:xfrm>
          <a:noFill/>
        </p:spPr>
        <p:txBody>
          <a:bodyPr anchor="b">
            <a:spAutoFit/>
          </a:bodyPr>
          <a:lstStyle/>
          <a:p>
            <a:pPr eaLnBrk="1" hangingPunct="1"/>
            <a:r>
              <a:rPr lang="zh-CN" altLang="en-US" sz="4800" dirty="0"/>
              <a:t>降低初始点的要求</a:t>
            </a:r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250825" y="1773238"/>
            <a:ext cx="4106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zh-CN" altLang="en-US">
                <a:latin typeface="Courier New" panose="02070309020205020404" pitchFamily="49" charset="0"/>
                <a:ea typeface="宋体" panose="02010600030101010101" pitchFamily="2" charset="-122"/>
              </a:rPr>
              <a:t>例：</a:t>
            </a:r>
            <a:r>
              <a:rPr lang="zh-CN" altLang="en-US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求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sin(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</a:rPr>
              <a:t>-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/6=0 </a:t>
            </a:r>
            <a:r>
              <a:rPr lang="zh-CN" altLang="en-US">
                <a:solidFill>
                  <a:srgbClr val="00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的正根。</a:t>
            </a:r>
          </a:p>
        </p:txBody>
      </p:sp>
      <p:sp>
        <p:nvSpPr>
          <p:cNvPr id="49157" name="Rectangle 5"/>
          <p:cNvSpPr>
            <a:spLocks noChangeArrowheads="1"/>
          </p:cNvSpPr>
          <p:nvPr/>
        </p:nvSpPr>
        <p:spPr bwMode="auto">
          <a:xfrm>
            <a:off x="250825" y="2420938"/>
            <a:ext cx="35290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>
                <a:schemeClr val="hlink"/>
              </a:buClr>
              <a:buFont typeface="Wingdings" panose="05000000000000000000" pitchFamily="2" charset="2"/>
              <a:buChar char="p"/>
            </a:pP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Newton 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下山法：</a:t>
            </a:r>
          </a:p>
        </p:txBody>
      </p:sp>
      <p:graphicFrame>
        <p:nvGraphicFramePr>
          <p:cNvPr id="49158" name="Object 6"/>
          <p:cNvGraphicFramePr>
            <a:graphicFrameLocks noChangeAspect="1"/>
          </p:cNvGraphicFramePr>
          <p:nvPr/>
        </p:nvGraphicFramePr>
        <p:xfrm>
          <a:off x="3708400" y="2276475"/>
          <a:ext cx="28209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1" name="Equation" r:id="rId3" imgW="1409065" imgH="431800" progId="Equation.DSMT4">
                  <p:embed/>
                </p:oleObj>
              </mc:Choice>
              <mc:Fallback>
                <p:oleObj name="Equation" r:id="rId3" imgW="1409065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2276475"/>
                        <a:ext cx="2820988" cy="8636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9" name="Rectangle 7"/>
          <p:cNvSpPr>
            <a:spLocks noChangeArrowheads="1"/>
          </p:cNvSpPr>
          <p:nvPr/>
        </p:nvSpPr>
        <p:spPr bwMode="auto">
          <a:xfrm>
            <a:off x="5148263" y="2420938"/>
            <a:ext cx="4810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CN" sz="2800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sz="2800" i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</a:p>
        </p:txBody>
      </p:sp>
      <p:grpSp>
        <p:nvGrpSpPr>
          <p:cNvPr id="2" name="Group 8"/>
          <p:cNvGrpSpPr/>
          <p:nvPr/>
        </p:nvGrpSpPr>
        <p:grpSpPr bwMode="auto">
          <a:xfrm>
            <a:off x="611188" y="2924175"/>
            <a:ext cx="7034212" cy="868363"/>
            <a:chOff x="385" y="1842"/>
            <a:chExt cx="4431" cy="547"/>
          </a:xfrm>
        </p:grpSpPr>
        <p:sp>
          <p:nvSpPr>
            <p:cNvPr id="28690" name="Rectangle 9"/>
            <p:cNvSpPr>
              <a:spLocks noChangeArrowheads="1"/>
            </p:cNvSpPr>
            <p:nvPr/>
          </p:nvSpPr>
          <p:spPr bwMode="auto">
            <a:xfrm>
              <a:off x="385" y="1978"/>
              <a:ext cx="443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</a:pPr>
              <a:r>
                <a:rPr lang="en-US" altLang="zh-CN" sz="2800" i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</a:t>
              </a:r>
              <a:r>
                <a:rPr lang="en-US" altLang="zh-CN" sz="2800" i="1" baseline="-250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k</a:t>
              </a: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为数列             中满足                            的最大数。</a:t>
              </a:r>
            </a:p>
          </p:txBody>
        </p:sp>
        <p:graphicFrame>
          <p:nvGraphicFramePr>
            <p:cNvPr id="28676" name="Object 10"/>
            <p:cNvGraphicFramePr>
              <a:graphicFrameLocks noChangeAspect="1"/>
            </p:cNvGraphicFramePr>
            <p:nvPr/>
          </p:nvGraphicFramePr>
          <p:xfrm>
            <a:off x="1313" y="1842"/>
            <a:ext cx="561" cy="5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42" name="Equation" r:id="rId5" imgW="495300" imgH="482600" progId="Equation.DSMT4">
                    <p:embed/>
                  </p:oleObj>
                </mc:Choice>
                <mc:Fallback>
                  <p:oleObj name="Equation" r:id="rId5" imgW="495300" imgH="4826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3" y="1842"/>
                          <a:ext cx="561" cy="5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7" name="Object 11"/>
            <p:cNvGraphicFramePr>
              <a:graphicFrameLocks noChangeAspect="1"/>
            </p:cNvGraphicFramePr>
            <p:nvPr/>
          </p:nvGraphicFramePr>
          <p:xfrm>
            <a:off x="2471" y="2023"/>
            <a:ext cx="128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43" name="Equation" r:id="rId7" imgW="1129665" imgH="254000" progId="Equation.DSMT4">
                    <p:embed/>
                  </p:oleObj>
                </mc:Choice>
                <mc:Fallback>
                  <p:oleObj name="Equation" r:id="rId7" imgW="1129665" imgH="2540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1" y="2023"/>
                          <a:ext cx="128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164" name="Rectangle 12"/>
          <p:cNvSpPr>
            <a:spLocks noChangeArrowheads="1"/>
          </p:cNvSpPr>
          <p:nvPr/>
        </p:nvSpPr>
        <p:spPr bwMode="auto">
          <a:xfrm>
            <a:off x="250825" y="3716338"/>
            <a:ext cx="6337300" cy="580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chemeClr val="hlink"/>
              </a:buClr>
              <a:buFont typeface="Wingdings" panose="05000000000000000000" pitchFamily="2" charset="2"/>
              <a:buChar char="p"/>
            </a:pPr>
            <a:r>
              <a:rPr lang="en-US" altLang="zh-CN" sz="2800" b="0" dirty="0">
                <a:solidFill>
                  <a:srgbClr val="0066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(Newton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下山法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49165" name="Text Box 13"/>
          <p:cNvSpPr txBox="1">
            <a:spLocks noChangeArrowheads="1"/>
          </p:cNvSpPr>
          <p:nvPr/>
        </p:nvSpPr>
        <p:spPr bwMode="auto">
          <a:xfrm>
            <a:off x="900113" y="4292600"/>
            <a:ext cx="7021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给定初始点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</a:rPr>
              <a:t>0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，精度要求 </a:t>
            </a:r>
            <a:r>
              <a:rPr lang="zh-CN" altLang="en-US" i="1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9166" name="Text Box 14"/>
          <p:cNvSpPr txBox="1">
            <a:spLocks noChangeArrowheads="1"/>
          </p:cNvSpPr>
          <p:nvPr/>
        </p:nvSpPr>
        <p:spPr bwMode="auto">
          <a:xfrm>
            <a:off x="611188" y="4724400"/>
            <a:ext cx="655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如果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| </a:t>
            </a:r>
            <a:r>
              <a:rPr lang="en-US" altLang="zh-CN" i="1">
                <a:latin typeface="Times New Roman" panose="02020603050405020304" pitchFamily="18" charset="0"/>
              </a:rPr>
              <a:t>f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</a:rPr>
              <a:t>)| </a:t>
            </a:r>
            <a:r>
              <a:rPr lang="en-US" altLang="zh-CN">
                <a:latin typeface="Courier New" panose="02070309020205020404" pitchFamily="49" charset="0"/>
              </a:rPr>
              <a:t>&lt;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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,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停机，输出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</a:p>
        </p:txBody>
      </p:sp>
      <p:grpSp>
        <p:nvGrpSpPr>
          <p:cNvPr id="3" name="Group 15"/>
          <p:cNvGrpSpPr/>
          <p:nvPr/>
        </p:nvGrpSpPr>
        <p:grpSpPr bwMode="auto">
          <a:xfrm>
            <a:off x="611188" y="5229225"/>
            <a:ext cx="5473700" cy="457200"/>
            <a:chOff x="385" y="3113"/>
            <a:chExt cx="3448" cy="288"/>
          </a:xfrm>
        </p:grpSpPr>
        <p:sp>
          <p:nvSpPr>
            <p:cNvPr id="28689" name="Text Box 16"/>
            <p:cNvSpPr txBox="1">
              <a:spLocks noChangeArrowheads="1"/>
            </p:cNvSpPr>
            <p:nvPr/>
          </p:nvSpPr>
          <p:spPr bwMode="auto">
            <a:xfrm>
              <a:off x="385" y="3113"/>
              <a:ext cx="34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</a:rPr>
                <a:t>2. </a:t>
              </a: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</a:rPr>
                <a:t>计算                                ，</a:t>
              </a:r>
              <a:r>
                <a:rPr lang="zh-CN" altLang="en-US" i="1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 </a:t>
              </a: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=1</a:t>
              </a:r>
            </a:p>
          </p:txBody>
        </p:sp>
        <p:graphicFrame>
          <p:nvGraphicFramePr>
            <p:cNvPr id="28675" name="Object 17"/>
            <p:cNvGraphicFramePr>
              <a:graphicFrameLocks noChangeAspect="1"/>
            </p:cNvGraphicFramePr>
            <p:nvPr/>
          </p:nvGraphicFramePr>
          <p:xfrm>
            <a:off x="1066" y="3113"/>
            <a:ext cx="1496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44" name="Equation" r:id="rId9" imgW="1320800" imgH="228600" progId="Equation.DSMT4">
                    <p:embed/>
                  </p:oleObj>
                </mc:Choice>
                <mc:Fallback>
                  <p:oleObj name="Equation" r:id="rId9" imgW="1320800" imgH="2286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3113"/>
                          <a:ext cx="1496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170" name="Text Box 18"/>
          <p:cNvSpPr txBox="1">
            <a:spLocks noChangeArrowheads="1"/>
          </p:cNvSpPr>
          <p:nvPr/>
        </p:nvSpPr>
        <p:spPr bwMode="auto">
          <a:xfrm>
            <a:off x="611188" y="5589588"/>
            <a:ext cx="8208962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如果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|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f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>
                <a:latin typeface="Times New Roman" panose="02020603050405020304" pitchFamily="18" charset="0"/>
              </a:rPr>
              <a:t>)|&lt; 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|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)|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，令 </a:t>
            </a:r>
            <a:r>
              <a:rPr lang="en-US" altLang="zh-CN" i="1">
                <a:latin typeface="Times New Roman" panose="02020603050405020304" pitchFamily="18" charset="0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r>
              <a:rPr lang="en-US" altLang="zh-CN" baseline="-25000">
                <a:latin typeface="Times New Roman" panose="02020603050405020304" pitchFamily="18" charset="0"/>
              </a:rPr>
              <a:t>+1</a:t>
            </a:r>
            <a:r>
              <a:rPr lang="en-US" altLang="zh-CN" i="1">
                <a:latin typeface="Times New Roman" panose="02020603050405020304" pitchFamily="18" charset="0"/>
              </a:rPr>
              <a:t>= x</a:t>
            </a:r>
            <a:r>
              <a:rPr lang="en-US" altLang="zh-CN" i="1" baseline="-25000">
                <a:latin typeface="Times New Roman" panose="02020603050405020304" pitchFamily="18" charset="0"/>
              </a:rPr>
              <a:t>k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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，返回第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步；</a:t>
            </a:r>
            <a:b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</a:b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    否则</a:t>
            </a:r>
            <a:r>
              <a:rPr lang="zh-CN" altLang="en-US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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折半，重新计算第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步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71" name="AutoShape 19" descr="再生纸"/>
          <p:cNvSpPr>
            <a:spLocks noChangeArrowheads="1"/>
          </p:cNvSpPr>
          <p:nvPr/>
        </p:nvSpPr>
        <p:spPr bwMode="auto">
          <a:xfrm>
            <a:off x="1119188" y="1158875"/>
            <a:ext cx="6477000" cy="496888"/>
          </a:xfrm>
          <a:prstGeom prst="roundRect">
            <a:avLst>
              <a:gd name="adj" fmla="val 16667"/>
            </a:avLst>
          </a:prstGeom>
          <a:blipFill dpi="0" rotWithShape="0">
            <a:blip r:embed="rId11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Newton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法的收敛依赖于初始点的选取。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9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9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9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49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autoUpdateAnimBg="0"/>
      <p:bldP spid="49157" grpId="0" autoUpdateAnimBg="0"/>
      <p:bldP spid="49159" grpId="0" autoUpdateAnimBg="0"/>
      <p:bldP spid="49164" grpId="0" autoUpdateAnimBg="0"/>
      <p:bldP spid="49165" grpId="0" autoUpdateAnimBg="0"/>
      <p:bldP spid="49166" grpId="0" autoUpdateAnimBg="0"/>
      <p:bldP spid="49170" grpId="0" autoUpdateAnimBg="0"/>
      <p:bldP spid="49171" grpId="0" animBg="1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184943" y="-8671"/>
            <a:ext cx="2946897" cy="830997"/>
          </a:xfrm>
          <a:noFill/>
        </p:spPr>
        <p:txBody>
          <a:bodyPr wrap="square" anchor="b">
            <a:spAutoFit/>
          </a:bodyPr>
          <a:lstStyle/>
          <a:p>
            <a:pPr eaLnBrk="1" hangingPunct="1"/>
            <a:r>
              <a:rPr lang="zh-CN" altLang="en-US" sz="4800" dirty="0"/>
              <a:t>割线法</a:t>
            </a:r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auto">
          <a:xfrm>
            <a:off x="323528" y="908720"/>
            <a:ext cx="74723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>
                <a:schemeClr val="hlink"/>
              </a:buClr>
              <a:buFont typeface="Wingdings" panose="05000000000000000000" pitchFamily="2" charset="2"/>
              <a:buChar char="p"/>
            </a:pP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Newton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法的缺点：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每步迭代都要计算导数值</a:t>
            </a:r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612453" y="4725070"/>
            <a:ext cx="6408738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>
                <a:schemeClr val="hlink"/>
              </a:buClr>
              <a:buFont typeface="Wingdings" panose="05000000000000000000" pitchFamily="2" charset="2"/>
              <a:buChar char="ü"/>
            </a:pPr>
            <a:r>
              <a:rPr lang="en-US" altLang="zh-CN" sz="260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600" dirty="0">
                <a:solidFill>
                  <a:srgbClr val="006600"/>
                </a:solidFill>
                <a:latin typeface="Times New Roman" panose="02020603050405020304" pitchFamily="18" charset="0"/>
              </a:rPr>
              <a:t>只需计算函数值，避免计算导数；</a:t>
            </a:r>
          </a:p>
        </p:txBody>
      </p:sp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5436866" y="1556420"/>
            <a:ext cx="3240087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切线斜率 </a:t>
            </a:r>
            <a:r>
              <a:rPr lang="zh-CN" altLang="en-US">
                <a:latin typeface="Times New Roman" panose="02020603050405020304" pitchFamily="18" charset="0"/>
                <a:sym typeface="Symbol" panose="05050102010706020507" pitchFamily="18" charset="2"/>
              </a:rPr>
              <a:t> </a:t>
            </a:r>
            <a:r>
              <a:rPr lang="zh-CN" altLang="en-US">
                <a:solidFill>
                  <a:srgbClr val="006600"/>
                </a:solidFill>
                <a:latin typeface="Times New Roman" panose="02020603050405020304" pitchFamily="18" charset="0"/>
              </a:rPr>
              <a:t>割线斜率</a:t>
            </a:r>
          </a:p>
        </p:txBody>
      </p:sp>
      <p:graphicFrame>
        <p:nvGraphicFramePr>
          <p:cNvPr id="45062" name="Object 6"/>
          <p:cNvGraphicFramePr>
            <a:graphicFrameLocks noChangeAspect="1"/>
          </p:cNvGraphicFramePr>
          <p:nvPr/>
        </p:nvGraphicFramePr>
        <p:xfrm>
          <a:off x="5508303" y="2348582"/>
          <a:ext cx="31242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8" name="Equation" r:id="rId3" imgW="1612900" imgH="431800" progId="Equation.DSMT4">
                  <p:embed/>
                </p:oleObj>
              </mc:Choice>
              <mc:Fallback>
                <p:oleObj name="Equation" r:id="rId3" imgW="16129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303" y="2348582"/>
                        <a:ext cx="31242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Object 7"/>
          <p:cNvGraphicFramePr>
            <a:graphicFrameLocks noChangeAspect="1"/>
          </p:cNvGraphicFramePr>
          <p:nvPr/>
        </p:nvGraphicFramePr>
        <p:xfrm>
          <a:off x="5581328" y="3717007"/>
          <a:ext cx="311943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9" name="Equation" r:id="rId5" imgW="1777365" imgH="431800" progId="Equation.DSMT4">
                  <p:embed/>
                </p:oleObj>
              </mc:Choice>
              <mc:Fallback>
                <p:oleObj name="Equation" r:id="rId5" imgW="1777365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328" y="3717007"/>
                        <a:ext cx="3119438" cy="863600"/>
                      </a:xfrm>
                      <a:prstGeom prst="rect">
                        <a:avLst/>
                      </a:prstGeom>
                      <a:noFill/>
                      <a:ln w="57150" cmpd="thickThin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4" name="Line 8"/>
          <p:cNvSpPr>
            <a:spLocks noChangeAspect="1" noChangeShapeType="1"/>
          </p:cNvSpPr>
          <p:nvPr/>
        </p:nvSpPr>
        <p:spPr bwMode="auto">
          <a:xfrm>
            <a:off x="307653" y="3601120"/>
            <a:ext cx="5045075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5" name="Arc 9"/>
          <p:cNvSpPr>
            <a:spLocks noChangeAspect="1"/>
          </p:cNvSpPr>
          <p:nvPr/>
        </p:nvSpPr>
        <p:spPr bwMode="auto">
          <a:xfrm flipV="1">
            <a:off x="526728" y="1516732"/>
            <a:ext cx="3181350" cy="2522538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6" name="Line 10"/>
          <p:cNvSpPr>
            <a:spLocks noChangeAspect="1" noChangeShapeType="1"/>
          </p:cNvSpPr>
          <p:nvPr/>
        </p:nvSpPr>
        <p:spPr bwMode="auto">
          <a:xfrm flipH="1">
            <a:off x="2628578" y="1772320"/>
            <a:ext cx="1462088" cy="1828800"/>
          </a:xfrm>
          <a:prstGeom prst="line">
            <a:avLst/>
          </a:prstGeom>
          <a:noFill/>
          <a:ln w="22225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7" name="Line 11"/>
          <p:cNvSpPr>
            <a:spLocks noChangeAspect="1" noChangeShapeType="1"/>
          </p:cNvSpPr>
          <p:nvPr/>
        </p:nvSpPr>
        <p:spPr bwMode="auto">
          <a:xfrm flipH="1">
            <a:off x="2955603" y="1411957"/>
            <a:ext cx="835025" cy="2174875"/>
          </a:xfrm>
          <a:prstGeom prst="line">
            <a:avLst/>
          </a:prstGeom>
          <a:noFill/>
          <a:ln w="22225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12"/>
          <p:cNvGrpSpPr/>
          <p:nvPr/>
        </p:nvGrpSpPr>
        <p:grpSpPr bwMode="auto">
          <a:xfrm>
            <a:off x="3322316" y="1626270"/>
            <a:ext cx="1182687" cy="2330450"/>
            <a:chOff x="2047" y="1297"/>
            <a:chExt cx="745" cy="1468"/>
          </a:xfrm>
        </p:grpSpPr>
        <p:sp>
          <p:nvSpPr>
            <p:cNvPr id="29722" name="Line 13"/>
            <p:cNvSpPr>
              <a:spLocks noChangeAspect="1" noChangeShapeType="1"/>
            </p:cNvSpPr>
            <p:nvPr/>
          </p:nvSpPr>
          <p:spPr bwMode="auto">
            <a:xfrm flipV="1">
              <a:off x="2290" y="1297"/>
              <a:ext cx="0" cy="124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3" name="Text Box 14"/>
            <p:cNvSpPr txBox="1">
              <a:spLocks noChangeArrowheads="1"/>
            </p:cNvSpPr>
            <p:nvPr/>
          </p:nvSpPr>
          <p:spPr bwMode="auto">
            <a:xfrm>
              <a:off x="2047" y="2477"/>
              <a:ext cx="7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i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kumimoji="0" lang="en-US" altLang="zh-CN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-1</a:t>
              </a:r>
              <a:endParaRPr kumimoji="0" lang="en-US" altLang="zh-CN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15"/>
          <p:cNvGrpSpPr/>
          <p:nvPr/>
        </p:nvGrpSpPr>
        <p:grpSpPr bwMode="auto">
          <a:xfrm>
            <a:off x="2817491" y="2812132"/>
            <a:ext cx="990600" cy="1144588"/>
            <a:chOff x="1729" y="2044"/>
            <a:chExt cx="624" cy="721"/>
          </a:xfrm>
        </p:grpSpPr>
        <p:sp>
          <p:nvSpPr>
            <p:cNvPr id="29720" name="Line 16"/>
            <p:cNvSpPr>
              <a:spLocks noChangeAspect="1" noChangeShapeType="1"/>
            </p:cNvSpPr>
            <p:nvPr/>
          </p:nvSpPr>
          <p:spPr bwMode="auto">
            <a:xfrm>
              <a:off x="2013" y="2044"/>
              <a:ext cx="0" cy="49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1" name="Text Box 17"/>
            <p:cNvSpPr txBox="1">
              <a:spLocks noChangeArrowheads="1"/>
            </p:cNvSpPr>
            <p:nvPr/>
          </p:nvSpPr>
          <p:spPr bwMode="auto">
            <a:xfrm>
              <a:off x="1729" y="2477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</a:pPr>
              <a:r>
                <a:rPr kumimoji="0"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kumimoji="0" lang="en-US" altLang="zh-CN" i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kumimoji="0" lang="en-US" altLang="zh-CN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5074" name="Oval 18"/>
          <p:cNvSpPr>
            <a:spLocks noChangeArrowheads="1"/>
          </p:cNvSpPr>
          <p:nvPr/>
        </p:nvSpPr>
        <p:spPr bwMode="auto">
          <a:xfrm>
            <a:off x="2563491" y="3561432"/>
            <a:ext cx="111125" cy="111125"/>
          </a:xfrm>
          <a:prstGeom prst="ellipse">
            <a:avLst/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075" name="Oval 19"/>
          <p:cNvSpPr>
            <a:spLocks noChangeArrowheads="1"/>
          </p:cNvSpPr>
          <p:nvPr/>
        </p:nvSpPr>
        <p:spPr bwMode="auto">
          <a:xfrm>
            <a:off x="2890516" y="3561432"/>
            <a:ext cx="111125" cy="111125"/>
          </a:xfrm>
          <a:prstGeom prst="ellipse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076" name="Text Box 20"/>
          <p:cNvSpPr txBox="1">
            <a:spLocks noChangeArrowheads="1"/>
          </p:cNvSpPr>
          <p:nvPr/>
        </p:nvSpPr>
        <p:spPr bwMode="auto">
          <a:xfrm>
            <a:off x="2169791" y="3572545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kumimoji="0" lang="en-US" altLang="zh-CN" i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en-US" altLang="zh-CN" i="1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0" lang="en-US" altLang="zh-CN" baseline="-2500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endParaRPr kumimoji="0" lang="en-US" altLang="zh-CN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77" name="Text Box 21"/>
          <p:cNvSpPr txBox="1">
            <a:spLocks noChangeArrowheads="1"/>
          </p:cNvSpPr>
          <p:nvPr/>
        </p:nvSpPr>
        <p:spPr bwMode="auto">
          <a:xfrm>
            <a:off x="2484116" y="3572545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</a:pPr>
            <a:r>
              <a:rPr kumimoji="0" lang="en-US" altLang="zh-CN" i="1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0" lang="en-US" altLang="zh-CN" i="1" baseline="-2500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0" lang="en-US" altLang="zh-CN" baseline="-2500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endParaRPr kumimoji="0" lang="en-US" altLang="zh-CN">
              <a:solidFill>
                <a:srgbClr val="0066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78" name="AutoShape 22"/>
          <p:cNvSpPr>
            <a:spLocks noChangeArrowheads="1"/>
          </p:cNvSpPr>
          <p:nvPr/>
        </p:nvSpPr>
        <p:spPr bwMode="auto">
          <a:xfrm>
            <a:off x="4860603" y="2564482"/>
            <a:ext cx="503238" cy="360363"/>
          </a:xfrm>
          <a:prstGeom prst="rightArrow">
            <a:avLst>
              <a:gd name="adj1" fmla="val 50000"/>
              <a:gd name="adj2" fmla="val 3491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079" name="AutoShape 23"/>
          <p:cNvSpPr>
            <a:spLocks noChangeArrowheads="1"/>
          </p:cNvSpPr>
          <p:nvPr/>
        </p:nvSpPr>
        <p:spPr bwMode="auto">
          <a:xfrm>
            <a:off x="4789166" y="4004345"/>
            <a:ext cx="647700" cy="360362"/>
          </a:xfrm>
          <a:prstGeom prst="rightArrow">
            <a:avLst>
              <a:gd name="adj1" fmla="val 50000"/>
              <a:gd name="adj2" fmla="val 44934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080" name="AutoShape 24"/>
          <p:cNvSpPr>
            <a:spLocks noChangeArrowheads="1"/>
          </p:cNvSpPr>
          <p:nvPr/>
        </p:nvSpPr>
        <p:spPr bwMode="auto">
          <a:xfrm>
            <a:off x="4284341" y="1627857"/>
            <a:ext cx="863600" cy="576263"/>
          </a:xfrm>
          <a:prstGeom prst="wedgeRoundRectCallout">
            <a:avLst>
              <a:gd name="adj1" fmla="val -86028"/>
              <a:gd name="adj2" fmla="val 13083"/>
              <a:gd name="adj3" fmla="val 16667"/>
            </a:avLst>
          </a:prstGeom>
          <a:solidFill>
            <a:srgbClr val="CCFFFF">
              <a:alpha val="89803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切线</a:t>
            </a:r>
          </a:p>
        </p:txBody>
      </p:sp>
      <p:sp>
        <p:nvSpPr>
          <p:cNvPr id="45081" name="AutoShape 25"/>
          <p:cNvSpPr>
            <a:spLocks noChangeArrowheads="1"/>
          </p:cNvSpPr>
          <p:nvPr/>
        </p:nvSpPr>
        <p:spPr bwMode="auto">
          <a:xfrm>
            <a:off x="2123753" y="1627857"/>
            <a:ext cx="863600" cy="576263"/>
          </a:xfrm>
          <a:prstGeom prst="wedgeRoundRectCallout">
            <a:avLst>
              <a:gd name="adj1" fmla="val 101653"/>
              <a:gd name="adj2" fmla="val 53856"/>
              <a:gd name="adj3" fmla="val 16667"/>
            </a:avLst>
          </a:prstGeom>
          <a:solidFill>
            <a:srgbClr val="CCFFFF">
              <a:alpha val="89803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lang="zh-CN" altLang="en-US">
                <a:solidFill>
                  <a:srgbClr val="006600"/>
                </a:solidFill>
                <a:latin typeface="Times New Roman" panose="02020603050405020304" pitchFamily="18" charset="0"/>
              </a:rPr>
              <a:t>割线</a:t>
            </a:r>
          </a:p>
        </p:txBody>
      </p:sp>
      <p:sp>
        <p:nvSpPr>
          <p:cNvPr id="45082" name="Rectangle 26"/>
          <p:cNvSpPr>
            <a:spLocks noChangeArrowheads="1"/>
          </p:cNvSpPr>
          <p:nvPr/>
        </p:nvSpPr>
        <p:spPr bwMode="auto">
          <a:xfrm>
            <a:off x="612453" y="5228307"/>
            <a:ext cx="38163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>
                <a:schemeClr val="hlink"/>
              </a:buClr>
              <a:buFont typeface="Wingdings" panose="05000000000000000000" pitchFamily="2" charset="2"/>
              <a:buChar char="ü"/>
            </a:pPr>
            <a:r>
              <a:rPr lang="en-US" altLang="zh-CN" sz="260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600">
                <a:solidFill>
                  <a:srgbClr val="0000FF"/>
                </a:solidFill>
                <a:latin typeface="Times New Roman" panose="02020603050405020304" pitchFamily="18" charset="0"/>
              </a:rPr>
              <a:t>需要两个初始点；</a:t>
            </a:r>
          </a:p>
        </p:txBody>
      </p:sp>
      <p:sp>
        <p:nvSpPr>
          <p:cNvPr id="45083" name="Rectangle 27"/>
          <p:cNvSpPr>
            <a:spLocks noChangeArrowheads="1"/>
          </p:cNvSpPr>
          <p:nvPr/>
        </p:nvSpPr>
        <p:spPr bwMode="auto">
          <a:xfrm>
            <a:off x="612453" y="5733132"/>
            <a:ext cx="7704138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>
                <a:schemeClr val="hlink"/>
              </a:buClr>
              <a:buFont typeface="Wingdings" panose="05000000000000000000" pitchFamily="2" charset="2"/>
              <a:buChar char="ü"/>
            </a:pPr>
            <a:r>
              <a:rPr lang="en-US" altLang="zh-CN" sz="260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600">
                <a:latin typeface="Times New Roman" panose="02020603050405020304" pitchFamily="18" charset="0"/>
              </a:rPr>
              <a:t>收敛比</a:t>
            </a:r>
            <a:r>
              <a:rPr lang="en-US" altLang="zh-CN" sz="2600">
                <a:latin typeface="Times New Roman" panose="02020603050405020304" pitchFamily="18" charset="0"/>
              </a:rPr>
              <a:t>Newton</a:t>
            </a:r>
            <a:r>
              <a:rPr lang="zh-CN" altLang="en-US" sz="2600">
                <a:latin typeface="Times New Roman" panose="02020603050405020304" pitchFamily="18" charset="0"/>
              </a:rPr>
              <a:t>法稍慢，但对初始点要求同样高。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5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5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5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50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45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5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5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45061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5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45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45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autoUpdateAnimBg="0"/>
      <p:bldP spid="45060" grpId="0" autoUpdateAnimBg="0"/>
      <p:bldP spid="45061" grpId="0" autoUpdateAnimBg="0"/>
      <p:bldP spid="45074" grpId="0" animBg="1"/>
      <p:bldP spid="45075" grpId="0" animBg="1"/>
      <p:bldP spid="45076" grpId="0" autoUpdateAnimBg="0"/>
      <p:bldP spid="45077" grpId="0" autoUpdateAnimBg="0"/>
      <p:bldP spid="45078" grpId="0" animBg="1"/>
      <p:bldP spid="45079" grpId="0" animBg="1"/>
      <p:bldP spid="45080" grpId="0" animBg="1" autoUpdateAnimBg="0"/>
      <p:bldP spid="45081" grpId="0" animBg="1" autoUpdateAnimBg="0"/>
      <p:bldP spid="45082" grpId="0" autoUpdateAnimBg="0"/>
      <p:bldP spid="45083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>
          <a:xfrm>
            <a:off x="-36512" y="116632"/>
            <a:ext cx="3911848" cy="830997"/>
          </a:xfrm>
          <a:noFill/>
        </p:spPr>
        <p:txBody>
          <a:bodyPr wrap="square" anchor="b">
            <a:spAutoFit/>
          </a:bodyPr>
          <a:lstStyle/>
          <a:p>
            <a:pPr eaLnBrk="1" hangingPunct="1"/>
            <a:r>
              <a:rPr lang="zh-CN" altLang="en-US" sz="4800" dirty="0"/>
              <a:t>割线法公式</a:t>
            </a:r>
          </a:p>
        </p:txBody>
      </p:sp>
      <p:graphicFrame>
        <p:nvGraphicFramePr>
          <p:cNvPr id="46083" name="Object 3"/>
          <p:cNvGraphicFramePr>
            <a:graphicFrameLocks noChangeAspect="1"/>
          </p:cNvGraphicFramePr>
          <p:nvPr/>
        </p:nvGraphicFramePr>
        <p:xfrm>
          <a:off x="3347964" y="1267743"/>
          <a:ext cx="311943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1" name="Equation" r:id="rId3" imgW="1777365" imgH="431800" progId="Equation.DSMT4">
                  <p:embed/>
                </p:oleObj>
              </mc:Choice>
              <mc:Fallback>
                <p:oleObj name="Equation" r:id="rId3" imgW="1777365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964" y="1267743"/>
                        <a:ext cx="3119437" cy="863600"/>
                      </a:xfrm>
                      <a:prstGeom prst="rect">
                        <a:avLst/>
                      </a:prstGeom>
                      <a:noFill/>
                      <a:ln w="57150" cmpd="thickThin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755576" y="1340768"/>
            <a:ext cx="2368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>
                <a:schemeClr val="hlink"/>
              </a:buClr>
              <a:buFont typeface="Wingdings" panose="05000000000000000000" pitchFamily="2" charset="2"/>
              <a:buChar char="p"/>
            </a:pPr>
            <a:r>
              <a:rPr lang="en-US" altLang="zh-CN" sz="28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两点割线法</a:t>
            </a:r>
          </a:p>
        </p:txBody>
      </p:sp>
      <p:graphicFrame>
        <p:nvGraphicFramePr>
          <p:cNvPr id="46085" name="Object 5"/>
          <p:cNvGraphicFramePr>
            <a:graphicFrameLocks noChangeAspect="1"/>
          </p:cNvGraphicFramePr>
          <p:nvPr/>
        </p:nvGraphicFramePr>
        <p:xfrm>
          <a:off x="3498776" y="3474368"/>
          <a:ext cx="296386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2" name="Equation" r:id="rId5" imgW="1688465" imgH="431800" progId="Equation.DSMT4">
                  <p:embed/>
                </p:oleObj>
              </mc:Choice>
              <mc:Fallback>
                <p:oleObj name="Equation" r:id="rId5" imgW="1688465" imgH="431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8776" y="3474368"/>
                        <a:ext cx="2963863" cy="863600"/>
                      </a:xfrm>
                      <a:prstGeom prst="rect">
                        <a:avLst/>
                      </a:prstGeom>
                      <a:noFill/>
                      <a:ln w="57150" cmpd="thickThin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6" name="Rectangle 6"/>
          <p:cNvSpPr>
            <a:spLocks noChangeArrowheads="1"/>
          </p:cNvSpPr>
          <p:nvPr/>
        </p:nvSpPr>
        <p:spPr bwMode="auto">
          <a:xfrm>
            <a:off x="906389" y="3547393"/>
            <a:ext cx="2368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>
                <a:schemeClr val="hlink"/>
              </a:buClr>
              <a:buFont typeface="Wingdings" panose="05000000000000000000" pitchFamily="2" charset="2"/>
              <a:buChar char="p"/>
            </a:pPr>
            <a:r>
              <a:rPr lang="en-US" altLang="zh-CN" sz="2800" b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b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单点割线法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autoUpdateAnimBg="0"/>
      <p:bldP spid="46086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290849" y="263584"/>
            <a:ext cx="2916288" cy="830997"/>
          </a:xfrm>
          <a:noFill/>
        </p:spPr>
        <p:txBody>
          <a:bodyPr wrap="square" anchor="b">
            <a:spAutoFit/>
          </a:bodyPr>
          <a:lstStyle/>
          <a:p>
            <a:pPr eaLnBrk="1" hangingPunct="1"/>
            <a:r>
              <a:rPr lang="zh-CN" altLang="en-US" sz="4800" dirty="0"/>
              <a:t>误差估计</a:t>
            </a:r>
          </a:p>
        </p:txBody>
      </p:sp>
      <p:grpSp>
        <p:nvGrpSpPr>
          <p:cNvPr id="2" name="Group 3"/>
          <p:cNvGrpSpPr/>
          <p:nvPr/>
        </p:nvGrpSpPr>
        <p:grpSpPr bwMode="auto">
          <a:xfrm>
            <a:off x="323850" y="1719263"/>
            <a:ext cx="8426450" cy="3797300"/>
            <a:chOff x="204" y="845"/>
            <a:chExt cx="5308" cy="2392"/>
          </a:xfrm>
        </p:grpSpPr>
        <p:sp>
          <p:nvSpPr>
            <p:cNvPr id="31750" name="Rectangle 4"/>
            <p:cNvSpPr>
              <a:spLocks noChangeArrowheads="1"/>
            </p:cNvSpPr>
            <p:nvPr/>
          </p:nvSpPr>
          <p:spPr bwMode="auto">
            <a:xfrm>
              <a:off x="204" y="845"/>
              <a:ext cx="520" cy="312"/>
            </a:xfrm>
            <a:prstGeom prst="rect">
              <a:avLst/>
            </a:prstGeom>
            <a:blipFill dpi="0" rotWithShape="1">
              <a:blip r:embed="rId3"/>
              <a:srcRect/>
              <a:tile tx="0" ty="0" sx="100000" sy="100000" flip="none" algn="tl"/>
            </a:blipFill>
            <a:ln w="57150" cmpd="thickThin">
              <a:solidFill>
                <a:srgbClr val="FF0000"/>
              </a:solidFill>
              <a:miter lim="800000"/>
            </a:ln>
          </p:spPr>
          <p:txBody>
            <a:bodyPr lIns="54000" tIns="36000" rIns="54000" bIns="36000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</a:pPr>
              <a:r>
                <a:rPr kumimoji="0"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引理</a:t>
              </a:r>
            </a:p>
          </p:txBody>
        </p:sp>
        <p:sp>
          <p:nvSpPr>
            <p:cNvPr id="31751" name="Rectangle 5"/>
            <p:cNvSpPr>
              <a:spLocks noChangeArrowheads="1"/>
            </p:cNvSpPr>
            <p:nvPr/>
          </p:nvSpPr>
          <p:spPr bwMode="auto">
            <a:xfrm>
              <a:off x="295" y="845"/>
              <a:ext cx="5217" cy="1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</a:t>
              </a: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设 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f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) </a:t>
              </a: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在其零点 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x* </a:t>
              </a: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的</a:t>
              </a: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某个邻域</a:t>
              </a:r>
              <a:r>
                <a:rPr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*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=[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*</a:t>
              </a:r>
              <a:r>
                <a:rPr lang="en-US" altLang="zh-CN">
                  <a:latin typeface="Courier New" panose="02070309020205020404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 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,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 x* </a:t>
              </a:r>
              <a:r>
                <a:rPr lang="en-US" altLang="zh-CN">
                  <a:latin typeface="Courier New" panose="02070309020205020404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 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] </a:t>
              </a: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内存在连续的二阶导数，且 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f</a:t>
              </a:r>
              <a:r>
                <a:rPr lang="en-US" altLang="zh-CN" i="1">
                  <a:latin typeface="Courier New" panose="02070309020205020404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  <a:t>’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) 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 0</a:t>
              </a: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，又设 </a:t>
              </a:r>
            </a:p>
            <a:p>
              <a:pPr eaLnBrk="1" hangingPunct="1">
                <a:lnSpc>
                  <a:spcPct val="130000"/>
                </a:lnSpc>
              </a:pP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x</a:t>
              </a:r>
              <a:r>
                <a:rPr lang="en-US" altLang="zh-CN" i="1" baseline="-250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k</a:t>
              </a:r>
              <a:r>
                <a:rPr lang="en-US" altLang="zh-CN" baseline="-250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-1 </a:t>
              </a: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, 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x</a:t>
              </a:r>
              <a:r>
                <a:rPr lang="en-US" altLang="zh-CN" i="1" baseline="-250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k 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 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*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) </a:t>
              </a:r>
              <a:r>
                <a:rPr lang="en-US" altLang="zh-CN">
                  <a:latin typeface="Courier New" panose="02070309020205020404" pitchFamily="49" charset="0"/>
                  <a:ea typeface="宋体" panose="02010600030101010101" pitchFamily="2" charset="-122"/>
                </a:rPr>
                <a:t>\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{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*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}</a:t>
              </a: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，且互不相等，则由两点割线法的误差</a:t>
              </a:r>
              <a:r>
                <a:rPr lang="zh-CN" altLang="en-US" baseline="-2500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r>
                <a:rPr lang="en-US" altLang="zh-CN" i="1" baseline="-25000"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=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x</a:t>
              </a:r>
              <a:r>
                <a:rPr lang="en-US" altLang="zh-CN" i="1" baseline="-250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k</a:t>
              </a:r>
              <a:r>
                <a:rPr lang="en-US" altLang="zh-CN">
                  <a:latin typeface="Courier New" panose="02070309020205020404" pitchFamily="49" charset="0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r>
                <a:rPr lang="en-US" altLang="zh-CN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x</a:t>
              </a: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*</a:t>
              </a:r>
              <a:r>
                <a:rPr lang="en-US" altLang="zh-CN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满足</a:t>
              </a:r>
              <a:endPara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1746" name="Object 6"/>
            <p:cNvGraphicFramePr>
              <a:graphicFrameLocks noChangeAspect="1"/>
            </p:cNvGraphicFramePr>
            <p:nvPr/>
          </p:nvGraphicFramePr>
          <p:xfrm>
            <a:off x="1247" y="2160"/>
            <a:ext cx="1635" cy="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27" name="Equation" r:id="rId4" imgW="1295400" imgH="431800" progId="Equation.DSMT4">
                    <p:embed/>
                  </p:oleObj>
                </mc:Choice>
                <mc:Fallback>
                  <p:oleObj name="Equation" r:id="rId4" imgW="1295400" imgH="4318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2160"/>
                          <a:ext cx="1635" cy="6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52" name="Rectangle 7"/>
            <p:cNvSpPr>
              <a:spLocks noChangeArrowheads="1"/>
            </p:cNvSpPr>
            <p:nvPr/>
          </p:nvSpPr>
          <p:spPr bwMode="auto">
            <a:xfrm>
              <a:off x="340" y="2931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</a:pPr>
              <a:r>
                <a:rPr lang="zh-CN" altLang="en-US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其中</a:t>
              </a:r>
            </a:p>
          </p:txBody>
        </p:sp>
        <p:graphicFrame>
          <p:nvGraphicFramePr>
            <p:cNvPr id="31747" name="Object 8"/>
            <p:cNvGraphicFramePr>
              <a:graphicFrameLocks noChangeAspect="1"/>
            </p:cNvGraphicFramePr>
            <p:nvPr/>
          </p:nvGraphicFramePr>
          <p:xfrm>
            <a:off x="879" y="2886"/>
            <a:ext cx="3203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28" name="Equation" r:id="rId6" imgW="2895600" imgH="279400" progId="Equation.DSMT4">
                    <p:embed/>
                  </p:oleObj>
                </mc:Choice>
                <mc:Fallback>
                  <p:oleObj name="Equation" r:id="rId6" imgW="2895600" imgH="2794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9" y="2886"/>
                          <a:ext cx="3203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hlink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3" y="149731"/>
            <a:ext cx="4536504" cy="830997"/>
          </a:xfrm>
          <a:noFill/>
        </p:spPr>
        <p:txBody>
          <a:bodyPr wrap="square" anchor="b">
            <a:spAutoFit/>
          </a:bodyPr>
          <a:lstStyle/>
          <a:p>
            <a:pPr eaLnBrk="1" hangingPunct="1"/>
            <a:r>
              <a:rPr lang="zh-CN" altLang="en-US" sz="4800" dirty="0"/>
              <a:t>局部收敛性定理</a:t>
            </a:r>
          </a:p>
        </p:txBody>
      </p:sp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324098" y="1413347"/>
            <a:ext cx="825500" cy="4953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57150" cmpd="thickThin">
            <a:solidFill>
              <a:srgbClr val="FF0000"/>
            </a:solidFill>
            <a:miter lim="800000"/>
          </a:ln>
        </p:spPr>
        <p:txBody>
          <a:bodyPr lIns="54000" tIns="36000" rIns="54000" bIns="3600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</a:pPr>
            <a:r>
              <a:rPr kumimoji="0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定理</a:t>
            </a:r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395536" y="1484784"/>
            <a:ext cx="8281987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是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的单重零点，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i="1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”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在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*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的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某个邻域内连续，则存在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*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的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一个邻域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=[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-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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x* 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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，使得当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0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时，由两点割线法产生的序列收敛到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，且收敛阶为</a:t>
            </a:r>
          </a:p>
        </p:txBody>
      </p:sp>
      <p:graphicFrame>
        <p:nvGraphicFramePr>
          <p:cNvPr id="48133" name="Object 5"/>
          <p:cNvGraphicFramePr>
            <a:graphicFrameLocks noChangeAspect="1"/>
          </p:cNvGraphicFramePr>
          <p:nvPr/>
        </p:nvGraphicFramePr>
        <p:xfrm>
          <a:off x="1475036" y="2997672"/>
          <a:ext cx="2087562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2" name="Equation" r:id="rId4" imgW="1193800" imgH="304800" progId="Equation.DSMT4">
                  <p:embed/>
                </p:oleObj>
              </mc:Choice>
              <mc:Fallback>
                <p:oleObj name="Equation" r:id="rId4" imgW="1193800" imgH="304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036" y="2997672"/>
                        <a:ext cx="2087562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animBg="1" autoUpdateAnimBg="0"/>
      <p:bldP spid="48132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本章结束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谢谢！</a:t>
            </a:r>
          </a:p>
        </p:txBody>
      </p:sp>
    </p:spTree>
  </p:cSld>
  <p:clrMapOvr>
    <a:masterClrMapping/>
  </p:clrMapOvr>
  <p:transition spd="med">
    <p:wipe/>
  </p:transition>
</p:sld>
</file>

<file path=ppt/theme/theme1.xml><?xml version="1.0" encoding="utf-8"?>
<a:theme xmlns:a="http://schemas.openxmlformats.org/drawingml/2006/main" name="数值分析_第7章_非线性方程的数值解法">
  <a:themeElements>
    <a:clrScheme name="数值分析_第7章_非线性方程的数值解法 9">
      <a:dk1>
        <a:srgbClr val="000000"/>
      </a:dk1>
      <a:lt1>
        <a:srgbClr val="000000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0000"/>
      </a:folHlink>
    </a:clrScheme>
    <a:fontScheme name="数值分析_第7章_非线性方程的数值解法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5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5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数值分析_第7章_非线性方程的数值解法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数值分析_第7章_非线性方程的数值解法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值分析_第7章_非线性方程的数值解法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值分析_第7章_非线性方程的数值解法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值分析_第7章_非线性方程的数值解法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值分析_第7章_非线性方程的数值解法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值分析_第7章_非线性方程的数值解法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值分析_第7章_非线性方程的数值解法 8">
        <a:dk1>
          <a:srgbClr val="000000"/>
        </a:dk1>
        <a:lt1>
          <a:srgbClr val="000000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AAAAAA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数值分析_第7章_非线性方程的数值解法 9">
        <a:dk1>
          <a:srgbClr val="000000"/>
        </a:dk1>
        <a:lt1>
          <a:srgbClr val="000000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AAAAAA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cho">
  <a:themeElements>
    <a:clrScheme name="Echo 7">
      <a:dk1>
        <a:srgbClr val="336666"/>
      </a:dk1>
      <a:lt1>
        <a:srgbClr val="FFFFFF"/>
      </a:lt1>
      <a:dk2>
        <a:srgbClr val="000000"/>
      </a:dk2>
      <a:lt2>
        <a:srgbClr val="666699"/>
      </a:lt2>
      <a:accent1>
        <a:srgbClr val="99CCCC"/>
      </a:accent1>
      <a:accent2>
        <a:srgbClr val="CCCCCC"/>
      </a:accent2>
      <a:accent3>
        <a:srgbClr val="FFFFFF"/>
      </a:accent3>
      <a:accent4>
        <a:srgbClr val="2A5656"/>
      </a:accent4>
      <a:accent5>
        <a:srgbClr val="CAE2E2"/>
      </a:accent5>
      <a:accent6>
        <a:srgbClr val="B9B9B9"/>
      </a:accent6>
      <a:hlink>
        <a:srgbClr val="006666"/>
      </a:hlink>
      <a:folHlink>
        <a:srgbClr val="B2B2B2"/>
      </a:folHlink>
    </a:clrScheme>
    <a:fontScheme name="Echo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Echo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数值分析_第7章_非线性方程的数值解法</Template>
  <TotalTime>525</TotalTime>
  <Words>3166</Words>
  <Application>Microsoft Office PowerPoint</Application>
  <PresentationFormat>全屏显示(4:3)</PresentationFormat>
  <Paragraphs>386</Paragraphs>
  <Slides>48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48</vt:i4>
      </vt:variant>
    </vt:vector>
  </HeadingPairs>
  <TitlesOfParts>
    <vt:vector size="62" baseType="lpstr">
      <vt:lpstr>黑体</vt:lpstr>
      <vt:lpstr>楷体_GB2312</vt:lpstr>
      <vt:lpstr>宋体</vt:lpstr>
      <vt:lpstr>Arial</vt:lpstr>
      <vt:lpstr>Courier New</vt:lpstr>
      <vt:lpstr>Tahoma</vt:lpstr>
      <vt:lpstr>Times New Roman</vt:lpstr>
      <vt:lpstr>Wingdings</vt:lpstr>
      <vt:lpstr>数值分析_第7章_非线性方程的数值解法</vt:lpstr>
      <vt:lpstr>Echo</vt:lpstr>
      <vt:lpstr>公式</vt:lpstr>
      <vt:lpstr>Equation</vt:lpstr>
      <vt:lpstr>Equation.3</vt:lpstr>
      <vt:lpstr>Equation.DSMT4</vt:lpstr>
      <vt:lpstr>第四章 方程求根的迭代法</vt:lpstr>
      <vt:lpstr>提纲</vt:lpstr>
      <vt:lpstr>4.1  方程求根与二分法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提纲</vt:lpstr>
      <vt:lpstr>迭代法的基本思想</vt:lpstr>
      <vt:lpstr>PowerPoint 演示文稿</vt:lpstr>
      <vt:lpstr>PowerPoint 演示文稿</vt:lpstr>
      <vt:lpstr>几何含义</vt:lpstr>
      <vt:lpstr>PowerPoint 演示文稿</vt:lpstr>
      <vt:lpstr>压缩映像定理</vt:lpstr>
      <vt:lpstr>压缩映像定理证明</vt:lpstr>
      <vt:lpstr>压缩映像定理证明</vt:lpstr>
      <vt:lpstr>PowerPoint 演示文稿</vt:lpstr>
      <vt:lpstr>全局收敛性和局部收敛性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迭代过程的收敛速度</vt:lpstr>
      <vt:lpstr>P阶收敛</vt:lpstr>
      <vt:lpstr>必要性的证明</vt:lpstr>
      <vt:lpstr>PowerPoint 演示文稿</vt:lpstr>
      <vt:lpstr>埃特金加速算法</vt:lpstr>
      <vt:lpstr>PowerPoint 演示文稿</vt:lpstr>
      <vt:lpstr>Newton迭代</vt:lpstr>
      <vt:lpstr>Newton迭代</vt:lpstr>
      <vt:lpstr>收敛性定理</vt:lpstr>
      <vt:lpstr>全局收敛性定理</vt:lpstr>
      <vt:lpstr>PowerPoint 演示文稿</vt:lpstr>
      <vt:lpstr>重根情形</vt:lpstr>
      <vt:lpstr>提高收敛阶</vt:lpstr>
      <vt:lpstr>降低初始点的要求</vt:lpstr>
      <vt:lpstr>割线法</vt:lpstr>
      <vt:lpstr>割线法公式</vt:lpstr>
      <vt:lpstr>误差估计</vt:lpstr>
      <vt:lpstr>局部收敛性定理</vt:lpstr>
      <vt:lpstr>本章结束</vt:lpstr>
    </vt:vector>
  </TitlesOfParts>
  <Company>ouc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  方程求根的迭代法</dc:title>
  <dc:creator>gaoyun</dc:creator>
  <cp:lastModifiedBy>li sj</cp:lastModifiedBy>
  <cp:revision>86</cp:revision>
  <dcterms:created xsi:type="dcterms:W3CDTF">2007-05-17T09:43:00Z</dcterms:created>
  <dcterms:modified xsi:type="dcterms:W3CDTF">2020-10-15T02:00:44Z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