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handoutMasterIdLst>
    <p:handoutMasterId r:id="rId98"/>
  </p:handoutMasterIdLst>
  <p:sldIdLst>
    <p:sldId id="618" r:id="rId3"/>
    <p:sldId id="620" r:id="rId4"/>
    <p:sldId id="621" r:id="rId5"/>
    <p:sldId id="622" r:id="rId7"/>
    <p:sldId id="623" r:id="rId8"/>
    <p:sldId id="624" r:id="rId9"/>
    <p:sldId id="625" r:id="rId10"/>
    <p:sldId id="626" r:id="rId11"/>
    <p:sldId id="627" r:id="rId12"/>
    <p:sldId id="628" r:id="rId13"/>
    <p:sldId id="629" r:id="rId14"/>
    <p:sldId id="630" r:id="rId15"/>
    <p:sldId id="631" r:id="rId16"/>
    <p:sldId id="632" r:id="rId17"/>
    <p:sldId id="633" r:id="rId18"/>
    <p:sldId id="634" r:id="rId19"/>
    <p:sldId id="635" r:id="rId20"/>
    <p:sldId id="636" r:id="rId21"/>
    <p:sldId id="637" r:id="rId22"/>
    <p:sldId id="638" r:id="rId23"/>
    <p:sldId id="639" r:id="rId24"/>
    <p:sldId id="729" r:id="rId25"/>
    <p:sldId id="640" r:id="rId26"/>
    <p:sldId id="641" r:id="rId27"/>
    <p:sldId id="642" r:id="rId28"/>
    <p:sldId id="643" r:id="rId29"/>
    <p:sldId id="644" r:id="rId30"/>
    <p:sldId id="645" r:id="rId31"/>
    <p:sldId id="646" r:id="rId32"/>
    <p:sldId id="647" r:id="rId33"/>
    <p:sldId id="648" r:id="rId34"/>
    <p:sldId id="649" r:id="rId35"/>
    <p:sldId id="650" r:id="rId36"/>
    <p:sldId id="651" r:id="rId37"/>
    <p:sldId id="652" r:id="rId38"/>
    <p:sldId id="653" r:id="rId39"/>
    <p:sldId id="654" r:id="rId40"/>
    <p:sldId id="655" r:id="rId41"/>
    <p:sldId id="656" r:id="rId42"/>
    <p:sldId id="657" r:id="rId43"/>
    <p:sldId id="658" r:id="rId44"/>
    <p:sldId id="659" r:id="rId45"/>
    <p:sldId id="660" r:id="rId46"/>
    <p:sldId id="661" r:id="rId47"/>
    <p:sldId id="662" r:id="rId48"/>
    <p:sldId id="663" r:id="rId49"/>
    <p:sldId id="664" r:id="rId50"/>
    <p:sldId id="676" r:id="rId51"/>
    <p:sldId id="677" r:id="rId52"/>
    <p:sldId id="678" r:id="rId53"/>
    <p:sldId id="679" r:id="rId54"/>
    <p:sldId id="680" r:id="rId55"/>
    <p:sldId id="681" r:id="rId56"/>
    <p:sldId id="730" r:id="rId57"/>
    <p:sldId id="682" r:id="rId58"/>
    <p:sldId id="672" r:id="rId59"/>
    <p:sldId id="683" r:id="rId60"/>
    <p:sldId id="684" r:id="rId61"/>
    <p:sldId id="685" r:id="rId62"/>
    <p:sldId id="686" r:id="rId63"/>
    <p:sldId id="687" r:id="rId64"/>
    <p:sldId id="688" r:id="rId65"/>
    <p:sldId id="689" r:id="rId66"/>
    <p:sldId id="690" r:id="rId67"/>
    <p:sldId id="691" r:id="rId68"/>
    <p:sldId id="692" r:id="rId69"/>
    <p:sldId id="693" r:id="rId70"/>
    <p:sldId id="694" r:id="rId71"/>
    <p:sldId id="695" r:id="rId72"/>
    <p:sldId id="696" r:id="rId73"/>
    <p:sldId id="697" r:id="rId74"/>
    <p:sldId id="698" r:id="rId75"/>
    <p:sldId id="699" r:id="rId76"/>
    <p:sldId id="700" r:id="rId77"/>
    <p:sldId id="701" r:id="rId78"/>
    <p:sldId id="702" r:id="rId79"/>
    <p:sldId id="703" r:id="rId80"/>
    <p:sldId id="704" r:id="rId81"/>
    <p:sldId id="705" r:id="rId82"/>
    <p:sldId id="706" r:id="rId83"/>
    <p:sldId id="707" r:id="rId84"/>
    <p:sldId id="708" r:id="rId85"/>
    <p:sldId id="709" r:id="rId86"/>
    <p:sldId id="710" r:id="rId87"/>
    <p:sldId id="711" r:id="rId88"/>
    <p:sldId id="712" r:id="rId89"/>
    <p:sldId id="713" r:id="rId90"/>
    <p:sldId id="714" r:id="rId91"/>
    <p:sldId id="715" r:id="rId92"/>
    <p:sldId id="716" r:id="rId93"/>
    <p:sldId id="724" r:id="rId94"/>
    <p:sldId id="725" r:id="rId95"/>
    <p:sldId id="726" r:id="rId96"/>
    <p:sldId id="728" r:id="rId97"/>
  </p:sldIdLst>
  <p:sldSz cx="9144000" cy="6858000" type="screen4x3"/>
  <p:notesSz cx="9144000" cy="6858000"/>
  <p:defaultTex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2FDB2607-1784-4EEB-B798-7EB5836EED8A}">
        <p14:showMediaCtrls xmlns:p14="http://schemas.microsoft.com/office/powerpoint/2010/main" val="1"/>
      </p:ext>
    </p:extLst>
  </p:showPr>
  <p:clrMru>
    <a:srgbClr val="0000FF"/>
    <a:srgbClr val="4A7FB4"/>
    <a:srgbClr val="4374BB"/>
    <a:srgbClr val="3378CB"/>
    <a:srgbClr val="3366CC"/>
    <a:srgbClr val="91E5E3"/>
    <a:srgbClr val="9D8D65"/>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6814"/>
    <p:restoredTop sz="90222"/>
  </p:normalViewPr>
  <p:slideViewPr>
    <p:cSldViewPr showGuides="1">
      <p:cViewPr varScale="1">
        <p:scale>
          <a:sx n="77" d="100"/>
          <a:sy n="77" d="100"/>
        </p:scale>
        <p:origin x="-1122"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presProps" Target="presProps.xml"/><Relationship Id="rId98" Type="http://schemas.openxmlformats.org/officeDocument/2006/relationships/handoutMaster" Target="handoutMasters/handoutMaster1.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notesMaster" Target="notesMasters/notesMaster1.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1" Type="http://schemas.openxmlformats.org/officeDocument/2006/relationships/tableStyles" Target="tableStyles.xml"/><Relationship Id="rId100" Type="http://schemas.openxmlformats.org/officeDocument/2006/relationships/viewProps" Target="viewProps.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7" Type="http://schemas.openxmlformats.org/officeDocument/2006/relationships/image" Target="../media/image9.emf"/><Relationship Id="rId6" Type="http://schemas.openxmlformats.org/officeDocument/2006/relationships/image" Target="../media/image8.emf"/><Relationship Id="rId5" Type="http://schemas.openxmlformats.org/officeDocument/2006/relationships/image" Target="../media/image7.emf"/><Relationship Id="rId4" Type="http://schemas.openxmlformats.org/officeDocument/2006/relationships/image" Target="../media/image6.emf"/><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image" Target="../media/image12.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image" Target="../media/image14.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628738" name="Rectangle 2"/>
          <p:cNvSpPr>
            <a:spLocks noGrp="1" noChangeArrowheads="1"/>
          </p:cNvSpPr>
          <p:nvPr>
            <p:ph type="hdr" sz="quarter"/>
          </p:nvPr>
        </p:nvSpPr>
        <p:spPr bwMode="auto">
          <a:xfrm>
            <a:off x="0" y="0"/>
            <a:ext cx="3962400" cy="342900"/>
          </a:xfrm>
          <a:prstGeom prst="rect">
            <a:avLst/>
          </a:prstGeom>
          <a:noFill/>
          <a:ln>
            <a:noFill/>
          </a:ln>
          <a:effectLst/>
        </p:spPr>
        <p:txBody>
          <a:bodyPr vert="horz" wrap="square" lIns="91440" tIns="45720" rIns="91440" bIns="45720" numCol="1" anchor="t" anchorCtr="0" compatLnSpc="1"/>
          <a:lstStyle>
            <a:lvl1pPr algn="l" eaLnBrk="0" hangingPunct="0">
              <a:defRPr sz="1200" u="none">
                <a:solidFill>
                  <a:schemeClr val="tx1"/>
                </a:solidFill>
                <a:latin typeface="Times New Roman" panose="02020603050405020304" pitchFamily="18"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28739" name="Rectangle 3"/>
          <p:cNvSpPr>
            <a:spLocks noGrp="1" noChangeArrowheads="1"/>
          </p:cNvSpPr>
          <p:nvPr>
            <p:ph type="dt" sz="quarter" idx="1"/>
          </p:nvPr>
        </p:nvSpPr>
        <p:spPr bwMode="auto">
          <a:xfrm>
            <a:off x="5180013" y="0"/>
            <a:ext cx="3962400" cy="342900"/>
          </a:xfrm>
          <a:prstGeom prst="rect">
            <a:avLst/>
          </a:prstGeom>
          <a:noFill/>
          <a:ln>
            <a:noFill/>
          </a:ln>
          <a:effectLst/>
        </p:spPr>
        <p:txBody>
          <a:bodyPr vert="horz" wrap="square" lIns="91440" tIns="45720" rIns="91440" bIns="45720" numCol="1" anchor="t" anchorCtr="0" compatLnSpc="1"/>
          <a:lstStyle>
            <a:lvl1pPr algn="r" eaLnBrk="0" hangingPunct="0">
              <a:defRPr sz="1200" u="none">
                <a:solidFill>
                  <a:schemeClr val="tx1"/>
                </a:solidFill>
                <a:latin typeface="Times New Roman" panose="02020603050405020304" pitchFamily="18" charset="0"/>
              </a:defRPr>
            </a:lvl1pPr>
          </a:lstStyle>
          <a:p>
            <a:pPr marL="0" marR="0" lvl="0" indent="0" algn="r"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28740" name="Rectangle 4"/>
          <p:cNvSpPr>
            <a:spLocks noGrp="1" noChangeArrowheads="1"/>
          </p:cNvSpPr>
          <p:nvPr>
            <p:ph type="ftr" sz="quarter" idx="2"/>
          </p:nvPr>
        </p:nvSpPr>
        <p:spPr bwMode="auto">
          <a:xfrm>
            <a:off x="0" y="6513513"/>
            <a:ext cx="3962400" cy="342900"/>
          </a:xfrm>
          <a:prstGeom prst="rect">
            <a:avLst/>
          </a:prstGeom>
          <a:noFill/>
          <a:ln>
            <a:noFill/>
          </a:ln>
          <a:effectLst/>
        </p:spPr>
        <p:txBody>
          <a:bodyPr vert="horz" wrap="square" lIns="91440" tIns="45720" rIns="91440" bIns="45720" numCol="1" anchor="b" anchorCtr="0" compatLnSpc="1"/>
          <a:lstStyle>
            <a:lvl1pPr algn="l" eaLnBrk="0" hangingPunct="0">
              <a:defRPr sz="1200" u="none">
                <a:solidFill>
                  <a:schemeClr val="tx1"/>
                </a:solidFill>
                <a:latin typeface="Times New Roman" panose="02020603050405020304" pitchFamily="18"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28741" name="Rectangle 5"/>
          <p:cNvSpPr>
            <a:spLocks noGrp="1" noChangeArrowheads="1"/>
          </p:cNvSpPr>
          <p:nvPr>
            <p:ph type="sldNum" sz="quarter" idx="3"/>
          </p:nvPr>
        </p:nvSpPr>
        <p:spPr bwMode="auto">
          <a:xfrm>
            <a:off x="5180013" y="6513513"/>
            <a:ext cx="3962400" cy="342900"/>
          </a:xfrm>
          <a:prstGeom prst="rect">
            <a:avLst/>
          </a:prstGeom>
          <a:noFill/>
          <a:ln>
            <a:noFill/>
          </a:ln>
          <a:effectLst/>
        </p:spPr>
        <p:txBody>
          <a:bodyPr vert="horz" wrap="square" lIns="91440" tIns="45720" rIns="91440" bIns="45720" numCol="1" anchor="b" anchorCtr="0" compatLnSpc="1"/>
          <a:p>
            <a:pPr lvl="0" algn="r" fontAlgn="base">
              <a:buNone/>
            </a:pPr>
            <a:fld id="{9A0DB2DC-4C9A-4742-B13C-FB6460FD3503}" type="slidenum">
              <a:rPr lang="zh-CN" altLang="en-US" sz="1200" u="none" strike="noStrike" noProof="1" dirty="0">
                <a:solidFill>
                  <a:schemeClr val="tx1"/>
                </a:solidFill>
                <a:latin typeface="Times New Roman" panose="02020603050405020304" pitchFamily="18" charset="0"/>
                <a:ea typeface="宋体" panose="02010600030101010101" pitchFamily="2" charset="-122"/>
                <a:cs typeface="+mn-cs"/>
              </a:rPr>
            </a:fld>
            <a:endParaRPr lang="zh-CN" altLang="en-US" sz="1200" u="none" strike="noStrike" noProof="1" dirty="0">
              <a:solidFill>
                <a:schemeClr val="tx1"/>
              </a:solidFill>
              <a:latin typeface="Times New Roman" panose="02020603050405020304" pitchFamily="18" charset="0"/>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81282" name="Rectangle 2"/>
          <p:cNvSpPr>
            <a:spLocks noGrp="1" noChangeArrowheads="1"/>
          </p:cNvSpPr>
          <p:nvPr>
            <p:ph type="hdr" sz="quarter"/>
          </p:nvPr>
        </p:nvSpPr>
        <p:spPr bwMode="auto">
          <a:xfrm>
            <a:off x="0" y="0"/>
            <a:ext cx="3962400" cy="342900"/>
          </a:xfrm>
          <a:prstGeom prst="rect">
            <a:avLst/>
          </a:prstGeom>
          <a:noFill/>
          <a:ln>
            <a:noFill/>
          </a:ln>
          <a:effectLst/>
        </p:spPr>
        <p:txBody>
          <a:bodyPr vert="horz" wrap="square" lIns="91440" tIns="45720" rIns="91440" bIns="45720" numCol="1" anchor="t" anchorCtr="0" compatLnSpc="1"/>
          <a:lstStyle>
            <a:lvl1pPr algn="l" eaLnBrk="0" hangingPunct="0">
              <a:defRPr sz="1200" u="none">
                <a:solidFill>
                  <a:schemeClr val="tx1"/>
                </a:solidFill>
                <a:latin typeface="Times New Roman" panose="02020603050405020304" pitchFamily="18"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1283" name="Rectangle 3"/>
          <p:cNvSpPr>
            <a:spLocks noGrp="1" noChangeArrowheads="1"/>
          </p:cNvSpPr>
          <p:nvPr>
            <p:ph type="dt" idx="1"/>
          </p:nvPr>
        </p:nvSpPr>
        <p:spPr bwMode="auto">
          <a:xfrm>
            <a:off x="5180013" y="0"/>
            <a:ext cx="3962400" cy="342900"/>
          </a:xfrm>
          <a:prstGeom prst="rect">
            <a:avLst/>
          </a:prstGeom>
          <a:noFill/>
          <a:ln>
            <a:noFill/>
          </a:ln>
          <a:effectLst/>
        </p:spPr>
        <p:txBody>
          <a:bodyPr vert="horz" wrap="square" lIns="91440" tIns="45720" rIns="91440" bIns="45720" numCol="1" anchor="t" anchorCtr="0" compatLnSpc="1"/>
          <a:lstStyle>
            <a:lvl1pPr algn="r" eaLnBrk="0" hangingPunct="0">
              <a:defRPr sz="1200" u="none">
                <a:solidFill>
                  <a:schemeClr val="tx1"/>
                </a:solidFill>
                <a:latin typeface="Times New Roman" panose="02020603050405020304" pitchFamily="18" charset="0"/>
              </a:defRPr>
            </a:lvl1pPr>
          </a:lstStyle>
          <a:p>
            <a:pPr marL="0" marR="0" lvl="0" indent="0" algn="r"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00" name="Rectangle 4"/>
          <p:cNvSpPr>
            <a:spLocks noRot="1" noTextEdit="1"/>
          </p:cNvSpPr>
          <p:nvPr>
            <p:ph type="sldImg"/>
          </p:nvPr>
        </p:nvSpPr>
        <p:spPr>
          <a:xfrm>
            <a:off x="2857500" y="514350"/>
            <a:ext cx="3429000" cy="2571750"/>
          </a:xfrm>
          <a:prstGeom prst="rect">
            <a:avLst/>
          </a:prstGeom>
          <a:noFill/>
          <a:ln w="9525" cap="flat" cmpd="sng">
            <a:solidFill>
              <a:srgbClr val="000000"/>
            </a:solidFill>
            <a:prstDash val="solid"/>
            <a:miter/>
            <a:headEnd type="none" w="med" len="med"/>
            <a:tailEnd type="none" w="med" len="med"/>
          </a:ln>
        </p:spPr>
      </p:sp>
      <p:sp>
        <p:nvSpPr>
          <p:cNvPr id="481285" name="Rectangle 5"/>
          <p:cNvSpPr>
            <a:spLocks noGrp="1" noChangeArrowheads="1"/>
          </p:cNvSpPr>
          <p:nvPr>
            <p:ph type="body" sz="quarter" idx="3"/>
          </p:nvPr>
        </p:nvSpPr>
        <p:spPr bwMode="auto">
          <a:xfrm>
            <a:off x="914400" y="3257550"/>
            <a:ext cx="7315200" cy="3086100"/>
          </a:xfrm>
          <a:prstGeom prst="rect">
            <a:avLst/>
          </a:prstGeom>
          <a:noFill/>
          <a:ln>
            <a:noFill/>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第二级</a:t>
            </a:r>
            <a:endPar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第三级</a:t>
            </a:r>
            <a:endPar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第四级</a:t>
            </a:r>
            <a:endPar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第五级</a:t>
            </a:r>
            <a:endPar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1286" name="Rectangle 6"/>
          <p:cNvSpPr>
            <a:spLocks noGrp="1" noChangeArrowheads="1"/>
          </p:cNvSpPr>
          <p:nvPr>
            <p:ph type="ftr" sz="quarter" idx="4"/>
          </p:nvPr>
        </p:nvSpPr>
        <p:spPr bwMode="auto">
          <a:xfrm>
            <a:off x="0" y="6513513"/>
            <a:ext cx="3962400" cy="342900"/>
          </a:xfrm>
          <a:prstGeom prst="rect">
            <a:avLst/>
          </a:prstGeom>
          <a:noFill/>
          <a:ln>
            <a:noFill/>
          </a:ln>
          <a:effectLst/>
        </p:spPr>
        <p:txBody>
          <a:bodyPr vert="horz" wrap="square" lIns="91440" tIns="45720" rIns="91440" bIns="45720" numCol="1" anchor="b" anchorCtr="0" compatLnSpc="1"/>
          <a:lstStyle>
            <a:lvl1pPr algn="l" eaLnBrk="0" hangingPunct="0">
              <a:defRPr sz="1200" u="none">
                <a:solidFill>
                  <a:schemeClr val="tx1"/>
                </a:solidFill>
                <a:latin typeface="Times New Roman" panose="02020603050405020304" pitchFamily="18"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1287" name="Rectangle 7"/>
          <p:cNvSpPr>
            <a:spLocks noGrp="1" noChangeArrowheads="1"/>
          </p:cNvSpPr>
          <p:nvPr>
            <p:ph type="sldNum" sz="quarter" idx="5"/>
          </p:nvPr>
        </p:nvSpPr>
        <p:spPr bwMode="auto">
          <a:xfrm>
            <a:off x="5180013" y="6513513"/>
            <a:ext cx="3962400" cy="342900"/>
          </a:xfrm>
          <a:prstGeom prst="rect">
            <a:avLst/>
          </a:prstGeom>
          <a:noFill/>
          <a:ln>
            <a:noFill/>
          </a:ln>
          <a:effectLst/>
        </p:spPr>
        <p:txBody>
          <a:bodyPr vert="horz" wrap="square" lIns="91440" tIns="45720" rIns="91440" bIns="45720" numCol="1" anchor="b" anchorCtr="0" compatLnSpc="1"/>
          <a:p>
            <a:pPr lvl="0" algn="r" fontAlgn="base">
              <a:buNone/>
            </a:pPr>
            <a:fld id="{9A0DB2DC-4C9A-4742-B13C-FB6460FD3503}" type="slidenum">
              <a:rPr lang="zh-CN" altLang="en-US" sz="1200" u="none" strike="noStrike" noProof="1" dirty="0">
                <a:solidFill>
                  <a:schemeClr val="tx1"/>
                </a:solidFill>
                <a:latin typeface="Times New Roman" panose="02020603050405020304" pitchFamily="18" charset="0"/>
                <a:ea typeface="宋体" panose="02010600030101010101" pitchFamily="2" charset="-122"/>
                <a:cs typeface="+mn-cs"/>
              </a:rPr>
            </a:fld>
            <a:endParaRPr lang="zh-CN" altLang="en-US" sz="1200" u="none" strike="noStrike" noProof="1" dirty="0">
              <a:solidFill>
                <a:schemeClr val="tx1"/>
              </a:solidFill>
              <a:latin typeface="Times New Roman" panose="02020603050405020304" pitchFamily="18"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10" name="Text Box 8"/>
          <p:cNvSpPr txBox="1">
            <a:spLocks noChangeArrowheads="1"/>
          </p:cNvSpPr>
          <p:nvPr/>
        </p:nvSpPr>
        <p:spPr bwMode="auto">
          <a:xfrm>
            <a:off x="2411413" y="6092825"/>
            <a:ext cx="5545138" cy="398463"/>
          </a:xfrm>
          <a:prstGeom prst="rect">
            <a:avLst/>
          </a:prstGeom>
          <a:noFill/>
          <a:ln>
            <a:noFill/>
          </a:ln>
          <a:effectLst/>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楷体_GB2312" panose="02010609030101010101" pitchFamily="49" charset="-122"/>
                <a:ea typeface="楷体_GB2312" panose="02010609030101010101" pitchFamily="49" charset="-122"/>
                <a:cs typeface="+mn-cs"/>
              </a:rPr>
              <a:t>合肥工业大学  计算机信息学院</a:t>
            </a:r>
            <a:endParaRPr kumimoji="0" lang="en-US" altLang="zh-CN" sz="2000" b="0" i="0" u="none" strike="noStrike" kern="1200" cap="none" spc="0" normalizeH="0" baseline="0" noProof="0">
              <a:ln>
                <a:noFill/>
              </a:ln>
              <a:solidFill>
                <a:schemeClr val="tx1"/>
              </a:solidFill>
              <a:effectLst>
                <a:outerShdw blurRad="38100" dist="38100" dir="2700000" algn="tl">
                  <a:srgbClr val="C0C0C0"/>
                </a:outerShdw>
              </a:effectLst>
              <a:uLnTx/>
              <a:uFillTx/>
              <a:latin typeface="楷体_GB2312" panose="02010609030101010101" pitchFamily="49" charset="-122"/>
              <a:ea typeface="楷体_GB2312" panose="02010609030101010101" pitchFamily="49" charset="-122"/>
              <a:cs typeface="+mn-cs"/>
            </a:endParaRPr>
          </a:p>
        </p:txBody>
      </p:sp>
      <p:pic>
        <p:nvPicPr>
          <p:cNvPr id="2051" name="Picture 10" descr="050907a"/>
          <p:cNvPicPr>
            <a:picLocks noChangeAspect="1"/>
          </p:cNvPicPr>
          <p:nvPr/>
        </p:nvPicPr>
        <p:blipFill>
          <a:blip r:embed="rId2">
            <a:clrChange>
              <a:clrFrom>
                <a:srgbClr val="FFFFFF"/>
              </a:clrFrom>
              <a:clrTo>
                <a:srgbClr val="FFFFFF">
                  <a:alpha val="0"/>
                </a:srgbClr>
              </a:clrTo>
            </a:clrChange>
            <a:lum bright="10001" contrast="-28000"/>
          </a:blip>
          <a:stretch>
            <a:fillRect/>
          </a:stretch>
        </p:blipFill>
        <p:spPr>
          <a:xfrm>
            <a:off x="2043113" y="6021388"/>
            <a:ext cx="512762" cy="576262"/>
          </a:xfrm>
          <a:prstGeom prst="rect">
            <a:avLst/>
          </a:prstGeom>
          <a:noFill/>
          <a:ln w="9525">
            <a:noFill/>
          </a:ln>
        </p:spPr>
      </p:pic>
      <p:sp>
        <p:nvSpPr>
          <p:cNvPr id="618498" name="Rectangle 2"/>
          <p:cNvSpPr>
            <a:spLocks noGrp="1" noChangeArrowheads="1"/>
          </p:cNvSpPr>
          <p:nvPr>
            <p:ph type="ctrTitle"/>
          </p:nvPr>
        </p:nvSpPr>
        <p:spPr>
          <a:xfrm>
            <a:off x="684213" y="1196975"/>
            <a:ext cx="7772400" cy="1371600"/>
          </a:xfrm>
        </p:spPr>
        <p:txBody>
          <a:bodyPr/>
          <a:lstStyle>
            <a:lvl1pPr>
              <a:defRPr sz="4200"/>
            </a:lvl1pPr>
          </a:lstStyle>
          <a:p>
            <a:pPr lvl="0" fontAlgn="base"/>
            <a:r>
              <a:rPr lang="zh-CN" altLang="en-US" strike="noStrike" noProof="0" smtClean="0"/>
              <a:t>单击此处编辑母版标题样式</a:t>
            </a:r>
            <a:endParaRPr lang="zh-CN" altLang="en-US" strike="noStrike" noProof="0" smtClean="0"/>
          </a:p>
        </p:txBody>
      </p:sp>
      <p:sp>
        <p:nvSpPr>
          <p:cNvPr id="618499" name="Rectangle 3"/>
          <p:cNvSpPr>
            <a:spLocks noGrp="1" noChangeArrowheads="1"/>
          </p:cNvSpPr>
          <p:nvPr>
            <p:ph type="subTitle" idx="1"/>
          </p:nvPr>
        </p:nvSpPr>
        <p:spPr>
          <a:xfrm>
            <a:off x="1476375" y="3429000"/>
            <a:ext cx="7010400" cy="1600200"/>
          </a:xfrm>
        </p:spPr>
        <p:txBody>
          <a:bodyPr/>
          <a:lstStyle>
            <a:lvl1pPr marL="0" indent="0">
              <a:buFont typeface="Wingdings" panose="05000000000000000000" pitchFamily="2" charset="2"/>
              <a:buNone/>
              <a:defRPr sz="2800"/>
            </a:lvl1pPr>
          </a:lstStyle>
          <a:p>
            <a:pPr lvl="0" fontAlgn="base"/>
            <a:r>
              <a:rPr lang="zh-CN" altLang="en-US" strike="noStrike" noProof="0" smtClean="0"/>
              <a:t>单击此处编辑母版副标题样式</a:t>
            </a:r>
            <a:endParaRPr lang="zh-CN" altLang="en-US" strike="noStrike" noProof="0" smtClean="0"/>
          </a:p>
        </p:txBody>
      </p:sp>
      <p:sp>
        <p:nvSpPr>
          <p:cNvPr id="12" name="Rectangle 4"/>
          <p:cNvSpPr>
            <a:spLocks noGrp="1" noChangeArrowheads="1"/>
          </p:cNvSpPr>
          <p:nvPr>
            <p:ph type="dt" sz="half" idx="2"/>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22090B81-5882-4C02-98F9-C755A64C1B6C}" type="datetime1">
              <a:rPr kumimoji="0" lang="zh-CN" altLang="en-US" sz="12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3" name="Rectangle 5"/>
          <p:cNvSpPr>
            <a:spLocks noGrp="1" noChangeArrowheads="1"/>
          </p:cNvSpPr>
          <p:nvPr>
            <p:ph type="ftr" sz="quarter" idx="3"/>
          </p:nvPr>
        </p:nvSpPr>
        <p:spPr bwMode="auto">
          <a:xfrm>
            <a:off x="3124200" y="6248400"/>
            <a:ext cx="2895600" cy="457200"/>
          </a:xfrm>
          <a:prstGeom prst="rect">
            <a:avLst/>
          </a:prstGeom>
          <a:noFill/>
          <a:ln>
            <a:noFill/>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4" name="Rectangle 6"/>
          <p:cNvSpPr>
            <a:spLocks noGrp="1" noChangeArrowheads="1"/>
          </p:cNvSpPr>
          <p:nvPr>
            <p:ph type="sldNum" sz="quarter" idx="4"/>
          </p:nvPr>
        </p:nvSpPr>
        <p:spPr bwMode="auto">
          <a:xfrm>
            <a:off x="6948488" y="6400800"/>
            <a:ext cx="1905000" cy="457200"/>
          </a:xfrm>
          <a:prstGeom prst="rect">
            <a:avLst/>
          </a:prstGeom>
          <a:noFill/>
          <a:ln>
            <a:noFill/>
          </a:ln>
          <a:effectLst/>
        </p:spPr>
        <p:txBody>
          <a:bodyPr vert="horz" wrap="square" lIns="91440" tIns="45720" rIns="91440" bIns="45720" numCol="1" anchor="t" anchorCtr="0" compatLnSpc="1"/>
          <a:p>
            <a:pPr algn="r" fontAlgn="base">
              <a:buNone/>
            </a:pPr>
            <a:fld id="{9A0DB2DC-4C9A-4742-B13C-FB6460FD3503}" type="slidenum">
              <a:rPr lang="zh-CN" altLang="en-US" strike="noStrike" noProof="1" dirty="0">
                <a:latin typeface="Verdana" panose="020B0604030504040204" pitchFamily="34" charset="0"/>
                <a:ea typeface="宋体" panose="02010600030101010101" pitchFamily="2" charset="-122"/>
                <a:cs typeface="+mn-cs"/>
              </a:rPr>
            </a:fld>
            <a:endParaRPr lang="zh-CN" altLang="en-US" strike="noStrike" noProof="1" dirty="0"/>
          </a:p>
        </p:txBody>
      </p:sp>
    </p:spTree>
  </p:cSld>
  <p:clrMapOvr>
    <a:masterClrMapping/>
  </p:clrMapOvr>
  <p:transition spd="med">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8E3A22BC-76E4-4971-9624-DB87E666B5E8}" type="datetime1">
              <a:rPr kumimoji="0" lang="zh-CN" altLang="en-US" sz="12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zh-CN" altLang="en-US" strike="noStrike" noProof="1" dirty="0">
                <a:latin typeface="Verdana" panose="020B0604030504040204" pitchFamily="34" charset="0"/>
                <a:ea typeface="宋体" panose="02010600030101010101" pitchFamily="2" charset="-122"/>
                <a:cs typeface="+mn-cs"/>
              </a:rPr>
            </a:fld>
            <a:endParaRPr lang="zh-CN" altLang="en-US" strike="noStrike" noProof="1" dirty="0">
              <a:latin typeface="Verdana" panose="020B0604030504040204" pitchFamily="34" charset="0"/>
            </a:endParaRPr>
          </a:p>
        </p:txBody>
      </p:sp>
    </p:spTree>
  </p:cSld>
  <p:clrMapOvr>
    <a:masterClrMapping/>
  </p:clrMapOvr>
  <p:transition spd="med">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8E3A22BC-76E4-4971-9624-DB87E666B5E8}" type="datetime1">
              <a:rPr kumimoji="0" lang="zh-CN" altLang="en-US" sz="12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zh-CN" altLang="en-US" strike="noStrike" noProof="1" dirty="0">
                <a:latin typeface="Verdana" panose="020B0604030504040204" pitchFamily="34" charset="0"/>
                <a:ea typeface="宋体" panose="02010600030101010101" pitchFamily="2" charset="-122"/>
                <a:cs typeface="+mn-cs"/>
              </a:rPr>
            </a:fld>
            <a:endParaRPr lang="zh-CN" altLang="en-US" strike="noStrike" noProof="1" dirty="0">
              <a:latin typeface="Verdana" panose="020B0604030504040204" pitchFamily="34" charset="0"/>
            </a:endParaRPr>
          </a:p>
        </p:txBody>
      </p:sp>
    </p:spTree>
  </p:cSld>
  <p:clrMapOvr>
    <a:masterClrMapping/>
  </p:clrMapOvr>
  <p:transition spd="med">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68313" y="1844675"/>
            <a:ext cx="4027487" cy="42481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844675"/>
            <a:ext cx="4027488" cy="42481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8E3A22BC-76E4-4971-9624-DB87E666B5E8}" type="datetime1">
              <a:rPr kumimoji="0" lang="zh-CN" altLang="en-US" sz="12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zh-CN" altLang="en-US" strike="noStrike" noProof="1" dirty="0">
                <a:latin typeface="Verdana" panose="020B0604030504040204" pitchFamily="34" charset="0"/>
                <a:ea typeface="宋体" panose="02010600030101010101" pitchFamily="2" charset="-122"/>
                <a:cs typeface="+mn-cs"/>
              </a:rPr>
            </a:fld>
            <a:endParaRPr lang="zh-CN" altLang="en-US" strike="noStrike" noProof="1" dirty="0">
              <a:latin typeface="Verdana" panose="020B0604030504040204" pitchFamily="34" charset="0"/>
            </a:endParaRPr>
          </a:p>
        </p:txBody>
      </p:sp>
    </p:spTree>
  </p:cSld>
  <p:clrMapOvr>
    <a:masterClrMapping/>
  </p:clrMapOvr>
  <p:transition spd="med">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8E3A22BC-76E4-4971-9624-DB87E666B5E8}" type="datetime1">
              <a:rPr kumimoji="0" lang="zh-CN" altLang="en-US" sz="12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fontAlgn="base" hangingPunct="1">
              <a:buNone/>
            </a:pPr>
            <a:fld id="{9A0DB2DC-4C9A-4742-B13C-FB6460FD3503}" type="slidenum">
              <a:rPr lang="zh-CN" altLang="en-US" strike="noStrike" noProof="1" dirty="0">
                <a:latin typeface="Verdana" panose="020B0604030504040204" pitchFamily="34" charset="0"/>
                <a:ea typeface="宋体" panose="02010600030101010101" pitchFamily="2" charset="-122"/>
                <a:cs typeface="+mn-cs"/>
              </a:rPr>
            </a:fld>
            <a:endParaRPr lang="zh-CN" altLang="en-US" strike="noStrike" noProof="1" dirty="0">
              <a:latin typeface="Verdana" panose="020B0604030504040204" pitchFamily="34" charset="0"/>
            </a:endParaRPr>
          </a:p>
        </p:txBody>
      </p:sp>
    </p:spTree>
  </p:cSld>
  <p:clrMapOvr>
    <a:masterClrMapping/>
  </p:clrMapOvr>
  <p:transition spd="med">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8E3A22BC-76E4-4971-9624-DB87E666B5E8}" type="datetime1">
              <a:rPr kumimoji="0" lang="zh-CN" altLang="en-US" sz="12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fontAlgn="base" hangingPunct="1">
              <a:buNone/>
            </a:pPr>
            <a:fld id="{9A0DB2DC-4C9A-4742-B13C-FB6460FD3503}" type="slidenum">
              <a:rPr lang="zh-CN" altLang="en-US" strike="noStrike" noProof="1" dirty="0">
                <a:latin typeface="Verdana" panose="020B0604030504040204" pitchFamily="34" charset="0"/>
                <a:ea typeface="宋体" panose="02010600030101010101" pitchFamily="2" charset="-122"/>
                <a:cs typeface="+mn-cs"/>
              </a:rPr>
            </a:fld>
            <a:endParaRPr lang="zh-CN" altLang="en-US" strike="noStrike" noProof="1" dirty="0">
              <a:latin typeface="Verdana" panose="020B0604030504040204" pitchFamily="34" charset="0"/>
            </a:endParaRPr>
          </a:p>
        </p:txBody>
      </p:sp>
    </p:spTree>
  </p:cSld>
  <p:clrMapOvr>
    <a:masterClrMapping/>
  </p:clrMapOvr>
  <p:transition spd="med">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8E3A22BC-76E4-4971-9624-DB87E666B5E8}" type="datetime1">
              <a:rPr kumimoji="0" lang="zh-CN" altLang="en-US" sz="12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fontAlgn="base" hangingPunct="1">
              <a:buNone/>
            </a:pPr>
            <a:fld id="{9A0DB2DC-4C9A-4742-B13C-FB6460FD3503}" type="slidenum">
              <a:rPr lang="zh-CN" altLang="en-US" strike="noStrike" noProof="1" dirty="0">
                <a:latin typeface="Verdana" panose="020B0604030504040204" pitchFamily="34" charset="0"/>
                <a:ea typeface="宋体" panose="02010600030101010101" pitchFamily="2" charset="-122"/>
                <a:cs typeface="+mn-cs"/>
              </a:rPr>
            </a:fld>
            <a:endParaRPr lang="zh-CN" altLang="en-US" strike="noStrike" noProof="1" dirty="0">
              <a:latin typeface="Verdana" panose="020B0604030504040204" pitchFamily="34" charset="0"/>
            </a:endParaRPr>
          </a:p>
        </p:txBody>
      </p:sp>
    </p:spTree>
  </p:cSld>
  <p:clrMapOvr>
    <a:masterClrMapping/>
  </p:clrMapOvr>
  <p:transition spd="med">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8E3A22BC-76E4-4971-9624-DB87E666B5E8}" type="datetime1">
              <a:rPr kumimoji="0" lang="zh-CN" altLang="en-US" sz="12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zh-CN" altLang="en-US" strike="noStrike" noProof="1" dirty="0">
                <a:latin typeface="Verdana" panose="020B0604030504040204" pitchFamily="34" charset="0"/>
                <a:ea typeface="宋体" panose="02010600030101010101" pitchFamily="2" charset="-122"/>
                <a:cs typeface="+mn-cs"/>
              </a:rPr>
            </a:fld>
            <a:endParaRPr lang="zh-CN" altLang="en-US" strike="noStrike" noProof="1" dirty="0">
              <a:latin typeface="Verdana" panose="020B0604030504040204" pitchFamily="34" charset="0"/>
            </a:endParaRPr>
          </a:p>
        </p:txBody>
      </p:sp>
    </p:spTree>
  </p:cSld>
  <p:clrMapOvr>
    <a:masterClrMapping/>
  </p:clrMapOvr>
  <p:transition spd="med">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8E3A22BC-76E4-4971-9624-DB87E666B5E8}" type="datetime1">
              <a:rPr kumimoji="0" lang="zh-CN" altLang="en-US" sz="12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zh-CN" altLang="en-US" strike="noStrike" noProof="1" dirty="0">
                <a:latin typeface="Verdana" panose="020B0604030504040204" pitchFamily="34" charset="0"/>
                <a:ea typeface="宋体" panose="02010600030101010101" pitchFamily="2" charset="-122"/>
                <a:cs typeface="+mn-cs"/>
              </a:rPr>
            </a:fld>
            <a:endParaRPr lang="zh-CN" altLang="en-US" strike="noStrike" noProof="1" dirty="0">
              <a:latin typeface="Verdana" panose="020B0604030504040204" pitchFamily="34" charset="0"/>
            </a:endParaRPr>
          </a:p>
        </p:txBody>
      </p:sp>
    </p:spTree>
  </p:cSld>
  <p:clrMapOvr>
    <a:masterClrMapping/>
  </p:clrMapOvr>
  <p:transition spd="med">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8E3A22BC-76E4-4971-9624-DB87E666B5E8}" type="datetime1">
              <a:rPr kumimoji="0" lang="zh-CN" altLang="en-US" sz="12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zh-CN" altLang="en-US" strike="noStrike" noProof="1" dirty="0">
                <a:latin typeface="Verdana" panose="020B0604030504040204" pitchFamily="34" charset="0"/>
                <a:ea typeface="宋体" panose="02010600030101010101" pitchFamily="2" charset="-122"/>
                <a:cs typeface="+mn-cs"/>
              </a:rPr>
            </a:fld>
            <a:endParaRPr lang="zh-CN" altLang="en-US" strike="noStrike" noProof="1" dirty="0">
              <a:latin typeface="Verdana" panose="020B0604030504040204" pitchFamily="34" charset="0"/>
            </a:endParaRPr>
          </a:p>
        </p:txBody>
      </p:sp>
    </p:spTree>
  </p:cSld>
  <p:clrMapOvr>
    <a:masterClrMapping/>
  </p:clrMapOvr>
  <p:transition spd="med">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4638" y="304800"/>
            <a:ext cx="2051050" cy="57880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68313" y="304800"/>
            <a:ext cx="6003925" cy="57880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8E3A22BC-76E4-4971-9624-DB87E666B5E8}" type="datetime1">
              <a:rPr kumimoji="0" lang="zh-CN" altLang="en-US" sz="12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zh-CN" altLang="en-US" strike="noStrike" noProof="1" dirty="0">
                <a:latin typeface="Verdana" panose="020B0604030504040204" pitchFamily="34" charset="0"/>
                <a:ea typeface="宋体" panose="02010600030101010101" pitchFamily="2" charset="-122"/>
                <a:cs typeface="+mn-cs"/>
              </a:rPr>
            </a:fld>
            <a:endParaRPr lang="zh-CN" altLang="en-US" strike="noStrike" noProof="1" dirty="0">
              <a:latin typeface="Verdana" panose="020B0604030504040204" pitchFamily="34" charset="0"/>
            </a:endParaRPr>
          </a:p>
        </p:txBody>
      </p:sp>
    </p:spTree>
  </p:cSld>
  <p:clrMapOvr>
    <a:masterClrMapping/>
  </p:clrMapOvr>
  <p:transition spd="med">
    <p:zoom/>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Horz">
          <a:fgClr>
            <a:schemeClr val="bg2"/>
          </a:fgClr>
          <a:bgClr>
            <a:schemeClr val="bg1"/>
          </a:bgClr>
        </a:pattFill>
        <a:effectLst/>
      </p:bgPr>
    </p:bg>
    <p:spTree>
      <p:nvGrpSpPr>
        <p:cNvPr id="1" name=""/>
        <p:cNvGrpSpPr/>
        <p:nvPr/>
      </p:nvGrpSpPr>
      <p:grpSpPr/>
      <p:sp>
        <p:nvSpPr>
          <p:cNvPr id="1026" name="Rectangle 2"/>
          <p:cNvSpPr>
            <a:spLocks noGrp="1"/>
          </p:cNvSpPr>
          <p:nvPr>
            <p:ph type="title"/>
          </p:nvPr>
        </p:nvSpPr>
        <p:spPr>
          <a:xfrm>
            <a:off x="574675" y="304800"/>
            <a:ext cx="8001000" cy="1216025"/>
          </a:xfrm>
          <a:prstGeom prst="rect">
            <a:avLst/>
          </a:prstGeom>
          <a:noFill/>
          <a:ln w="9525">
            <a:noFill/>
          </a:ln>
        </p:spPr>
        <p:txBody>
          <a:bodyPr anchor="b"/>
          <a:p>
            <a:pPr lvl="0"/>
            <a:r>
              <a:rPr lang="zh-CN" altLang="en-US" dirty="0"/>
              <a:t>单击此处编辑母版标题样式</a:t>
            </a:r>
            <a:endParaRPr lang="zh-CN" altLang="en-US" dirty="0"/>
          </a:p>
        </p:txBody>
      </p:sp>
      <p:sp>
        <p:nvSpPr>
          <p:cNvPr id="1027" name="Rectangle 3"/>
          <p:cNvSpPr>
            <a:spLocks noGrp="1"/>
          </p:cNvSpPr>
          <p:nvPr>
            <p:ph type="body"/>
          </p:nvPr>
        </p:nvSpPr>
        <p:spPr>
          <a:xfrm>
            <a:off x="468313" y="1844675"/>
            <a:ext cx="8207375" cy="4248150"/>
          </a:xfrm>
          <a:prstGeom prst="rect">
            <a:avLst/>
          </a:prstGeom>
          <a:noFill/>
          <a:ln w="9525">
            <a:noFill/>
          </a:ln>
        </p:spPr>
        <p:txBody>
          <a:bodyPr anchor="t"/>
          <a:p>
            <a:pPr lvl="0"/>
            <a:r>
              <a:rPr lang="en-US" altLang="zh-CN" dirty="0"/>
              <a:t>a</a:t>
            </a:r>
            <a:r>
              <a:rPr lang="zh-CN" altLang="en-US" dirty="0"/>
              <a:t>单击此处编辑母版文本样式</a:t>
            </a:r>
            <a:endParaRPr lang="zh-CN" altLang="en-US" dirty="0"/>
          </a:p>
          <a:p>
            <a:pPr lvl="1" indent="-436245"/>
            <a:r>
              <a:rPr lang="en-US" altLang="zh-CN" dirty="0"/>
              <a:t>a</a:t>
            </a:r>
            <a:r>
              <a:rPr lang="zh-CN" altLang="en-US" dirty="0"/>
              <a:t>第二级</a:t>
            </a:r>
            <a:endParaRPr lang="zh-CN" altLang="en-US" dirty="0"/>
          </a:p>
          <a:p>
            <a:pPr lvl="2" indent="-394970"/>
            <a:r>
              <a:rPr lang="en-US" altLang="zh-CN" dirty="0"/>
              <a:t>a</a:t>
            </a:r>
            <a:r>
              <a:rPr lang="zh-CN" altLang="en-US" dirty="0"/>
              <a:t>第三级</a:t>
            </a:r>
            <a:endParaRPr lang="zh-CN" altLang="en-US" dirty="0"/>
          </a:p>
          <a:p>
            <a:pPr lvl="3" indent="-387350"/>
            <a:r>
              <a:rPr lang="en-US" altLang="zh-CN" dirty="0"/>
              <a:t>a</a:t>
            </a:r>
            <a:r>
              <a:rPr lang="zh-CN" altLang="en-US" dirty="0"/>
              <a:t>第四级</a:t>
            </a:r>
            <a:endParaRPr lang="zh-CN" altLang="en-US" dirty="0"/>
          </a:p>
          <a:p>
            <a:pPr lvl="4" indent="-398780"/>
            <a:r>
              <a:rPr lang="en-US" altLang="zh-CN" dirty="0"/>
              <a:t>a</a:t>
            </a:r>
            <a:r>
              <a:rPr lang="zh-CN" altLang="en-US" dirty="0"/>
              <a:t>第五级</a:t>
            </a:r>
            <a:endParaRPr lang="zh-CN" altLang="en-US" dirty="0"/>
          </a:p>
        </p:txBody>
      </p:sp>
      <p:sp>
        <p:nvSpPr>
          <p:cNvPr id="1028" name="Line 5"/>
          <p:cNvSpPr>
            <a:spLocks noChangeShapeType="1"/>
          </p:cNvSpPr>
          <p:nvPr/>
        </p:nvSpPr>
        <p:spPr bwMode="auto">
          <a:xfrm flipV="1">
            <a:off x="609600" y="6237288"/>
            <a:ext cx="7924800" cy="0"/>
          </a:xfrm>
          <a:prstGeom prst="line">
            <a:avLst/>
          </a:prstGeom>
          <a:noFill/>
          <a:ln w="3175">
            <a:solidFill>
              <a:schemeClr val="accent2"/>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sng" strike="noStrike" kern="1200" cap="none" spc="0" normalizeH="0" baseline="0" noProof="0" smtClean="0">
              <a:ln>
                <a:noFill/>
              </a:ln>
              <a:solidFill>
                <a:schemeClr val="accent2"/>
              </a:solidFill>
              <a:effectLst/>
              <a:uLnTx/>
              <a:uFillTx/>
              <a:latin typeface="Verdana" panose="020B0604030504040204" pitchFamily="34" charset="0"/>
              <a:ea typeface="宋体" panose="02010600030101010101" pitchFamily="2" charset="-122"/>
              <a:cs typeface="+mn-cs"/>
            </a:endParaRPr>
          </a:p>
        </p:txBody>
      </p:sp>
      <p:sp>
        <p:nvSpPr>
          <p:cNvPr id="617478" name="Rectangle 6"/>
          <p:cNvSpPr>
            <a:spLocks noGrp="1" noChangeArrowheads="1"/>
          </p:cNvSpPr>
          <p:nvPr>
            <p:ph type="dt" sz="half" idx="2"/>
          </p:nvPr>
        </p:nvSpPr>
        <p:spPr bwMode="auto">
          <a:xfrm>
            <a:off x="609600" y="6265863"/>
            <a:ext cx="1981200" cy="476250"/>
          </a:xfrm>
          <a:prstGeom prst="rect">
            <a:avLst/>
          </a:prstGeom>
          <a:noFill/>
          <a:ln>
            <a:noFill/>
          </a:ln>
          <a:effectLst/>
        </p:spPr>
        <p:txBody>
          <a:bodyPr vert="horz" wrap="square" lIns="91440" tIns="45720" rIns="91440" bIns="45720" numCol="1" anchor="t" anchorCtr="0" compatLnSpc="1"/>
          <a:lstStyle>
            <a:lvl1pPr algn="l">
              <a:defRPr sz="1200" u="none">
                <a:solidFill>
                  <a:schemeClr val="tx1"/>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8E3A22BC-76E4-4971-9624-DB87E666B5E8}" type="datetime1">
              <a:rPr kumimoji="0" lang="zh-CN" altLang="en-US" sz="12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17479" name="Rectangle 7"/>
          <p:cNvSpPr>
            <a:spLocks noGrp="1" noChangeArrowheads="1"/>
          </p:cNvSpPr>
          <p:nvPr>
            <p:ph type="ftr" sz="quarter" idx="3"/>
          </p:nvPr>
        </p:nvSpPr>
        <p:spPr bwMode="auto">
          <a:xfrm>
            <a:off x="3124200" y="6308725"/>
            <a:ext cx="2895600" cy="476250"/>
          </a:xfrm>
          <a:prstGeom prst="rect">
            <a:avLst/>
          </a:prstGeom>
          <a:noFill/>
          <a:ln>
            <a:noFill/>
          </a:ln>
          <a:effectLst/>
        </p:spPr>
        <p:txBody>
          <a:bodyPr vert="horz" wrap="square" lIns="91440" tIns="45720" rIns="91440" bIns="45720" numCol="1" anchor="t" anchorCtr="0" compatLnSpc="1"/>
          <a:lstStyle>
            <a:lvl1pPr>
              <a:defRPr sz="1200" u="none">
                <a:solidFill>
                  <a:schemeClr val="tx1"/>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17480" name="Rectangle 8"/>
          <p:cNvSpPr>
            <a:spLocks noGrp="1" noChangeArrowheads="1"/>
          </p:cNvSpPr>
          <p:nvPr>
            <p:ph type="sldNum" sz="quarter" idx="4"/>
          </p:nvPr>
        </p:nvSpPr>
        <p:spPr bwMode="auto">
          <a:xfrm>
            <a:off x="6804025" y="6237288"/>
            <a:ext cx="1981200" cy="476250"/>
          </a:xfrm>
          <a:prstGeom prst="rect">
            <a:avLst/>
          </a:prstGeom>
          <a:noFill/>
          <a:ln>
            <a:noFill/>
          </a:ln>
          <a:effectLst/>
        </p:spPr>
        <p:txBody>
          <a:bodyPr vert="horz" wrap="square" lIns="91440" tIns="45720" rIns="91440" bIns="45720" numCol="1" anchor="t" anchorCtr="0" compatLnSpc="1"/>
          <a:lstStyle>
            <a:lvl1pPr algn="r">
              <a:defRPr sz="1200">
                <a:solidFill>
                  <a:schemeClr val="tx1"/>
                </a:solidFill>
              </a:defRPr>
            </a:lvl1pPr>
          </a:lstStyle>
          <a:p>
            <a:pPr lvl="0" eaLnBrk="1" fontAlgn="base" hangingPunct="1">
              <a:buNone/>
            </a:pPr>
            <a:fld id="{9A0DB2DC-4C9A-4742-B13C-FB6460FD3503}" type="slidenum">
              <a:rPr lang="zh-CN" altLang="en-US" strike="noStrike" noProof="1" dirty="0">
                <a:latin typeface="Verdana" panose="020B0604030504040204" pitchFamily="34" charset="0"/>
                <a:ea typeface="宋体" panose="02010600030101010101" pitchFamily="2" charset="-122"/>
                <a:cs typeface="+mn-cs"/>
              </a:rPr>
            </a:fld>
            <a:endParaRPr lang="zh-CN" altLang="en-US" strike="noStrike" noProof="1" dirty="0">
              <a:latin typeface="Verdana" panose="020B0604030504040204" pitchFamily="34" charset="0"/>
            </a:endParaRPr>
          </a:p>
        </p:txBody>
      </p:sp>
      <p:pic>
        <p:nvPicPr>
          <p:cNvPr id="1032" name="Picture 18" descr="050907a"/>
          <p:cNvPicPr>
            <a:picLocks noChangeAspect="1"/>
          </p:cNvPicPr>
          <p:nvPr/>
        </p:nvPicPr>
        <p:blipFill>
          <a:blip r:embed="rId12">
            <a:clrChange>
              <a:clrFrom>
                <a:srgbClr val="FFFFFF"/>
              </a:clrFrom>
              <a:clrTo>
                <a:srgbClr val="FFFFFF">
                  <a:alpha val="0"/>
                </a:srgbClr>
              </a:clrTo>
            </a:clrChange>
            <a:lum bright="10001" contrast="-28000"/>
          </a:blip>
          <a:stretch>
            <a:fillRect/>
          </a:stretch>
        </p:blipFill>
        <p:spPr>
          <a:xfrm>
            <a:off x="2555875" y="6308725"/>
            <a:ext cx="503238" cy="458788"/>
          </a:xfrm>
          <a:prstGeom prst="rect">
            <a:avLst/>
          </a:prstGeom>
          <a:noFill/>
          <a:ln w="9525">
            <a:noFill/>
          </a:ln>
        </p:spPr>
      </p:pic>
      <p:sp>
        <p:nvSpPr>
          <p:cNvPr id="617491" name="Text Box 19"/>
          <p:cNvSpPr txBox="1">
            <a:spLocks noChangeArrowheads="1"/>
          </p:cNvSpPr>
          <p:nvPr/>
        </p:nvSpPr>
        <p:spPr bwMode="auto">
          <a:xfrm>
            <a:off x="3132138" y="6375400"/>
            <a:ext cx="4392613" cy="368300"/>
          </a:xfrm>
          <a:prstGeom prst="rect">
            <a:avLst/>
          </a:prstGeom>
          <a:noFill/>
          <a:ln>
            <a:noFill/>
          </a:ln>
          <a:effec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1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楷体_GB2312" panose="02010609030101010101" pitchFamily="49" charset="-122"/>
                <a:ea typeface="楷体_GB2312" panose="02010609030101010101" pitchFamily="49" charset="-122"/>
                <a:cs typeface="+mn-cs"/>
              </a:rPr>
              <a:t>合肥工业大学 计算机与信息学院</a:t>
            </a:r>
            <a:endParaRPr kumimoji="0" lang="zh-CN" altLang="en-US" sz="1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楷体_GB2312" panose="02010609030101010101" pitchFamily="49" charset="-122"/>
              <a:ea typeface="楷体_GB2312" panose="02010609030101010101" pitchFamily="49"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zoom/>
  </p:transition>
  <p:hf sldNum="0" hdr="0" ftr="0" dt="0"/>
  <p:txStyles>
    <p:title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Verdana" panose="020B0604030504040204" pitchFamily="34" charset="0"/>
          <a:ea typeface="黑体" panose="02010609060101010101" pitchFamily="49" charset="-122"/>
        </a:defRPr>
      </a:lvl2pPr>
      <a:lvl3pPr algn="l" rtl="0" eaLnBrk="0" fontAlgn="base" hangingPunct="0">
        <a:spcBef>
          <a:spcPct val="0"/>
        </a:spcBef>
        <a:spcAft>
          <a:spcPct val="0"/>
        </a:spcAft>
        <a:defRPr sz="4000">
          <a:solidFill>
            <a:schemeClr val="tx2"/>
          </a:solidFill>
          <a:latin typeface="Verdana" panose="020B0604030504040204" pitchFamily="34" charset="0"/>
          <a:ea typeface="黑体" panose="02010609060101010101" pitchFamily="49" charset="-122"/>
        </a:defRPr>
      </a:lvl3pPr>
      <a:lvl4pPr algn="l" rtl="0" eaLnBrk="0" fontAlgn="base" hangingPunct="0">
        <a:spcBef>
          <a:spcPct val="0"/>
        </a:spcBef>
        <a:spcAft>
          <a:spcPct val="0"/>
        </a:spcAft>
        <a:defRPr sz="4000">
          <a:solidFill>
            <a:schemeClr val="tx2"/>
          </a:solidFill>
          <a:latin typeface="Verdana" panose="020B0604030504040204" pitchFamily="34" charset="0"/>
          <a:ea typeface="黑体" panose="02010609060101010101" pitchFamily="49" charset="-122"/>
        </a:defRPr>
      </a:lvl4pPr>
      <a:lvl5pPr algn="l" rtl="0" eaLnBrk="0" fontAlgn="base" hangingPunct="0">
        <a:spcBef>
          <a:spcPct val="0"/>
        </a:spcBef>
        <a:spcAft>
          <a:spcPct val="0"/>
        </a:spcAft>
        <a:defRPr sz="4000">
          <a:solidFill>
            <a:schemeClr val="tx2"/>
          </a:solidFill>
          <a:latin typeface="Verdana" panose="020B0604030504040204" pitchFamily="34" charset="0"/>
          <a:ea typeface="黑体" panose="02010609060101010101" pitchFamily="49" charset="-122"/>
        </a:defRPr>
      </a:lvl5pPr>
      <a:lvl6pPr marL="457200" algn="l" rtl="0" fontAlgn="base">
        <a:spcBef>
          <a:spcPct val="0"/>
        </a:spcBef>
        <a:spcAft>
          <a:spcPct val="0"/>
        </a:spcAft>
        <a:defRPr sz="4000">
          <a:solidFill>
            <a:schemeClr val="tx2"/>
          </a:solidFill>
          <a:latin typeface="Verdana" panose="020B0604030504040204" pitchFamily="34" charset="0"/>
          <a:ea typeface="黑体" panose="02010609060101010101" pitchFamily="49" charset="-122"/>
        </a:defRPr>
      </a:lvl6pPr>
      <a:lvl7pPr marL="914400" algn="l" rtl="0" fontAlgn="base">
        <a:spcBef>
          <a:spcPct val="0"/>
        </a:spcBef>
        <a:spcAft>
          <a:spcPct val="0"/>
        </a:spcAft>
        <a:defRPr sz="4000">
          <a:solidFill>
            <a:schemeClr val="tx2"/>
          </a:solidFill>
          <a:latin typeface="Verdana" panose="020B0604030504040204" pitchFamily="34" charset="0"/>
          <a:ea typeface="黑体" panose="02010609060101010101" pitchFamily="49" charset="-122"/>
        </a:defRPr>
      </a:lvl7pPr>
      <a:lvl8pPr marL="1371600" algn="l" rtl="0" fontAlgn="base">
        <a:spcBef>
          <a:spcPct val="0"/>
        </a:spcBef>
        <a:spcAft>
          <a:spcPct val="0"/>
        </a:spcAft>
        <a:defRPr sz="4000">
          <a:solidFill>
            <a:schemeClr val="tx2"/>
          </a:solidFill>
          <a:latin typeface="Verdana" panose="020B0604030504040204" pitchFamily="34" charset="0"/>
          <a:ea typeface="黑体" panose="02010609060101010101" pitchFamily="49" charset="-122"/>
        </a:defRPr>
      </a:lvl8pPr>
      <a:lvl9pPr marL="1828800" algn="l" rtl="0" fontAlgn="base">
        <a:spcBef>
          <a:spcPct val="0"/>
        </a:spcBef>
        <a:spcAft>
          <a:spcPct val="0"/>
        </a:spcAft>
        <a:defRPr sz="4000">
          <a:solidFill>
            <a:schemeClr val="tx2"/>
          </a:solidFill>
          <a:latin typeface="Verdana" panose="020B0604030504040204" pitchFamily="34" charset="0"/>
          <a:ea typeface="黑体" panose="02010609060101010101" pitchFamily="49" charset="-122"/>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8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4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9" Type="http://schemas.openxmlformats.org/officeDocument/2006/relationships/oleObject" Target="../embeddings/oleObject5.bin"/><Relationship Id="rId8" Type="http://schemas.openxmlformats.org/officeDocument/2006/relationships/image" Target="../media/image6.emf"/><Relationship Id="rId7" Type="http://schemas.openxmlformats.org/officeDocument/2006/relationships/oleObject" Target="../embeddings/oleObject4.bin"/><Relationship Id="rId6" Type="http://schemas.openxmlformats.org/officeDocument/2006/relationships/image" Target="../media/image5.emf"/><Relationship Id="rId5" Type="http://schemas.openxmlformats.org/officeDocument/2006/relationships/oleObject" Target="../embeddings/oleObject3.bin"/><Relationship Id="rId4" Type="http://schemas.openxmlformats.org/officeDocument/2006/relationships/image" Target="../media/image4.emf"/><Relationship Id="rId3" Type="http://schemas.openxmlformats.org/officeDocument/2006/relationships/oleObject" Target="../embeddings/oleObject2.bin"/><Relationship Id="rId2" Type="http://schemas.openxmlformats.org/officeDocument/2006/relationships/image" Target="../media/image3.emf"/><Relationship Id="rId16" Type="http://schemas.openxmlformats.org/officeDocument/2006/relationships/vmlDrawing" Target="../drawings/vmlDrawing1.vml"/><Relationship Id="rId15" Type="http://schemas.openxmlformats.org/officeDocument/2006/relationships/slideLayout" Target="../slideLayouts/slideLayout7.xml"/><Relationship Id="rId14" Type="http://schemas.openxmlformats.org/officeDocument/2006/relationships/image" Target="../media/image9.emf"/><Relationship Id="rId13" Type="http://schemas.openxmlformats.org/officeDocument/2006/relationships/oleObject" Target="../embeddings/oleObject7.bin"/><Relationship Id="rId12" Type="http://schemas.openxmlformats.org/officeDocument/2006/relationships/image" Target="../media/image8.emf"/><Relationship Id="rId11" Type="http://schemas.openxmlformats.org/officeDocument/2006/relationships/oleObject" Target="../embeddings/oleObject6.bin"/><Relationship Id="rId10" Type="http://schemas.openxmlformats.org/officeDocument/2006/relationships/image" Target="../media/image7.emf"/><Relationship Id="rId1"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7.xml"/><Relationship Id="rId2" Type="http://schemas.openxmlformats.org/officeDocument/2006/relationships/image" Target="../media/image10.emf"/><Relationship Id="rId1" Type="http://schemas.openxmlformats.org/officeDocument/2006/relationships/oleObject" Target="../embeddings/oleObject8.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7.xml"/><Relationship Id="rId2" Type="http://schemas.openxmlformats.org/officeDocument/2006/relationships/image" Target="../media/image11.emf"/><Relationship Id="rId1" Type="http://schemas.openxmlformats.org/officeDocument/2006/relationships/oleObject" Target="../embeddings/oleObject9.bin"/></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slideLayout" Target="../slideLayouts/slideLayout7.xml"/><Relationship Id="rId4" Type="http://schemas.openxmlformats.org/officeDocument/2006/relationships/image" Target="../media/image13.emf"/><Relationship Id="rId3" Type="http://schemas.openxmlformats.org/officeDocument/2006/relationships/oleObject" Target="../embeddings/oleObject11.bin"/><Relationship Id="rId2" Type="http://schemas.openxmlformats.org/officeDocument/2006/relationships/image" Target="../media/image12.emf"/><Relationship Id="rId1" Type="http://schemas.openxmlformats.org/officeDocument/2006/relationships/oleObject" Target="../embeddings/oleObject10.bin"/></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slideLayout" Target="../slideLayouts/slideLayout7.xml"/><Relationship Id="rId4" Type="http://schemas.openxmlformats.org/officeDocument/2006/relationships/image" Target="../media/image15.emf"/><Relationship Id="rId3" Type="http://schemas.openxmlformats.org/officeDocument/2006/relationships/oleObject" Target="../embeddings/oleObject13.bin"/><Relationship Id="rId2" Type="http://schemas.openxmlformats.org/officeDocument/2006/relationships/image" Target="../media/image14.emf"/><Relationship Id="rId1" Type="http://schemas.openxmlformats.org/officeDocument/2006/relationships/oleObject" Target="../embeddings/oleObject12.bin"/></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7.xml"/><Relationship Id="rId2" Type="http://schemas.openxmlformats.org/officeDocument/2006/relationships/image" Target="../media/image16.emf"/><Relationship Id="rId1" Type="http://schemas.openxmlformats.org/officeDocument/2006/relationships/oleObject" Target="../embeddings/oleObject14.bin"/></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7.xml"/><Relationship Id="rId2" Type="http://schemas.openxmlformats.org/officeDocument/2006/relationships/image" Target="../media/image17.emf"/><Relationship Id="rId1" Type="http://schemas.openxmlformats.org/officeDocument/2006/relationships/oleObject" Target="../embeddings/oleObject15.bin"/></Relationships>
</file>

<file path=ppt/slides/_rels/slide53.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7.xml"/><Relationship Id="rId2" Type="http://schemas.openxmlformats.org/officeDocument/2006/relationships/image" Target="../media/image18.wmf"/><Relationship Id="rId1" Type="http://schemas.openxmlformats.org/officeDocument/2006/relationships/oleObject" Target="../embeddings/oleObject16.bin"/></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7.xml"/><Relationship Id="rId2" Type="http://schemas.openxmlformats.org/officeDocument/2006/relationships/image" Target="../media/image19.emf"/><Relationship Id="rId1" Type="http://schemas.openxmlformats.org/officeDocument/2006/relationships/oleObject" Target="../embeddings/oleObject17.bin"/></Relationships>
</file>

<file path=ppt/slides/_rels/slide86.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7.xml"/><Relationship Id="rId2" Type="http://schemas.openxmlformats.org/officeDocument/2006/relationships/image" Target="../media/image20.wmf"/><Relationship Id="rId1" Type="http://schemas.openxmlformats.org/officeDocument/2006/relationships/oleObject" Target="../embeddings/oleObject18.bin"/></Relationships>
</file>

<file path=ppt/slides/_rels/slide87.xml.rels><?xml version="1.0" encoding="UTF-8" standalone="yes"?>
<Relationships xmlns="http://schemas.openxmlformats.org/package/2006/relationships"><Relationship Id="rId4" Type="http://schemas.openxmlformats.org/officeDocument/2006/relationships/vmlDrawing" Target="../drawings/vmlDrawing11.vml"/><Relationship Id="rId3" Type="http://schemas.openxmlformats.org/officeDocument/2006/relationships/slideLayout" Target="../slideLayouts/slideLayout7.xml"/><Relationship Id="rId2" Type="http://schemas.openxmlformats.org/officeDocument/2006/relationships/image" Target="../media/image21.wmf"/><Relationship Id="rId1" Type="http://schemas.openxmlformats.org/officeDocument/2006/relationships/oleObject" Target="../embeddings/oleObject19.bin"/></Relationships>
</file>

<file path=ppt/slides/_rels/slide88.xml.rels><?xml version="1.0" encoding="UTF-8" standalone="yes"?>
<Relationships xmlns="http://schemas.openxmlformats.org/package/2006/relationships"><Relationship Id="rId4" Type="http://schemas.openxmlformats.org/officeDocument/2006/relationships/vmlDrawing" Target="../drawings/vmlDrawing12.vml"/><Relationship Id="rId3" Type="http://schemas.openxmlformats.org/officeDocument/2006/relationships/slideLayout" Target="../slideLayouts/slideLayout7.xml"/><Relationship Id="rId2" Type="http://schemas.openxmlformats.org/officeDocument/2006/relationships/image" Target="../media/image22.emf"/><Relationship Id="rId1" Type="http://schemas.openxmlformats.org/officeDocument/2006/relationships/oleObject" Target="../embeddings/oleObject20.bin"/></Relationships>
</file>

<file path=ppt/slides/_rels/slide89.xml.rels><?xml version="1.0" encoding="UTF-8" standalone="yes"?>
<Relationships xmlns="http://schemas.openxmlformats.org/package/2006/relationships"><Relationship Id="rId4" Type="http://schemas.openxmlformats.org/officeDocument/2006/relationships/vmlDrawing" Target="../drawings/vmlDrawing13.vml"/><Relationship Id="rId3" Type="http://schemas.openxmlformats.org/officeDocument/2006/relationships/slideLayout" Target="../slideLayouts/slideLayout7.xml"/><Relationship Id="rId2" Type="http://schemas.openxmlformats.org/officeDocument/2006/relationships/image" Target="../media/image23.wmf"/><Relationship Id="rId1" Type="http://schemas.openxmlformats.org/officeDocument/2006/relationships/oleObject" Target="../embeddings/oleObject21.bin"/></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4" Type="http://schemas.openxmlformats.org/officeDocument/2006/relationships/vmlDrawing" Target="../drawings/vmlDrawing14.vml"/><Relationship Id="rId3" Type="http://schemas.openxmlformats.org/officeDocument/2006/relationships/slideLayout" Target="../slideLayouts/slideLayout7.xml"/><Relationship Id="rId2" Type="http://schemas.openxmlformats.org/officeDocument/2006/relationships/image" Target="../media/image24.emf"/><Relationship Id="rId1" Type="http://schemas.openxmlformats.org/officeDocument/2006/relationships/oleObject" Target="../embeddings/oleObject22.bin"/></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5122" name="Rectangle 2"/>
          <p:cNvSpPr>
            <a:spLocks noGrp="1"/>
          </p:cNvSpPr>
          <p:nvPr>
            <p:ph type="title"/>
          </p:nvPr>
        </p:nvSpPr>
        <p:spPr>
          <a:xfrm>
            <a:off x="800100" y="620713"/>
            <a:ext cx="7772400" cy="1223962"/>
          </a:xfrm>
          <a:ln>
            <a:solidFill>
              <a:schemeClr val="tx1"/>
            </a:solidFill>
            <a:miter/>
          </a:ln>
        </p:spPr>
        <p:txBody>
          <a:bodyPr vert="horz" wrap="square" lIns="91440" tIns="45720" rIns="91440" bIns="45720" anchor="b"/>
          <a:p>
            <a:pPr algn="ctr" eaLnBrk="1" hangingPunct="1"/>
            <a:r>
              <a:rPr lang="zh-CN" altLang="en-US" sz="8800" dirty="0">
                <a:solidFill>
                  <a:srgbClr val="0000FF"/>
                </a:solidFill>
                <a:ea typeface="隶书" panose="02010509060101010101" pitchFamily="49" charset="-122"/>
              </a:rPr>
              <a:t>编译原理</a:t>
            </a:r>
            <a:endParaRPr lang="zh-CN" altLang="en-US" sz="8800" dirty="0">
              <a:solidFill>
                <a:srgbClr val="0000FF"/>
              </a:solidFill>
              <a:ea typeface="隶书" panose="02010509060101010101" pitchFamily="49" charset="-122"/>
            </a:endParaRPr>
          </a:p>
        </p:txBody>
      </p:sp>
      <p:sp>
        <p:nvSpPr>
          <p:cNvPr id="5123" name="Rectangle 5"/>
          <p:cNvSpPr/>
          <p:nvPr/>
        </p:nvSpPr>
        <p:spPr>
          <a:xfrm>
            <a:off x="179388" y="2565400"/>
            <a:ext cx="8713787" cy="1431925"/>
          </a:xfrm>
          <a:prstGeom prst="rect">
            <a:avLst/>
          </a:prstGeom>
          <a:noFill/>
          <a:ln w="9525">
            <a:noFill/>
          </a:ln>
        </p:spPr>
        <p:txBody>
          <a:bodyPr anchor="t">
            <a:spAutoFit/>
          </a:bodyPr>
          <a:p>
            <a:pPr algn="ctr"/>
            <a:r>
              <a:rPr lang="zh-CN" altLang="en-US" sz="4400" b="1" u="none" dirty="0">
                <a:latin typeface="隶书" panose="02010509060101010101" pitchFamily="49" charset="-122"/>
                <a:ea typeface="隶书" panose="02010509060101010101" pitchFamily="49" charset="-122"/>
              </a:rPr>
              <a:t>第四章 </a:t>
            </a:r>
            <a:endParaRPr lang="zh-CN" altLang="en-US" sz="4400" b="1" u="none" dirty="0">
              <a:latin typeface="隶书" panose="02010509060101010101" pitchFamily="49" charset="-122"/>
              <a:ea typeface="隶书" panose="02010509060101010101" pitchFamily="49" charset="-122"/>
            </a:endParaRPr>
          </a:p>
          <a:p>
            <a:pPr algn="ctr"/>
            <a:r>
              <a:rPr lang="zh-CN" altLang="en-US" sz="4400" b="1" u="none" dirty="0">
                <a:latin typeface="隶书" panose="02010509060101010101" pitchFamily="49" charset="-122"/>
                <a:ea typeface="隶书" panose="02010509060101010101" pitchFamily="49" charset="-122"/>
              </a:rPr>
              <a:t>语法分析</a:t>
            </a:r>
            <a:r>
              <a:rPr lang="en-US" altLang="zh-CN" sz="4400" b="1" u="none" dirty="0">
                <a:latin typeface="隶书" panose="02010509060101010101" pitchFamily="49" charset="-122"/>
                <a:ea typeface="隶书" panose="02010509060101010101" pitchFamily="49" charset="-122"/>
              </a:rPr>
              <a:t>—</a:t>
            </a:r>
            <a:r>
              <a:rPr lang="zh-CN" altLang="en-US" sz="4400" b="1" u="none" dirty="0">
                <a:latin typeface="隶书" panose="02010509060101010101" pitchFamily="49" charset="-122"/>
                <a:ea typeface="隶书" panose="02010509060101010101" pitchFamily="49" charset="-122"/>
              </a:rPr>
              <a:t>自上而下分析</a:t>
            </a:r>
            <a:endParaRPr lang="zh-CN" altLang="en-US" sz="4400" b="1" u="none" dirty="0">
              <a:latin typeface="隶书" panose="02010509060101010101" pitchFamily="49" charset="-122"/>
              <a:ea typeface="隶书" panose="02010509060101010101" pitchFamily="49" charset="-122"/>
            </a:endParaRPr>
          </a:p>
        </p:txBody>
      </p:sp>
    </p:spTree>
  </p:cSld>
  <p:clrMapOvr>
    <a:masterClrMapping/>
  </p:clrMapOvr>
  <p:transition spd="med">
    <p:zo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grpSp>
        <p:nvGrpSpPr>
          <p:cNvPr id="6146" name="Group 2"/>
          <p:cNvGrpSpPr/>
          <p:nvPr/>
        </p:nvGrpSpPr>
        <p:grpSpPr>
          <a:xfrm>
            <a:off x="4648200" y="3581400"/>
            <a:ext cx="1724025" cy="533400"/>
            <a:chOff x="2880" y="2496"/>
            <a:chExt cx="947" cy="336"/>
          </a:xfrm>
        </p:grpSpPr>
        <p:sp>
          <p:nvSpPr>
            <p:cNvPr id="6147" name="Rectangle 3"/>
            <p:cNvSpPr/>
            <p:nvPr/>
          </p:nvSpPr>
          <p:spPr>
            <a:xfrm>
              <a:off x="2976" y="2528"/>
              <a:ext cx="851" cy="198"/>
            </a:xfrm>
            <a:prstGeom prst="rect">
              <a:avLst/>
            </a:prstGeom>
            <a:noFill/>
            <a:ln w="12700">
              <a:noFill/>
            </a:ln>
          </p:spPr>
          <p:txBody>
            <a:bodyPr wrap="none" anchor="ctr"/>
            <a:p>
              <a:pPr algn="ctr"/>
              <a:r>
                <a:rPr lang="zh-CN" altLang="en-US" sz="2800" b="1" u="none" dirty="0">
                  <a:solidFill>
                    <a:schemeClr val="tx1"/>
                  </a:solidFill>
                  <a:latin typeface="Times New Roman" panose="02020603050405020304" pitchFamily="18" charset="0"/>
                </a:rPr>
                <a:t>四元式</a:t>
              </a:r>
              <a:endParaRPr lang="zh-CN" altLang="en-US" sz="2400" b="1" u="none" dirty="0">
                <a:solidFill>
                  <a:schemeClr val="tx1"/>
                </a:solidFill>
                <a:latin typeface="Times New Roman" panose="02020603050405020304" pitchFamily="18" charset="0"/>
              </a:endParaRPr>
            </a:p>
          </p:txBody>
        </p:sp>
        <p:sp>
          <p:nvSpPr>
            <p:cNvPr id="6148" name="Line 4"/>
            <p:cNvSpPr/>
            <p:nvPr/>
          </p:nvSpPr>
          <p:spPr>
            <a:xfrm flipH="1">
              <a:off x="2880" y="2496"/>
              <a:ext cx="0" cy="336"/>
            </a:xfrm>
            <a:prstGeom prst="line">
              <a:avLst/>
            </a:prstGeom>
            <a:ln w="12700" cap="flat" cmpd="sng">
              <a:solidFill>
                <a:schemeClr val="tx1"/>
              </a:solidFill>
              <a:prstDash val="solid"/>
              <a:round/>
              <a:headEnd type="none" w="sm" len="sm"/>
              <a:tailEnd type="stealth" w="lg" len="lg"/>
            </a:ln>
          </p:spPr>
        </p:sp>
      </p:grpSp>
      <p:grpSp>
        <p:nvGrpSpPr>
          <p:cNvPr id="6149" name="Group 5"/>
          <p:cNvGrpSpPr/>
          <p:nvPr/>
        </p:nvGrpSpPr>
        <p:grpSpPr>
          <a:xfrm>
            <a:off x="4640263" y="1343025"/>
            <a:ext cx="1587500" cy="533400"/>
            <a:chOff x="2880" y="1104"/>
            <a:chExt cx="899" cy="336"/>
          </a:xfrm>
        </p:grpSpPr>
        <p:sp>
          <p:nvSpPr>
            <p:cNvPr id="6150" name="Rectangle 6"/>
            <p:cNvSpPr/>
            <p:nvPr/>
          </p:nvSpPr>
          <p:spPr>
            <a:xfrm>
              <a:off x="2928" y="1152"/>
              <a:ext cx="851" cy="219"/>
            </a:xfrm>
            <a:prstGeom prst="rect">
              <a:avLst/>
            </a:prstGeom>
            <a:noFill/>
            <a:ln w="12700">
              <a:noFill/>
            </a:ln>
          </p:spPr>
          <p:txBody>
            <a:bodyPr wrap="none" anchor="ctr"/>
            <a:p>
              <a:pPr algn="ctr"/>
              <a:r>
                <a:rPr lang="zh-CN" altLang="en-US" sz="2800" b="1" u="none" dirty="0">
                  <a:solidFill>
                    <a:schemeClr val="tx1"/>
                  </a:solidFill>
                  <a:latin typeface="Times New Roman" panose="02020603050405020304" pitchFamily="18" charset="0"/>
                </a:rPr>
                <a:t>单词符号</a:t>
              </a:r>
              <a:endParaRPr lang="zh-CN" altLang="en-US" sz="2400" b="1" u="none" dirty="0">
                <a:solidFill>
                  <a:schemeClr val="tx1"/>
                </a:solidFill>
                <a:latin typeface="Times New Roman" panose="02020603050405020304" pitchFamily="18" charset="0"/>
              </a:endParaRPr>
            </a:p>
          </p:txBody>
        </p:sp>
        <p:sp>
          <p:nvSpPr>
            <p:cNvPr id="6151" name="Line 7"/>
            <p:cNvSpPr/>
            <p:nvPr/>
          </p:nvSpPr>
          <p:spPr>
            <a:xfrm>
              <a:off x="2880" y="1104"/>
              <a:ext cx="0" cy="336"/>
            </a:xfrm>
            <a:prstGeom prst="line">
              <a:avLst/>
            </a:prstGeom>
            <a:ln w="12700" cap="flat" cmpd="sng">
              <a:solidFill>
                <a:schemeClr val="tx1"/>
              </a:solidFill>
              <a:prstDash val="solid"/>
              <a:round/>
              <a:headEnd type="none" w="sm" len="sm"/>
              <a:tailEnd type="stealth" w="lg" len="lg"/>
            </a:ln>
          </p:spPr>
        </p:sp>
      </p:grpSp>
      <p:grpSp>
        <p:nvGrpSpPr>
          <p:cNvPr id="6152" name="Group 8"/>
          <p:cNvGrpSpPr/>
          <p:nvPr/>
        </p:nvGrpSpPr>
        <p:grpSpPr>
          <a:xfrm>
            <a:off x="4640263" y="2409825"/>
            <a:ext cx="1587500" cy="609600"/>
            <a:chOff x="2880" y="1776"/>
            <a:chExt cx="899" cy="384"/>
          </a:xfrm>
        </p:grpSpPr>
        <p:sp>
          <p:nvSpPr>
            <p:cNvPr id="6153" name="Rectangle 9"/>
            <p:cNvSpPr/>
            <p:nvPr/>
          </p:nvSpPr>
          <p:spPr>
            <a:xfrm>
              <a:off x="2928" y="1824"/>
              <a:ext cx="851" cy="219"/>
            </a:xfrm>
            <a:prstGeom prst="rect">
              <a:avLst/>
            </a:prstGeom>
            <a:noFill/>
            <a:ln w="12700">
              <a:noFill/>
            </a:ln>
          </p:spPr>
          <p:txBody>
            <a:bodyPr wrap="none" anchor="ctr"/>
            <a:p>
              <a:pPr algn="ctr"/>
              <a:r>
                <a:rPr lang="zh-CN" altLang="en-US" sz="2800" b="1" u="none" dirty="0">
                  <a:solidFill>
                    <a:schemeClr val="tx1"/>
                  </a:solidFill>
                  <a:latin typeface="Times New Roman" panose="02020603050405020304" pitchFamily="18" charset="0"/>
                </a:rPr>
                <a:t>语法单位</a:t>
              </a:r>
              <a:endParaRPr lang="zh-CN" altLang="en-US" sz="2400" b="1" u="none" dirty="0">
                <a:solidFill>
                  <a:schemeClr val="tx1"/>
                </a:solidFill>
                <a:latin typeface="Times New Roman" panose="02020603050405020304" pitchFamily="18" charset="0"/>
              </a:endParaRPr>
            </a:p>
          </p:txBody>
        </p:sp>
        <p:sp>
          <p:nvSpPr>
            <p:cNvPr id="6154" name="Line 10"/>
            <p:cNvSpPr/>
            <p:nvPr/>
          </p:nvSpPr>
          <p:spPr>
            <a:xfrm>
              <a:off x="2880" y="1776"/>
              <a:ext cx="0" cy="384"/>
            </a:xfrm>
            <a:prstGeom prst="line">
              <a:avLst/>
            </a:prstGeom>
            <a:ln w="12700" cap="flat" cmpd="sng">
              <a:solidFill>
                <a:schemeClr val="tx1"/>
              </a:solidFill>
              <a:prstDash val="solid"/>
              <a:round/>
              <a:headEnd type="none" w="sm" len="sm"/>
              <a:tailEnd type="stealth" w="lg" len="lg"/>
            </a:ln>
          </p:spPr>
        </p:sp>
      </p:grpSp>
      <p:grpSp>
        <p:nvGrpSpPr>
          <p:cNvPr id="6155" name="Group 11"/>
          <p:cNvGrpSpPr/>
          <p:nvPr/>
        </p:nvGrpSpPr>
        <p:grpSpPr>
          <a:xfrm>
            <a:off x="4640263" y="4619625"/>
            <a:ext cx="1587500" cy="577850"/>
            <a:chOff x="2866" y="3138"/>
            <a:chExt cx="961" cy="394"/>
          </a:xfrm>
        </p:grpSpPr>
        <p:sp>
          <p:nvSpPr>
            <p:cNvPr id="6156" name="Line 12"/>
            <p:cNvSpPr/>
            <p:nvPr/>
          </p:nvSpPr>
          <p:spPr>
            <a:xfrm>
              <a:off x="2866" y="3138"/>
              <a:ext cx="0" cy="394"/>
            </a:xfrm>
            <a:prstGeom prst="line">
              <a:avLst/>
            </a:prstGeom>
            <a:ln w="12700" cap="flat" cmpd="sng">
              <a:solidFill>
                <a:schemeClr val="tx1"/>
              </a:solidFill>
              <a:prstDash val="solid"/>
              <a:round/>
              <a:headEnd type="none" w="sm" len="sm"/>
              <a:tailEnd type="stealth" w="lg" len="lg"/>
            </a:ln>
          </p:spPr>
        </p:sp>
        <p:sp>
          <p:nvSpPr>
            <p:cNvPr id="6157" name="Rectangle 13"/>
            <p:cNvSpPr/>
            <p:nvPr/>
          </p:nvSpPr>
          <p:spPr>
            <a:xfrm>
              <a:off x="2976" y="3216"/>
              <a:ext cx="851" cy="219"/>
            </a:xfrm>
            <a:prstGeom prst="rect">
              <a:avLst/>
            </a:prstGeom>
            <a:noFill/>
            <a:ln w="12700">
              <a:noFill/>
            </a:ln>
          </p:spPr>
          <p:txBody>
            <a:bodyPr wrap="none" anchor="ctr"/>
            <a:p>
              <a:pPr algn="ctr"/>
              <a:r>
                <a:rPr lang="zh-CN" altLang="en-US" sz="2800" b="1" u="none" dirty="0">
                  <a:solidFill>
                    <a:schemeClr val="tx1"/>
                  </a:solidFill>
                  <a:latin typeface="Times New Roman" panose="02020603050405020304" pitchFamily="18" charset="0"/>
                </a:rPr>
                <a:t>四元式</a:t>
              </a:r>
              <a:endParaRPr lang="zh-CN" altLang="en-US" sz="2400" b="1" u="none" dirty="0">
                <a:solidFill>
                  <a:schemeClr val="tx1"/>
                </a:solidFill>
                <a:latin typeface="Times New Roman" panose="02020603050405020304" pitchFamily="18" charset="0"/>
              </a:endParaRPr>
            </a:p>
          </p:txBody>
        </p:sp>
      </p:grpSp>
      <p:grpSp>
        <p:nvGrpSpPr>
          <p:cNvPr id="6158" name="Group 14"/>
          <p:cNvGrpSpPr/>
          <p:nvPr/>
        </p:nvGrpSpPr>
        <p:grpSpPr>
          <a:xfrm>
            <a:off x="4640263" y="5791200"/>
            <a:ext cx="1587500" cy="625475"/>
            <a:chOff x="2880" y="3926"/>
            <a:chExt cx="947" cy="394"/>
          </a:xfrm>
        </p:grpSpPr>
        <p:sp>
          <p:nvSpPr>
            <p:cNvPr id="6159" name="Rectangle 15"/>
            <p:cNvSpPr/>
            <p:nvPr/>
          </p:nvSpPr>
          <p:spPr>
            <a:xfrm>
              <a:off x="2976" y="3936"/>
              <a:ext cx="851" cy="218"/>
            </a:xfrm>
            <a:prstGeom prst="rect">
              <a:avLst/>
            </a:prstGeom>
            <a:noFill/>
            <a:ln w="12700">
              <a:noFill/>
            </a:ln>
          </p:spPr>
          <p:txBody>
            <a:bodyPr wrap="none" anchor="ctr"/>
            <a:p>
              <a:pPr algn="ctr"/>
              <a:r>
                <a:rPr lang="zh-CN" altLang="en-US" sz="2800" b="1" u="none" dirty="0">
                  <a:solidFill>
                    <a:schemeClr val="tx1"/>
                  </a:solidFill>
                  <a:latin typeface="Times New Roman" panose="02020603050405020304" pitchFamily="18" charset="0"/>
                </a:rPr>
                <a:t>目标代码</a:t>
              </a:r>
              <a:endParaRPr lang="zh-CN" altLang="en-US" sz="2400" b="1" u="none" dirty="0">
                <a:solidFill>
                  <a:schemeClr val="tx1"/>
                </a:solidFill>
                <a:latin typeface="Times New Roman" panose="02020603050405020304" pitchFamily="18" charset="0"/>
              </a:endParaRPr>
            </a:p>
          </p:txBody>
        </p:sp>
        <p:sp>
          <p:nvSpPr>
            <p:cNvPr id="6160" name="Line 16"/>
            <p:cNvSpPr/>
            <p:nvPr/>
          </p:nvSpPr>
          <p:spPr>
            <a:xfrm>
              <a:off x="2880" y="3926"/>
              <a:ext cx="0" cy="394"/>
            </a:xfrm>
            <a:prstGeom prst="line">
              <a:avLst/>
            </a:prstGeom>
            <a:ln w="12700" cap="flat" cmpd="sng">
              <a:solidFill>
                <a:schemeClr val="tx1"/>
              </a:solidFill>
              <a:prstDash val="solid"/>
              <a:round/>
              <a:headEnd type="none" w="sm" len="sm"/>
              <a:tailEnd type="stealth" w="lg" len="lg"/>
            </a:ln>
          </p:spPr>
        </p:sp>
      </p:grpSp>
      <p:sp>
        <p:nvSpPr>
          <p:cNvPr id="6161" name="Rectangle 17"/>
          <p:cNvSpPr/>
          <p:nvPr/>
        </p:nvSpPr>
        <p:spPr>
          <a:xfrm>
            <a:off x="3252788" y="817563"/>
            <a:ext cx="2700337" cy="495300"/>
          </a:xfrm>
          <a:prstGeom prst="rect">
            <a:avLst/>
          </a:prstGeom>
          <a:noFill/>
          <a:ln w="12700" cap="flat" cmpd="sng">
            <a:solidFill>
              <a:schemeClr val="tx1"/>
            </a:solidFill>
            <a:prstDash val="solid"/>
            <a:miter/>
            <a:headEnd type="none" w="med" len="med"/>
            <a:tailEnd type="none" w="med" len="med"/>
          </a:ln>
        </p:spPr>
        <p:txBody>
          <a:bodyPr anchor="t"/>
          <a:p>
            <a:pPr algn="ctr"/>
            <a:r>
              <a:rPr lang="zh-CN" altLang="en-US" sz="2800" b="1" u="none" dirty="0">
                <a:solidFill>
                  <a:schemeClr val="tx1"/>
                </a:solidFill>
                <a:latin typeface="Times New Roman" panose="02020603050405020304" pitchFamily="18" charset="0"/>
              </a:rPr>
              <a:t>词法分析器</a:t>
            </a:r>
            <a:endParaRPr lang="zh-CN" altLang="en-US" sz="2600" b="1" u="none" dirty="0">
              <a:solidFill>
                <a:schemeClr val="tx1"/>
              </a:solidFill>
              <a:latin typeface="Times New Roman" panose="02020603050405020304" pitchFamily="18" charset="0"/>
            </a:endParaRPr>
          </a:p>
        </p:txBody>
      </p:sp>
      <p:sp>
        <p:nvSpPr>
          <p:cNvPr id="6162" name="Rectangle 18"/>
          <p:cNvSpPr/>
          <p:nvPr/>
        </p:nvSpPr>
        <p:spPr>
          <a:xfrm>
            <a:off x="3268663" y="1876425"/>
            <a:ext cx="2700337" cy="495300"/>
          </a:xfrm>
          <a:prstGeom prst="rect">
            <a:avLst/>
          </a:prstGeom>
          <a:noFill/>
          <a:ln w="12700" cap="flat" cmpd="sng">
            <a:solidFill>
              <a:schemeClr val="tx1"/>
            </a:solidFill>
            <a:prstDash val="solid"/>
            <a:miter/>
            <a:headEnd type="none" w="med" len="med"/>
            <a:tailEnd type="none" w="med" len="med"/>
          </a:ln>
        </p:spPr>
        <p:txBody>
          <a:bodyPr anchor="t"/>
          <a:p>
            <a:pPr algn="ctr"/>
            <a:r>
              <a:rPr lang="zh-CN" altLang="en-US" sz="2800" b="1" u="none" dirty="0">
                <a:solidFill>
                  <a:schemeClr val="tx1"/>
                </a:solidFill>
                <a:latin typeface="Times New Roman" panose="02020603050405020304" pitchFamily="18" charset="0"/>
              </a:rPr>
              <a:t>语法分析器</a:t>
            </a:r>
            <a:endParaRPr lang="zh-CN" altLang="en-US" sz="2600" b="1" u="none" dirty="0">
              <a:solidFill>
                <a:schemeClr val="tx1"/>
              </a:solidFill>
              <a:latin typeface="Times New Roman" panose="02020603050405020304" pitchFamily="18" charset="0"/>
            </a:endParaRPr>
          </a:p>
        </p:txBody>
      </p:sp>
      <p:sp>
        <p:nvSpPr>
          <p:cNvPr id="6163" name="Rectangle 19"/>
          <p:cNvSpPr/>
          <p:nvPr/>
        </p:nvSpPr>
        <p:spPr>
          <a:xfrm>
            <a:off x="3294063" y="3009900"/>
            <a:ext cx="2700337" cy="495300"/>
          </a:xfrm>
          <a:prstGeom prst="rect">
            <a:avLst/>
          </a:prstGeom>
          <a:noFill/>
          <a:ln w="12700" cap="flat" cmpd="sng">
            <a:solidFill>
              <a:schemeClr val="tx1"/>
            </a:solidFill>
            <a:prstDash val="solid"/>
            <a:miter/>
            <a:headEnd type="none" w="med" len="med"/>
            <a:tailEnd type="none" w="med" len="med"/>
          </a:ln>
        </p:spPr>
        <p:txBody>
          <a:bodyPr anchor="t"/>
          <a:p>
            <a:pPr algn="ctr">
              <a:lnSpc>
                <a:spcPct val="80000"/>
              </a:lnSpc>
            </a:pPr>
            <a:r>
              <a:rPr lang="zh-CN" altLang="en-US" sz="2000" b="1" u="none" dirty="0">
                <a:solidFill>
                  <a:schemeClr val="tx1"/>
                </a:solidFill>
                <a:latin typeface="宋体" panose="02010600030101010101" pitchFamily="2" charset="-122"/>
              </a:rPr>
              <a:t>语义分析与中间代码生成器</a:t>
            </a:r>
            <a:endParaRPr lang="zh-CN" altLang="en-US" sz="2000" b="1" u="none" dirty="0">
              <a:solidFill>
                <a:schemeClr val="tx1"/>
              </a:solidFill>
              <a:latin typeface="宋体" panose="02010600030101010101" pitchFamily="2" charset="-122"/>
            </a:endParaRPr>
          </a:p>
        </p:txBody>
      </p:sp>
      <p:sp>
        <p:nvSpPr>
          <p:cNvPr id="6164" name="Rectangle 20"/>
          <p:cNvSpPr/>
          <p:nvPr/>
        </p:nvSpPr>
        <p:spPr>
          <a:xfrm>
            <a:off x="3268663" y="4086225"/>
            <a:ext cx="2700337" cy="495300"/>
          </a:xfrm>
          <a:prstGeom prst="rect">
            <a:avLst/>
          </a:prstGeom>
          <a:noFill/>
          <a:ln w="12700" cap="flat" cmpd="sng">
            <a:solidFill>
              <a:schemeClr val="tx1"/>
            </a:solidFill>
            <a:prstDash val="solid"/>
            <a:miter/>
            <a:headEnd type="none" w="med" len="med"/>
            <a:tailEnd type="none" w="med" len="med"/>
          </a:ln>
        </p:spPr>
        <p:txBody>
          <a:bodyPr anchor="t"/>
          <a:p>
            <a:pPr algn="ctr"/>
            <a:r>
              <a:rPr lang="zh-CN" altLang="en-US" sz="2800" b="1" u="none" dirty="0">
                <a:solidFill>
                  <a:schemeClr val="tx1"/>
                </a:solidFill>
                <a:latin typeface="宋体" panose="02010600030101010101" pitchFamily="2" charset="-122"/>
              </a:rPr>
              <a:t>优化段</a:t>
            </a:r>
            <a:endParaRPr lang="zh-CN" altLang="en-US" sz="2800" b="1" u="none" dirty="0">
              <a:solidFill>
                <a:schemeClr val="tx1"/>
              </a:solidFill>
              <a:latin typeface="宋体" panose="02010600030101010101" pitchFamily="2" charset="-122"/>
            </a:endParaRPr>
          </a:p>
        </p:txBody>
      </p:sp>
      <p:grpSp>
        <p:nvGrpSpPr>
          <p:cNvPr id="6165" name="Group 21"/>
          <p:cNvGrpSpPr/>
          <p:nvPr/>
        </p:nvGrpSpPr>
        <p:grpSpPr>
          <a:xfrm>
            <a:off x="4640263" y="276225"/>
            <a:ext cx="1660525" cy="541338"/>
            <a:chOff x="2880" y="432"/>
            <a:chExt cx="926" cy="341"/>
          </a:xfrm>
        </p:grpSpPr>
        <p:sp>
          <p:nvSpPr>
            <p:cNvPr id="6166" name="Rectangle 22"/>
            <p:cNvSpPr/>
            <p:nvPr/>
          </p:nvSpPr>
          <p:spPr>
            <a:xfrm>
              <a:off x="2976" y="480"/>
              <a:ext cx="830" cy="218"/>
            </a:xfrm>
            <a:prstGeom prst="rect">
              <a:avLst/>
            </a:prstGeom>
            <a:noFill/>
            <a:ln w="12700">
              <a:noFill/>
            </a:ln>
          </p:spPr>
          <p:txBody>
            <a:bodyPr wrap="none" anchor="ctr"/>
            <a:p>
              <a:pPr algn="ctr"/>
              <a:r>
                <a:rPr lang="zh-CN" altLang="en-US" sz="2800" b="1" u="none" dirty="0">
                  <a:solidFill>
                    <a:schemeClr val="tx1"/>
                  </a:solidFill>
                  <a:latin typeface="Times New Roman" panose="02020603050405020304" pitchFamily="18" charset="0"/>
                </a:rPr>
                <a:t>源程序</a:t>
              </a:r>
              <a:endParaRPr lang="zh-CN" altLang="en-US" sz="2400" b="1" u="none" dirty="0">
                <a:solidFill>
                  <a:schemeClr val="tx1"/>
                </a:solidFill>
                <a:latin typeface="Times New Roman" panose="02020603050405020304" pitchFamily="18" charset="0"/>
              </a:endParaRPr>
            </a:p>
          </p:txBody>
        </p:sp>
        <p:sp>
          <p:nvSpPr>
            <p:cNvPr id="6167" name="Line 23"/>
            <p:cNvSpPr/>
            <p:nvPr/>
          </p:nvSpPr>
          <p:spPr>
            <a:xfrm>
              <a:off x="2880" y="432"/>
              <a:ext cx="0" cy="341"/>
            </a:xfrm>
            <a:prstGeom prst="line">
              <a:avLst/>
            </a:prstGeom>
            <a:ln w="12700" cap="flat" cmpd="sng">
              <a:solidFill>
                <a:schemeClr val="tx1"/>
              </a:solidFill>
              <a:prstDash val="solid"/>
              <a:round/>
              <a:headEnd type="none" w="sm" len="sm"/>
              <a:tailEnd type="stealth" w="lg" len="lg"/>
            </a:ln>
          </p:spPr>
        </p:sp>
      </p:grpSp>
      <p:sp>
        <p:nvSpPr>
          <p:cNvPr id="6168" name="Rectangle 24"/>
          <p:cNvSpPr/>
          <p:nvPr/>
        </p:nvSpPr>
        <p:spPr>
          <a:xfrm>
            <a:off x="2201863" y="581025"/>
            <a:ext cx="525462" cy="5381625"/>
          </a:xfrm>
          <a:prstGeom prst="rect">
            <a:avLst/>
          </a:prstGeom>
          <a:noFill/>
          <a:ln w="12700" cap="flat" cmpd="sng">
            <a:solidFill>
              <a:schemeClr val="tx1"/>
            </a:solidFill>
            <a:prstDash val="solid"/>
            <a:miter/>
            <a:headEnd type="none" w="med" len="med"/>
            <a:tailEnd type="none" w="med" len="med"/>
          </a:ln>
        </p:spPr>
        <p:txBody>
          <a:bodyPr anchor="t"/>
          <a:p>
            <a:pPr algn="ctr"/>
            <a:endParaRPr lang="en-US" altLang="zh-CN" sz="2600" b="1" u="none" dirty="0">
              <a:solidFill>
                <a:schemeClr val="tx1"/>
              </a:solidFill>
              <a:latin typeface="Times New Roman" panose="02020603050405020304" pitchFamily="18" charset="0"/>
            </a:endParaRPr>
          </a:p>
          <a:p>
            <a:pPr algn="ctr"/>
            <a:r>
              <a:rPr lang="zh-CN" altLang="en-US" sz="2800" b="1" u="none" dirty="0">
                <a:solidFill>
                  <a:schemeClr val="tx1"/>
                </a:solidFill>
                <a:latin typeface="Times New Roman" panose="02020603050405020304" pitchFamily="18" charset="0"/>
              </a:rPr>
              <a:t>表</a:t>
            </a:r>
            <a:endParaRPr lang="zh-CN" altLang="en-US" sz="2800" b="1" u="none" dirty="0">
              <a:solidFill>
                <a:schemeClr val="tx1"/>
              </a:solidFill>
              <a:latin typeface="Times New Roman" panose="02020603050405020304" pitchFamily="18" charset="0"/>
            </a:endParaRPr>
          </a:p>
          <a:p>
            <a:pPr algn="ctr"/>
            <a:endParaRPr lang="zh-CN" altLang="en-US" sz="2800" b="1" u="none" dirty="0">
              <a:solidFill>
                <a:schemeClr val="tx1"/>
              </a:solidFill>
              <a:latin typeface="Times New Roman" panose="02020603050405020304" pitchFamily="18" charset="0"/>
            </a:endParaRPr>
          </a:p>
          <a:p>
            <a:pPr algn="ctr"/>
            <a:endParaRPr lang="zh-CN" altLang="en-US" sz="2800" b="1" u="none" dirty="0">
              <a:solidFill>
                <a:schemeClr val="tx1"/>
              </a:solidFill>
              <a:latin typeface="Times New Roman" panose="02020603050405020304" pitchFamily="18" charset="0"/>
            </a:endParaRPr>
          </a:p>
          <a:p>
            <a:pPr algn="ctr"/>
            <a:r>
              <a:rPr lang="zh-CN" altLang="en-US" sz="2800" b="1" u="none" dirty="0">
                <a:solidFill>
                  <a:schemeClr val="tx1"/>
                </a:solidFill>
                <a:latin typeface="Times New Roman" panose="02020603050405020304" pitchFamily="18" charset="0"/>
              </a:rPr>
              <a:t>格</a:t>
            </a:r>
            <a:endParaRPr lang="zh-CN" altLang="en-US" sz="2800" b="1" u="none" dirty="0">
              <a:solidFill>
                <a:schemeClr val="tx1"/>
              </a:solidFill>
              <a:latin typeface="Times New Roman" panose="02020603050405020304" pitchFamily="18" charset="0"/>
            </a:endParaRPr>
          </a:p>
          <a:p>
            <a:pPr algn="ctr"/>
            <a:endParaRPr lang="zh-CN" altLang="en-US" sz="2800" b="1" u="none" dirty="0">
              <a:solidFill>
                <a:schemeClr val="tx1"/>
              </a:solidFill>
              <a:latin typeface="Times New Roman" panose="02020603050405020304" pitchFamily="18" charset="0"/>
            </a:endParaRPr>
          </a:p>
          <a:p>
            <a:pPr algn="ctr"/>
            <a:endParaRPr lang="zh-CN" altLang="en-US" sz="2800" b="1" u="none" dirty="0">
              <a:solidFill>
                <a:schemeClr val="tx1"/>
              </a:solidFill>
              <a:latin typeface="Times New Roman" panose="02020603050405020304" pitchFamily="18" charset="0"/>
            </a:endParaRPr>
          </a:p>
          <a:p>
            <a:pPr algn="ctr"/>
            <a:r>
              <a:rPr lang="zh-CN" altLang="en-US" sz="2800" b="1" u="none" dirty="0">
                <a:solidFill>
                  <a:schemeClr val="tx1"/>
                </a:solidFill>
                <a:latin typeface="Times New Roman" panose="02020603050405020304" pitchFamily="18" charset="0"/>
              </a:rPr>
              <a:t>管</a:t>
            </a:r>
            <a:endParaRPr lang="zh-CN" altLang="en-US" sz="2800" b="1" u="none" dirty="0">
              <a:solidFill>
                <a:schemeClr val="tx1"/>
              </a:solidFill>
              <a:latin typeface="Times New Roman" panose="02020603050405020304" pitchFamily="18" charset="0"/>
            </a:endParaRPr>
          </a:p>
          <a:p>
            <a:pPr algn="ctr"/>
            <a:endParaRPr lang="zh-CN" altLang="en-US" sz="2800" b="1" u="none" dirty="0">
              <a:solidFill>
                <a:schemeClr val="tx1"/>
              </a:solidFill>
              <a:latin typeface="Times New Roman" panose="02020603050405020304" pitchFamily="18" charset="0"/>
            </a:endParaRPr>
          </a:p>
          <a:p>
            <a:pPr algn="ctr"/>
            <a:endParaRPr lang="zh-CN" altLang="en-US" sz="2800" b="1" u="none" dirty="0">
              <a:solidFill>
                <a:schemeClr val="tx1"/>
              </a:solidFill>
              <a:latin typeface="Times New Roman" panose="02020603050405020304" pitchFamily="18" charset="0"/>
            </a:endParaRPr>
          </a:p>
          <a:p>
            <a:pPr algn="ctr"/>
            <a:r>
              <a:rPr lang="zh-CN" altLang="en-US" sz="2800" b="1" u="none" dirty="0">
                <a:solidFill>
                  <a:schemeClr val="tx1"/>
                </a:solidFill>
                <a:latin typeface="Times New Roman" panose="02020603050405020304" pitchFamily="18" charset="0"/>
              </a:rPr>
              <a:t>理</a:t>
            </a:r>
            <a:endParaRPr lang="zh-CN" altLang="en-US" sz="2800" b="1" u="none" dirty="0">
              <a:solidFill>
                <a:schemeClr val="tx1"/>
              </a:solidFill>
              <a:latin typeface="Times New Roman" panose="02020603050405020304" pitchFamily="18" charset="0"/>
            </a:endParaRPr>
          </a:p>
        </p:txBody>
      </p:sp>
      <p:sp>
        <p:nvSpPr>
          <p:cNvPr id="6169" name="Rectangle 25"/>
          <p:cNvSpPr/>
          <p:nvPr/>
        </p:nvSpPr>
        <p:spPr>
          <a:xfrm>
            <a:off x="6553200" y="609600"/>
            <a:ext cx="525463" cy="5534025"/>
          </a:xfrm>
          <a:prstGeom prst="rect">
            <a:avLst/>
          </a:prstGeom>
          <a:noFill/>
          <a:ln w="12700" cap="flat" cmpd="sng">
            <a:solidFill>
              <a:schemeClr val="tx1"/>
            </a:solidFill>
            <a:prstDash val="solid"/>
            <a:miter/>
            <a:headEnd type="none" w="med" len="med"/>
            <a:tailEnd type="none" w="med" len="med"/>
          </a:ln>
        </p:spPr>
        <p:txBody>
          <a:bodyPr anchor="t"/>
          <a:p>
            <a:pPr algn="ctr"/>
            <a:endParaRPr lang="en-US" altLang="zh-CN" sz="2800" b="1" u="none" dirty="0">
              <a:solidFill>
                <a:schemeClr val="tx1"/>
              </a:solidFill>
              <a:latin typeface="Times New Roman" panose="02020603050405020304" pitchFamily="18" charset="0"/>
            </a:endParaRPr>
          </a:p>
          <a:p>
            <a:pPr algn="ctr"/>
            <a:r>
              <a:rPr lang="zh-CN" altLang="en-US" sz="2800" b="1" u="none" dirty="0">
                <a:solidFill>
                  <a:schemeClr val="tx1"/>
                </a:solidFill>
                <a:latin typeface="Times New Roman" panose="02020603050405020304" pitchFamily="18" charset="0"/>
              </a:rPr>
              <a:t>出</a:t>
            </a:r>
            <a:endParaRPr lang="zh-CN" altLang="en-US" sz="2800" b="1" u="none" dirty="0">
              <a:solidFill>
                <a:schemeClr val="tx1"/>
              </a:solidFill>
              <a:latin typeface="Times New Roman" panose="02020603050405020304" pitchFamily="18" charset="0"/>
            </a:endParaRPr>
          </a:p>
          <a:p>
            <a:pPr algn="ctr"/>
            <a:endParaRPr lang="zh-CN" altLang="en-US" sz="2800" b="1" u="none" dirty="0">
              <a:solidFill>
                <a:schemeClr val="tx1"/>
              </a:solidFill>
              <a:latin typeface="Times New Roman" panose="02020603050405020304" pitchFamily="18" charset="0"/>
            </a:endParaRPr>
          </a:p>
          <a:p>
            <a:pPr algn="ctr"/>
            <a:endParaRPr lang="zh-CN" altLang="en-US" sz="2800" b="1" u="none" dirty="0">
              <a:solidFill>
                <a:schemeClr val="tx1"/>
              </a:solidFill>
              <a:latin typeface="Times New Roman" panose="02020603050405020304" pitchFamily="18" charset="0"/>
            </a:endParaRPr>
          </a:p>
          <a:p>
            <a:pPr algn="ctr"/>
            <a:r>
              <a:rPr lang="zh-CN" altLang="en-US" sz="2800" b="1" u="none" dirty="0">
                <a:solidFill>
                  <a:schemeClr val="tx1"/>
                </a:solidFill>
                <a:latin typeface="Times New Roman" panose="02020603050405020304" pitchFamily="18" charset="0"/>
              </a:rPr>
              <a:t>错</a:t>
            </a:r>
            <a:endParaRPr lang="zh-CN" altLang="en-US" sz="2800" b="1" u="none" dirty="0">
              <a:solidFill>
                <a:schemeClr val="tx1"/>
              </a:solidFill>
              <a:latin typeface="Times New Roman" panose="02020603050405020304" pitchFamily="18" charset="0"/>
            </a:endParaRPr>
          </a:p>
          <a:p>
            <a:pPr algn="ctr"/>
            <a:endParaRPr lang="zh-CN" altLang="en-US" sz="2800" b="1" u="none" dirty="0">
              <a:solidFill>
                <a:schemeClr val="tx1"/>
              </a:solidFill>
              <a:latin typeface="Times New Roman" panose="02020603050405020304" pitchFamily="18" charset="0"/>
            </a:endParaRPr>
          </a:p>
          <a:p>
            <a:pPr algn="ctr"/>
            <a:endParaRPr lang="zh-CN" altLang="en-US" sz="2800" b="1" u="none" dirty="0">
              <a:solidFill>
                <a:schemeClr val="tx1"/>
              </a:solidFill>
              <a:latin typeface="Times New Roman" panose="02020603050405020304" pitchFamily="18" charset="0"/>
            </a:endParaRPr>
          </a:p>
          <a:p>
            <a:pPr algn="ctr"/>
            <a:r>
              <a:rPr lang="zh-CN" altLang="en-US" sz="2800" b="1" u="none" dirty="0">
                <a:solidFill>
                  <a:schemeClr val="tx1"/>
                </a:solidFill>
                <a:latin typeface="Times New Roman" panose="02020603050405020304" pitchFamily="18" charset="0"/>
              </a:rPr>
              <a:t>处</a:t>
            </a:r>
            <a:endParaRPr lang="zh-CN" altLang="en-US" sz="2800" b="1" u="none" dirty="0">
              <a:solidFill>
                <a:schemeClr val="tx1"/>
              </a:solidFill>
              <a:latin typeface="Times New Roman" panose="02020603050405020304" pitchFamily="18" charset="0"/>
            </a:endParaRPr>
          </a:p>
          <a:p>
            <a:pPr algn="ctr"/>
            <a:endParaRPr lang="zh-CN" altLang="en-US" sz="2800" b="1" u="none" dirty="0">
              <a:solidFill>
                <a:schemeClr val="tx1"/>
              </a:solidFill>
              <a:latin typeface="Times New Roman" panose="02020603050405020304" pitchFamily="18" charset="0"/>
            </a:endParaRPr>
          </a:p>
          <a:p>
            <a:pPr algn="ctr"/>
            <a:endParaRPr lang="zh-CN" altLang="en-US" sz="2800" b="1" u="none" dirty="0">
              <a:solidFill>
                <a:schemeClr val="tx1"/>
              </a:solidFill>
              <a:latin typeface="Times New Roman" panose="02020603050405020304" pitchFamily="18" charset="0"/>
            </a:endParaRPr>
          </a:p>
          <a:p>
            <a:pPr algn="ctr"/>
            <a:r>
              <a:rPr lang="zh-CN" altLang="en-US" sz="2800" b="1" u="none" dirty="0">
                <a:solidFill>
                  <a:schemeClr val="tx1"/>
                </a:solidFill>
                <a:latin typeface="Times New Roman" panose="02020603050405020304" pitchFamily="18" charset="0"/>
              </a:rPr>
              <a:t>理</a:t>
            </a:r>
            <a:endParaRPr lang="zh-CN" altLang="en-US" sz="1600" b="1" u="none" dirty="0">
              <a:solidFill>
                <a:schemeClr val="tx1"/>
              </a:solidFill>
              <a:latin typeface="Times New Roman" panose="02020603050405020304" pitchFamily="18" charset="0"/>
            </a:endParaRPr>
          </a:p>
        </p:txBody>
      </p:sp>
      <p:sp>
        <p:nvSpPr>
          <p:cNvPr id="6170" name="Rectangle 26"/>
          <p:cNvSpPr/>
          <p:nvPr/>
        </p:nvSpPr>
        <p:spPr>
          <a:xfrm>
            <a:off x="3289300" y="5208588"/>
            <a:ext cx="2624138" cy="554037"/>
          </a:xfrm>
          <a:prstGeom prst="rect">
            <a:avLst/>
          </a:prstGeom>
          <a:noFill/>
          <a:ln w="12700" cap="flat" cmpd="sng">
            <a:solidFill>
              <a:schemeClr val="tx1"/>
            </a:solidFill>
            <a:prstDash val="solid"/>
            <a:miter/>
            <a:headEnd type="none" w="med" len="med"/>
            <a:tailEnd type="none" w="med" len="med"/>
          </a:ln>
        </p:spPr>
        <p:txBody>
          <a:bodyPr lIns="18000" rIns="18000" anchor="t"/>
          <a:p>
            <a:pPr algn="ctr"/>
            <a:r>
              <a:rPr lang="zh-CN" altLang="en-US" sz="2800" b="1" u="none" dirty="0">
                <a:solidFill>
                  <a:schemeClr val="tx1"/>
                </a:solidFill>
                <a:latin typeface="宋体" panose="02010600030101010101" pitchFamily="2" charset="-122"/>
              </a:rPr>
              <a:t>目标代码生成器</a:t>
            </a:r>
            <a:endParaRPr lang="zh-CN" altLang="en-US" sz="2800" b="1" u="none" dirty="0">
              <a:solidFill>
                <a:schemeClr val="tx1"/>
              </a:solidFill>
              <a:latin typeface="宋体" panose="02010600030101010101" pitchFamily="2" charset="-122"/>
            </a:endParaRPr>
          </a:p>
        </p:txBody>
      </p:sp>
      <p:grpSp>
        <p:nvGrpSpPr>
          <p:cNvPr id="6171" name="Group 27"/>
          <p:cNvGrpSpPr/>
          <p:nvPr/>
        </p:nvGrpSpPr>
        <p:grpSpPr>
          <a:xfrm>
            <a:off x="2727325" y="1095375"/>
            <a:ext cx="584200" cy="4362450"/>
            <a:chOff x="1675" y="948"/>
            <a:chExt cx="368" cy="2748"/>
          </a:xfrm>
        </p:grpSpPr>
        <p:sp>
          <p:nvSpPr>
            <p:cNvPr id="6172" name="Line 28"/>
            <p:cNvSpPr/>
            <p:nvPr/>
          </p:nvSpPr>
          <p:spPr>
            <a:xfrm flipH="1">
              <a:off x="1675" y="948"/>
              <a:ext cx="331" cy="0"/>
            </a:xfrm>
            <a:prstGeom prst="line">
              <a:avLst/>
            </a:prstGeom>
            <a:ln w="12700" cap="flat" cmpd="sng">
              <a:solidFill>
                <a:schemeClr val="tx1"/>
              </a:solidFill>
              <a:prstDash val="solid"/>
              <a:round/>
              <a:headEnd type="stealth" w="lg" len="lg"/>
              <a:tailEnd type="stealth" w="lg" len="lg"/>
            </a:ln>
          </p:spPr>
        </p:sp>
        <p:sp>
          <p:nvSpPr>
            <p:cNvPr id="6173" name="Line 29"/>
            <p:cNvSpPr/>
            <p:nvPr/>
          </p:nvSpPr>
          <p:spPr>
            <a:xfrm flipH="1">
              <a:off x="1685" y="1571"/>
              <a:ext cx="331" cy="0"/>
            </a:xfrm>
            <a:prstGeom prst="line">
              <a:avLst/>
            </a:prstGeom>
            <a:ln w="12700" cap="flat" cmpd="sng">
              <a:solidFill>
                <a:schemeClr val="tx1"/>
              </a:solidFill>
              <a:prstDash val="solid"/>
              <a:round/>
              <a:headEnd type="stealth" w="lg" len="lg"/>
              <a:tailEnd type="stealth" w="lg" len="lg"/>
            </a:ln>
          </p:spPr>
        </p:sp>
        <p:sp>
          <p:nvSpPr>
            <p:cNvPr id="6174" name="Line 30"/>
            <p:cNvSpPr/>
            <p:nvPr/>
          </p:nvSpPr>
          <p:spPr>
            <a:xfrm flipH="1">
              <a:off x="1701" y="2329"/>
              <a:ext cx="331" cy="0"/>
            </a:xfrm>
            <a:prstGeom prst="line">
              <a:avLst/>
            </a:prstGeom>
            <a:ln w="12700" cap="flat" cmpd="sng">
              <a:solidFill>
                <a:schemeClr val="tx1"/>
              </a:solidFill>
              <a:prstDash val="solid"/>
              <a:round/>
              <a:headEnd type="stealth" w="lg" len="lg"/>
              <a:tailEnd type="stealth" w="lg" len="lg"/>
            </a:ln>
          </p:spPr>
        </p:sp>
        <p:sp>
          <p:nvSpPr>
            <p:cNvPr id="6175" name="Line 31"/>
            <p:cNvSpPr/>
            <p:nvPr/>
          </p:nvSpPr>
          <p:spPr>
            <a:xfrm flipH="1">
              <a:off x="1685" y="3007"/>
              <a:ext cx="331" cy="0"/>
            </a:xfrm>
            <a:prstGeom prst="line">
              <a:avLst/>
            </a:prstGeom>
            <a:ln w="12700" cap="flat" cmpd="sng">
              <a:solidFill>
                <a:schemeClr val="tx1"/>
              </a:solidFill>
              <a:prstDash val="solid"/>
              <a:round/>
              <a:headEnd type="stealth" w="lg" len="lg"/>
              <a:tailEnd type="stealth" w="lg" len="lg"/>
            </a:ln>
          </p:spPr>
        </p:sp>
        <p:sp>
          <p:nvSpPr>
            <p:cNvPr id="6176" name="Line 32"/>
            <p:cNvSpPr/>
            <p:nvPr/>
          </p:nvSpPr>
          <p:spPr>
            <a:xfrm flipH="1">
              <a:off x="1680" y="3696"/>
              <a:ext cx="363" cy="0"/>
            </a:xfrm>
            <a:prstGeom prst="line">
              <a:avLst/>
            </a:prstGeom>
            <a:ln w="12700" cap="flat" cmpd="sng">
              <a:solidFill>
                <a:schemeClr val="tx1"/>
              </a:solidFill>
              <a:prstDash val="solid"/>
              <a:round/>
              <a:headEnd type="stealth" w="lg" len="lg"/>
              <a:tailEnd type="stealth" w="lg" len="lg"/>
            </a:ln>
          </p:spPr>
        </p:sp>
      </p:grpSp>
      <p:grpSp>
        <p:nvGrpSpPr>
          <p:cNvPr id="6177" name="Group 33"/>
          <p:cNvGrpSpPr/>
          <p:nvPr/>
        </p:nvGrpSpPr>
        <p:grpSpPr>
          <a:xfrm>
            <a:off x="5935663" y="1025525"/>
            <a:ext cx="658812" cy="4432300"/>
            <a:chOff x="3696" y="904"/>
            <a:chExt cx="415" cy="2792"/>
          </a:xfrm>
        </p:grpSpPr>
        <p:sp>
          <p:nvSpPr>
            <p:cNvPr id="6178" name="Line 34"/>
            <p:cNvSpPr/>
            <p:nvPr/>
          </p:nvSpPr>
          <p:spPr>
            <a:xfrm>
              <a:off x="3707" y="904"/>
              <a:ext cx="378" cy="0"/>
            </a:xfrm>
            <a:prstGeom prst="line">
              <a:avLst/>
            </a:prstGeom>
            <a:ln w="12700" cap="flat" cmpd="sng">
              <a:solidFill>
                <a:schemeClr val="tx1"/>
              </a:solidFill>
              <a:prstDash val="solid"/>
              <a:round/>
              <a:headEnd type="stealth" w="lg" len="lg"/>
              <a:tailEnd type="stealth" w="lg" len="lg"/>
            </a:ln>
          </p:spPr>
        </p:sp>
        <p:sp>
          <p:nvSpPr>
            <p:cNvPr id="6179" name="Line 35"/>
            <p:cNvSpPr/>
            <p:nvPr/>
          </p:nvSpPr>
          <p:spPr>
            <a:xfrm>
              <a:off x="3717" y="3007"/>
              <a:ext cx="378" cy="0"/>
            </a:xfrm>
            <a:prstGeom prst="line">
              <a:avLst/>
            </a:prstGeom>
            <a:ln w="12700" cap="flat" cmpd="sng">
              <a:solidFill>
                <a:schemeClr val="tx1"/>
              </a:solidFill>
              <a:prstDash val="solid"/>
              <a:round/>
              <a:headEnd type="stealth" w="lg" len="lg"/>
              <a:tailEnd type="stealth" w="lg" len="lg"/>
            </a:ln>
          </p:spPr>
        </p:sp>
        <p:sp>
          <p:nvSpPr>
            <p:cNvPr id="6180" name="Line 36"/>
            <p:cNvSpPr/>
            <p:nvPr/>
          </p:nvSpPr>
          <p:spPr>
            <a:xfrm>
              <a:off x="3733" y="2329"/>
              <a:ext cx="378" cy="0"/>
            </a:xfrm>
            <a:prstGeom prst="line">
              <a:avLst/>
            </a:prstGeom>
            <a:ln w="12700" cap="flat" cmpd="sng">
              <a:solidFill>
                <a:schemeClr val="tx1"/>
              </a:solidFill>
              <a:prstDash val="solid"/>
              <a:round/>
              <a:headEnd type="stealth" w="lg" len="lg"/>
              <a:tailEnd type="stealth" w="lg" len="lg"/>
            </a:ln>
          </p:spPr>
        </p:sp>
        <p:sp>
          <p:nvSpPr>
            <p:cNvPr id="6181" name="Line 37"/>
            <p:cNvSpPr/>
            <p:nvPr/>
          </p:nvSpPr>
          <p:spPr>
            <a:xfrm>
              <a:off x="3717" y="1571"/>
              <a:ext cx="378" cy="0"/>
            </a:xfrm>
            <a:prstGeom prst="line">
              <a:avLst/>
            </a:prstGeom>
            <a:ln w="12700" cap="flat" cmpd="sng">
              <a:solidFill>
                <a:schemeClr val="tx1"/>
              </a:solidFill>
              <a:prstDash val="solid"/>
              <a:round/>
              <a:headEnd type="stealth" w="lg" len="lg"/>
              <a:tailEnd type="stealth" w="lg" len="lg"/>
            </a:ln>
          </p:spPr>
        </p:sp>
        <p:sp>
          <p:nvSpPr>
            <p:cNvPr id="6182" name="Line 38"/>
            <p:cNvSpPr/>
            <p:nvPr/>
          </p:nvSpPr>
          <p:spPr>
            <a:xfrm>
              <a:off x="3696" y="3696"/>
              <a:ext cx="378" cy="0"/>
            </a:xfrm>
            <a:prstGeom prst="line">
              <a:avLst/>
            </a:prstGeom>
            <a:ln w="12700" cap="flat" cmpd="sng">
              <a:solidFill>
                <a:schemeClr val="tx1"/>
              </a:solidFill>
              <a:prstDash val="solid"/>
              <a:round/>
              <a:headEnd type="stealth" w="lg" len="lg"/>
              <a:tailEnd type="stealth" w="lg" len="lg"/>
            </a:ln>
          </p:spPr>
        </p:sp>
      </p:grpSp>
      <p:sp>
        <p:nvSpPr>
          <p:cNvPr id="252967" name="Rectangle 39"/>
          <p:cNvSpPr/>
          <p:nvPr/>
        </p:nvSpPr>
        <p:spPr>
          <a:xfrm>
            <a:off x="3203575" y="1844675"/>
            <a:ext cx="2808288" cy="576263"/>
          </a:xfrm>
          <a:prstGeom prst="rect">
            <a:avLst/>
          </a:prstGeom>
          <a:solidFill>
            <a:srgbClr val="FF0000">
              <a:alpha val="30196"/>
            </a:srgbClr>
          </a:solidFill>
          <a:ln w="25400" cap="flat" cmpd="sng">
            <a:solidFill>
              <a:srgbClr val="0000FF"/>
            </a:solidFill>
            <a:prstDash val="solid"/>
            <a:miter/>
            <a:headEnd type="none" w="med" len="med"/>
            <a:tailEnd type="none" w="lg" len="lg"/>
          </a:ln>
        </p:spPr>
        <p:txBody>
          <a:bodyPr wrap="none" anchor="ctr"/>
          <a:p>
            <a:endParaRPr lang="zh-CN" altLang="en-US" u="none" dirty="0">
              <a:solidFill>
                <a:schemeClr val="tx1"/>
              </a:solidFill>
              <a:latin typeface="Arial" panose="020B0604020202020204" pitchFamily="34"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52967"/>
                                        </p:tgtEl>
                                        <p:attrNameLst>
                                          <p:attrName>style.visibility</p:attrName>
                                        </p:attrNameLst>
                                      </p:cBhvr>
                                      <p:to>
                                        <p:strVal val="visible"/>
                                      </p:to>
                                    </p:set>
                                    <p:animEffect transition="in" filter="dissolve">
                                      <p:cBhvr>
                                        <p:cTn id="7" dur="500"/>
                                        <p:tgtEl>
                                          <p:spTgt spid="2529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296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7170" name="Rectangle 2"/>
          <p:cNvSpPr>
            <a:spLocks noGrp="1"/>
          </p:cNvSpPr>
          <p:nvPr>
            <p:ph type="title"/>
          </p:nvPr>
        </p:nvSpPr>
        <p:spPr>
          <a:xfrm>
            <a:off x="685800" y="533400"/>
            <a:ext cx="8458200" cy="990600"/>
          </a:xfrm>
          <a:ln/>
        </p:spPr>
        <p:txBody>
          <a:bodyPr vert="horz" wrap="square" lIns="91440" tIns="45720" rIns="91440" bIns="45720" anchor="ctr"/>
          <a:p>
            <a:pPr eaLnBrk="1" hangingPunct="1"/>
            <a:r>
              <a:rPr lang="zh-CN" altLang="en-US" b="1" dirty="0"/>
              <a:t>第四章  语法分析</a:t>
            </a:r>
            <a:r>
              <a:rPr lang="en-US" altLang="zh-CN" b="1" dirty="0"/>
              <a:t>—</a:t>
            </a:r>
            <a:r>
              <a:rPr lang="zh-CN" altLang="en-US" b="1" dirty="0"/>
              <a:t>自上而下分析</a:t>
            </a:r>
            <a:endParaRPr lang="zh-CN" altLang="en-US" b="1" dirty="0"/>
          </a:p>
        </p:txBody>
      </p:sp>
      <p:sp>
        <p:nvSpPr>
          <p:cNvPr id="10243" name="Rectangle 3"/>
          <p:cNvSpPr>
            <a:spLocks noGrp="1"/>
          </p:cNvSpPr>
          <p:nvPr>
            <p:ph type="body"/>
          </p:nvPr>
        </p:nvSpPr>
        <p:spPr>
          <a:xfrm>
            <a:off x="468313" y="2238375"/>
            <a:ext cx="8207375" cy="3697288"/>
          </a:xfrm>
          <a:ln/>
        </p:spPr>
        <p:txBody>
          <a:bodyPr vert="horz" wrap="square" lIns="91440" tIns="45720" rIns="91440" bIns="45720" anchor="t"/>
          <a:p>
            <a:pPr eaLnBrk="1" hangingPunct="1"/>
            <a:r>
              <a:rPr lang="zh-CN" altLang="en-US" b="1" dirty="0">
                <a:latin typeface="宋体" panose="02010600030101010101" pitchFamily="2" charset="-122"/>
              </a:rPr>
              <a:t>本章主要介绍语法分析的处理</a:t>
            </a:r>
            <a:endParaRPr lang="zh-CN" altLang="en-US" b="1" dirty="0">
              <a:latin typeface="宋体" panose="02010600030101010101" pitchFamily="2" charset="-122"/>
            </a:endParaRPr>
          </a:p>
          <a:p>
            <a:pPr eaLnBrk="1" hangingPunct="1"/>
            <a:r>
              <a:rPr lang="zh-CN" altLang="en-US" b="1" dirty="0">
                <a:latin typeface="宋体" panose="02010600030101010101" pitchFamily="2" charset="-122"/>
              </a:rPr>
              <a:t>要进行语法分析，必须对语言的语法结构进行描述。</a:t>
            </a:r>
            <a:endParaRPr lang="zh-CN" altLang="en-US" b="1" dirty="0">
              <a:latin typeface="宋体" panose="02010600030101010101" pitchFamily="2" charset="-122"/>
            </a:endParaRPr>
          </a:p>
          <a:p>
            <a:pPr lvl="1" indent="-436245" eaLnBrk="1" hangingPunct="1"/>
            <a:r>
              <a:rPr lang="zh-CN" altLang="en-US" b="1" dirty="0">
                <a:latin typeface="宋体" panose="02010600030101010101" pitchFamily="2" charset="-122"/>
              </a:rPr>
              <a:t>采用正规式和有限自动机可以描述和识别语言的单词符号；</a:t>
            </a:r>
            <a:endParaRPr lang="zh-CN" altLang="en-US" b="1" dirty="0">
              <a:latin typeface="宋体" panose="02010600030101010101" pitchFamily="2" charset="-122"/>
            </a:endParaRPr>
          </a:p>
          <a:p>
            <a:pPr lvl="1" indent="-436245" eaLnBrk="1" hangingPunct="1"/>
            <a:r>
              <a:rPr lang="zh-CN" altLang="en-US" b="1" dirty="0">
                <a:latin typeface="宋体" panose="02010600030101010101" pitchFamily="2" charset="-122"/>
              </a:rPr>
              <a:t>用上下文无关文法来描述语法规则。</a:t>
            </a:r>
            <a:endParaRPr lang="zh-CN" altLang="en-US" b="1"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243">
                                            <p:txEl>
                                              <p:charRg st="0" end="14"/>
                                            </p:txEl>
                                          </p:spTgt>
                                        </p:tgtEl>
                                        <p:attrNameLst>
                                          <p:attrName>style.visibility</p:attrName>
                                        </p:attrNameLst>
                                      </p:cBhvr>
                                      <p:to>
                                        <p:strVal val="visible"/>
                                      </p:to>
                                    </p:set>
                                    <p:animEffect transition="in" filter="wipe(left)">
                                      <p:cBhvr>
                                        <p:cTn id="7" dur="500"/>
                                        <p:tgtEl>
                                          <p:spTgt spid="10243">
                                            <p:txEl>
                                              <p:charRg st="0" end="14"/>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243">
                                            <p:txEl>
                                              <p:charRg st="14" end="38"/>
                                            </p:txEl>
                                          </p:spTgt>
                                        </p:tgtEl>
                                        <p:attrNameLst>
                                          <p:attrName>style.visibility</p:attrName>
                                        </p:attrNameLst>
                                      </p:cBhvr>
                                      <p:to>
                                        <p:strVal val="visible"/>
                                      </p:to>
                                    </p:set>
                                    <p:animEffect transition="in" filter="wipe(left)">
                                      <p:cBhvr>
                                        <p:cTn id="12" dur="500"/>
                                        <p:tgtEl>
                                          <p:spTgt spid="10243">
                                            <p:txEl>
                                              <p:charRg st="14" end="3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243">
                                            <p:txEl>
                                              <p:charRg st="38" end="65"/>
                                            </p:txEl>
                                          </p:spTgt>
                                        </p:tgtEl>
                                        <p:attrNameLst>
                                          <p:attrName>style.visibility</p:attrName>
                                        </p:attrNameLst>
                                      </p:cBhvr>
                                      <p:to>
                                        <p:strVal val="visible"/>
                                      </p:to>
                                    </p:set>
                                    <p:animEffect transition="in" filter="wipe(left)">
                                      <p:cBhvr>
                                        <p:cTn id="17" dur="500"/>
                                        <p:tgtEl>
                                          <p:spTgt spid="10243">
                                            <p:txEl>
                                              <p:charRg st="38" end="6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243">
                                            <p:txEl>
                                              <p:charRg st="65" end="82"/>
                                            </p:txEl>
                                          </p:spTgt>
                                        </p:tgtEl>
                                        <p:attrNameLst>
                                          <p:attrName>style.visibility</p:attrName>
                                        </p:attrNameLst>
                                      </p:cBhvr>
                                      <p:to>
                                        <p:strVal val="visible"/>
                                      </p:to>
                                    </p:set>
                                    <p:animEffect transition="in" filter="wipe(left)">
                                      <p:cBhvr>
                                        <p:cTn id="22" dur="500"/>
                                        <p:tgtEl>
                                          <p:spTgt spid="10243">
                                            <p:txEl>
                                              <p:charRg st="65" end="8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ldLvl="2"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193538" name="Rectangle 2"/>
          <p:cNvSpPr>
            <a:spLocks noGrp="1"/>
          </p:cNvSpPr>
          <p:nvPr>
            <p:ph type="body"/>
          </p:nvPr>
        </p:nvSpPr>
        <p:spPr>
          <a:xfrm>
            <a:off x="395288" y="692150"/>
            <a:ext cx="8748712" cy="5715000"/>
          </a:xfrm>
          <a:ln/>
        </p:spPr>
        <p:txBody>
          <a:bodyPr vert="horz" wrap="square" lIns="91440" tIns="45720" rIns="91440" bIns="45720" anchor="t"/>
          <a:p>
            <a:pPr marL="288925" indent="-288925" eaLnBrk="1" hangingPunct="1">
              <a:lnSpc>
                <a:spcPct val="90000"/>
              </a:lnSpc>
            </a:pPr>
            <a:r>
              <a:rPr lang="zh-CN" altLang="en-US" b="1" dirty="0">
                <a:latin typeface="宋体" panose="02010600030101010101" pitchFamily="2" charset="-122"/>
              </a:rPr>
              <a:t>上下文无关文法的定义： </a:t>
            </a:r>
            <a:endParaRPr lang="zh-CN" altLang="en-US" b="1" dirty="0">
              <a:latin typeface="宋体" panose="02010600030101010101" pitchFamily="2" charset="-122"/>
            </a:endParaRPr>
          </a:p>
          <a:p>
            <a:pPr marL="288925" indent="-288925" eaLnBrk="1" hangingPunct="1">
              <a:lnSpc>
                <a:spcPct val="90000"/>
              </a:lnSpc>
              <a:buNone/>
            </a:pPr>
            <a:r>
              <a:rPr lang="zh-CN" altLang="en-US" b="1" dirty="0">
                <a:latin typeface="宋体" panose="02010600030101010101" pitchFamily="2" charset="-122"/>
              </a:rPr>
              <a:t>一个上下文无关文法</a:t>
            </a:r>
            <a:r>
              <a:rPr lang="en-US" altLang="zh-CN" b="1" dirty="0">
                <a:latin typeface="宋体" panose="02010600030101010101" pitchFamily="2" charset="-122"/>
              </a:rPr>
              <a:t>G</a:t>
            </a:r>
            <a:r>
              <a:rPr lang="zh-CN" altLang="en-US" b="1" dirty="0">
                <a:latin typeface="宋体" panose="02010600030101010101" pitchFamily="2" charset="-122"/>
              </a:rPr>
              <a:t>是一个四元式</a:t>
            </a:r>
            <a:endParaRPr lang="zh-CN" altLang="en-US" b="1" dirty="0">
              <a:latin typeface="宋体" panose="02010600030101010101" pitchFamily="2" charset="-122"/>
            </a:endParaRPr>
          </a:p>
          <a:p>
            <a:pPr marL="288925" indent="-288925" eaLnBrk="1" hangingPunct="1">
              <a:lnSpc>
                <a:spcPct val="90000"/>
              </a:lnSpc>
              <a:buNone/>
            </a:pPr>
            <a:r>
              <a:rPr lang="zh-CN" altLang="en-US" b="1" dirty="0">
                <a:latin typeface="宋体" panose="02010600030101010101" pitchFamily="2" charset="-122"/>
              </a:rPr>
              <a:t>  </a:t>
            </a:r>
            <a:r>
              <a:rPr lang="en-US" altLang="zh-CN" b="1" dirty="0">
                <a:latin typeface="宋体" panose="02010600030101010101" pitchFamily="2" charset="-122"/>
              </a:rPr>
              <a:t>G=(V</a:t>
            </a:r>
            <a:r>
              <a:rPr lang="en-US" altLang="zh-CN" b="1" baseline="-25000" dirty="0">
                <a:latin typeface="宋体" panose="02010600030101010101" pitchFamily="2" charset="-122"/>
              </a:rPr>
              <a:t>T</a:t>
            </a:r>
            <a:r>
              <a:rPr lang="zh-CN" altLang="en-US" b="1" dirty="0">
                <a:latin typeface="宋体" panose="02010600030101010101" pitchFamily="2" charset="-122"/>
              </a:rPr>
              <a:t>，</a:t>
            </a:r>
            <a:r>
              <a:rPr lang="en-US" altLang="zh-CN" b="1" dirty="0">
                <a:latin typeface="宋体" panose="02010600030101010101" pitchFamily="2" charset="-122"/>
              </a:rPr>
              <a:t>V</a:t>
            </a:r>
            <a:r>
              <a:rPr lang="en-US" altLang="zh-CN" b="1" baseline="-25000" dirty="0">
                <a:latin typeface="宋体" panose="02010600030101010101" pitchFamily="2" charset="-122"/>
              </a:rPr>
              <a:t>N</a:t>
            </a:r>
            <a:r>
              <a:rPr lang="zh-CN" altLang="en-US" b="1" dirty="0">
                <a:latin typeface="宋体" panose="02010600030101010101" pitchFamily="2" charset="-122"/>
              </a:rPr>
              <a:t>，</a:t>
            </a:r>
            <a:r>
              <a:rPr lang="en-US" altLang="zh-CN" b="1" dirty="0">
                <a:latin typeface="宋体" panose="02010600030101010101" pitchFamily="2" charset="-122"/>
              </a:rPr>
              <a:t>S</a:t>
            </a:r>
            <a:r>
              <a:rPr lang="zh-CN" altLang="en-US" b="1" dirty="0">
                <a:latin typeface="宋体" panose="02010600030101010101" pitchFamily="2" charset="-122"/>
              </a:rPr>
              <a:t>，</a:t>
            </a:r>
            <a:r>
              <a:rPr lang="en-US" altLang="zh-CN" b="1" dirty="0">
                <a:latin typeface="宋体" panose="02010600030101010101" pitchFamily="2" charset="-122"/>
              </a:rPr>
              <a:t>P)</a:t>
            </a:r>
            <a:r>
              <a:rPr lang="zh-CN" altLang="en-US" b="1" dirty="0">
                <a:latin typeface="宋体" panose="02010600030101010101" pitchFamily="2" charset="-122"/>
              </a:rPr>
              <a:t>，其中</a:t>
            </a:r>
            <a:endParaRPr lang="zh-CN" altLang="en-US" b="1" dirty="0">
              <a:latin typeface="宋体" panose="02010600030101010101" pitchFamily="2" charset="-122"/>
            </a:endParaRPr>
          </a:p>
          <a:p>
            <a:pPr marL="666750" lvl="1" indent="-187325" eaLnBrk="1" hangingPunct="1">
              <a:lnSpc>
                <a:spcPct val="90000"/>
              </a:lnSpc>
              <a:spcBef>
                <a:spcPct val="35000"/>
              </a:spcBef>
            </a:pPr>
            <a:r>
              <a:rPr lang="en-US" altLang="zh-CN" b="1" dirty="0">
                <a:latin typeface="宋体" panose="02010600030101010101" pitchFamily="2" charset="-122"/>
              </a:rPr>
              <a:t>V</a:t>
            </a:r>
            <a:r>
              <a:rPr lang="en-US" altLang="zh-CN" b="1" baseline="-25000" dirty="0">
                <a:latin typeface="宋体" panose="02010600030101010101" pitchFamily="2" charset="-122"/>
              </a:rPr>
              <a:t>T</a:t>
            </a:r>
            <a:r>
              <a:rPr lang="zh-CN" altLang="en-US" b="1" dirty="0">
                <a:latin typeface="宋体" panose="02010600030101010101" pitchFamily="2" charset="-122"/>
              </a:rPr>
              <a:t>：终结符集合</a:t>
            </a:r>
            <a:r>
              <a:rPr lang="en-US" altLang="zh-CN" b="1" dirty="0">
                <a:latin typeface="宋体" panose="02010600030101010101" pitchFamily="2" charset="-122"/>
              </a:rPr>
              <a:t>(</a:t>
            </a:r>
            <a:r>
              <a:rPr lang="zh-CN" altLang="en-US" b="1" dirty="0">
                <a:latin typeface="宋体" panose="02010600030101010101" pitchFamily="2" charset="-122"/>
              </a:rPr>
              <a:t>非空</a:t>
            </a:r>
            <a:r>
              <a:rPr lang="en-US" altLang="zh-CN" b="1" dirty="0">
                <a:latin typeface="宋体" panose="02010600030101010101" pitchFamily="2" charset="-122"/>
              </a:rPr>
              <a:t>)</a:t>
            </a:r>
            <a:endParaRPr lang="en-US" altLang="zh-CN" b="1" dirty="0">
              <a:latin typeface="宋体" panose="02010600030101010101" pitchFamily="2" charset="-122"/>
            </a:endParaRPr>
          </a:p>
          <a:p>
            <a:pPr marL="666750" lvl="1" indent="-187325" eaLnBrk="1" hangingPunct="1">
              <a:lnSpc>
                <a:spcPct val="90000"/>
              </a:lnSpc>
              <a:spcBef>
                <a:spcPct val="35000"/>
              </a:spcBef>
            </a:pPr>
            <a:r>
              <a:rPr lang="en-US" altLang="zh-CN" b="1" dirty="0">
                <a:latin typeface="宋体" panose="02010600030101010101" pitchFamily="2" charset="-122"/>
              </a:rPr>
              <a:t>V</a:t>
            </a:r>
            <a:r>
              <a:rPr lang="en-US" altLang="zh-CN" b="1" baseline="-25000" dirty="0">
                <a:latin typeface="宋体" panose="02010600030101010101" pitchFamily="2" charset="-122"/>
              </a:rPr>
              <a:t>N</a:t>
            </a:r>
            <a:r>
              <a:rPr lang="zh-CN" altLang="en-US" b="1" dirty="0">
                <a:latin typeface="宋体" panose="02010600030101010101" pitchFamily="2" charset="-122"/>
              </a:rPr>
              <a:t>：非终结符集合</a:t>
            </a:r>
            <a:r>
              <a:rPr lang="en-US" altLang="zh-CN" b="1" dirty="0">
                <a:latin typeface="宋体" panose="02010600030101010101" pitchFamily="2" charset="-122"/>
              </a:rPr>
              <a:t>(</a:t>
            </a:r>
            <a:r>
              <a:rPr lang="zh-CN" altLang="en-US" b="1" dirty="0">
                <a:latin typeface="宋体" panose="02010600030101010101" pitchFamily="2" charset="-122"/>
              </a:rPr>
              <a:t>非空</a:t>
            </a:r>
            <a:r>
              <a:rPr lang="en-US" altLang="zh-CN" b="1" dirty="0">
                <a:latin typeface="宋体" panose="02010600030101010101" pitchFamily="2" charset="-122"/>
              </a:rPr>
              <a:t>)</a:t>
            </a:r>
            <a:r>
              <a:rPr lang="zh-CN" altLang="en-US" b="1" dirty="0">
                <a:latin typeface="宋体" panose="02010600030101010101" pitchFamily="2" charset="-122"/>
              </a:rPr>
              <a:t>，且</a:t>
            </a:r>
            <a:r>
              <a:rPr lang="en-US" altLang="zh-CN" b="1" dirty="0">
                <a:latin typeface="宋体" panose="02010600030101010101" pitchFamily="2" charset="-122"/>
              </a:rPr>
              <a:t>V</a:t>
            </a:r>
            <a:r>
              <a:rPr lang="en-US" altLang="zh-CN" b="1" baseline="-25000" dirty="0">
                <a:latin typeface="宋体" panose="02010600030101010101" pitchFamily="2" charset="-122"/>
              </a:rPr>
              <a:t>T </a:t>
            </a:r>
            <a:r>
              <a:rPr lang="en-US" altLang="zh-CN" b="1" dirty="0">
                <a:latin typeface="宋体" panose="02010600030101010101" pitchFamily="2" charset="-122"/>
                <a:sym typeface="Symbol" panose="05050102010706020507" pitchFamily="18" charset="2"/>
              </a:rPr>
              <a:t></a:t>
            </a:r>
            <a:r>
              <a:rPr lang="en-US" altLang="zh-CN" b="1" baseline="-25000" dirty="0">
                <a:latin typeface="宋体" panose="02010600030101010101" pitchFamily="2" charset="-122"/>
              </a:rPr>
              <a:t> </a:t>
            </a:r>
            <a:r>
              <a:rPr lang="en-US" altLang="zh-CN" b="1" dirty="0">
                <a:latin typeface="宋体" panose="02010600030101010101" pitchFamily="2" charset="-122"/>
              </a:rPr>
              <a:t>V</a:t>
            </a:r>
            <a:r>
              <a:rPr lang="en-US" altLang="zh-CN" b="1" baseline="-25000" dirty="0">
                <a:latin typeface="宋体" panose="02010600030101010101" pitchFamily="2" charset="-122"/>
              </a:rPr>
              <a:t>N</a:t>
            </a:r>
            <a:r>
              <a:rPr lang="en-US" altLang="zh-CN" b="1" dirty="0">
                <a:latin typeface="宋体" panose="02010600030101010101" pitchFamily="2" charset="-122"/>
              </a:rPr>
              <a:t>=</a:t>
            </a:r>
            <a:r>
              <a:rPr lang="en-US" altLang="zh-CN" b="1" dirty="0">
                <a:latin typeface="宋体" panose="02010600030101010101" pitchFamily="2" charset="-122"/>
                <a:sym typeface="Symbol" panose="05050102010706020507" pitchFamily="18" charset="2"/>
              </a:rPr>
              <a:t></a:t>
            </a:r>
            <a:endParaRPr lang="en-US" altLang="zh-CN" b="1" dirty="0">
              <a:latin typeface="宋体" panose="02010600030101010101" pitchFamily="2" charset="-122"/>
            </a:endParaRPr>
          </a:p>
          <a:p>
            <a:pPr marL="666750" lvl="1" indent="-187325" eaLnBrk="1" hangingPunct="1">
              <a:lnSpc>
                <a:spcPct val="90000"/>
              </a:lnSpc>
              <a:spcBef>
                <a:spcPct val="35000"/>
              </a:spcBef>
            </a:pPr>
            <a:r>
              <a:rPr lang="en-US" altLang="zh-CN" b="1" dirty="0">
                <a:latin typeface="宋体" panose="02010600030101010101" pitchFamily="2" charset="-122"/>
              </a:rPr>
              <a:t>S</a:t>
            </a:r>
            <a:r>
              <a:rPr lang="zh-CN" altLang="en-US" b="1" dirty="0">
                <a:latin typeface="宋体" panose="02010600030101010101" pitchFamily="2" charset="-122"/>
              </a:rPr>
              <a:t>：文法的开始符号，</a:t>
            </a:r>
            <a:r>
              <a:rPr lang="en-US" altLang="zh-CN" b="1" dirty="0">
                <a:latin typeface="宋体" panose="02010600030101010101" pitchFamily="2" charset="-122"/>
              </a:rPr>
              <a:t>S</a:t>
            </a:r>
            <a:r>
              <a:rPr lang="en-US" altLang="zh-CN" b="1" dirty="0">
                <a:latin typeface="宋体" panose="02010600030101010101" pitchFamily="2" charset="-122"/>
                <a:sym typeface="Symbol" panose="05050102010706020507" pitchFamily="18" charset="2"/>
              </a:rPr>
              <a:t></a:t>
            </a:r>
            <a:r>
              <a:rPr lang="en-US" altLang="zh-CN" b="1" dirty="0">
                <a:latin typeface="宋体" panose="02010600030101010101" pitchFamily="2" charset="-122"/>
              </a:rPr>
              <a:t>V</a:t>
            </a:r>
            <a:r>
              <a:rPr lang="en-US" altLang="zh-CN" b="1" baseline="-25000" dirty="0">
                <a:latin typeface="宋体" panose="02010600030101010101" pitchFamily="2" charset="-122"/>
              </a:rPr>
              <a:t>N</a:t>
            </a:r>
            <a:endParaRPr lang="en-US" altLang="zh-CN" b="1" dirty="0">
              <a:latin typeface="宋体" panose="02010600030101010101" pitchFamily="2" charset="-122"/>
            </a:endParaRPr>
          </a:p>
          <a:p>
            <a:pPr marL="666750" lvl="1" indent="-187325" eaLnBrk="1" hangingPunct="1">
              <a:lnSpc>
                <a:spcPct val="90000"/>
              </a:lnSpc>
              <a:spcBef>
                <a:spcPct val="35000"/>
              </a:spcBef>
            </a:pPr>
            <a:r>
              <a:rPr lang="en-US" altLang="zh-CN" b="1" dirty="0">
                <a:latin typeface="宋体" panose="02010600030101010101" pitchFamily="2" charset="-122"/>
              </a:rPr>
              <a:t>P</a:t>
            </a:r>
            <a:r>
              <a:rPr lang="zh-CN" altLang="en-US" b="1" dirty="0">
                <a:latin typeface="宋体" panose="02010600030101010101" pitchFamily="2" charset="-122"/>
              </a:rPr>
              <a:t>：产生式集合</a:t>
            </a:r>
            <a:r>
              <a:rPr lang="en-US" altLang="zh-CN" b="1" dirty="0">
                <a:latin typeface="宋体" panose="02010600030101010101" pitchFamily="2" charset="-122"/>
              </a:rPr>
              <a:t>(</a:t>
            </a:r>
            <a:r>
              <a:rPr lang="zh-CN" altLang="en-US" b="1" dirty="0">
                <a:latin typeface="宋体" panose="02010600030101010101" pitchFamily="2" charset="-122"/>
              </a:rPr>
              <a:t>有限</a:t>
            </a:r>
            <a:r>
              <a:rPr lang="en-US" altLang="zh-CN" b="1" dirty="0">
                <a:latin typeface="宋体" panose="02010600030101010101" pitchFamily="2" charset="-122"/>
              </a:rPr>
              <a:t>)</a:t>
            </a:r>
            <a:r>
              <a:rPr lang="zh-CN" altLang="en-US" b="1" dirty="0">
                <a:latin typeface="宋体" panose="02010600030101010101" pitchFamily="2" charset="-122"/>
              </a:rPr>
              <a:t>，每个产生式形式为</a:t>
            </a:r>
            <a:endParaRPr lang="zh-CN" altLang="en-US" b="1" dirty="0">
              <a:latin typeface="宋体" panose="02010600030101010101" pitchFamily="2" charset="-122"/>
            </a:endParaRPr>
          </a:p>
          <a:p>
            <a:pPr marL="1184275" lvl="2" indent="-228600" eaLnBrk="1" hangingPunct="1">
              <a:lnSpc>
                <a:spcPct val="90000"/>
              </a:lnSpc>
              <a:spcBef>
                <a:spcPct val="0"/>
              </a:spcBef>
              <a:buNone/>
            </a:pPr>
            <a:r>
              <a:rPr lang="en-US" altLang="zh-CN" sz="2800" b="1" dirty="0">
                <a:latin typeface="宋体" panose="02010600030101010101" pitchFamily="2" charset="-122"/>
              </a:rPr>
              <a:t>P</a:t>
            </a:r>
            <a:r>
              <a:rPr lang="en-US" altLang="zh-CN" sz="2800" b="1" dirty="0">
                <a:latin typeface="宋体" panose="02010600030101010101" pitchFamily="2" charset="-122"/>
                <a:sym typeface="Symbol" panose="05050102010706020507" pitchFamily="18" charset="2"/>
              </a:rPr>
              <a:t></a:t>
            </a:r>
            <a:r>
              <a:rPr lang="zh-CN" altLang="en-US" sz="2800" b="1" dirty="0">
                <a:latin typeface="宋体" panose="02010600030101010101" pitchFamily="2" charset="-122"/>
                <a:sym typeface="Symbol" panose="05050102010706020507" pitchFamily="18" charset="2"/>
              </a:rPr>
              <a:t>， </a:t>
            </a:r>
            <a:r>
              <a:rPr lang="en-US" altLang="zh-CN" sz="2800" b="1" dirty="0">
                <a:latin typeface="宋体" panose="02010600030101010101" pitchFamily="2" charset="-122"/>
              </a:rPr>
              <a:t>P</a:t>
            </a:r>
            <a:r>
              <a:rPr lang="en-US" altLang="zh-CN" sz="2800" b="1" dirty="0">
                <a:latin typeface="宋体" panose="02010600030101010101" pitchFamily="2" charset="-122"/>
                <a:sym typeface="Symbol" panose="05050102010706020507" pitchFamily="18" charset="2"/>
              </a:rPr>
              <a:t></a:t>
            </a:r>
            <a:r>
              <a:rPr lang="en-US" altLang="zh-CN" sz="2800" b="1" dirty="0">
                <a:latin typeface="宋体" panose="02010600030101010101" pitchFamily="2" charset="-122"/>
              </a:rPr>
              <a:t>V</a:t>
            </a:r>
            <a:r>
              <a:rPr lang="en-US" altLang="zh-CN" sz="2800" b="1" baseline="-25000" dirty="0">
                <a:latin typeface="宋体" panose="02010600030101010101" pitchFamily="2" charset="-122"/>
              </a:rPr>
              <a:t>N</a:t>
            </a:r>
            <a:r>
              <a:rPr lang="zh-CN" altLang="en-US" sz="2800" b="1" dirty="0">
                <a:latin typeface="宋体" panose="02010600030101010101" pitchFamily="2" charset="-122"/>
              </a:rPr>
              <a:t>， </a:t>
            </a:r>
            <a:r>
              <a:rPr lang="zh-CN" altLang="en-US" sz="2800" b="1" dirty="0">
                <a:latin typeface="宋体" panose="02010600030101010101" pitchFamily="2" charset="-122"/>
                <a:sym typeface="Symbol" panose="05050102010706020507" pitchFamily="18" charset="2"/>
              </a:rPr>
              <a:t>  </a:t>
            </a:r>
            <a:r>
              <a:rPr lang="en-US" altLang="zh-CN" sz="2800" b="1" dirty="0">
                <a:latin typeface="宋体" panose="02010600030101010101" pitchFamily="2" charset="-122"/>
                <a:sym typeface="Symbol" panose="05050102010706020507" pitchFamily="18" charset="2"/>
              </a:rPr>
              <a:t>(</a:t>
            </a:r>
            <a:r>
              <a:rPr lang="en-US" altLang="zh-CN" sz="2800" b="1" dirty="0">
                <a:latin typeface="宋体" panose="02010600030101010101" pitchFamily="2" charset="-122"/>
              </a:rPr>
              <a:t>V</a:t>
            </a:r>
            <a:r>
              <a:rPr lang="en-US" altLang="zh-CN" sz="2800" b="1" baseline="-25000" dirty="0">
                <a:latin typeface="宋体" panose="02010600030101010101" pitchFamily="2" charset="-122"/>
              </a:rPr>
              <a:t>T </a:t>
            </a:r>
            <a:r>
              <a:rPr lang="en-US" altLang="zh-CN" sz="2800" b="1" dirty="0">
                <a:latin typeface="宋体" panose="02010600030101010101" pitchFamily="2" charset="-122"/>
                <a:sym typeface="Symbol" panose="05050102010706020507" pitchFamily="18" charset="2"/>
              </a:rPr>
              <a:t></a:t>
            </a:r>
            <a:r>
              <a:rPr lang="en-US" altLang="zh-CN" sz="2800" b="1" baseline="-25000" dirty="0">
                <a:latin typeface="宋体" panose="02010600030101010101" pitchFamily="2" charset="-122"/>
              </a:rPr>
              <a:t> </a:t>
            </a:r>
            <a:r>
              <a:rPr lang="en-US" altLang="zh-CN" sz="2800" b="1" dirty="0">
                <a:latin typeface="宋体" panose="02010600030101010101" pitchFamily="2" charset="-122"/>
              </a:rPr>
              <a:t>V</a:t>
            </a:r>
            <a:r>
              <a:rPr lang="en-US" altLang="zh-CN" sz="2800" b="1" baseline="-25000" dirty="0">
                <a:latin typeface="宋体" panose="02010600030101010101" pitchFamily="2" charset="-122"/>
              </a:rPr>
              <a:t>N</a:t>
            </a:r>
            <a:r>
              <a:rPr lang="en-US" altLang="zh-CN" sz="2800" b="1" dirty="0">
                <a:latin typeface="宋体" panose="02010600030101010101" pitchFamily="2" charset="-122"/>
              </a:rPr>
              <a:t>)</a:t>
            </a:r>
            <a:r>
              <a:rPr lang="en-US" altLang="zh-CN" sz="2800" b="1" baseline="30000" dirty="0">
                <a:latin typeface="宋体" panose="02010600030101010101" pitchFamily="2" charset="-122"/>
              </a:rPr>
              <a:t>*</a:t>
            </a:r>
            <a:endParaRPr lang="en-US" altLang="zh-CN" sz="2800" b="1" dirty="0">
              <a:latin typeface="宋体" panose="02010600030101010101" pitchFamily="2" charset="-122"/>
            </a:endParaRPr>
          </a:p>
          <a:p>
            <a:pPr marL="666750" lvl="1" indent="-187325" eaLnBrk="1" hangingPunct="1">
              <a:lnSpc>
                <a:spcPct val="90000"/>
              </a:lnSpc>
            </a:pPr>
            <a:r>
              <a:rPr lang="zh-CN" altLang="en-US" b="1" dirty="0">
                <a:latin typeface="宋体" panose="02010600030101010101" pitchFamily="2" charset="-122"/>
              </a:rPr>
              <a:t>开始符</a:t>
            </a:r>
            <a:r>
              <a:rPr lang="en-US" altLang="zh-CN" b="1" dirty="0">
                <a:latin typeface="宋体" panose="02010600030101010101" pitchFamily="2" charset="-122"/>
              </a:rPr>
              <a:t>S</a:t>
            </a:r>
            <a:r>
              <a:rPr lang="zh-CN" altLang="en-US" b="1" dirty="0">
                <a:latin typeface="宋体" panose="02010600030101010101" pitchFamily="2" charset="-122"/>
              </a:rPr>
              <a:t>至少必须在某个产生式的左部出现一次。</a:t>
            </a:r>
            <a:endParaRPr lang="zh-CN" altLang="en-US" b="1" dirty="0">
              <a:latin typeface="宋体" panose="02010600030101010101" pitchFamily="2"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3538">
                                            <p:txEl>
                                              <p:charRg st="0" end="13"/>
                                            </p:txEl>
                                          </p:spTgt>
                                        </p:tgtEl>
                                        <p:attrNameLst>
                                          <p:attrName>style.visibility</p:attrName>
                                        </p:attrNameLst>
                                      </p:cBhvr>
                                      <p:to>
                                        <p:strVal val="visible"/>
                                      </p:to>
                                    </p:set>
                                    <p:animEffect transition="in" filter="wipe(left)">
                                      <p:cBhvr>
                                        <p:cTn id="7" dur="500"/>
                                        <p:tgtEl>
                                          <p:spTgt spid="193538">
                                            <p:txEl>
                                              <p:charRg st="0" end="13"/>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3538">
                                            <p:txEl>
                                              <p:charRg st="13" end="30"/>
                                            </p:txEl>
                                          </p:spTgt>
                                        </p:tgtEl>
                                        <p:attrNameLst>
                                          <p:attrName>style.visibility</p:attrName>
                                        </p:attrNameLst>
                                      </p:cBhvr>
                                      <p:to>
                                        <p:strVal val="visible"/>
                                      </p:to>
                                    </p:set>
                                    <p:animEffect transition="in" filter="wipe(left)">
                                      <p:cBhvr>
                                        <p:cTn id="12" dur="500"/>
                                        <p:tgtEl>
                                          <p:spTgt spid="193538">
                                            <p:txEl>
                                              <p:charRg st="13" end="3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3538">
                                            <p:txEl>
                                              <p:charRg st="30" end="49"/>
                                            </p:txEl>
                                          </p:spTgt>
                                        </p:tgtEl>
                                        <p:attrNameLst>
                                          <p:attrName>style.visibility</p:attrName>
                                        </p:attrNameLst>
                                      </p:cBhvr>
                                      <p:to>
                                        <p:strVal val="visible"/>
                                      </p:to>
                                    </p:set>
                                    <p:animEffect transition="in" filter="wipe(left)">
                                      <p:cBhvr>
                                        <p:cTn id="17" dur="500"/>
                                        <p:tgtEl>
                                          <p:spTgt spid="193538">
                                            <p:txEl>
                                              <p:charRg st="30" end="49"/>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93538">
                                            <p:txEl>
                                              <p:charRg st="49" end="62"/>
                                            </p:txEl>
                                          </p:spTgt>
                                        </p:tgtEl>
                                        <p:attrNameLst>
                                          <p:attrName>style.visibility</p:attrName>
                                        </p:attrNameLst>
                                      </p:cBhvr>
                                      <p:to>
                                        <p:strVal val="visible"/>
                                      </p:to>
                                    </p:set>
                                    <p:animEffect transition="in" filter="wipe(left)">
                                      <p:cBhvr>
                                        <p:cTn id="22" dur="500"/>
                                        <p:tgtEl>
                                          <p:spTgt spid="193538">
                                            <p:txEl>
                                              <p:charRg st="49" end="6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93538">
                                            <p:txEl>
                                              <p:charRg st="62" end="87"/>
                                            </p:txEl>
                                          </p:spTgt>
                                        </p:tgtEl>
                                        <p:attrNameLst>
                                          <p:attrName>style.visibility</p:attrName>
                                        </p:attrNameLst>
                                      </p:cBhvr>
                                      <p:to>
                                        <p:strVal val="visible"/>
                                      </p:to>
                                    </p:set>
                                    <p:animEffect transition="in" filter="wipe(left)">
                                      <p:cBhvr>
                                        <p:cTn id="27" dur="500"/>
                                        <p:tgtEl>
                                          <p:spTgt spid="193538">
                                            <p:txEl>
                                              <p:charRg st="62" end="8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93538">
                                            <p:txEl>
                                              <p:charRg st="87" end="102"/>
                                            </p:txEl>
                                          </p:spTgt>
                                        </p:tgtEl>
                                        <p:attrNameLst>
                                          <p:attrName>style.visibility</p:attrName>
                                        </p:attrNameLst>
                                      </p:cBhvr>
                                      <p:to>
                                        <p:strVal val="visible"/>
                                      </p:to>
                                    </p:set>
                                    <p:animEffect transition="in" filter="wipe(left)">
                                      <p:cBhvr>
                                        <p:cTn id="32" dur="500"/>
                                        <p:tgtEl>
                                          <p:spTgt spid="193538">
                                            <p:txEl>
                                              <p:charRg st="87" end="10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93538">
                                            <p:txEl>
                                              <p:charRg st="102" end="123"/>
                                            </p:txEl>
                                          </p:spTgt>
                                        </p:tgtEl>
                                        <p:attrNameLst>
                                          <p:attrName>style.visibility</p:attrName>
                                        </p:attrNameLst>
                                      </p:cBhvr>
                                      <p:to>
                                        <p:strVal val="visible"/>
                                      </p:to>
                                    </p:set>
                                    <p:animEffect transition="in" filter="wipe(left)">
                                      <p:cBhvr>
                                        <p:cTn id="37" dur="500"/>
                                        <p:tgtEl>
                                          <p:spTgt spid="193538">
                                            <p:txEl>
                                              <p:charRg st="102" end="123"/>
                                            </p:txEl>
                                          </p:spTgt>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193538">
                                            <p:txEl>
                                              <p:charRg st="123" end="149"/>
                                            </p:txEl>
                                          </p:spTgt>
                                        </p:tgtEl>
                                        <p:attrNameLst>
                                          <p:attrName>style.visibility</p:attrName>
                                        </p:attrNameLst>
                                      </p:cBhvr>
                                      <p:to>
                                        <p:strVal val="visible"/>
                                      </p:to>
                                    </p:set>
                                    <p:animEffect transition="in" filter="wipe(left)">
                                      <p:cBhvr>
                                        <p:cTn id="40" dur="500"/>
                                        <p:tgtEl>
                                          <p:spTgt spid="193538">
                                            <p:txEl>
                                              <p:charRg st="123" end="149"/>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93538">
                                            <p:txEl>
                                              <p:charRg st="149" end="172"/>
                                            </p:txEl>
                                          </p:spTgt>
                                        </p:tgtEl>
                                        <p:attrNameLst>
                                          <p:attrName>style.visibility</p:attrName>
                                        </p:attrNameLst>
                                      </p:cBhvr>
                                      <p:to>
                                        <p:strVal val="visible"/>
                                      </p:to>
                                    </p:set>
                                    <p:animEffect transition="in" filter="wipe(left)">
                                      <p:cBhvr>
                                        <p:cTn id="45" dur="500"/>
                                        <p:tgtEl>
                                          <p:spTgt spid="193538">
                                            <p:txEl>
                                              <p:charRg st="149" end="17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38" grpId="0" bldLvl="2"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9218" name="Rectangle 2"/>
          <p:cNvSpPr>
            <a:spLocks noGrp="1"/>
          </p:cNvSpPr>
          <p:nvPr>
            <p:ph type="body"/>
          </p:nvPr>
        </p:nvSpPr>
        <p:spPr>
          <a:xfrm>
            <a:off x="762000" y="1676400"/>
            <a:ext cx="7772400" cy="4876800"/>
          </a:xfrm>
          <a:ln/>
        </p:spPr>
        <p:txBody>
          <a:bodyPr vert="horz" wrap="square" lIns="91440" tIns="45720" rIns="91440" bIns="45720" anchor="t"/>
          <a:p>
            <a:pPr eaLnBrk="1" hangingPunct="1"/>
            <a:r>
              <a:rPr lang="zh-CN" altLang="en-US" b="1" dirty="0"/>
              <a:t>例，定义只含</a:t>
            </a:r>
            <a:r>
              <a:rPr lang="en-US" altLang="zh-CN" b="1" dirty="0"/>
              <a:t>+</a:t>
            </a:r>
            <a:r>
              <a:rPr lang="zh-CN" altLang="en-US" b="1" dirty="0"/>
              <a:t>，*的算术表达式的文法</a:t>
            </a:r>
            <a:endParaRPr lang="zh-CN" altLang="en-US" b="1" dirty="0"/>
          </a:p>
          <a:p>
            <a:pPr eaLnBrk="1" hangingPunct="1">
              <a:buNone/>
            </a:pPr>
            <a:r>
              <a:rPr lang="zh-CN" altLang="en-US" b="1" dirty="0"/>
              <a:t>  </a:t>
            </a:r>
            <a:r>
              <a:rPr lang="en-US" altLang="zh-CN" b="1" dirty="0"/>
              <a:t>G=&lt;{i</a:t>
            </a:r>
            <a:r>
              <a:rPr lang="zh-CN" altLang="en-US" b="1" dirty="0"/>
              <a:t>，</a:t>
            </a:r>
            <a:r>
              <a:rPr lang="en-US" altLang="zh-CN" b="1" dirty="0"/>
              <a:t>+</a:t>
            </a:r>
            <a:r>
              <a:rPr lang="zh-CN" altLang="en-US" b="1" dirty="0"/>
              <a:t>，*，</a:t>
            </a:r>
            <a:r>
              <a:rPr lang="en-US" altLang="zh-CN" b="1" dirty="0"/>
              <a:t>(</a:t>
            </a:r>
            <a:r>
              <a:rPr lang="zh-CN" altLang="en-US" b="1" dirty="0"/>
              <a:t>，</a:t>
            </a:r>
            <a:r>
              <a:rPr lang="en-US" altLang="zh-CN" b="1" dirty="0"/>
              <a:t>)}</a:t>
            </a:r>
            <a:r>
              <a:rPr lang="zh-CN" altLang="en-US" b="1" dirty="0"/>
              <a:t>，</a:t>
            </a:r>
            <a:r>
              <a:rPr lang="en-US" altLang="zh-CN" b="1" dirty="0"/>
              <a:t>{E}</a:t>
            </a:r>
            <a:r>
              <a:rPr lang="zh-CN" altLang="en-US" b="1" dirty="0"/>
              <a:t>，</a:t>
            </a:r>
            <a:r>
              <a:rPr lang="en-US" altLang="zh-CN" b="1" dirty="0"/>
              <a:t>E</a:t>
            </a:r>
            <a:r>
              <a:rPr lang="zh-CN" altLang="en-US" b="1" dirty="0"/>
              <a:t>， </a:t>
            </a:r>
            <a:r>
              <a:rPr lang="en-US" altLang="zh-CN" b="1" dirty="0"/>
              <a:t>P&gt;</a:t>
            </a:r>
            <a:r>
              <a:rPr lang="zh-CN" altLang="en-US" b="1" dirty="0"/>
              <a:t>， 其中，</a:t>
            </a:r>
            <a:r>
              <a:rPr lang="en-US" altLang="zh-CN" b="1" dirty="0"/>
              <a:t>P</a:t>
            </a:r>
            <a:r>
              <a:rPr lang="zh-CN" altLang="en-US" b="1" dirty="0"/>
              <a:t>由下列产生式组成：</a:t>
            </a:r>
            <a:endParaRPr lang="zh-CN" altLang="en-US" b="1" dirty="0"/>
          </a:p>
          <a:p>
            <a:pPr lvl="1" indent="-436245" eaLnBrk="1" hangingPunct="1">
              <a:buNone/>
            </a:pPr>
            <a:r>
              <a:rPr lang="en-US" altLang="zh-CN" sz="3200" b="1" dirty="0"/>
              <a:t>E </a:t>
            </a:r>
            <a:r>
              <a:rPr lang="en-US" altLang="zh-CN" sz="3200" b="1" dirty="0">
                <a:sym typeface="Symbol" panose="05050102010706020507" pitchFamily="18" charset="2"/>
              </a:rPr>
              <a:t></a:t>
            </a:r>
            <a:r>
              <a:rPr lang="en-US" altLang="zh-CN" sz="3200" b="1" dirty="0"/>
              <a:t> i</a:t>
            </a:r>
            <a:endParaRPr lang="en-US" altLang="zh-CN" sz="3200" b="1" dirty="0"/>
          </a:p>
          <a:p>
            <a:pPr lvl="1" indent="-436245" eaLnBrk="1" hangingPunct="1">
              <a:buNone/>
            </a:pPr>
            <a:r>
              <a:rPr lang="en-US" altLang="zh-CN" sz="3200" b="1" dirty="0"/>
              <a:t>E </a:t>
            </a:r>
            <a:r>
              <a:rPr lang="en-US" altLang="zh-CN" sz="3200" b="1" dirty="0">
                <a:sym typeface="Symbol" panose="05050102010706020507" pitchFamily="18" charset="2"/>
              </a:rPr>
              <a:t></a:t>
            </a:r>
            <a:r>
              <a:rPr lang="en-US" altLang="zh-CN" sz="3200" b="1" dirty="0"/>
              <a:t> E+E</a:t>
            </a:r>
            <a:endParaRPr lang="en-US" altLang="zh-CN" sz="3200" b="1" dirty="0"/>
          </a:p>
          <a:p>
            <a:pPr lvl="1" indent="-436245" eaLnBrk="1" hangingPunct="1">
              <a:buNone/>
            </a:pPr>
            <a:r>
              <a:rPr lang="en-US" altLang="zh-CN" sz="3200" b="1" dirty="0"/>
              <a:t>E </a:t>
            </a:r>
            <a:r>
              <a:rPr lang="en-US" altLang="zh-CN" sz="3200" b="1" dirty="0">
                <a:sym typeface="Symbol" panose="05050102010706020507" pitchFamily="18" charset="2"/>
              </a:rPr>
              <a:t></a:t>
            </a:r>
            <a:r>
              <a:rPr lang="en-US" altLang="zh-CN" sz="3200" b="1" dirty="0"/>
              <a:t> E*E</a:t>
            </a:r>
            <a:endParaRPr lang="en-US" altLang="zh-CN" sz="3200" b="1" dirty="0"/>
          </a:p>
          <a:p>
            <a:pPr lvl="1" indent="-436245" eaLnBrk="1" hangingPunct="1">
              <a:buNone/>
            </a:pPr>
            <a:r>
              <a:rPr lang="en-US" altLang="zh-CN" sz="3200" b="1" dirty="0"/>
              <a:t>E </a:t>
            </a:r>
            <a:r>
              <a:rPr lang="en-US" altLang="zh-CN" sz="3200" b="1" dirty="0">
                <a:sym typeface="Symbol" panose="05050102010706020507" pitchFamily="18" charset="2"/>
              </a:rPr>
              <a:t></a:t>
            </a:r>
            <a:r>
              <a:rPr lang="en-US" altLang="zh-CN" sz="3200" b="1" dirty="0"/>
              <a:t> (E)</a:t>
            </a:r>
            <a:endParaRPr lang="en-US" altLang="zh-CN" sz="3200" b="1" dirty="0"/>
          </a:p>
          <a:p>
            <a:pPr eaLnBrk="1" hangingPunct="1"/>
            <a:endParaRPr lang="en-US" altLang="zh-CN" sz="3400" b="1" dirty="0"/>
          </a:p>
        </p:txBody>
      </p:sp>
    </p:spTree>
  </p:cSld>
  <p:clrMapOvr>
    <a:masterClrMapping/>
  </p:clrMapOvr>
  <p:transition spd="med">
    <p:zo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195586" name="Rectangle 2"/>
          <p:cNvSpPr>
            <a:spLocks noGrp="1"/>
          </p:cNvSpPr>
          <p:nvPr>
            <p:ph type="body"/>
          </p:nvPr>
        </p:nvSpPr>
        <p:spPr>
          <a:xfrm>
            <a:off x="609600" y="838200"/>
            <a:ext cx="8153400" cy="5181600"/>
          </a:xfrm>
          <a:ln/>
        </p:spPr>
        <p:txBody>
          <a:bodyPr vert="horz" wrap="square" lIns="91440" tIns="45720" rIns="91440" bIns="45720" anchor="t"/>
          <a:p>
            <a:pPr eaLnBrk="1" hangingPunct="1"/>
            <a:r>
              <a:rPr lang="zh-CN" altLang="en-US" b="1" dirty="0"/>
              <a:t>定义：称</a:t>
            </a:r>
            <a:r>
              <a:rPr lang="zh-CN" altLang="en-US" b="1" dirty="0">
                <a:sym typeface="Symbol" panose="05050102010706020507" pitchFamily="18" charset="2"/>
              </a:rPr>
              <a:t></a:t>
            </a:r>
            <a:r>
              <a:rPr lang="en-US" altLang="zh-CN" b="1" dirty="0">
                <a:sym typeface="Symbol" panose="05050102010706020507" pitchFamily="18" charset="2"/>
              </a:rPr>
              <a:t>A</a:t>
            </a:r>
            <a:r>
              <a:rPr lang="zh-CN" altLang="en-US" b="1" dirty="0">
                <a:solidFill>
                  <a:srgbClr val="FF0066"/>
                </a:solidFill>
              </a:rPr>
              <a:t>直接推出</a:t>
            </a:r>
            <a:r>
              <a:rPr lang="zh-CN" altLang="en-US" b="1" dirty="0">
                <a:sym typeface="Symbol" panose="05050102010706020507" pitchFamily="18" charset="2"/>
              </a:rPr>
              <a:t></a:t>
            </a:r>
            <a:r>
              <a:rPr lang="zh-CN" altLang="en-US" b="1" dirty="0"/>
              <a:t>，即</a:t>
            </a:r>
            <a:endParaRPr lang="zh-CN" altLang="en-US" b="1" dirty="0"/>
          </a:p>
          <a:p>
            <a:pPr lvl="1" indent="-436245" algn="ctr" eaLnBrk="1" hangingPunct="1">
              <a:buNone/>
            </a:pPr>
            <a:r>
              <a:rPr lang="zh-CN" altLang="en-US" b="1" dirty="0">
                <a:sym typeface="Symbol" panose="05050102010706020507" pitchFamily="18" charset="2"/>
              </a:rPr>
              <a:t></a:t>
            </a:r>
            <a:r>
              <a:rPr lang="en-US" altLang="zh-CN" b="1" dirty="0">
                <a:sym typeface="Symbol" panose="05050102010706020507" pitchFamily="18" charset="2"/>
              </a:rPr>
              <a:t>A</a:t>
            </a:r>
            <a:endParaRPr lang="en-US" altLang="zh-CN" b="1" dirty="0"/>
          </a:p>
          <a:p>
            <a:pPr lvl="1" indent="-436245" eaLnBrk="1" hangingPunct="1">
              <a:buNone/>
            </a:pPr>
            <a:r>
              <a:rPr lang="en-US" altLang="zh-CN" b="1" dirty="0"/>
              <a:t>  </a:t>
            </a:r>
            <a:r>
              <a:rPr lang="zh-CN" altLang="en-US" b="1" dirty="0"/>
              <a:t>仅当</a:t>
            </a:r>
            <a:r>
              <a:rPr lang="en-US" altLang="zh-CN" b="1" dirty="0">
                <a:sym typeface="Symbol" panose="05050102010706020507" pitchFamily="18" charset="2"/>
              </a:rPr>
              <a:t>A  </a:t>
            </a:r>
            <a:r>
              <a:rPr lang="zh-CN" altLang="en-US" b="1" dirty="0"/>
              <a:t>是一个产生式，</a:t>
            </a:r>
            <a:endParaRPr lang="zh-CN" altLang="en-US" b="1" dirty="0"/>
          </a:p>
          <a:p>
            <a:pPr lvl="1" indent="-436245" eaLnBrk="1" hangingPunct="1">
              <a:buNone/>
            </a:pPr>
            <a:r>
              <a:rPr lang="zh-CN" altLang="en-US" b="1" dirty="0"/>
              <a:t>  且</a:t>
            </a:r>
            <a:r>
              <a:rPr lang="zh-CN" altLang="en-US" b="1" dirty="0">
                <a:sym typeface="Symbol" panose="05050102010706020507" pitchFamily="18" charset="2"/>
              </a:rPr>
              <a:t>，  </a:t>
            </a:r>
            <a:r>
              <a:rPr lang="en-US" altLang="zh-CN" b="1" dirty="0">
                <a:sym typeface="Symbol" panose="05050102010706020507" pitchFamily="18" charset="2"/>
              </a:rPr>
              <a:t>(</a:t>
            </a:r>
            <a:r>
              <a:rPr lang="en-US" altLang="zh-CN" b="1" dirty="0"/>
              <a:t>V</a:t>
            </a:r>
            <a:r>
              <a:rPr lang="en-US" altLang="zh-CN" b="1" baseline="-25000" dirty="0"/>
              <a:t>T </a:t>
            </a:r>
            <a:r>
              <a:rPr lang="en-US" altLang="zh-CN" b="1" dirty="0">
                <a:sym typeface="Symbol" panose="05050102010706020507" pitchFamily="18" charset="2"/>
              </a:rPr>
              <a:t></a:t>
            </a:r>
            <a:r>
              <a:rPr lang="en-US" altLang="zh-CN" b="1" baseline="-25000" dirty="0"/>
              <a:t> </a:t>
            </a:r>
            <a:r>
              <a:rPr lang="en-US" altLang="zh-CN" b="1" dirty="0"/>
              <a:t>V</a:t>
            </a:r>
            <a:r>
              <a:rPr lang="en-US" altLang="zh-CN" b="1" baseline="-25000" dirty="0"/>
              <a:t>N</a:t>
            </a:r>
            <a:r>
              <a:rPr lang="en-US" altLang="zh-CN" b="1" dirty="0"/>
              <a:t>)</a:t>
            </a:r>
            <a:r>
              <a:rPr lang="en-US" altLang="zh-CN" b="1" baseline="30000" dirty="0"/>
              <a:t>*</a:t>
            </a:r>
            <a:r>
              <a:rPr lang="en-US" altLang="zh-CN" b="1" dirty="0"/>
              <a:t> </a:t>
            </a:r>
            <a:r>
              <a:rPr lang="zh-CN" altLang="en-US" b="1" dirty="0"/>
              <a:t>。</a:t>
            </a:r>
            <a:endParaRPr lang="zh-CN" altLang="en-US" b="1" dirty="0"/>
          </a:p>
          <a:p>
            <a:pPr eaLnBrk="1" hangingPunct="1">
              <a:spcBef>
                <a:spcPct val="40000"/>
              </a:spcBef>
            </a:pPr>
            <a:r>
              <a:rPr lang="zh-CN" altLang="en-US" b="1" dirty="0"/>
              <a:t>如果</a:t>
            </a:r>
            <a:r>
              <a:rPr lang="zh-CN" altLang="en-US" b="1" dirty="0">
                <a:sym typeface="Symbol" panose="05050102010706020507" pitchFamily="18" charset="2"/>
              </a:rPr>
              <a:t></a:t>
            </a:r>
            <a:r>
              <a:rPr lang="en-US" altLang="zh-CN" b="1" baseline="-25000" dirty="0">
                <a:sym typeface="Symbol" panose="05050102010706020507" pitchFamily="18" charset="2"/>
              </a:rPr>
              <a:t>1</a:t>
            </a:r>
            <a:r>
              <a:rPr lang="en-US" altLang="zh-CN" b="1" dirty="0"/>
              <a:t> </a:t>
            </a:r>
            <a:r>
              <a:rPr lang="en-US" altLang="zh-CN" b="1" dirty="0">
                <a:sym typeface="Symbol" panose="05050102010706020507" pitchFamily="18" charset="2"/>
              </a:rPr>
              <a:t></a:t>
            </a:r>
            <a:r>
              <a:rPr lang="en-US" altLang="zh-CN" b="1" dirty="0"/>
              <a:t> </a:t>
            </a:r>
            <a:r>
              <a:rPr lang="en-US" altLang="zh-CN" b="1" dirty="0">
                <a:sym typeface="Symbol" panose="05050102010706020507" pitchFamily="18" charset="2"/>
              </a:rPr>
              <a:t></a:t>
            </a:r>
            <a:r>
              <a:rPr lang="en-US" altLang="zh-CN" b="1" baseline="-25000" dirty="0">
                <a:sym typeface="Symbol" panose="05050102010706020507" pitchFamily="18" charset="2"/>
              </a:rPr>
              <a:t>2</a:t>
            </a:r>
            <a:r>
              <a:rPr lang="en-US" altLang="zh-CN" b="1" dirty="0"/>
              <a:t> </a:t>
            </a:r>
            <a:r>
              <a:rPr lang="en-US" altLang="zh-CN" b="1" dirty="0">
                <a:sym typeface="Symbol" panose="05050102010706020507" pitchFamily="18" charset="2"/>
              </a:rPr>
              <a:t></a:t>
            </a:r>
            <a:r>
              <a:rPr lang="en-US" altLang="zh-CN" b="1" dirty="0"/>
              <a:t> </a:t>
            </a:r>
            <a:r>
              <a:rPr lang="en-US" altLang="zh-CN" b="1" dirty="0">
                <a:sym typeface="Symbol" panose="05050102010706020507" pitchFamily="18" charset="2"/>
              </a:rPr>
              <a:t> </a:t>
            </a:r>
            <a:r>
              <a:rPr lang="en-US" altLang="zh-CN" b="1" baseline="-25000" dirty="0">
                <a:sym typeface="Symbol" panose="05050102010706020507" pitchFamily="18" charset="2"/>
              </a:rPr>
              <a:t>n</a:t>
            </a:r>
            <a:r>
              <a:rPr lang="zh-CN" altLang="en-US" b="1" dirty="0"/>
              <a:t>，则我们称这个序列是从</a:t>
            </a:r>
            <a:r>
              <a:rPr lang="zh-CN" altLang="en-US" b="1" dirty="0">
                <a:sym typeface="Symbol" panose="05050102010706020507" pitchFamily="18" charset="2"/>
              </a:rPr>
              <a:t></a:t>
            </a:r>
            <a:r>
              <a:rPr lang="en-US" altLang="zh-CN" b="1" baseline="-25000" dirty="0">
                <a:sym typeface="Symbol" panose="05050102010706020507" pitchFamily="18" charset="2"/>
              </a:rPr>
              <a:t>1</a:t>
            </a:r>
            <a:r>
              <a:rPr lang="zh-CN" altLang="en-US" b="1" dirty="0"/>
              <a:t>到</a:t>
            </a:r>
            <a:r>
              <a:rPr lang="zh-CN" altLang="en-US" b="1" dirty="0">
                <a:sym typeface="Symbol" panose="05050102010706020507" pitchFamily="18" charset="2"/>
              </a:rPr>
              <a:t></a:t>
            </a:r>
            <a:r>
              <a:rPr lang="en-US" altLang="zh-CN" b="1" baseline="-25000" dirty="0">
                <a:sym typeface="Symbol" panose="05050102010706020507" pitchFamily="18" charset="2"/>
              </a:rPr>
              <a:t>n</a:t>
            </a:r>
            <a:r>
              <a:rPr lang="zh-CN" altLang="en-US" b="1" dirty="0"/>
              <a:t>的一个</a:t>
            </a:r>
            <a:r>
              <a:rPr lang="zh-CN" altLang="en-US" b="1" dirty="0">
                <a:solidFill>
                  <a:srgbClr val="FF0066"/>
                </a:solidFill>
              </a:rPr>
              <a:t>推导</a:t>
            </a:r>
            <a:r>
              <a:rPr lang="zh-CN" altLang="en-US" b="1" dirty="0"/>
              <a:t>。若存在一个从</a:t>
            </a:r>
            <a:r>
              <a:rPr lang="zh-CN" altLang="en-US" b="1" dirty="0">
                <a:sym typeface="Symbol" panose="05050102010706020507" pitchFamily="18" charset="2"/>
              </a:rPr>
              <a:t></a:t>
            </a:r>
            <a:r>
              <a:rPr lang="en-US" altLang="zh-CN" b="1" baseline="-25000" dirty="0">
                <a:sym typeface="Symbol" panose="05050102010706020507" pitchFamily="18" charset="2"/>
              </a:rPr>
              <a:t>1</a:t>
            </a:r>
            <a:r>
              <a:rPr lang="zh-CN" altLang="en-US" b="1" dirty="0"/>
              <a:t>到</a:t>
            </a:r>
            <a:r>
              <a:rPr lang="zh-CN" altLang="en-US" b="1" dirty="0">
                <a:sym typeface="Symbol" panose="05050102010706020507" pitchFamily="18" charset="2"/>
              </a:rPr>
              <a:t></a:t>
            </a:r>
            <a:r>
              <a:rPr lang="en-US" altLang="zh-CN" b="1" baseline="-25000" dirty="0">
                <a:sym typeface="Symbol" panose="05050102010706020507" pitchFamily="18" charset="2"/>
              </a:rPr>
              <a:t>n</a:t>
            </a:r>
            <a:r>
              <a:rPr lang="zh-CN" altLang="en-US" b="1" dirty="0"/>
              <a:t>的推导，则称</a:t>
            </a:r>
            <a:r>
              <a:rPr lang="zh-CN" altLang="en-US" b="1" dirty="0">
                <a:sym typeface="Symbol" panose="05050102010706020507" pitchFamily="18" charset="2"/>
              </a:rPr>
              <a:t></a:t>
            </a:r>
            <a:r>
              <a:rPr lang="en-US" altLang="zh-CN" b="1" baseline="-25000" dirty="0">
                <a:sym typeface="Symbol" panose="05050102010706020507" pitchFamily="18" charset="2"/>
              </a:rPr>
              <a:t>1</a:t>
            </a:r>
            <a:r>
              <a:rPr lang="zh-CN" altLang="en-US" b="1" dirty="0"/>
              <a:t>可以</a:t>
            </a:r>
            <a:r>
              <a:rPr lang="zh-CN" altLang="en-US" b="1" dirty="0">
                <a:solidFill>
                  <a:srgbClr val="FF0066"/>
                </a:solidFill>
              </a:rPr>
              <a:t>推导</a:t>
            </a:r>
            <a:r>
              <a:rPr lang="zh-CN" altLang="en-US" b="1" dirty="0"/>
              <a:t>出</a:t>
            </a:r>
            <a:r>
              <a:rPr lang="zh-CN" altLang="en-US" b="1" dirty="0">
                <a:sym typeface="Symbol" panose="05050102010706020507" pitchFamily="18" charset="2"/>
              </a:rPr>
              <a:t></a:t>
            </a:r>
            <a:r>
              <a:rPr lang="en-US" altLang="zh-CN" b="1" baseline="-25000" dirty="0">
                <a:sym typeface="Symbol" panose="05050102010706020507" pitchFamily="18" charset="2"/>
              </a:rPr>
              <a:t>n</a:t>
            </a:r>
            <a:r>
              <a:rPr lang="en-US" altLang="zh-CN" b="1" dirty="0"/>
              <a:t> </a:t>
            </a:r>
            <a:r>
              <a:rPr lang="zh-CN" altLang="en-US" b="1" dirty="0"/>
              <a:t>。</a:t>
            </a:r>
            <a:endParaRPr lang="zh-CN" altLang="en-US" b="1" dirty="0"/>
          </a:p>
          <a:p>
            <a:pPr eaLnBrk="1" hangingPunct="1">
              <a:spcBef>
                <a:spcPct val="50000"/>
              </a:spcBef>
            </a:pPr>
            <a:r>
              <a:rPr lang="zh-CN" altLang="en-US" b="1" dirty="0"/>
              <a:t>例：对文法</a:t>
            </a:r>
            <a:r>
              <a:rPr lang="en-US" altLang="zh-CN" b="1" dirty="0"/>
              <a:t>(1)</a:t>
            </a:r>
            <a:endParaRPr lang="en-US" altLang="zh-CN" b="1" dirty="0"/>
          </a:p>
          <a:p>
            <a:pPr lvl="1" indent="-436245" eaLnBrk="1" hangingPunct="1">
              <a:buNone/>
            </a:pPr>
            <a:r>
              <a:rPr lang="en-US" altLang="zh-CN" b="1" dirty="0"/>
              <a:t>E </a:t>
            </a:r>
            <a:r>
              <a:rPr lang="en-US" altLang="zh-CN" b="1" dirty="0">
                <a:sym typeface="Symbol" panose="05050102010706020507" pitchFamily="18" charset="2"/>
              </a:rPr>
              <a:t></a:t>
            </a:r>
            <a:r>
              <a:rPr lang="en-US" altLang="zh-CN" b="1" dirty="0"/>
              <a:t> (E) </a:t>
            </a:r>
            <a:r>
              <a:rPr lang="en-US" altLang="zh-CN" b="1" dirty="0">
                <a:sym typeface="Symbol" panose="05050102010706020507" pitchFamily="18" charset="2"/>
              </a:rPr>
              <a:t> (</a:t>
            </a:r>
            <a:r>
              <a:rPr lang="en-US" altLang="zh-CN" b="1" dirty="0"/>
              <a:t>E+E</a:t>
            </a:r>
            <a:r>
              <a:rPr lang="en-US" altLang="zh-CN" b="1" dirty="0">
                <a:sym typeface="Symbol" panose="05050102010706020507" pitchFamily="18" charset="2"/>
              </a:rPr>
              <a:t>) (i+E) (i+i)</a:t>
            </a:r>
            <a:endParaRPr lang="en-US" altLang="zh-CN" b="1" dirty="0">
              <a:sym typeface="Symbol" panose="05050102010706020507" pitchFamily="18" charset="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95586">
                                            <p:txEl>
                                              <p:charRg st="0" end="17"/>
                                            </p:txEl>
                                          </p:spTgt>
                                        </p:tgtEl>
                                        <p:attrNameLst>
                                          <p:attrName>style.visibility</p:attrName>
                                        </p:attrNameLst>
                                      </p:cBhvr>
                                      <p:to>
                                        <p:strVal val="visible"/>
                                      </p:to>
                                    </p:set>
                                    <p:animEffect transition="in" filter="wipe(up)">
                                      <p:cBhvr>
                                        <p:cTn id="7" dur="500"/>
                                        <p:tgtEl>
                                          <p:spTgt spid="195586">
                                            <p:txEl>
                                              <p:charRg st="0" end="17"/>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95586">
                                            <p:txEl>
                                              <p:charRg st="17" end="25"/>
                                            </p:txEl>
                                          </p:spTgt>
                                        </p:tgtEl>
                                        <p:attrNameLst>
                                          <p:attrName>style.visibility</p:attrName>
                                        </p:attrNameLst>
                                      </p:cBhvr>
                                      <p:to>
                                        <p:strVal val="visible"/>
                                      </p:to>
                                    </p:set>
                                    <p:animEffect transition="in" filter="wipe(up)">
                                      <p:cBhvr>
                                        <p:cTn id="11" dur="500"/>
                                        <p:tgtEl>
                                          <p:spTgt spid="195586">
                                            <p:txEl>
                                              <p:charRg st="17" end="25"/>
                                            </p:txEl>
                                          </p:spTgt>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195586">
                                            <p:txEl>
                                              <p:charRg st="25" end="42"/>
                                            </p:txEl>
                                          </p:spTgt>
                                        </p:tgtEl>
                                        <p:attrNameLst>
                                          <p:attrName>style.visibility</p:attrName>
                                        </p:attrNameLst>
                                      </p:cBhvr>
                                      <p:to>
                                        <p:strVal val="visible"/>
                                      </p:to>
                                    </p:set>
                                    <p:animEffect transition="in" filter="wipe(up)">
                                      <p:cBhvr>
                                        <p:cTn id="15" dur="500"/>
                                        <p:tgtEl>
                                          <p:spTgt spid="195586">
                                            <p:txEl>
                                              <p:charRg st="25" end="42"/>
                                            </p:txEl>
                                          </p:spTgt>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195586">
                                            <p:txEl>
                                              <p:charRg st="42" end="64"/>
                                            </p:txEl>
                                          </p:spTgt>
                                        </p:tgtEl>
                                        <p:attrNameLst>
                                          <p:attrName>style.visibility</p:attrName>
                                        </p:attrNameLst>
                                      </p:cBhvr>
                                      <p:to>
                                        <p:strVal val="visible"/>
                                      </p:to>
                                    </p:set>
                                    <p:animEffect transition="in" filter="wipe(up)">
                                      <p:cBhvr>
                                        <p:cTn id="19" dur="500"/>
                                        <p:tgtEl>
                                          <p:spTgt spid="195586">
                                            <p:txEl>
                                              <p:charRg st="42" end="6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195586">
                                            <p:txEl>
                                              <p:charRg st="64" end="132"/>
                                            </p:txEl>
                                          </p:spTgt>
                                        </p:tgtEl>
                                        <p:attrNameLst>
                                          <p:attrName>style.visibility</p:attrName>
                                        </p:attrNameLst>
                                      </p:cBhvr>
                                      <p:to>
                                        <p:strVal val="visible"/>
                                      </p:to>
                                    </p:set>
                                    <p:animEffect transition="in" filter="wipe(up)">
                                      <p:cBhvr>
                                        <p:cTn id="24" dur="500"/>
                                        <p:tgtEl>
                                          <p:spTgt spid="195586">
                                            <p:txEl>
                                              <p:charRg st="64" end="13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195586">
                                            <p:txEl>
                                              <p:charRg st="132" end="141"/>
                                            </p:txEl>
                                          </p:spTgt>
                                        </p:tgtEl>
                                        <p:attrNameLst>
                                          <p:attrName>style.visibility</p:attrName>
                                        </p:attrNameLst>
                                      </p:cBhvr>
                                      <p:to>
                                        <p:strVal val="visible"/>
                                      </p:to>
                                    </p:set>
                                    <p:animEffect transition="in" filter="wipe(up)">
                                      <p:cBhvr>
                                        <p:cTn id="29" dur="500"/>
                                        <p:tgtEl>
                                          <p:spTgt spid="195586">
                                            <p:txEl>
                                              <p:charRg st="132" end="141"/>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195586">
                                            <p:txEl>
                                              <p:charRg st="141" end="171"/>
                                            </p:txEl>
                                          </p:spTgt>
                                        </p:tgtEl>
                                        <p:attrNameLst>
                                          <p:attrName>style.visibility</p:attrName>
                                        </p:attrNameLst>
                                      </p:cBhvr>
                                      <p:to>
                                        <p:strVal val="visible"/>
                                      </p:to>
                                    </p:set>
                                    <p:animEffect transition="in" filter="wipe(up)">
                                      <p:cBhvr>
                                        <p:cTn id="34" dur="500"/>
                                        <p:tgtEl>
                                          <p:spTgt spid="195586">
                                            <p:txEl>
                                              <p:charRg st="141" end="17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6"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grpSp>
        <p:nvGrpSpPr>
          <p:cNvPr id="2" name="Group 2"/>
          <p:cNvGrpSpPr/>
          <p:nvPr/>
        </p:nvGrpSpPr>
        <p:grpSpPr>
          <a:xfrm>
            <a:off x="533400" y="-26987"/>
            <a:ext cx="8153400" cy="1295400"/>
            <a:chOff x="336" y="144"/>
            <a:chExt cx="5136" cy="816"/>
          </a:xfrm>
        </p:grpSpPr>
        <p:sp>
          <p:nvSpPr>
            <p:cNvPr id="11267" name="Rectangle 3"/>
            <p:cNvSpPr/>
            <p:nvPr/>
          </p:nvSpPr>
          <p:spPr>
            <a:xfrm>
              <a:off x="336" y="288"/>
              <a:ext cx="5136" cy="672"/>
            </a:xfrm>
            <a:prstGeom prst="rect">
              <a:avLst/>
            </a:prstGeom>
            <a:noFill/>
            <a:ln w="9525">
              <a:noFill/>
            </a:ln>
          </p:spPr>
          <p:txBody>
            <a:bodyPr anchor="t"/>
            <a:p>
              <a:pPr marL="342900" indent="-342900">
                <a:spcBef>
                  <a:spcPct val="60000"/>
                </a:spcBef>
                <a:buClr>
                  <a:schemeClr val="bg2"/>
                </a:buClr>
                <a:buSzPct val="75000"/>
                <a:buFont typeface="Wingdings" panose="05000000000000000000" pitchFamily="2" charset="2"/>
                <a:buChar char="n"/>
              </a:pPr>
              <a:r>
                <a:rPr lang="zh-CN" altLang="en-US" sz="3200" b="1" u="none" dirty="0">
                  <a:solidFill>
                    <a:schemeClr val="tx1"/>
                  </a:solidFill>
                  <a:latin typeface="宋体" panose="02010600030101010101" pitchFamily="2" charset="-122"/>
                </a:rPr>
                <a:t>通常，用 </a:t>
              </a:r>
              <a:r>
                <a:rPr lang="zh-CN" altLang="en-US" sz="3200" b="1" u="none" dirty="0">
                  <a:solidFill>
                    <a:schemeClr val="tx1"/>
                  </a:solidFill>
                  <a:latin typeface="宋体" panose="02010600030101010101" pitchFamily="2" charset="-122"/>
                  <a:sym typeface="Symbol" panose="05050102010706020507" pitchFamily="18" charset="2"/>
                </a:rPr>
                <a:t>       </a:t>
              </a:r>
              <a:r>
                <a:rPr lang="zh-CN" altLang="en-US" sz="3200" b="1" u="none" dirty="0">
                  <a:solidFill>
                    <a:schemeClr val="tx1"/>
                  </a:solidFill>
                  <a:latin typeface="宋体" panose="02010600030101010101" pitchFamily="2" charset="-122"/>
                </a:rPr>
                <a:t>表示：从</a:t>
              </a:r>
              <a:r>
                <a:rPr lang="zh-CN" altLang="en-US" sz="3200" b="1" u="none" dirty="0">
                  <a:solidFill>
                    <a:schemeClr val="tx1"/>
                  </a:solidFill>
                  <a:latin typeface="宋体" panose="02010600030101010101" pitchFamily="2" charset="-122"/>
                  <a:sym typeface="Symbol" panose="05050102010706020507" pitchFamily="18" charset="2"/>
                </a:rPr>
                <a:t></a:t>
              </a:r>
              <a:r>
                <a:rPr lang="en-US" altLang="zh-CN" sz="3200" b="1" u="none" baseline="-25000" dirty="0">
                  <a:solidFill>
                    <a:schemeClr val="tx1"/>
                  </a:solidFill>
                  <a:latin typeface="宋体" panose="02010600030101010101" pitchFamily="2" charset="-122"/>
                  <a:sym typeface="Symbol" panose="05050102010706020507" pitchFamily="18" charset="2"/>
                </a:rPr>
                <a:t>1</a:t>
              </a:r>
              <a:r>
                <a:rPr lang="zh-CN" altLang="en-US" sz="3200" b="1" u="none" dirty="0">
                  <a:solidFill>
                    <a:schemeClr val="tx1"/>
                  </a:solidFill>
                  <a:latin typeface="宋体" panose="02010600030101010101" pitchFamily="2" charset="-122"/>
                </a:rPr>
                <a:t>出发，经过一步或若干步，可以推出</a:t>
              </a:r>
              <a:r>
                <a:rPr lang="zh-CN" altLang="en-US" sz="3200" b="1" u="none" dirty="0">
                  <a:solidFill>
                    <a:schemeClr val="tx1"/>
                  </a:solidFill>
                  <a:latin typeface="宋体" panose="02010600030101010101" pitchFamily="2" charset="-122"/>
                  <a:sym typeface="Symbol" panose="05050102010706020507" pitchFamily="18" charset="2"/>
                </a:rPr>
                <a:t></a:t>
              </a:r>
              <a:r>
                <a:rPr lang="en-US" altLang="zh-CN" sz="3200" b="1" u="none" baseline="-25000" dirty="0">
                  <a:solidFill>
                    <a:schemeClr val="tx1"/>
                  </a:solidFill>
                  <a:latin typeface="宋体" panose="02010600030101010101" pitchFamily="2" charset="-122"/>
                  <a:sym typeface="Symbol" panose="05050102010706020507" pitchFamily="18" charset="2"/>
                </a:rPr>
                <a:t>n</a:t>
              </a:r>
              <a:r>
                <a:rPr lang="zh-CN" altLang="en-US" sz="3200" b="1" u="none" dirty="0">
                  <a:solidFill>
                    <a:schemeClr val="tx1"/>
                  </a:solidFill>
                  <a:latin typeface="宋体" panose="02010600030101010101" pitchFamily="2" charset="-122"/>
                </a:rPr>
                <a:t>。</a:t>
              </a:r>
              <a:endParaRPr lang="zh-CN" altLang="en-US" sz="3200" b="1" u="none" dirty="0">
                <a:solidFill>
                  <a:schemeClr val="tx1"/>
                </a:solidFill>
                <a:latin typeface="宋体" panose="02010600030101010101" pitchFamily="2" charset="-122"/>
              </a:endParaRPr>
            </a:p>
          </p:txBody>
        </p:sp>
        <p:graphicFrame>
          <p:nvGraphicFramePr>
            <p:cNvPr id="11268" name="Object 4"/>
            <p:cNvGraphicFramePr>
              <a:graphicFrameLocks noChangeAspect="1"/>
            </p:cNvGraphicFramePr>
            <p:nvPr/>
          </p:nvGraphicFramePr>
          <p:xfrm>
            <a:off x="1680" y="144"/>
            <a:ext cx="960" cy="597"/>
          </p:xfrm>
          <a:graphic>
            <a:graphicData uri="http://schemas.openxmlformats.org/presentationml/2006/ole">
              <mc:AlternateContent xmlns:mc="http://schemas.openxmlformats.org/markup-compatibility/2006">
                <mc:Choice xmlns:v="urn:schemas-microsoft-com:vml" Requires="v">
                  <p:oleObj spid="_x0000_s3077" name="" r:id="rId1" imgW="424815" imgH="264795" progId="Equation.3">
                    <p:embed/>
                  </p:oleObj>
                </mc:Choice>
                <mc:Fallback>
                  <p:oleObj name="" r:id="rId1" imgW="424815" imgH="264795" progId="Equation.3">
                    <p:embed/>
                    <p:pic>
                      <p:nvPicPr>
                        <p:cNvPr id="0" name="图片 3076"/>
                        <p:cNvPicPr/>
                        <p:nvPr/>
                      </p:nvPicPr>
                      <p:blipFill>
                        <a:blip r:embed="rId2">
                          <a:clrChange>
                            <a:clrFrom>
                              <a:srgbClr val="000000"/>
                            </a:clrFrom>
                            <a:clrTo>
                              <a:srgbClr val="000000"/>
                            </a:clrTo>
                          </a:clrChange>
                        </a:blip>
                        <a:stretch>
                          <a:fillRect/>
                        </a:stretch>
                      </p:blipFill>
                      <p:spPr>
                        <a:xfrm>
                          <a:off x="1680" y="144"/>
                          <a:ext cx="960" cy="597"/>
                        </a:xfrm>
                        <a:prstGeom prst="rect">
                          <a:avLst/>
                        </a:prstGeom>
                        <a:noFill/>
                        <a:ln w="38100">
                          <a:noFill/>
                          <a:miter/>
                        </a:ln>
                      </p:spPr>
                    </p:pic>
                  </p:oleObj>
                </mc:Fallback>
              </mc:AlternateContent>
            </a:graphicData>
          </a:graphic>
        </p:graphicFrame>
      </p:grpSp>
      <p:grpSp>
        <p:nvGrpSpPr>
          <p:cNvPr id="3" name="Group 5"/>
          <p:cNvGrpSpPr/>
          <p:nvPr/>
        </p:nvGrpSpPr>
        <p:grpSpPr>
          <a:xfrm>
            <a:off x="533400" y="1260475"/>
            <a:ext cx="7924800" cy="1447800"/>
            <a:chOff x="288" y="1056"/>
            <a:chExt cx="4992" cy="912"/>
          </a:xfrm>
        </p:grpSpPr>
        <p:graphicFrame>
          <p:nvGraphicFramePr>
            <p:cNvPr id="11270" name="Object 6"/>
            <p:cNvGraphicFramePr>
              <a:graphicFrameLocks noChangeAspect="1"/>
            </p:cNvGraphicFramePr>
            <p:nvPr/>
          </p:nvGraphicFramePr>
          <p:xfrm>
            <a:off x="960" y="1056"/>
            <a:ext cx="912" cy="567"/>
          </p:xfrm>
          <a:graphic>
            <a:graphicData uri="http://schemas.openxmlformats.org/presentationml/2006/ole">
              <mc:AlternateContent xmlns:mc="http://schemas.openxmlformats.org/markup-compatibility/2006">
                <mc:Choice xmlns:v="urn:schemas-microsoft-com:vml" Requires="v">
                  <p:oleObj spid="_x0000_s3076" name="" r:id="rId3" imgW="424815" imgH="264795" progId="Equation.3">
                    <p:embed/>
                  </p:oleObj>
                </mc:Choice>
                <mc:Fallback>
                  <p:oleObj name="" r:id="rId3" imgW="424815" imgH="264795" progId="Equation.3">
                    <p:embed/>
                    <p:pic>
                      <p:nvPicPr>
                        <p:cNvPr id="0" name="图片 3075"/>
                        <p:cNvPicPr/>
                        <p:nvPr/>
                      </p:nvPicPr>
                      <p:blipFill>
                        <a:blip r:embed="rId4">
                          <a:clrChange>
                            <a:clrFrom>
                              <a:srgbClr val="000000"/>
                            </a:clrFrom>
                            <a:clrTo>
                              <a:srgbClr val="000000"/>
                            </a:clrTo>
                          </a:clrChange>
                        </a:blip>
                        <a:stretch>
                          <a:fillRect/>
                        </a:stretch>
                      </p:blipFill>
                      <p:spPr>
                        <a:xfrm>
                          <a:off x="960" y="1056"/>
                          <a:ext cx="912" cy="567"/>
                        </a:xfrm>
                        <a:prstGeom prst="rect">
                          <a:avLst/>
                        </a:prstGeom>
                        <a:noFill/>
                        <a:ln w="38100">
                          <a:noFill/>
                          <a:miter/>
                        </a:ln>
                      </p:spPr>
                    </p:pic>
                  </p:oleObj>
                </mc:Fallback>
              </mc:AlternateContent>
            </a:graphicData>
          </a:graphic>
        </p:graphicFrame>
        <p:sp>
          <p:nvSpPr>
            <p:cNvPr id="11271" name="Rectangle 7"/>
            <p:cNvSpPr/>
            <p:nvPr/>
          </p:nvSpPr>
          <p:spPr>
            <a:xfrm>
              <a:off x="288" y="1248"/>
              <a:ext cx="4992" cy="720"/>
            </a:xfrm>
            <a:prstGeom prst="rect">
              <a:avLst/>
            </a:prstGeom>
            <a:noFill/>
            <a:ln w="9525">
              <a:noFill/>
            </a:ln>
          </p:spPr>
          <p:txBody>
            <a:bodyPr lIns="92075" tIns="46038" rIns="92075" bIns="46038" anchor="t"/>
            <a:p>
              <a:pPr eaLnBrk="0" hangingPunct="0">
                <a:spcBef>
                  <a:spcPct val="60000"/>
                </a:spcBef>
              </a:pPr>
              <a:r>
                <a:rPr lang="en-US" altLang="zh-CN" sz="3200" b="1" u="none" dirty="0">
                  <a:solidFill>
                    <a:schemeClr val="tx1"/>
                  </a:solidFill>
                  <a:latin typeface="宋体" panose="02010600030101010101" pitchFamily="2" charset="-122"/>
                </a:rPr>
                <a:t> </a:t>
              </a:r>
              <a:r>
                <a:rPr lang="zh-CN" altLang="en-US" sz="3200" b="1" u="none" dirty="0">
                  <a:solidFill>
                    <a:schemeClr val="tx1"/>
                  </a:solidFill>
                  <a:latin typeface="宋体" panose="02010600030101010101" pitchFamily="2" charset="-122"/>
                </a:rPr>
                <a:t>用         表示：从</a:t>
              </a:r>
              <a:r>
                <a:rPr lang="zh-CN" altLang="en-US" sz="3200" b="1" u="none" dirty="0">
                  <a:solidFill>
                    <a:schemeClr val="tx1"/>
                  </a:solidFill>
                  <a:latin typeface="宋体" panose="02010600030101010101" pitchFamily="2" charset="-122"/>
                  <a:sym typeface="Symbol" panose="05050102010706020507" pitchFamily="18" charset="2"/>
                </a:rPr>
                <a:t></a:t>
              </a:r>
              <a:r>
                <a:rPr lang="en-US" altLang="zh-CN" sz="3200" b="1" u="none" baseline="-25000" dirty="0">
                  <a:solidFill>
                    <a:schemeClr val="tx1"/>
                  </a:solidFill>
                  <a:latin typeface="宋体" panose="02010600030101010101" pitchFamily="2" charset="-122"/>
                  <a:sym typeface="Symbol" panose="05050102010706020507" pitchFamily="18" charset="2"/>
                </a:rPr>
                <a:t>1</a:t>
              </a:r>
              <a:r>
                <a:rPr lang="zh-CN" altLang="en-US" sz="3200" b="1" u="none" dirty="0">
                  <a:solidFill>
                    <a:schemeClr val="tx1"/>
                  </a:solidFill>
                  <a:latin typeface="宋体" panose="02010600030101010101" pitchFamily="2" charset="-122"/>
                </a:rPr>
                <a:t>出发，经过</a:t>
              </a:r>
              <a:r>
                <a:rPr lang="en-US" altLang="zh-CN" sz="3200" b="1" u="none" dirty="0">
                  <a:solidFill>
                    <a:schemeClr val="tx1"/>
                  </a:solidFill>
                  <a:latin typeface="宋体" panose="02010600030101010101" pitchFamily="2" charset="-122"/>
                </a:rPr>
                <a:t>0</a:t>
              </a:r>
              <a:r>
                <a:rPr lang="zh-CN" altLang="en-US" sz="3200" b="1" u="none" dirty="0">
                  <a:solidFill>
                    <a:schemeClr val="tx1"/>
                  </a:solidFill>
                  <a:latin typeface="宋体" panose="02010600030101010101" pitchFamily="2" charset="-122"/>
                </a:rPr>
                <a:t>步或若干步，可以推出</a:t>
              </a:r>
              <a:r>
                <a:rPr lang="zh-CN" altLang="en-US" sz="3200" b="1" u="none" dirty="0">
                  <a:solidFill>
                    <a:schemeClr val="tx1"/>
                  </a:solidFill>
                  <a:latin typeface="宋体" panose="02010600030101010101" pitchFamily="2" charset="-122"/>
                  <a:sym typeface="Symbol" panose="05050102010706020507" pitchFamily="18" charset="2"/>
                </a:rPr>
                <a:t></a:t>
              </a:r>
              <a:r>
                <a:rPr lang="en-US" altLang="zh-CN" sz="3200" b="1" u="none" baseline="-25000" dirty="0">
                  <a:solidFill>
                    <a:schemeClr val="tx1"/>
                  </a:solidFill>
                  <a:latin typeface="宋体" panose="02010600030101010101" pitchFamily="2" charset="-122"/>
                  <a:sym typeface="Symbol" panose="05050102010706020507" pitchFamily="18" charset="2"/>
                </a:rPr>
                <a:t>n</a:t>
              </a:r>
              <a:r>
                <a:rPr lang="zh-CN" altLang="en-US" sz="3200" b="1" u="none" dirty="0">
                  <a:solidFill>
                    <a:schemeClr val="tx1"/>
                  </a:solidFill>
                  <a:latin typeface="宋体" panose="02010600030101010101" pitchFamily="2" charset="-122"/>
                </a:rPr>
                <a:t>。</a:t>
              </a:r>
              <a:endParaRPr lang="zh-CN" altLang="en-US" sz="3200" b="1" u="none" dirty="0">
                <a:solidFill>
                  <a:schemeClr val="tx1"/>
                </a:solidFill>
                <a:latin typeface="宋体" panose="02010600030101010101" pitchFamily="2" charset="-122"/>
              </a:endParaRPr>
            </a:p>
          </p:txBody>
        </p:sp>
      </p:grpSp>
      <p:grpSp>
        <p:nvGrpSpPr>
          <p:cNvPr id="4" name="Group 8"/>
          <p:cNvGrpSpPr/>
          <p:nvPr/>
        </p:nvGrpSpPr>
        <p:grpSpPr>
          <a:xfrm>
            <a:off x="533400" y="2492375"/>
            <a:ext cx="8153400" cy="990600"/>
            <a:chOff x="288" y="1872"/>
            <a:chExt cx="5136" cy="624"/>
          </a:xfrm>
        </p:grpSpPr>
        <p:graphicFrame>
          <p:nvGraphicFramePr>
            <p:cNvPr id="11273" name="Object 9"/>
            <p:cNvGraphicFramePr>
              <a:graphicFrameLocks noChangeAspect="1"/>
            </p:cNvGraphicFramePr>
            <p:nvPr/>
          </p:nvGraphicFramePr>
          <p:xfrm>
            <a:off x="2832" y="2064"/>
            <a:ext cx="720" cy="358"/>
          </p:xfrm>
          <a:graphic>
            <a:graphicData uri="http://schemas.openxmlformats.org/presentationml/2006/ole">
              <mc:AlternateContent xmlns:mc="http://schemas.openxmlformats.org/markup-compatibility/2006">
                <mc:Choice xmlns:v="urn:schemas-microsoft-com:vml" Requires="v">
                  <p:oleObj spid="_x0000_s3078" name="" r:id="rId5" imgW="344805" imgH="168275" progId="Equation.3">
                    <p:embed/>
                  </p:oleObj>
                </mc:Choice>
                <mc:Fallback>
                  <p:oleObj name="" r:id="rId5" imgW="344805" imgH="168275" progId="Equation.3">
                    <p:embed/>
                    <p:pic>
                      <p:nvPicPr>
                        <p:cNvPr id="0" name="图片 3077"/>
                        <p:cNvPicPr/>
                        <p:nvPr/>
                      </p:nvPicPr>
                      <p:blipFill>
                        <a:blip r:embed="rId6">
                          <a:clrChange>
                            <a:clrFrom>
                              <a:srgbClr val="000000"/>
                            </a:clrFrom>
                            <a:clrTo>
                              <a:srgbClr val="000000"/>
                            </a:clrTo>
                          </a:clrChange>
                        </a:blip>
                        <a:stretch>
                          <a:fillRect/>
                        </a:stretch>
                      </p:blipFill>
                      <p:spPr>
                        <a:xfrm>
                          <a:off x="2832" y="2064"/>
                          <a:ext cx="720" cy="358"/>
                        </a:xfrm>
                        <a:prstGeom prst="rect">
                          <a:avLst/>
                        </a:prstGeom>
                        <a:noFill/>
                        <a:ln w="38100">
                          <a:noFill/>
                          <a:miter/>
                        </a:ln>
                      </p:spPr>
                    </p:pic>
                  </p:oleObj>
                </mc:Fallback>
              </mc:AlternateContent>
            </a:graphicData>
          </a:graphic>
        </p:graphicFrame>
        <p:graphicFrame>
          <p:nvGraphicFramePr>
            <p:cNvPr id="11274" name="Object 10"/>
            <p:cNvGraphicFramePr>
              <a:graphicFrameLocks noChangeAspect="1"/>
            </p:cNvGraphicFramePr>
            <p:nvPr/>
          </p:nvGraphicFramePr>
          <p:xfrm>
            <a:off x="4128" y="1872"/>
            <a:ext cx="837" cy="573"/>
          </p:xfrm>
          <a:graphic>
            <a:graphicData uri="http://schemas.openxmlformats.org/presentationml/2006/ole">
              <mc:AlternateContent xmlns:mc="http://schemas.openxmlformats.org/markup-compatibility/2006">
                <mc:Choice xmlns:v="urn:schemas-microsoft-com:vml" Requires="v">
                  <p:oleObj spid="_x0000_s3082" name="" r:id="rId7" imgW="377190" imgH="256540" progId="Equation.3">
                    <p:embed/>
                  </p:oleObj>
                </mc:Choice>
                <mc:Fallback>
                  <p:oleObj name="" r:id="rId7" imgW="377190" imgH="256540" progId="Equation.3">
                    <p:embed/>
                    <p:pic>
                      <p:nvPicPr>
                        <p:cNvPr id="0" name="图片 3081"/>
                        <p:cNvPicPr/>
                        <p:nvPr/>
                      </p:nvPicPr>
                      <p:blipFill>
                        <a:blip r:embed="rId8">
                          <a:clrChange>
                            <a:clrFrom>
                              <a:srgbClr val="000000"/>
                            </a:clrFrom>
                            <a:clrTo>
                              <a:srgbClr val="000000"/>
                            </a:clrTo>
                          </a:clrChange>
                        </a:blip>
                        <a:stretch>
                          <a:fillRect/>
                        </a:stretch>
                      </p:blipFill>
                      <p:spPr>
                        <a:xfrm>
                          <a:off x="4128" y="1872"/>
                          <a:ext cx="837" cy="573"/>
                        </a:xfrm>
                        <a:prstGeom prst="rect">
                          <a:avLst/>
                        </a:prstGeom>
                        <a:noFill/>
                        <a:ln w="38100">
                          <a:noFill/>
                          <a:miter/>
                        </a:ln>
                      </p:spPr>
                    </p:pic>
                  </p:oleObj>
                </mc:Fallback>
              </mc:AlternateContent>
            </a:graphicData>
          </a:graphic>
        </p:graphicFrame>
        <p:graphicFrame>
          <p:nvGraphicFramePr>
            <p:cNvPr id="11275" name="Object 11"/>
            <p:cNvGraphicFramePr>
              <a:graphicFrameLocks noChangeAspect="1"/>
            </p:cNvGraphicFramePr>
            <p:nvPr/>
          </p:nvGraphicFramePr>
          <p:xfrm>
            <a:off x="1642" y="1883"/>
            <a:ext cx="795" cy="544"/>
          </p:xfrm>
          <a:graphic>
            <a:graphicData uri="http://schemas.openxmlformats.org/presentationml/2006/ole">
              <mc:AlternateContent xmlns:mc="http://schemas.openxmlformats.org/markup-compatibility/2006">
                <mc:Choice xmlns:v="urn:schemas-microsoft-com:vml" Requires="v">
                  <p:oleObj spid="_x0000_s3080" name="" r:id="rId9" imgW="377190" imgH="256540" progId="Equation.3">
                    <p:embed/>
                  </p:oleObj>
                </mc:Choice>
                <mc:Fallback>
                  <p:oleObj name="" r:id="rId9" imgW="377190" imgH="256540" progId="Equation.3">
                    <p:embed/>
                    <p:pic>
                      <p:nvPicPr>
                        <p:cNvPr id="0" name="图片 3079"/>
                        <p:cNvPicPr/>
                        <p:nvPr/>
                      </p:nvPicPr>
                      <p:blipFill>
                        <a:blip r:embed="rId10">
                          <a:clrChange>
                            <a:clrFrom>
                              <a:srgbClr val="000000"/>
                            </a:clrFrom>
                            <a:clrTo>
                              <a:srgbClr val="000000"/>
                            </a:clrTo>
                          </a:clrChange>
                        </a:blip>
                        <a:stretch>
                          <a:fillRect/>
                        </a:stretch>
                      </p:blipFill>
                      <p:spPr>
                        <a:xfrm>
                          <a:off x="1642" y="1883"/>
                          <a:ext cx="795" cy="544"/>
                        </a:xfrm>
                        <a:prstGeom prst="rect">
                          <a:avLst/>
                        </a:prstGeom>
                        <a:noFill/>
                        <a:ln w="38100">
                          <a:noFill/>
                          <a:miter/>
                        </a:ln>
                      </p:spPr>
                    </p:pic>
                  </p:oleObj>
                </mc:Fallback>
              </mc:AlternateContent>
            </a:graphicData>
          </a:graphic>
        </p:graphicFrame>
        <p:sp>
          <p:nvSpPr>
            <p:cNvPr id="11276" name="Rectangle 12"/>
            <p:cNvSpPr/>
            <p:nvPr/>
          </p:nvSpPr>
          <p:spPr>
            <a:xfrm>
              <a:off x="288" y="2064"/>
              <a:ext cx="5136" cy="432"/>
            </a:xfrm>
            <a:prstGeom prst="rect">
              <a:avLst/>
            </a:prstGeom>
            <a:noFill/>
            <a:ln w="9525">
              <a:noFill/>
            </a:ln>
          </p:spPr>
          <p:txBody>
            <a:bodyPr lIns="92075" tIns="46038" rIns="92075" bIns="46038" anchor="t"/>
            <a:p>
              <a:pPr eaLnBrk="0" hangingPunct="0">
                <a:spcBef>
                  <a:spcPct val="60000"/>
                </a:spcBef>
              </a:pPr>
              <a:r>
                <a:rPr lang="en-US" altLang="zh-CN" sz="2400" b="1" u="none" dirty="0">
                  <a:solidFill>
                    <a:schemeClr val="tx1"/>
                  </a:solidFill>
                  <a:latin typeface="宋体" panose="02010600030101010101" pitchFamily="2" charset="-122"/>
                </a:rPr>
                <a:t>  </a:t>
              </a:r>
              <a:r>
                <a:rPr lang="zh-CN" altLang="en-US" sz="3200" b="1" u="none" dirty="0">
                  <a:solidFill>
                    <a:schemeClr val="tx1"/>
                  </a:solidFill>
                  <a:latin typeface="宋体" panose="02010600030101010101" pitchFamily="2" charset="-122"/>
                </a:rPr>
                <a:t>所以 ：        即        或</a:t>
              </a:r>
              <a:endParaRPr lang="zh-CN" altLang="en-US" sz="3200" b="1" u="none" dirty="0">
                <a:solidFill>
                  <a:schemeClr val="tx1"/>
                </a:solidFill>
                <a:latin typeface="宋体" panose="02010600030101010101" pitchFamily="2" charset="-122"/>
              </a:endParaRPr>
            </a:p>
          </p:txBody>
        </p:sp>
      </p:grpSp>
      <p:grpSp>
        <p:nvGrpSpPr>
          <p:cNvPr id="5" name="Group 17"/>
          <p:cNvGrpSpPr/>
          <p:nvPr/>
        </p:nvGrpSpPr>
        <p:grpSpPr>
          <a:xfrm>
            <a:off x="395288" y="3336925"/>
            <a:ext cx="8382000" cy="2971800"/>
            <a:chOff x="249" y="2448"/>
            <a:chExt cx="5280" cy="1872"/>
          </a:xfrm>
        </p:grpSpPr>
        <p:graphicFrame>
          <p:nvGraphicFramePr>
            <p:cNvPr id="11278" name="Object 15"/>
            <p:cNvGraphicFramePr>
              <a:graphicFrameLocks noChangeAspect="1"/>
            </p:cNvGraphicFramePr>
            <p:nvPr/>
          </p:nvGraphicFramePr>
          <p:xfrm>
            <a:off x="921" y="3830"/>
            <a:ext cx="4032" cy="490"/>
          </p:xfrm>
          <a:graphic>
            <a:graphicData uri="http://schemas.openxmlformats.org/presentationml/2006/ole">
              <mc:AlternateContent xmlns:mc="http://schemas.openxmlformats.org/markup-compatibility/2006">
                <mc:Choice xmlns:v="urn:schemas-microsoft-com:vml" Requires="v">
                  <p:oleObj spid="_x0000_s3079" name="" r:id="rId11" imgW="1435735" imgH="256540" progId="Equation.3">
                    <p:embed/>
                  </p:oleObj>
                </mc:Choice>
                <mc:Fallback>
                  <p:oleObj name="" r:id="rId11" imgW="1435735" imgH="256540" progId="Equation.3">
                    <p:embed/>
                    <p:pic>
                      <p:nvPicPr>
                        <p:cNvPr id="0" name="图片 3078"/>
                        <p:cNvPicPr/>
                        <p:nvPr/>
                      </p:nvPicPr>
                      <p:blipFill>
                        <a:blip r:embed="rId12">
                          <a:clrChange>
                            <a:clrFrom>
                              <a:srgbClr val="000000"/>
                            </a:clrFrom>
                            <a:clrTo>
                              <a:srgbClr val="000000"/>
                            </a:clrTo>
                          </a:clrChange>
                        </a:blip>
                        <a:stretch>
                          <a:fillRect/>
                        </a:stretch>
                      </p:blipFill>
                      <p:spPr>
                        <a:xfrm>
                          <a:off x="921" y="3830"/>
                          <a:ext cx="4032" cy="490"/>
                        </a:xfrm>
                        <a:prstGeom prst="rect">
                          <a:avLst/>
                        </a:prstGeom>
                        <a:solidFill>
                          <a:srgbClr val="FFFF99"/>
                        </a:solidFill>
                        <a:ln w="38100">
                          <a:noFill/>
                          <a:miter/>
                        </a:ln>
                      </p:spPr>
                    </p:pic>
                  </p:oleObj>
                </mc:Fallback>
              </mc:AlternateContent>
            </a:graphicData>
          </a:graphic>
        </p:graphicFrame>
        <p:sp>
          <p:nvSpPr>
            <p:cNvPr id="11279" name="Rectangle 16"/>
            <p:cNvSpPr/>
            <p:nvPr/>
          </p:nvSpPr>
          <p:spPr>
            <a:xfrm>
              <a:off x="249" y="2448"/>
              <a:ext cx="5280" cy="1296"/>
            </a:xfrm>
            <a:prstGeom prst="rect">
              <a:avLst/>
            </a:prstGeom>
            <a:solidFill>
              <a:srgbClr val="FFFF99"/>
            </a:solidFill>
            <a:ln w="9525">
              <a:noFill/>
            </a:ln>
          </p:spPr>
          <p:txBody>
            <a:bodyPr lIns="92075" tIns="46038" rIns="92075" bIns="46038" anchor="t"/>
            <a:p>
              <a:pPr>
                <a:lnSpc>
                  <a:spcPct val="115000"/>
                </a:lnSpc>
                <a:spcBef>
                  <a:spcPct val="60000"/>
                </a:spcBef>
                <a:buClr>
                  <a:schemeClr val="accent2"/>
                </a:buClr>
                <a:buSzPct val="75000"/>
                <a:buFont typeface="Wingdings" panose="05000000000000000000" pitchFamily="2" charset="2"/>
                <a:buChar char="q"/>
              </a:pPr>
              <a:r>
                <a:rPr lang="zh-CN" altLang="en-US" sz="3000" b="1" u="none" dirty="0">
                  <a:solidFill>
                    <a:schemeClr val="tx1"/>
                  </a:solidFill>
                  <a:latin typeface="宋体" panose="02010600030101010101" pitchFamily="2" charset="-122"/>
                </a:rPr>
                <a:t>定义：假定</a:t>
              </a:r>
              <a:r>
                <a:rPr lang="en-US" altLang="zh-CN" sz="3000" b="1" u="none" dirty="0">
                  <a:solidFill>
                    <a:schemeClr val="tx1"/>
                  </a:solidFill>
                  <a:latin typeface="宋体" panose="02010600030101010101" pitchFamily="2" charset="-122"/>
                </a:rPr>
                <a:t>G</a:t>
              </a:r>
              <a:r>
                <a:rPr lang="zh-CN" altLang="en-US" sz="3000" b="1" u="none" dirty="0">
                  <a:solidFill>
                    <a:schemeClr val="tx1"/>
                  </a:solidFill>
                  <a:latin typeface="宋体" panose="02010600030101010101" pitchFamily="2" charset="-122"/>
                </a:rPr>
                <a:t>是一个文法，</a:t>
              </a:r>
              <a:r>
                <a:rPr lang="en-US" altLang="zh-CN" sz="3000" b="1" u="none" dirty="0">
                  <a:solidFill>
                    <a:schemeClr val="tx1"/>
                  </a:solidFill>
                  <a:latin typeface="宋体" panose="02010600030101010101" pitchFamily="2" charset="-122"/>
                </a:rPr>
                <a:t>S </a:t>
              </a:r>
              <a:r>
                <a:rPr lang="zh-CN" altLang="en-US" sz="3000" b="1" u="none" dirty="0">
                  <a:solidFill>
                    <a:schemeClr val="tx1"/>
                  </a:solidFill>
                  <a:latin typeface="宋体" panose="02010600030101010101" pitchFamily="2" charset="-122"/>
                </a:rPr>
                <a:t>是它的开始符号。如果         ，则</a:t>
              </a:r>
              <a:r>
                <a:rPr lang="zh-CN" altLang="en-US" sz="3000" b="1" u="none" dirty="0">
                  <a:solidFill>
                    <a:schemeClr val="tx1"/>
                  </a:solidFill>
                  <a:latin typeface="宋体" panose="02010600030101010101" pitchFamily="2" charset="-122"/>
                  <a:sym typeface="Symbol" panose="05050102010706020507" pitchFamily="18" charset="2"/>
                </a:rPr>
                <a:t></a:t>
              </a:r>
              <a:r>
                <a:rPr lang="zh-CN" altLang="en-US" sz="3000" b="1" u="none" dirty="0">
                  <a:solidFill>
                    <a:schemeClr val="tx1"/>
                  </a:solidFill>
                  <a:latin typeface="宋体" panose="02010600030101010101" pitchFamily="2" charset="-122"/>
                </a:rPr>
                <a:t>称是一个</a:t>
              </a:r>
              <a:r>
                <a:rPr lang="zh-CN" altLang="en-US" sz="3000" b="1" u="none" dirty="0">
                  <a:solidFill>
                    <a:srgbClr val="FF0066"/>
                  </a:solidFill>
                  <a:latin typeface="Times New Roman" panose="02020603050405020304" pitchFamily="18" charset="0"/>
                </a:rPr>
                <a:t>句型</a:t>
              </a:r>
              <a:r>
                <a:rPr lang="zh-CN" altLang="en-US" sz="3000" b="1" u="none" dirty="0">
                  <a:solidFill>
                    <a:schemeClr val="tx1"/>
                  </a:solidFill>
                  <a:latin typeface="宋体" panose="02010600030101010101" pitchFamily="2" charset="-122"/>
                </a:rPr>
                <a:t>。仅含终结符号的句型是一个</a:t>
              </a:r>
              <a:r>
                <a:rPr lang="zh-CN" altLang="en-US" sz="3000" b="1" u="none" dirty="0">
                  <a:solidFill>
                    <a:srgbClr val="FF0066"/>
                  </a:solidFill>
                  <a:latin typeface="Times New Roman" panose="02020603050405020304" pitchFamily="18" charset="0"/>
                </a:rPr>
                <a:t>句子</a:t>
              </a:r>
              <a:r>
                <a:rPr lang="zh-CN" altLang="en-US" sz="3000" b="1" u="none" dirty="0">
                  <a:solidFill>
                    <a:schemeClr val="tx1"/>
                  </a:solidFill>
                  <a:latin typeface="宋体" panose="02010600030101010101" pitchFamily="2" charset="-122"/>
                </a:rPr>
                <a:t>。文法</a:t>
              </a:r>
              <a:r>
                <a:rPr lang="en-US" altLang="zh-CN" sz="3000" b="1" u="none" dirty="0">
                  <a:solidFill>
                    <a:schemeClr val="tx1"/>
                  </a:solidFill>
                  <a:latin typeface="宋体" panose="02010600030101010101" pitchFamily="2" charset="-122"/>
                </a:rPr>
                <a:t>G</a:t>
              </a:r>
              <a:r>
                <a:rPr lang="zh-CN" altLang="en-US" sz="3000" b="1" u="none" dirty="0">
                  <a:solidFill>
                    <a:schemeClr val="tx1"/>
                  </a:solidFill>
                  <a:latin typeface="宋体" panose="02010600030101010101" pitchFamily="2" charset="-122"/>
                </a:rPr>
                <a:t>所产生的句子的全体是一个</a:t>
              </a:r>
              <a:r>
                <a:rPr lang="zh-CN" altLang="en-US" sz="3000" b="1" u="none" dirty="0">
                  <a:solidFill>
                    <a:srgbClr val="FF0066"/>
                  </a:solidFill>
                  <a:latin typeface="Times New Roman" panose="02020603050405020304" pitchFamily="18" charset="0"/>
                </a:rPr>
                <a:t>语言</a:t>
              </a:r>
              <a:r>
                <a:rPr lang="zh-CN" altLang="en-US" sz="3000" b="1" u="none" dirty="0">
                  <a:solidFill>
                    <a:schemeClr val="tx1"/>
                  </a:solidFill>
                  <a:latin typeface="宋体" panose="02010600030101010101" pitchFamily="2" charset="-122"/>
                </a:rPr>
                <a:t>，将它记为 </a:t>
              </a:r>
              <a:r>
                <a:rPr lang="en-US" altLang="zh-CN" sz="3000" b="1" u="none" dirty="0">
                  <a:solidFill>
                    <a:schemeClr val="tx1"/>
                  </a:solidFill>
                  <a:latin typeface="宋体" panose="02010600030101010101" pitchFamily="2" charset="-122"/>
                </a:rPr>
                <a:t>L(G)</a:t>
              </a:r>
              <a:r>
                <a:rPr lang="zh-CN" altLang="en-US" sz="3000" b="1" u="none" dirty="0">
                  <a:solidFill>
                    <a:schemeClr val="tx1"/>
                  </a:solidFill>
                  <a:latin typeface="宋体" panose="02010600030101010101" pitchFamily="2" charset="-122"/>
                </a:rPr>
                <a:t>。</a:t>
              </a:r>
              <a:endParaRPr lang="zh-CN" altLang="en-US" sz="3000" b="1" u="none" dirty="0">
                <a:solidFill>
                  <a:schemeClr val="tx1"/>
                </a:solidFill>
                <a:latin typeface="宋体" panose="02010600030101010101" pitchFamily="2" charset="-122"/>
              </a:endParaRPr>
            </a:p>
          </p:txBody>
        </p:sp>
        <p:graphicFrame>
          <p:nvGraphicFramePr>
            <p:cNvPr id="11280" name="Object 14"/>
            <p:cNvGraphicFramePr>
              <a:graphicFrameLocks noChangeAspect="1"/>
            </p:cNvGraphicFramePr>
            <p:nvPr/>
          </p:nvGraphicFramePr>
          <p:xfrm>
            <a:off x="873" y="2740"/>
            <a:ext cx="1200" cy="479"/>
          </p:xfrm>
          <a:graphic>
            <a:graphicData uri="http://schemas.openxmlformats.org/presentationml/2006/ole">
              <mc:AlternateContent xmlns:mc="http://schemas.openxmlformats.org/markup-compatibility/2006">
                <mc:Choice xmlns:v="urn:schemas-microsoft-com:vml" Requires="v">
                  <p:oleObj spid="_x0000_s3081" name="" r:id="rId13" imgW="353060" imgH="232410" progId="Equation.3">
                    <p:embed/>
                  </p:oleObj>
                </mc:Choice>
                <mc:Fallback>
                  <p:oleObj name="" r:id="rId13" imgW="353060" imgH="232410" progId="Equation.3">
                    <p:embed/>
                    <p:pic>
                      <p:nvPicPr>
                        <p:cNvPr id="0" name="图片 3080"/>
                        <p:cNvPicPr/>
                        <p:nvPr/>
                      </p:nvPicPr>
                      <p:blipFill>
                        <a:blip r:embed="rId14">
                          <a:clrChange>
                            <a:clrFrom>
                              <a:srgbClr val="000000"/>
                            </a:clrFrom>
                            <a:clrTo>
                              <a:srgbClr val="000000"/>
                            </a:clrTo>
                          </a:clrChange>
                        </a:blip>
                        <a:stretch>
                          <a:fillRect/>
                        </a:stretch>
                      </p:blipFill>
                      <p:spPr>
                        <a:xfrm>
                          <a:off x="873" y="2740"/>
                          <a:ext cx="1200" cy="479"/>
                        </a:xfrm>
                        <a:prstGeom prst="rect">
                          <a:avLst/>
                        </a:prstGeom>
                        <a:solidFill>
                          <a:srgbClr val="FFFF99"/>
                        </a:solidFill>
                        <a:ln w="38100">
                          <a:noFill/>
                          <a:miter/>
                        </a:ln>
                      </p:spPr>
                    </p:pic>
                  </p:oleObj>
                </mc:Fallback>
              </mc:AlternateContent>
            </a:graphicData>
          </a:graphic>
        </p:graphicFrame>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up)">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12290" name="Rectangle 2"/>
          <p:cNvSpPr>
            <a:spLocks noGrp="1"/>
          </p:cNvSpPr>
          <p:nvPr>
            <p:ph type="title"/>
          </p:nvPr>
        </p:nvSpPr>
        <p:spPr>
          <a:xfrm>
            <a:off x="609600" y="533400"/>
            <a:ext cx="8153400" cy="685800"/>
          </a:xfrm>
          <a:ln/>
        </p:spPr>
        <p:txBody>
          <a:bodyPr vert="horz" wrap="square" lIns="91440" tIns="45720" rIns="91440" bIns="45720" anchor="ctr"/>
          <a:p>
            <a:pPr eaLnBrk="1" hangingPunct="1"/>
            <a:r>
              <a:rPr lang="en-US" altLang="zh-CN" b="1" dirty="0">
                <a:latin typeface="Times New Roman" panose="02020603050405020304" pitchFamily="18" charset="0"/>
              </a:rPr>
              <a:t>4.1 </a:t>
            </a:r>
            <a:r>
              <a:rPr lang="zh-CN" altLang="en-US" b="1" dirty="0">
                <a:latin typeface="Times New Roman" panose="02020603050405020304" pitchFamily="18" charset="0"/>
              </a:rPr>
              <a:t>语法分析器的功能</a:t>
            </a:r>
            <a:endParaRPr lang="zh-CN" altLang="en-US" b="1" dirty="0">
              <a:latin typeface="Times New Roman" panose="02020603050405020304" pitchFamily="18" charset="0"/>
            </a:endParaRPr>
          </a:p>
        </p:txBody>
      </p:sp>
      <p:sp>
        <p:nvSpPr>
          <p:cNvPr id="32771" name="Rectangle 3"/>
          <p:cNvSpPr>
            <a:spLocks noGrp="1"/>
          </p:cNvSpPr>
          <p:nvPr>
            <p:ph type="body"/>
          </p:nvPr>
        </p:nvSpPr>
        <p:spPr>
          <a:xfrm>
            <a:off x="620713" y="1927225"/>
            <a:ext cx="7751762" cy="3082925"/>
          </a:xfrm>
          <a:ln/>
        </p:spPr>
        <p:txBody>
          <a:bodyPr vert="horz" wrap="square" lIns="91440" tIns="45720" rIns="91440" bIns="45720" anchor="t"/>
          <a:p>
            <a:pPr eaLnBrk="1" hangingPunct="1"/>
            <a:r>
              <a:rPr lang="zh-CN" altLang="en-US" b="1" dirty="0">
                <a:latin typeface="宋体" panose="02010600030101010101" pitchFamily="2" charset="-122"/>
              </a:rPr>
              <a:t>语法分析的任务是分析一个文法的句子结构。</a:t>
            </a:r>
            <a:endParaRPr lang="zh-CN" altLang="en-US" b="1" dirty="0">
              <a:latin typeface="宋体" panose="02010600030101010101" pitchFamily="2" charset="-122"/>
            </a:endParaRPr>
          </a:p>
          <a:p>
            <a:pPr eaLnBrk="1" hangingPunct="1"/>
            <a:r>
              <a:rPr lang="zh-CN" altLang="en-US" b="1" dirty="0">
                <a:latin typeface="宋体" panose="02010600030101010101" pitchFamily="2" charset="-122"/>
              </a:rPr>
              <a:t>语法分析器的功能：按照文法的产生式</a:t>
            </a:r>
            <a:r>
              <a:rPr lang="en-US" altLang="zh-CN" b="1" dirty="0">
                <a:latin typeface="宋体" panose="02010600030101010101" pitchFamily="2" charset="-122"/>
              </a:rPr>
              <a:t>(</a:t>
            </a:r>
            <a:r>
              <a:rPr lang="zh-CN" altLang="en-US" b="1" dirty="0">
                <a:latin typeface="宋体" panose="02010600030101010101" pitchFamily="2" charset="-122"/>
              </a:rPr>
              <a:t>语言的语法规则</a:t>
            </a:r>
            <a:r>
              <a:rPr lang="en-US" altLang="zh-CN" b="1" dirty="0">
                <a:latin typeface="宋体" panose="02010600030101010101" pitchFamily="2" charset="-122"/>
              </a:rPr>
              <a:t>)</a:t>
            </a:r>
            <a:r>
              <a:rPr lang="zh-CN" altLang="en-US" b="1" dirty="0">
                <a:latin typeface="宋体" panose="02010600030101010101" pitchFamily="2" charset="-122"/>
              </a:rPr>
              <a:t>，识别输入符号串是否为一个句子</a:t>
            </a:r>
            <a:r>
              <a:rPr lang="en-US" altLang="zh-CN" b="1" dirty="0">
                <a:latin typeface="宋体" panose="02010600030101010101" pitchFamily="2" charset="-122"/>
              </a:rPr>
              <a:t>(</a:t>
            </a:r>
            <a:r>
              <a:rPr lang="zh-CN" altLang="en-US" b="1" dirty="0">
                <a:latin typeface="宋体" panose="02010600030101010101" pitchFamily="2" charset="-122"/>
              </a:rPr>
              <a:t>合式程序</a:t>
            </a:r>
            <a:r>
              <a:rPr lang="en-US" altLang="zh-CN" b="1" dirty="0">
                <a:latin typeface="宋体" panose="02010600030101010101" pitchFamily="2" charset="-122"/>
              </a:rPr>
              <a:t>)</a:t>
            </a:r>
            <a:r>
              <a:rPr lang="zh-CN" altLang="en-US" b="1" dirty="0">
                <a:latin typeface="宋体" panose="02010600030101010101" pitchFamily="2" charset="-122"/>
              </a:rPr>
              <a:t>。</a:t>
            </a:r>
            <a:endParaRPr lang="zh-CN" altLang="en-US" b="1" dirty="0">
              <a:latin typeface="宋体" panose="02010600030101010101" pitchFamily="2" charset="-122"/>
            </a:endParaRPr>
          </a:p>
          <a:p>
            <a:pPr lvl="1" indent="-436245" eaLnBrk="1" hangingPunct="1"/>
            <a:r>
              <a:rPr lang="zh-CN" altLang="en-US" b="1" dirty="0">
                <a:latin typeface="宋体" panose="02010600030101010101" pitchFamily="2" charset="-122"/>
              </a:rPr>
              <a:t>注：语法分析是编译程序的核心部分</a:t>
            </a:r>
            <a:endParaRPr lang="zh-CN" altLang="en-US" b="1" dirty="0">
              <a:latin typeface="宋体" panose="02010600030101010101" pitchFamily="2"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2771">
                                            <p:txEl>
                                              <p:charRg st="0" end="21"/>
                                            </p:txEl>
                                          </p:spTgt>
                                        </p:tgtEl>
                                        <p:attrNameLst>
                                          <p:attrName>style.visibility</p:attrName>
                                        </p:attrNameLst>
                                      </p:cBhvr>
                                      <p:to>
                                        <p:strVal val="visible"/>
                                      </p:to>
                                    </p:set>
                                    <p:animEffect transition="in" filter="wipe(left)">
                                      <p:cBhvr>
                                        <p:cTn id="7" dur="500"/>
                                        <p:tgtEl>
                                          <p:spTgt spid="32771">
                                            <p:txEl>
                                              <p:charRg st="0" end="2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2771">
                                            <p:txEl>
                                              <p:charRg st="21" end="70"/>
                                            </p:txEl>
                                          </p:spTgt>
                                        </p:tgtEl>
                                        <p:attrNameLst>
                                          <p:attrName>style.visibility</p:attrName>
                                        </p:attrNameLst>
                                      </p:cBhvr>
                                      <p:to>
                                        <p:strVal val="visible"/>
                                      </p:to>
                                    </p:set>
                                    <p:animEffect transition="in" filter="wipe(left)">
                                      <p:cBhvr>
                                        <p:cTn id="12" dur="500"/>
                                        <p:tgtEl>
                                          <p:spTgt spid="32771">
                                            <p:txEl>
                                              <p:charRg st="21" end="70"/>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32771">
                                            <p:txEl>
                                              <p:charRg st="70" end="87"/>
                                            </p:txEl>
                                          </p:spTgt>
                                        </p:tgtEl>
                                        <p:attrNameLst>
                                          <p:attrName>style.visibility</p:attrName>
                                        </p:attrNameLst>
                                      </p:cBhvr>
                                      <p:to>
                                        <p:strVal val="visible"/>
                                      </p:to>
                                    </p:set>
                                    <p:animEffect transition="in" filter="wipe(left)">
                                      <p:cBhvr>
                                        <p:cTn id="15" dur="500"/>
                                        <p:tgtEl>
                                          <p:spTgt spid="32771">
                                            <p:txEl>
                                              <p:charRg st="70" end="8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grpSp>
        <p:nvGrpSpPr>
          <p:cNvPr id="2" name="Group 6"/>
          <p:cNvGrpSpPr/>
          <p:nvPr/>
        </p:nvGrpSpPr>
        <p:grpSpPr>
          <a:xfrm>
            <a:off x="280988" y="2074863"/>
            <a:ext cx="1143000" cy="685800"/>
            <a:chOff x="384" y="1392"/>
            <a:chExt cx="960" cy="480"/>
          </a:xfrm>
        </p:grpSpPr>
        <p:sp>
          <p:nvSpPr>
            <p:cNvPr id="13315" name="Rectangle 7"/>
            <p:cNvSpPr/>
            <p:nvPr/>
          </p:nvSpPr>
          <p:spPr>
            <a:xfrm>
              <a:off x="384" y="1392"/>
              <a:ext cx="960" cy="432"/>
            </a:xfrm>
            <a:prstGeom prst="rect">
              <a:avLst/>
            </a:prstGeom>
            <a:noFill/>
            <a:ln w="28575">
              <a:noFill/>
            </a:ln>
          </p:spPr>
          <p:txBody>
            <a:bodyPr wrap="none" lIns="90000" tIns="46800" rIns="90000" bIns="46800" anchor="ctr"/>
            <a:p>
              <a:pPr algn="ctr"/>
              <a:r>
                <a:rPr lang="zh-CN" altLang="en-US" sz="2800" b="1" u="none" dirty="0">
                  <a:solidFill>
                    <a:schemeClr val="tx1"/>
                  </a:solidFill>
                  <a:latin typeface="Times New Roman" panose="02020603050405020304" pitchFamily="18" charset="0"/>
                </a:rPr>
                <a:t>源程序</a:t>
              </a:r>
              <a:endParaRPr lang="zh-CN" altLang="en-US" sz="2800" b="1" u="none" dirty="0">
                <a:solidFill>
                  <a:schemeClr val="tx1"/>
                </a:solidFill>
                <a:latin typeface="Times New Roman" panose="02020603050405020304" pitchFamily="18" charset="0"/>
              </a:endParaRPr>
            </a:p>
          </p:txBody>
        </p:sp>
        <p:sp>
          <p:nvSpPr>
            <p:cNvPr id="13316" name="Line 8"/>
            <p:cNvSpPr/>
            <p:nvPr/>
          </p:nvSpPr>
          <p:spPr>
            <a:xfrm>
              <a:off x="480" y="1872"/>
              <a:ext cx="864" cy="0"/>
            </a:xfrm>
            <a:prstGeom prst="line">
              <a:avLst/>
            </a:prstGeom>
            <a:ln w="28575" cap="sq" cmpd="sng">
              <a:solidFill>
                <a:schemeClr val="tx1"/>
              </a:solidFill>
              <a:prstDash val="solid"/>
              <a:round/>
              <a:headEnd type="none" w="med" len="med"/>
              <a:tailEnd type="stealth" w="lg" len="lg"/>
            </a:ln>
          </p:spPr>
        </p:sp>
      </p:grpSp>
      <p:grpSp>
        <p:nvGrpSpPr>
          <p:cNvPr id="3" name="Group 9"/>
          <p:cNvGrpSpPr/>
          <p:nvPr/>
        </p:nvGrpSpPr>
        <p:grpSpPr>
          <a:xfrm>
            <a:off x="2643188" y="1617663"/>
            <a:ext cx="1905000" cy="762000"/>
            <a:chOff x="2256" y="1152"/>
            <a:chExt cx="1488" cy="480"/>
          </a:xfrm>
        </p:grpSpPr>
        <p:sp>
          <p:nvSpPr>
            <p:cNvPr id="13318" name="Rectangle 10"/>
            <p:cNvSpPr/>
            <p:nvPr/>
          </p:nvSpPr>
          <p:spPr>
            <a:xfrm>
              <a:off x="2496" y="1152"/>
              <a:ext cx="960" cy="432"/>
            </a:xfrm>
            <a:prstGeom prst="rect">
              <a:avLst/>
            </a:prstGeom>
            <a:noFill/>
            <a:ln w="28575">
              <a:noFill/>
            </a:ln>
          </p:spPr>
          <p:txBody>
            <a:bodyPr wrap="none" lIns="90000" tIns="46800" rIns="90000" bIns="46800" anchor="ctr"/>
            <a:p>
              <a:pPr algn="ctr"/>
              <a:r>
                <a:rPr lang="zh-CN" altLang="en-US" sz="2800" b="1" u="none" dirty="0">
                  <a:solidFill>
                    <a:schemeClr val="tx1"/>
                  </a:solidFill>
                  <a:latin typeface="Times New Roman" panose="02020603050405020304" pitchFamily="18" charset="0"/>
                </a:rPr>
                <a:t>单词符号</a:t>
              </a:r>
              <a:endParaRPr lang="zh-CN" altLang="en-US" sz="2800" b="1" u="none" dirty="0">
                <a:solidFill>
                  <a:schemeClr val="tx1"/>
                </a:solidFill>
                <a:latin typeface="Times New Roman" panose="02020603050405020304" pitchFamily="18" charset="0"/>
              </a:endParaRPr>
            </a:p>
          </p:txBody>
        </p:sp>
        <p:sp>
          <p:nvSpPr>
            <p:cNvPr id="13319" name="Line 11"/>
            <p:cNvSpPr/>
            <p:nvPr/>
          </p:nvSpPr>
          <p:spPr>
            <a:xfrm>
              <a:off x="2256" y="1632"/>
              <a:ext cx="1488" cy="0"/>
            </a:xfrm>
            <a:prstGeom prst="line">
              <a:avLst/>
            </a:prstGeom>
            <a:ln w="28575" cap="sq" cmpd="sng">
              <a:solidFill>
                <a:schemeClr val="tx1"/>
              </a:solidFill>
              <a:prstDash val="solid"/>
              <a:round/>
              <a:headEnd type="none" w="med" len="med"/>
              <a:tailEnd type="stealth" w="lg" len="lg"/>
            </a:ln>
          </p:spPr>
        </p:sp>
      </p:grpSp>
      <p:grpSp>
        <p:nvGrpSpPr>
          <p:cNvPr id="4" name="Group 12"/>
          <p:cNvGrpSpPr/>
          <p:nvPr/>
        </p:nvGrpSpPr>
        <p:grpSpPr>
          <a:xfrm>
            <a:off x="2643188" y="2760663"/>
            <a:ext cx="1905000" cy="685800"/>
            <a:chOff x="2256" y="1968"/>
            <a:chExt cx="1488" cy="432"/>
          </a:xfrm>
        </p:grpSpPr>
        <p:sp>
          <p:nvSpPr>
            <p:cNvPr id="13321" name="Rectangle 13"/>
            <p:cNvSpPr/>
            <p:nvPr/>
          </p:nvSpPr>
          <p:spPr>
            <a:xfrm>
              <a:off x="2304" y="1968"/>
              <a:ext cx="1440" cy="432"/>
            </a:xfrm>
            <a:prstGeom prst="rect">
              <a:avLst/>
            </a:prstGeom>
            <a:noFill/>
            <a:ln w="28575">
              <a:noFill/>
            </a:ln>
          </p:spPr>
          <p:txBody>
            <a:bodyPr wrap="none" lIns="90000" tIns="46800" rIns="90000" bIns="46800" anchor="ctr"/>
            <a:p>
              <a:pPr algn="ctr"/>
              <a:r>
                <a:rPr lang="zh-CN" altLang="en-US" sz="2800" b="1" u="none" dirty="0">
                  <a:solidFill>
                    <a:schemeClr val="tx1"/>
                  </a:solidFill>
                  <a:latin typeface="Times New Roman" panose="02020603050405020304" pitchFamily="18" charset="0"/>
                </a:rPr>
                <a:t>取下一单词</a:t>
              </a:r>
              <a:endParaRPr lang="zh-CN" altLang="en-US" sz="2800" b="1" u="none" dirty="0">
                <a:solidFill>
                  <a:schemeClr val="tx1"/>
                </a:solidFill>
                <a:latin typeface="Times New Roman" panose="02020603050405020304" pitchFamily="18" charset="0"/>
              </a:endParaRPr>
            </a:p>
          </p:txBody>
        </p:sp>
        <p:sp>
          <p:nvSpPr>
            <p:cNvPr id="13322" name="Line 14"/>
            <p:cNvSpPr/>
            <p:nvPr/>
          </p:nvSpPr>
          <p:spPr>
            <a:xfrm flipH="1">
              <a:off x="2256" y="1968"/>
              <a:ext cx="1488" cy="0"/>
            </a:xfrm>
            <a:prstGeom prst="line">
              <a:avLst/>
            </a:prstGeom>
            <a:ln w="28575" cap="sq" cmpd="sng">
              <a:solidFill>
                <a:schemeClr val="tx1"/>
              </a:solidFill>
              <a:prstDash val="solid"/>
              <a:round/>
              <a:headEnd type="none" w="med" len="med"/>
              <a:tailEnd type="stealth" w="lg" len="lg"/>
            </a:ln>
          </p:spPr>
        </p:sp>
      </p:grpSp>
      <p:sp>
        <p:nvSpPr>
          <p:cNvPr id="180244" name="Rectangle 20"/>
          <p:cNvSpPr/>
          <p:nvPr/>
        </p:nvSpPr>
        <p:spPr>
          <a:xfrm>
            <a:off x="7748588" y="3979863"/>
            <a:ext cx="838200" cy="685800"/>
          </a:xfrm>
          <a:prstGeom prst="rect">
            <a:avLst/>
          </a:prstGeom>
          <a:noFill/>
          <a:ln w="12700">
            <a:noFill/>
          </a:ln>
        </p:spPr>
        <p:txBody>
          <a:bodyPr wrap="none" lIns="90000" tIns="46800" rIns="90000" bIns="46800" anchor="ctr"/>
          <a:p>
            <a:pPr algn="ctr"/>
            <a:r>
              <a:rPr lang="en-US" altLang="zh-CN" sz="2800" b="1" u="none" dirty="0">
                <a:solidFill>
                  <a:schemeClr val="tx1"/>
                </a:solidFill>
                <a:latin typeface="Times New Roman" panose="02020603050405020304" pitchFamily="18" charset="0"/>
              </a:rPr>
              <a:t>...</a:t>
            </a:r>
            <a:endParaRPr lang="en-US" altLang="zh-CN" sz="2800" b="1" u="none" dirty="0">
              <a:solidFill>
                <a:schemeClr val="tx1"/>
              </a:solidFill>
              <a:latin typeface="Times New Roman" panose="02020603050405020304" pitchFamily="18" charset="0"/>
            </a:endParaRPr>
          </a:p>
        </p:txBody>
      </p:sp>
      <p:grpSp>
        <p:nvGrpSpPr>
          <p:cNvPr id="5" name="Group 26"/>
          <p:cNvGrpSpPr/>
          <p:nvPr/>
        </p:nvGrpSpPr>
        <p:grpSpPr>
          <a:xfrm>
            <a:off x="5767388" y="1770063"/>
            <a:ext cx="1236662" cy="990600"/>
            <a:chOff x="3633" y="1115"/>
            <a:chExt cx="779" cy="624"/>
          </a:xfrm>
        </p:grpSpPr>
        <p:sp>
          <p:nvSpPr>
            <p:cNvPr id="13325" name="Line 19"/>
            <p:cNvSpPr/>
            <p:nvPr/>
          </p:nvSpPr>
          <p:spPr>
            <a:xfrm>
              <a:off x="3633" y="1739"/>
              <a:ext cx="768" cy="0"/>
            </a:xfrm>
            <a:prstGeom prst="line">
              <a:avLst/>
            </a:prstGeom>
            <a:ln w="28575" cap="sq" cmpd="sng">
              <a:solidFill>
                <a:schemeClr val="tx1"/>
              </a:solidFill>
              <a:prstDash val="solid"/>
              <a:round/>
              <a:headEnd type="none" w="med" len="med"/>
              <a:tailEnd type="stealth" w="lg" len="lg"/>
            </a:ln>
          </p:spPr>
        </p:sp>
        <p:sp>
          <p:nvSpPr>
            <p:cNvPr id="13326" name="Text Box 21"/>
            <p:cNvSpPr txBox="1"/>
            <p:nvPr/>
          </p:nvSpPr>
          <p:spPr>
            <a:xfrm>
              <a:off x="3633" y="1115"/>
              <a:ext cx="779" cy="596"/>
            </a:xfrm>
            <a:prstGeom prst="rect">
              <a:avLst/>
            </a:prstGeom>
            <a:noFill/>
            <a:ln w="28575">
              <a:noFill/>
            </a:ln>
          </p:spPr>
          <p:txBody>
            <a:bodyPr wrap="none" anchor="t">
              <a:spAutoFit/>
            </a:bodyPr>
            <a:p>
              <a:pPr algn="ctr"/>
              <a:r>
                <a:rPr lang="zh-CN" altLang="en-US" sz="2800" b="1" u="none" dirty="0">
                  <a:solidFill>
                    <a:schemeClr val="tx1"/>
                  </a:solidFill>
                  <a:latin typeface="Times New Roman" panose="02020603050405020304" pitchFamily="18" charset="0"/>
                </a:rPr>
                <a:t>语法分</a:t>
              </a:r>
              <a:endParaRPr lang="zh-CN" altLang="en-US" sz="2800" b="1" u="none" dirty="0">
                <a:solidFill>
                  <a:schemeClr val="tx1"/>
                </a:solidFill>
                <a:latin typeface="Times New Roman" panose="02020603050405020304" pitchFamily="18" charset="0"/>
              </a:endParaRPr>
            </a:p>
            <a:p>
              <a:pPr algn="ctr"/>
              <a:r>
                <a:rPr lang="zh-CN" altLang="en-US" sz="2800" b="1" u="none" dirty="0">
                  <a:solidFill>
                    <a:schemeClr val="tx1"/>
                  </a:solidFill>
                  <a:latin typeface="Times New Roman" panose="02020603050405020304" pitchFamily="18" charset="0"/>
                </a:rPr>
                <a:t>析树</a:t>
              </a:r>
              <a:endParaRPr lang="zh-CN" altLang="en-US" sz="2800" b="1" u="none" dirty="0">
                <a:solidFill>
                  <a:schemeClr val="tx1"/>
                </a:solidFill>
                <a:latin typeface="Times New Roman" panose="02020603050405020304" pitchFamily="18" charset="0"/>
              </a:endParaRPr>
            </a:p>
          </p:txBody>
        </p:sp>
      </p:grpSp>
      <p:grpSp>
        <p:nvGrpSpPr>
          <p:cNvPr id="6" name="Group 30"/>
          <p:cNvGrpSpPr/>
          <p:nvPr/>
        </p:nvGrpSpPr>
        <p:grpSpPr>
          <a:xfrm>
            <a:off x="1447800" y="2133600"/>
            <a:ext cx="7086600" cy="2957513"/>
            <a:chOff x="897" y="1355"/>
            <a:chExt cx="4464" cy="1863"/>
          </a:xfrm>
        </p:grpSpPr>
        <p:sp>
          <p:nvSpPr>
            <p:cNvPr id="13328" name="Rectangle 3"/>
            <p:cNvSpPr/>
            <p:nvPr/>
          </p:nvSpPr>
          <p:spPr>
            <a:xfrm>
              <a:off x="897" y="1355"/>
              <a:ext cx="753" cy="599"/>
            </a:xfrm>
            <a:prstGeom prst="rect">
              <a:avLst/>
            </a:prstGeom>
            <a:noFill/>
            <a:ln w="28575" cap="sq" cmpd="sng">
              <a:solidFill>
                <a:srgbClr val="008000"/>
              </a:solidFill>
              <a:prstDash val="solid"/>
              <a:miter/>
              <a:headEnd type="none" w="sm" len="sm"/>
              <a:tailEnd type="none" w="sm" len="sm"/>
            </a:ln>
          </p:spPr>
          <p:txBody>
            <a:bodyPr wrap="none" lIns="90000" tIns="46800" rIns="90000" bIns="46800" anchor="ctr"/>
            <a:p>
              <a:pPr algn="ctr"/>
              <a:r>
                <a:rPr lang="zh-CN" altLang="en-US" sz="2800" b="1" u="none" dirty="0">
                  <a:solidFill>
                    <a:schemeClr val="tx1"/>
                  </a:solidFill>
                  <a:latin typeface="Times New Roman" panose="02020603050405020304" pitchFamily="18" charset="0"/>
                </a:rPr>
                <a:t>词法分</a:t>
              </a:r>
              <a:endParaRPr lang="zh-CN" altLang="en-US" sz="2800" b="1" u="none" dirty="0">
                <a:solidFill>
                  <a:schemeClr val="tx1"/>
                </a:solidFill>
                <a:latin typeface="Times New Roman" panose="02020603050405020304" pitchFamily="18" charset="0"/>
              </a:endParaRPr>
            </a:p>
            <a:p>
              <a:pPr algn="ctr"/>
              <a:r>
                <a:rPr lang="zh-CN" altLang="en-US" sz="2800" b="1" u="none" dirty="0">
                  <a:solidFill>
                    <a:schemeClr val="tx1"/>
                  </a:solidFill>
                  <a:latin typeface="Times New Roman" panose="02020603050405020304" pitchFamily="18" charset="0"/>
                </a:rPr>
                <a:t>析器</a:t>
              </a:r>
              <a:endParaRPr lang="zh-CN" altLang="en-US" sz="2800" b="1" u="none" dirty="0">
                <a:solidFill>
                  <a:schemeClr val="tx1"/>
                </a:solidFill>
                <a:latin typeface="Times New Roman" panose="02020603050405020304" pitchFamily="18" charset="0"/>
              </a:endParaRPr>
            </a:p>
          </p:txBody>
        </p:sp>
        <p:sp>
          <p:nvSpPr>
            <p:cNvPr id="13329" name="Rectangle 4"/>
            <p:cNvSpPr/>
            <p:nvPr/>
          </p:nvSpPr>
          <p:spPr>
            <a:xfrm>
              <a:off x="2880" y="1392"/>
              <a:ext cx="753" cy="600"/>
            </a:xfrm>
            <a:prstGeom prst="rect">
              <a:avLst/>
            </a:prstGeom>
            <a:noFill/>
            <a:ln w="28575" cap="sq" cmpd="sng">
              <a:solidFill>
                <a:srgbClr val="FF0000"/>
              </a:solidFill>
              <a:prstDash val="solid"/>
              <a:miter/>
              <a:headEnd type="none" w="sm" len="sm"/>
              <a:tailEnd type="none" w="sm" len="sm"/>
            </a:ln>
          </p:spPr>
          <p:txBody>
            <a:bodyPr wrap="none" lIns="90000" tIns="46800" rIns="90000" bIns="46800" anchor="ctr"/>
            <a:p>
              <a:pPr algn="ctr"/>
              <a:r>
                <a:rPr lang="zh-CN" altLang="en-US" sz="2800" b="1" u="none" dirty="0">
                  <a:solidFill>
                    <a:schemeClr val="tx1"/>
                  </a:solidFill>
                  <a:latin typeface="Times New Roman" panose="02020603050405020304" pitchFamily="18" charset="0"/>
                </a:rPr>
                <a:t>语法分</a:t>
              </a:r>
              <a:endParaRPr lang="zh-CN" altLang="en-US" sz="2800" b="1" u="none" dirty="0">
                <a:solidFill>
                  <a:schemeClr val="tx1"/>
                </a:solidFill>
                <a:latin typeface="Times New Roman" panose="02020603050405020304" pitchFamily="18" charset="0"/>
              </a:endParaRPr>
            </a:p>
            <a:p>
              <a:pPr algn="ctr"/>
              <a:r>
                <a:rPr lang="zh-CN" altLang="en-US" sz="2800" b="1" u="none" dirty="0">
                  <a:solidFill>
                    <a:schemeClr val="tx1"/>
                  </a:solidFill>
                  <a:latin typeface="Times New Roman" panose="02020603050405020304" pitchFamily="18" charset="0"/>
                </a:rPr>
                <a:t>析器</a:t>
              </a:r>
              <a:endParaRPr lang="zh-CN" altLang="en-US" sz="2800" b="1" u="none" dirty="0">
                <a:solidFill>
                  <a:schemeClr val="tx1"/>
                </a:solidFill>
                <a:latin typeface="Times New Roman" panose="02020603050405020304" pitchFamily="18" charset="0"/>
              </a:endParaRPr>
            </a:p>
          </p:txBody>
        </p:sp>
        <p:sp>
          <p:nvSpPr>
            <p:cNvPr id="13330" name="Rectangle 5"/>
            <p:cNvSpPr/>
            <p:nvPr/>
          </p:nvSpPr>
          <p:spPr>
            <a:xfrm>
              <a:off x="2433" y="2843"/>
              <a:ext cx="1167" cy="375"/>
            </a:xfrm>
            <a:prstGeom prst="rect">
              <a:avLst/>
            </a:prstGeom>
            <a:noFill/>
            <a:ln w="28575" cap="sq" cmpd="sng">
              <a:solidFill>
                <a:srgbClr val="008000"/>
              </a:solidFill>
              <a:prstDash val="solid"/>
              <a:miter/>
              <a:headEnd type="none" w="sm" len="sm"/>
              <a:tailEnd type="none" w="sm" len="sm"/>
            </a:ln>
          </p:spPr>
          <p:txBody>
            <a:bodyPr wrap="none" lIns="90000" tIns="46800" rIns="90000" bIns="46800" anchor="ctr"/>
            <a:p>
              <a:pPr algn="ctr"/>
              <a:r>
                <a:rPr lang="zh-CN" altLang="en-US" sz="2800" b="1" u="none" dirty="0">
                  <a:solidFill>
                    <a:schemeClr val="tx1"/>
                  </a:solidFill>
                  <a:latin typeface="Times New Roman" panose="02020603050405020304" pitchFamily="18" charset="0"/>
                </a:rPr>
                <a:t>符号表</a:t>
              </a:r>
              <a:endParaRPr lang="zh-CN" altLang="en-US" sz="2800" b="1" u="none" dirty="0">
                <a:solidFill>
                  <a:schemeClr val="tx1"/>
                </a:solidFill>
                <a:latin typeface="Times New Roman" panose="02020603050405020304" pitchFamily="18" charset="0"/>
              </a:endParaRPr>
            </a:p>
          </p:txBody>
        </p:sp>
        <p:sp>
          <p:nvSpPr>
            <p:cNvPr id="13331" name="Rectangle 22"/>
            <p:cNvSpPr/>
            <p:nvPr/>
          </p:nvSpPr>
          <p:spPr>
            <a:xfrm>
              <a:off x="4401" y="1403"/>
              <a:ext cx="960" cy="576"/>
            </a:xfrm>
            <a:prstGeom prst="rect">
              <a:avLst/>
            </a:prstGeom>
            <a:noFill/>
            <a:ln w="28575" cap="sq" cmpd="sng">
              <a:solidFill>
                <a:srgbClr val="008000"/>
              </a:solidFill>
              <a:prstDash val="solid"/>
              <a:miter/>
              <a:headEnd type="none" w="sm" len="sm"/>
              <a:tailEnd type="none" w="sm" len="sm"/>
            </a:ln>
          </p:spPr>
          <p:txBody>
            <a:bodyPr wrap="none" anchor="ctr"/>
            <a:p>
              <a:pPr algn="ctr"/>
              <a:r>
                <a:rPr lang="zh-CN" altLang="en-US" sz="2800" b="1" u="none" dirty="0">
                  <a:solidFill>
                    <a:schemeClr val="tx1"/>
                  </a:solidFill>
                  <a:latin typeface="Times New Roman" panose="02020603050405020304" pitchFamily="18" charset="0"/>
                </a:rPr>
                <a:t>编译程序</a:t>
              </a:r>
              <a:endParaRPr lang="zh-CN" altLang="en-US" sz="2800" b="1" u="none" dirty="0">
                <a:solidFill>
                  <a:schemeClr val="tx1"/>
                </a:solidFill>
                <a:latin typeface="Times New Roman" panose="02020603050405020304" pitchFamily="18" charset="0"/>
              </a:endParaRPr>
            </a:p>
            <a:p>
              <a:pPr algn="ctr"/>
              <a:r>
                <a:rPr lang="zh-CN" altLang="en-US" sz="2800" b="1" u="none" dirty="0">
                  <a:solidFill>
                    <a:schemeClr val="tx1"/>
                  </a:solidFill>
                  <a:latin typeface="Times New Roman" panose="02020603050405020304" pitchFamily="18" charset="0"/>
                </a:rPr>
                <a:t>后续部分</a:t>
              </a:r>
              <a:endParaRPr lang="zh-CN" altLang="en-US" sz="2800" b="1" u="none" dirty="0">
                <a:solidFill>
                  <a:schemeClr val="tx1"/>
                </a:solidFill>
                <a:latin typeface="Times New Roman" panose="02020603050405020304" pitchFamily="18" charset="0"/>
              </a:endParaRPr>
            </a:p>
          </p:txBody>
        </p:sp>
      </p:grpSp>
      <p:grpSp>
        <p:nvGrpSpPr>
          <p:cNvPr id="7" name="Group 29"/>
          <p:cNvGrpSpPr/>
          <p:nvPr/>
        </p:nvGrpSpPr>
        <p:grpSpPr>
          <a:xfrm>
            <a:off x="1957388" y="3124200"/>
            <a:ext cx="5586412" cy="1617663"/>
            <a:chOff x="1233" y="1968"/>
            <a:chExt cx="3519" cy="1019"/>
          </a:xfrm>
        </p:grpSpPr>
        <p:sp>
          <p:nvSpPr>
            <p:cNvPr id="13333" name="Line 16"/>
            <p:cNvSpPr/>
            <p:nvPr/>
          </p:nvSpPr>
          <p:spPr>
            <a:xfrm>
              <a:off x="1233" y="1979"/>
              <a:ext cx="1200" cy="1008"/>
            </a:xfrm>
            <a:prstGeom prst="line">
              <a:avLst/>
            </a:prstGeom>
            <a:ln w="28575" cap="sq" cmpd="sng">
              <a:solidFill>
                <a:schemeClr val="tx1"/>
              </a:solidFill>
              <a:prstDash val="solid"/>
              <a:round/>
              <a:headEnd type="stealth" w="lg" len="lg"/>
              <a:tailEnd type="stealth" w="lg" len="lg"/>
            </a:ln>
          </p:spPr>
        </p:sp>
        <p:sp>
          <p:nvSpPr>
            <p:cNvPr id="13334" name="Line 17"/>
            <p:cNvSpPr/>
            <p:nvPr/>
          </p:nvSpPr>
          <p:spPr>
            <a:xfrm flipH="1">
              <a:off x="3057" y="2027"/>
              <a:ext cx="0" cy="816"/>
            </a:xfrm>
            <a:prstGeom prst="line">
              <a:avLst/>
            </a:prstGeom>
            <a:ln w="28575" cap="sq" cmpd="sng">
              <a:solidFill>
                <a:schemeClr val="tx1"/>
              </a:solidFill>
              <a:prstDash val="solid"/>
              <a:round/>
              <a:headEnd type="stealth" w="lg" len="lg"/>
              <a:tailEnd type="stealth" w="lg" len="lg"/>
            </a:ln>
          </p:spPr>
        </p:sp>
        <p:sp>
          <p:nvSpPr>
            <p:cNvPr id="13335" name="Line 24"/>
            <p:cNvSpPr/>
            <p:nvPr/>
          </p:nvSpPr>
          <p:spPr>
            <a:xfrm flipH="1">
              <a:off x="3600" y="1968"/>
              <a:ext cx="1152" cy="960"/>
            </a:xfrm>
            <a:prstGeom prst="line">
              <a:avLst/>
            </a:prstGeom>
            <a:ln w="28575" cap="sq" cmpd="sng">
              <a:solidFill>
                <a:schemeClr val="tx1"/>
              </a:solidFill>
              <a:prstDash val="solid"/>
              <a:round/>
              <a:headEnd type="stealth" w="lg" len="lg"/>
              <a:tailEnd type="stealth" w="lg" len="lg"/>
            </a:ln>
          </p:spPr>
        </p:sp>
      </p:grpSp>
      <p:sp>
        <p:nvSpPr>
          <p:cNvPr id="180249" name="Line 25"/>
          <p:cNvSpPr/>
          <p:nvPr/>
        </p:nvSpPr>
        <p:spPr>
          <a:xfrm>
            <a:off x="8129588" y="3141663"/>
            <a:ext cx="0" cy="838200"/>
          </a:xfrm>
          <a:prstGeom prst="line">
            <a:avLst/>
          </a:prstGeom>
          <a:ln w="28575" cap="flat" cmpd="sng">
            <a:solidFill>
              <a:schemeClr val="tx1"/>
            </a:solidFill>
            <a:prstDash val="dash"/>
            <a:round/>
            <a:headEnd type="none" w="sm" len="sm"/>
            <a:tailEnd type="stealth" w="lg" len="lg"/>
          </a:ln>
        </p:spPr>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ou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righ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box(out)">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180249"/>
                                        </p:tgtEl>
                                        <p:attrNameLst>
                                          <p:attrName>style.visibility</p:attrName>
                                        </p:attrNameLst>
                                      </p:cBhvr>
                                      <p:to>
                                        <p:strVal val="visible"/>
                                      </p:to>
                                    </p:set>
                                    <p:animEffect transition="in" filter="wipe(up)">
                                      <p:cBhvr>
                                        <p:cTn id="32" dur="500"/>
                                        <p:tgtEl>
                                          <p:spTgt spid="180249"/>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80244"/>
                                        </p:tgtEl>
                                        <p:attrNameLst>
                                          <p:attrName>style.visibility</p:attrName>
                                        </p:attrNameLst>
                                      </p:cBhvr>
                                      <p:to>
                                        <p:strVal val="visible"/>
                                      </p:to>
                                    </p:set>
                                    <p:animEffect transition="in" filter="dissolve">
                                      <p:cBhvr>
                                        <p:cTn id="37" dur="500"/>
                                        <p:tgtEl>
                                          <p:spTgt spid="18024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2" fill="hold"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wipe(right)">
                                      <p:cBhvr>
                                        <p:cTn id="42" dur="1000"/>
                                        <p:tgtEl>
                                          <p:spTgt spid="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wipe(left)">
                                      <p:cBhvr>
                                        <p:cTn id="47" dur="1000"/>
                                        <p:tgtEl>
                                          <p:spTgt spid="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5"/>
                                        </p:tgtEl>
                                        <p:attrNameLst>
                                          <p:attrName>style.visibility</p:attrName>
                                        </p:attrNameLst>
                                      </p:cBhvr>
                                      <p:to>
                                        <p:strVal val="visible"/>
                                      </p:to>
                                    </p:set>
                                    <p:animEffect transition="in" filter="wipe(left)">
                                      <p:cBhvr>
                                        <p:cTn id="52" dur="1000"/>
                                        <p:tgtEl>
                                          <p:spTgt spid="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nodeType="clickEffect">
                                  <p:stCondLst>
                                    <p:cond delay="0"/>
                                  </p:stCondLst>
                                  <p:childTnLst>
                                    <p:set>
                                      <p:cBhvr>
                                        <p:cTn id="56" dur="1" fill="hold">
                                          <p:stCondLst>
                                            <p:cond delay="0"/>
                                          </p:stCondLst>
                                        </p:cTn>
                                        <p:tgtEl>
                                          <p:spTgt spid="180249"/>
                                        </p:tgtEl>
                                        <p:attrNameLst>
                                          <p:attrName>style.visibility</p:attrName>
                                        </p:attrNameLst>
                                      </p:cBhvr>
                                      <p:to>
                                        <p:strVal val="visible"/>
                                      </p:to>
                                    </p:set>
                                    <p:animEffect transition="in" filter="wipe(up)">
                                      <p:cBhvr>
                                        <p:cTn id="57" dur="1000"/>
                                        <p:tgtEl>
                                          <p:spTgt spid="180249"/>
                                        </p:tgtEl>
                                      </p:cBhvr>
                                    </p:animEffect>
                                  </p:childTnLst>
                                </p:cTn>
                              </p:par>
                            </p:childTnLst>
                          </p:cTn>
                        </p:par>
                      </p:childTnLst>
                    </p:cTn>
                  </p:par>
                  <p:par>
                    <p:cTn id="58" fill="hold">
                      <p:stCondLst>
                        <p:cond delay="indefinite"/>
                      </p:stCondLst>
                      <p:childTnLst>
                        <p:par>
                          <p:cTn id="59" fill="hold">
                            <p:stCondLst>
                              <p:cond delay="0"/>
                            </p:stCondLst>
                            <p:childTnLst>
                              <p:par>
                                <p:cTn id="60" presetID="16" presetClass="entr" presetSubtype="42" fill="hold" nodeType="clickEffect">
                                  <p:stCondLst>
                                    <p:cond delay="0"/>
                                  </p:stCondLst>
                                  <p:childTnLst>
                                    <p:set>
                                      <p:cBhvr>
                                        <p:cTn id="61" dur="1" fill="hold">
                                          <p:stCondLst>
                                            <p:cond delay="0"/>
                                          </p:stCondLst>
                                        </p:cTn>
                                        <p:tgtEl>
                                          <p:spTgt spid="7"/>
                                        </p:tgtEl>
                                        <p:attrNameLst>
                                          <p:attrName>style.visibility</p:attrName>
                                        </p:attrNameLst>
                                      </p:cBhvr>
                                      <p:to>
                                        <p:strVal val="visible"/>
                                      </p:to>
                                    </p:set>
                                    <p:animEffect transition="in" filter="barn(outHorizontal)">
                                      <p:cBhvr>
                                        <p:cTn id="62"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24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33795" name="Rectangle 3"/>
          <p:cNvSpPr>
            <a:spLocks noGrp="1"/>
          </p:cNvSpPr>
          <p:nvPr>
            <p:ph type="body"/>
          </p:nvPr>
        </p:nvSpPr>
        <p:spPr>
          <a:xfrm>
            <a:off x="304800" y="533400"/>
            <a:ext cx="8659813" cy="5181600"/>
          </a:xfrm>
          <a:ln/>
        </p:spPr>
        <p:txBody>
          <a:bodyPr vert="horz" wrap="square" lIns="91440" tIns="45720" rIns="91440" bIns="45720" anchor="t"/>
          <a:p>
            <a:pPr marL="190500" indent="-190500" eaLnBrk="1" hangingPunct="1"/>
            <a:r>
              <a:rPr lang="zh-CN" altLang="en-US" b="1" dirty="0">
                <a:latin typeface="宋体" panose="02010600030101010101" pitchFamily="2" charset="-122"/>
              </a:rPr>
              <a:t>语法分析的方法：</a:t>
            </a:r>
            <a:endParaRPr lang="zh-CN" altLang="en-US" b="1" dirty="0">
              <a:latin typeface="宋体" panose="02010600030101010101" pitchFamily="2" charset="-122"/>
            </a:endParaRPr>
          </a:p>
          <a:p>
            <a:pPr marL="762000" lvl="1" indent="-285750" eaLnBrk="1" hangingPunct="1"/>
            <a:r>
              <a:rPr lang="zh-CN" altLang="en-US" b="1" dirty="0">
                <a:latin typeface="宋体" panose="02010600030101010101" pitchFamily="2" charset="-122"/>
              </a:rPr>
              <a:t>自下而上分析法</a:t>
            </a:r>
            <a:r>
              <a:rPr lang="en-US" altLang="zh-CN" b="1" dirty="0">
                <a:latin typeface="宋体" panose="02010600030101010101" pitchFamily="2" charset="-122"/>
              </a:rPr>
              <a:t>(Bottom-up)</a:t>
            </a:r>
            <a:endParaRPr lang="en-US" altLang="zh-CN" b="1" dirty="0">
              <a:latin typeface="宋体" panose="02010600030101010101" pitchFamily="2" charset="-122"/>
            </a:endParaRPr>
          </a:p>
          <a:p>
            <a:pPr marL="1276350" lvl="2" indent="-228600" eaLnBrk="1" hangingPunct="1"/>
            <a:r>
              <a:rPr lang="" altLang="en-US" sz="2800" b="1" dirty="0">
                <a:latin typeface="宋体" panose="02010600030101010101" pitchFamily="2" charset="-122"/>
              </a:rPr>
              <a:t>基本思想：从输入串开始，逐步进行</a:t>
            </a:r>
            <a:r>
              <a:rPr lang="" altLang="en-US" sz="2800" b="1" dirty="0"/>
              <a:t>“</a:t>
            </a:r>
            <a:r>
              <a:rPr lang="" altLang="en-US" sz="4000" b="1" dirty="0">
                <a:solidFill>
                  <a:srgbClr val="FF0000"/>
                </a:solidFill>
                <a:latin typeface="华文行楷" panose="02010800040101010101" pitchFamily="2" charset="-122"/>
                <a:ea typeface="华文行楷" panose="02010800040101010101" pitchFamily="2" charset="-122"/>
              </a:rPr>
              <a:t>归约</a:t>
            </a:r>
            <a:r>
              <a:rPr lang="" altLang="en-US" sz="2800" b="1" dirty="0"/>
              <a:t>”</a:t>
            </a:r>
            <a:r>
              <a:rPr lang="" altLang="en-US" sz="2800" b="1" dirty="0">
                <a:latin typeface="宋体" panose="02010600030101010101" pitchFamily="2" charset="-122"/>
              </a:rPr>
              <a:t>，直到文法的开始符号。即从树末端开始，构造语法树。所谓归约，是指根据文法的产生式规则，把产生式的右部替换成左部符号。</a:t>
            </a:r>
            <a:endParaRPr lang="" altLang="en-US" sz="2800" b="1" dirty="0">
              <a:latin typeface="宋体" panose="02010600030101010101" pitchFamily="2" charset="-122"/>
            </a:endParaRPr>
          </a:p>
          <a:p>
            <a:pPr marL="1276350" lvl="2" indent="-228600" eaLnBrk="1" hangingPunct="1"/>
            <a:r>
              <a:rPr lang="" altLang="en-US" sz="2800" b="1" dirty="0">
                <a:latin typeface="宋体" panose="02010600030101010101" pitchFamily="2" charset="-122"/>
              </a:rPr>
              <a:t>算符优先分析法：按照算符的优先关系和结合性质进行语法分析。适合分析表达式。</a:t>
            </a:r>
            <a:endParaRPr lang="zh-CN" altLang="en-US" sz="2800" b="1" dirty="0">
              <a:latin typeface="宋体" panose="02010600030101010101" pitchFamily="2" charset="-122"/>
            </a:endParaRPr>
          </a:p>
          <a:p>
            <a:pPr marL="1276350" lvl="2" indent="-228600" eaLnBrk="1" hangingPunct="1"/>
            <a:r>
              <a:rPr lang="en-US" altLang="zh-CN" sz="2800" b="1" dirty="0">
                <a:latin typeface="宋体" panose="02010600030101010101" pitchFamily="2" charset="-122"/>
              </a:rPr>
              <a:t>LR</a:t>
            </a:r>
            <a:r>
              <a:rPr lang="zh-CN" altLang="en-US" sz="2800" b="1" dirty="0">
                <a:latin typeface="宋体" panose="02010600030101010101" pitchFamily="2" charset="-122"/>
              </a:rPr>
              <a:t>分析法：规范归约</a:t>
            </a:r>
            <a:endParaRPr lang="zh-CN" altLang="en-US" sz="2800" b="1" dirty="0">
              <a:latin typeface="宋体" panose="02010600030101010101" pitchFamily="2" charset="-122"/>
            </a:endParaRPr>
          </a:p>
          <a:p>
            <a:pPr marL="1276350" lvl="2" indent="-228600" eaLnBrk="1" hangingPunct="1"/>
            <a:r>
              <a:rPr lang="zh-CN" altLang="en-US" sz="2800" b="1" dirty="0">
                <a:latin typeface="宋体" panose="02010600030101010101" pitchFamily="2" charset="-122"/>
              </a:rPr>
              <a:t>自上而下 与 自下而上 是辩证统一的关系</a:t>
            </a:r>
            <a:endParaRPr lang="zh-CN" altLang="en-US" sz="2800" b="1" dirty="0">
              <a:latin typeface="宋体" panose="02010600030101010101" pitchFamily="2" charset="-122"/>
            </a:endParaRPr>
          </a:p>
          <a:p>
            <a:pPr marL="762000" lvl="1" indent="-285750" eaLnBrk="1" hangingPunct="1">
              <a:buClr>
                <a:schemeClr val="bg2"/>
              </a:buClr>
              <a:buSzPct val="65000"/>
            </a:pPr>
            <a:endParaRPr lang="en-US" altLang="zh-CN" b="1" dirty="0">
              <a:latin typeface="宋体" panose="02010600030101010101" pitchFamily="2"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3795">
                                            <p:txEl>
                                              <p:charRg st="0" end="9"/>
                                            </p:txEl>
                                          </p:spTgt>
                                        </p:tgtEl>
                                        <p:attrNameLst>
                                          <p:attrName>style.visibility</p:attrName>
                                        </p:attrNameLst>
                                      </p:cBhvr>
                                      <p:to>
                                        <p:strVal val="visible"/>
                                      </p:to>
                                    </p:set>
                                    <p:animEffect transition="in" filter="wipe(up)">
                                      <p:cBhvr>
                                        <p:cTn id="7" dur="500"/>
                                        <p:tgtEl>
                                          <p:spTgt spid="33795">
                                            <p:txEl>
                                              <p:charRg st="0" end="9"/>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3795">
                                            <p:txEl>
                                              <p:charRg st="9" end="28"/>
                                            </p:txEl>
                                          </p:spTgt>
                                        </p:tgtEl>
                                        <p:attrNameLst>
                                          <p:attrName>style.visibility</p:attrName>
                                        </p:attrNameLst>
                                      </p:cBhvr>
                                      <p:to>
                                        <p:strVal val="visible"/>
                                      </p:to>
                                    </p:set>
                                    <p:animEffect transition="in" filter="wipe(up)">
                                      <p:cBhvr>
                                        <p:cTn id="12" dur="500"/>
                                        <p:tgtEl>
                                          <p:spTgt spid="33795">
                                            <p:txEl>
                                              <p:charRg st="9" end="2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3795">
                                            <p:txEl>
                                              <p:charRg st="28" end="107"/>
                                            </p:txEl>
                                          </p:spTgt>
                                        </p:tgtEl>
                                        <p:attrNameLst>
                                          <p:attrName>style.visibility</p:attrName>
                                        </p:attrNameLst>
                                      </p:cBhvr>
                                      <p:to>
                                        <p:strVal val="visible"/>
                                      </p:to>
                                    </p:set>
                                    <p:animEffect transition="in" filter="wipe(up)">
                                      <p:cBhvr>
                                        <p:cTn id="17" dur="500"/>
                                        <p:tgtEl>
                                          <p:spTgt spid="33795">
                                            <p:txEl>
                                              <p:charRg st="28" end="10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3795">
                                            <p:txEl>
                                              <p:charRg st="107" end="145"/>
                                            </p:txEl>
                                          </p:spTgt>
                                        </p:tgtEl>
                                        <p:attrNameLst>
                                          <p:attrName>style.visibility</p:attrName>
                                        </p:attrNameLst>
                                      </p:cBhvr>
                                      <p:to>
                                        <p:strVal val="visible"/>
                                      </p:to>
                                    </p:set>
                                    <p:animEffect transition="in" filter="wipe(up)">
                                      <p:cBhvr>
                                        <p:cTn id="22" dur="500"/>
                                        <p:tgtEl>
                                          <p:spTgt spid="33795">
                                            <p:txEl>
                                              <p:charRg st="107" end="14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3795">
                                            <p:txEl>
                                              <p:charRg st="145" end="156"/>
                                            </p:txEl>
                                          </p:spTgt>
                                        </p:tgtEl>
                                        <p:attrNameLst>
                                          <p:attrName>style.visibility</p:attrName>
                                        </p:attrNameLst>
                                      </p:cBhvr>
                                      <p:to>
                                        <p:strVal val="visible"/>
                                      </p:to>
                                    </p:set>
                                    <p:animEffect transition="in" filter="wipe(up)">
                                      <p:cBhvr>
                                        <p:cTn id="27" dur="500"/>
                                        <p:tgtEl>
                                          <p:spTgt spid="33795">
                                            <p:txEl>
                                              <p:charRg st="145" end="15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33795">
                                            <p:txEl>
                                              <p:pRg st="5" end="5"/>
                                            </p:txEl>
                                          </p:spTgt>
                                        </p:tgtEl>
                                        <p:attrNameLst>
                                          <p:attrName>style.visibility</p:attrName>
                                        </p:attrNameLst>
                                      </p:cBhvr>
                                      <p:to>
                                        <p:strVal val="visible"/>
                                      </p:to>
                                    </p:set>
                                    <p:animEffect transition="in" filter="wipe(up)">
                                      <p:cBhvr>
                                        <p:cTn id="32" dur="500"/>
                                        <p:tgtEl>
                                          <p:spTgt spid="3379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bldLvl="3"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232450" name="Rectangle 2"/>
          <p:cNvSpPr>
            <a:spLocks noGrp="1"/>
          </p:cNvSpPr>
          <p:nvPr>
            <p:ph type="body"/>
          </p:nvPr>
        </p:nvSpPr>
        <p:spPr>
          <a:xfrm>
            <a:off x="762000" y="609600"/>
            <a:ext cx="7696200" cy="1905000"/>
          </a:xfrm>
          <a:ln/>
        </p:spPr>
        <p:txBody>
          <a:bodyPr vert="horz" wrap="square" lIns="91440" tIns="45720" rIns="91440" bIns="45720" anchor="t"/>
          <a:p>
            <a:pPr eaLnBrk="1" hangingPunct="1">
              <a:lnSpc>
                <a:spcPct val="90000"/>
              </a:lnSpc>
              <a:buNone/>
            </a:pPr>
            <a:r>
              <a:rPr lang="en-US" altLang="zh-CN" b="1" dirty="0"/>
              <a:t>G(E)</a:t>
            </a:r>
            <a:r>
              <a:rPr lang="zh-CN" altLang="en-US" b="1" dirty="0"/>
              <a:t>： </a:t>
            </a:r>
            <a:r>
              <a:rPr lang="en-US" altLang="zh-CN" b="1" dirty="0"/>
              <a:t>E </a:t>
            </a:r>
            <a:r>
              <a:rPr lang="en-US" altLang="zh-CN" b="1" dirty="0">
                <a:sym typeface="Symbol" panose="05050102010706020507" pitchFamily="18" charset="2"/>
              </a:rPr>
              <a:t></a:t>
            </a:r>
            <a:r>
              <a:rPr lang="en-US" altLang="zh-CN" b="1" dirty="0"/>
              <a:t> i| E+E | E-E | E*E | E/E | (E)</a:t>
            </a:r>
            <a:endParaRPr lang="en-US" altLang="zh-CN" b="1" dirty="0"/>
          </a:p>
          <a:p>
            <a:pPr eaLnBrk="1" hangingPunct="1">
              <a:lnSpc>
                <a:spcPct val="90000"/>
              </a:lnSpc>
              <a:spcBef>
                <a:spcPct val="0"/>
              </a:spcBef>
              <a:buNone/>
            </a:pPr>
            <a:r>
              <a:rPr lang="en-US" altLang="zh-CN" b="1" dirty="0"/>
              <a:t>   i*i+i	</a:t>
            </a:r>
            <a:endParaRPr lang="en-US" altLang="zh-CN" b="1" dirty="0"/>
          </a:p>
          <a:p>
            <a:pPr eaLnBrk="1" hangingPunct="1">
              <a:lnSpc>
                <a:spcPct val="90000"/>
              </a:lnSpc>
              <a:spcBef>
                <a:spcPct val="0"/>
              </a:spcBef>
              <a:buNone/>
            </a:pPr>
            <a:r>
              <a:rPr lang="en-US" altLang="zh-CN" b="1" dirty="0"/>
              <a:t>   E*i+i	</a:t>
            </a:r>
            <a:endParaRPr lang="en-US" altLang="zh-CN" b="1" dirty="0"/>
          </a:p>
          <a:p>
            <a:pPr eaLnBrk="1" hangingPunct="1">
              <a:lnSpc>
                <a:spcPct val="90000"/>
              </a:lnSpc>
              <a:spcBef>
                <a:spcPct val="0"/>
              </a:spcBef>
              <a:buNone/>
            </a:pPr>
            <a:r>
              <a:rPr lang="en-US" altLang="zh-CN" b="1" dirty="0"/>
              <a:t>   E*E+i	</a:t>
            </a:r>
            <a:endParaRPr lang="en-US" altLang="zh-CN" b="1" dirty="0"/>
          </a:p>
          <a:p>
            <a:pPr eaLnBrk="1" hangingPunct="1">
              <a:lnSpc>
                <a:spcPct val="90000"/>
              </a:lnSpc>
              <a:spcBef>
                <a:spcPct val="0"/>
              </a:spcBef>
              <a:buNone/>
            </a:pPr>
            <a:r>
              <a:rPr lang="en-US" altLang="zh-CN" b="1" dirty="0"/>
              <a:t>   E+i	</a:t>
            </a:r>
            <a:endParaRPr lang="en-US" altLang="zh-CN" b="1" dirty="0"/>
          </a:p>
          <a:p>
            <a:pPr eaLnBrk="1" hangingPunct="1">
              <a:lnSpc>
                <a:spcPct val="90000"/>
              </a:lnSpc>
              <a:spcBef>
                <a:spcPct val="0"/>
              </a:spcBef>
              <a:buNone/>
            </a:pPr>
            <a:r>
              <a:rPr lang="en-US" altLang="zh-CN" b="1" dirty="0"/>
              <a:t>   E+E	</a:t>
            </a:r>
            <a:endParaRPr lang="en-US" altLang="zh-CN" b="1" dirty="0"/>
          </a:p>
          <a:p>
            <a:pPr eaLnBrk="1" hangingPunct="1">
              <a:lnSpc>
                <a:spcPct val="90000"/>
              </a:lnSpc>
              <a:spcBef>
                <a:spcPct val="0"/>
              </a:spcBef>
              <a:buNone/>
            </a:pPr>
            <a:r>
              <a:rPr lang="en-US" altLang="zh-CN" b="1" dirty="0"/>
              <a:t>   E</a:t>
            </a:r>
            <a:endParaRPr lang="en-US" altLang="zh-CN" b="1" dirty="0"/>
          </a:p>
        </p:txBody>
      </p:sp>
      <p:sp>
        <p:nvSpPr>
          <p:cNvPr id="232451" name="Rectangle 3"/>
          <p:cNvSpPr/>
          <p:nvPr/>
        </p:nvSpPr>
        <p:spPr>
          <a:xfrm>
            <a:off x="4648200" y="5181600"/>
            <a:ext cx="115888" cy="503238"/>
          </a:xfrm>
          <a:prstGeom prst="rect">
            <a:avLst/>
          </a:prstGeom>
          <a:noFill/>
          <a:ln w="22225">
            <a:noFill/>
          </a:ln>
        </p:spPr>
        <p:txBody>
          <a:bodyPr wrap="none" lIns="0" tIns="0" rIns="0" bIns="0" anchor="t">
            <a:spAutoFit/>
          </a:bodyPr>
          <a:p>
            <a:r>
              <a:rPr lang="en-US" altLang="zh-CN" sz="3300" b="1" u="none" dirty="0">
                <a:solidFill>
                  <a:schemeClr val="tx1"/>
                </a:solidFill>
                <a:latin typeface="Times New Roman" panose="02020603050405020304" pitchFamily="18" charset="0"/>
              </a:rPr>
              <a:t>i</a:t>
            </a:r>
            <a:endParaRPr lang="en-US" altLang="zh-CN" sz="2400" b="1" u="none" dirty="0">
              <a:solidFill>
                <a:schemeClr val="tx1"/>
              </a:solidFill>
              <a:latin typeface="Times New Roman" panose="02020603050405020304" pitchFamily="18" charset="0"/>
            </a:endParaRPr>
          </a:p>
        </p:txBody>
      </p:sp>
      <p:sp>
        <p:nvSpPr>
          <p:cNvPr id="232452" name="Rectangle 4"/>
          <p:cNvSpPr/>
          <p:nvPr/>
        </p:nvSpPr>
        <p:spPr>
          <a:xfrm>
            <a:off x="6073775" y="3630613"/>
            <a:ext cx="254000" cy="503237"/>
          </a:xfrm>
          <a:prstGeom prst="rect">
            <a:avLst/>
          </a:prstGeom>
          <a:noFill/>
          <a:ln w="22225">
            <a:noFill/>
          </a:ln>
        </p:spPr>
        <p:txBody>
          <a:bodyPr lIns="0" tIns="0" rIns="0" bIns="0" anchor="t">
            <a:spAutoFit/>
          </a:bodyPr>
          <a:p>
            <a:r>
              <a:rPr lang="en-US" altLang="zh-CN" sz="3300" b="1" u="none" dirty="0">
                <a:solidFill>
                  <a:schemeClr val="tx1"/>
                </a:solidFill>
                <a:latin typeface="宋体" panose="02010600030101010101" pitchFamily="2" charset="-122"/>
              </a:rPr>
              <a:t>+</a:t>
            </a:r>
            <a:endParaRPr lang="en-US" altLang="zh-CN" sz="2400" b="1" u="none" dirty="0">
              <a:solidFill>
                <a:schemeClr val="tx1"/>
              </a:solidFill>
              <a:latin typeface="Times New Roman" panose="02020603050405020304" pitchFamily="18" charset="0"/>
            </a:endParaRPr>
          </a:p>
        </p:txBody>
      </p:sp>
      <p:sp>
        <p:nvSpPr>
          <p:cNvPr id="232453" name="Rectangle 5"/>
          <p:cNvSpPr/>
          <p:nvPr/>
        </p:nvSpPr>
        <p:spPr>
          <a:xfrm>
            <a:off x="5257800" y="4343400"/>
            <a:ext cx="209550" cy="503238"/>
          </a:xfrm>
          <a:prstGeom prst="rect">
            <a:avLst/>
          </a:prstGeom>
          <a:noFill/>
          <a:ln w="22225">
            <a:noFill/>
          </a:ln>
        </p:spPr>
        <p:txBody>
          <a:bodyPr wrap="none" lIns="0" tIns="0" rIns="0" bIns="0" anchor="t">
            <a:spAutoFit/>
          </a:bodyPr>
          <a:p>
            <a:r>
              <a:rPr lang="en-US" altLang="zh-CN" sz="3300" b="1" u="none" dirty="0">
                <a:solidFill>
                  <a:schemeClr val="tx1"/>
                </a:solidFill>
                <a:latin typeface="宋体" panose="02010600030101010101" pitchFamily="2" charset="-122"/>
              </a:rPr>
              <a:t>*</a:t>
            </a:r>
            <a:endParaRPr lang="en-US" altLang="zh-CN" sz="2400" b="1" u="none" dirty="0">
              <a:solidFill>
                <a:schemeClr val="tx1"/>
              </a:solidFill>
              <a:latin typeface="Times New Roman" panose="02020603050405020304" pitchFamily="18" charset="0"/>
            </a:endParaRPr>
          </a:p>
        </p:txBody>
      </p:sp>
      <p:grpSp>
        <p:nvGrpSpPr>
          <p:cNvPr id="2" name="Group 6"/>
          <p:cNvGrpSpPr/>
          <p:nvPr/>
        </p:nvGrpSpPr>
        <p:grpSpPr>
          <a:xfrm>
            <a:off x="5486400" y="2855913"/>
            <a:ext cx="1498600" cy="825500"/>
            <a:chOff x="3456" y="1799"/>
            <a:chExt cx="944" cy="520"/>
          </a:xfrm>
        </p:grpSpPr>
        <p:sp>
          <p:nvSpPr>
            <p:cNvPr id="15367" name="Line 7"/>
            <p:cNvSpPr/>
            <p:nvPr/>
          </p:nvSpPr>
          <p:spPr>
            <a:xfrm flipH="1">
              <a:off x="3456" y="2074"/>
              <a:ext cx="413" cy="147"/>
            </a:xfrm>
            <a:prstGeom prst="line">
              <a:avLst/>
            </a:prstGeom>
            <a:ln w="22225" cap="flat" cmpd="sng">
              <a:solidFill>
                <a:schemeClr val="tx1"/>
              </a:solidFill>
              <a:prstDash val="solid"/>
              <a:round/>
              <a:headEnd type="none" w="med" len="med"/>
              <a:tailEnd type="none" w="med" len="med"/>
            </a:ln>
          </p:spPr>
        </p:sp>
        <p:sp>
          <p:nvSpPr>
            <p:cNvPr id="15368" name="Line 8"/>
            <p:cNvSpPr/>
            <p:nvPr/>
          </p:nvSpPr>
          <p:spPr>
            <a:xfrm>
              <a:off x="3888" y="2064"/>
              <a:ext cx="512" cy="157"/>
            </a:xfrm>
            <a:prstGeom prst="line">
              <a:avLst/>
            </a:prstGeom>
            <a:ln w="22225" cap="flat" cmpd="sng">
              <a:solidFill>
                <a:schemeClr val="tx1"/>
              </a:solidFill>
              <a:prstDash val="solid"/>
              <a:round/>
              <a:headEnd type="none" w="med" len="med"/>
              <a:tailEnd type="none" w="med" len="med"/>
            </a:ln>
          </p:spPr>
        </p:sp>
        <p:sp>
          <p:nvSpPr>
            <p:cNvPr id="15369" name="Line 9"/>
            <p:cNvSpPr/>
            <p:nvPr/>
          </p:nvSpPr>
          <p:spPr>
            <a:xfrm>
              <a:off x="3888" y="2074"/>
              <a:ext cx="1" cy="245"/>
            </a:xfrm>
            <a:prstGeom prst="line">
              <a:avLst/>
            </a:prstGeom>
            <a:ln w="22225" cap="flat" cmpd="sng">
              <a:solidFill>
                <a:schemeClr val="tx1"/>
              </a:solidFill>
              <a:prstDash val="solid"/>
              <a:round/>
              <a:headEnd type="none" w="med" len="med"/>
              <a:tailEnd type="none" w="med" len="med"/>
            </a:ln>
          </p:spPr>
        </p:sp>
        <p:sp>
          <p:nvSpPr>
            <p:cNvPr id="15370" name="Rectangle 10"/>
            <p:cNvSpPr/>
            <p:nvPr/>
          </p:nvSpPr>
          <p:spPr>
            <a:xfrm>
              <a:off x="3810" y="1799"/>
              <a:ext cx="176" cy="317"/>
            </a:xfrm>
            <a:prstGeom prst="rect">
              <a:avLst/>
            </a:prstGeom>
            <a:noFill/>
            <a:ln w="22225">
              <a:noFill/>
            </a:ln>
          </p:spPr>
          <p:txBody>
            <a:bodyPr wrap="none" lIns="0" tIns="0" rIns="0" bIns="0" anchor="t">
              <a:spAutoFit/>
            </a:bodyPr>
            <a:p>
              <a:r>
                <a:rPr lang="en-US" altLang="zh-CN" sz="3300" b="1" u="none" dirty="0">
                  <a:solidFill>
                    <a:schemeClr val="tx1"/>
                  </a:solidFill>
                  <a:latin typeface="Times New Roman" panose="02020603050405020304" pitchFamily="18" charset="0"/>
                </a:rPr>
                <a:t>E</a:t>
              </a:r>
              <a:endParaRPr lang="en-US" altLang="zh-CN" sz="2400" b="1" u="none" dirty="0">
                <a:solidFill>
                  <a:schemeClr val="tx1"/>
                </a:solidFill>
                <a:latin typeface="Times New Roman" panose="02020603050405020304" pitchFamily="18" charset="0"/>
              </a:endParaRPr>
            </a:p>
          </p:txBody>
        </p:sp>
      </p:grpSp>
      <p:sp>
        <p:nvSpPr>
          <p:cNvPr id="232459" name="Rectangle 11"/>
          <p:cNvSpPr/>
          <p:nvPr/>
        </p:nvSpPr>
        <p:spPr>
          <a:xfrm>
            <a:off x="6019800" y="5181600"/>
            <a:ext cx="115888" cy="503238"/>
          </a:xfrm>
          <a:prstGeom prst="rect">
            <a:avLst/>
          </a:prstGeom>
          <a:noFill/>
          <a:ln w="22225">
            <a:noFill/>
          </a:ln>
        </p:spPr>
        <p:txBody>
          <a:bodyPr wrap="none" lIns="0" tIns="0" rIns="0" bIns="0" anchor="t">
            <a:spAutoFit/>
          </a:bodyPr>
          <a:p>
            <a:r>
              <a:rPr lang="en-US" altLang="zh-CN" sz="3300" b="1" u="none" dirty="0">
                <a:solidFill>
                  <a:schemeClr val="tx1"/>
                </a:solidFill>
                <a:latin typeface="Times New Roman" panose="02020603050405020304" pitchFamily="18" charset="0"/>
              </a:rPr>
              <a:t>i</a:t>
            </a:r>
            <a:endParaRPr lang="en-US" altLang="zh-CN" sz="2400" b="1" u="none" dirty="0">
              <a:solidFill>
                <a:schemeClr val="tx1"/>
              </a:solidFill>
              <a:latin typeface="Times New Roman" panose="02020603050405020304" pitchFamily="18" charset="0"/>
            </a:endParaRPr>
          </a:p>
        </p:txBody>
      </p:sp>
      <p:sp>
        <p:nvSpPr>
          <p:cNvPr id="232460" name="Rectangle 12"/>
          <p:cNvSpPr/>
          <p:nvPr/>
        </p:nvSpPr>
        <p:spPr>
          <a:xfrm>
            <a:off x="7010400" y="4495800"/>
            <a:ext cx="115888" cy="503238"/>
          </a:xfrm>
          <a:prstGeom prst="rect">
            <a:avLst/>
          </a:prstGeom>
          <a:noFill/>
          <a:ln w="22225">
            <a:noFill/>
          </a:ln>
        </p:spPr>
        <p:txBody>
          <a:bodyPr wrap="none" lIns="0" tIns="0" rIns="0" bIns="0" anchor="t">
            <a:spAutoFit/>
          </a:bodyPr>
          <a:p>
            <a:r>
              <a:rPr lang="en-US" altLang="zh-CN" sz="3300" b="1" u="none" dirty="0">
                <a:solidFill>
                  <a:schemeClr val="tx1"/>
                </a:solidFill>
                <a:latin typeface="Times New Roman" panose="02020603050405020304" pitchFamily="18" charset="0"/>
              </a:rPr>
              <a:t>i</a:t>
            </a:r>
            <a:endParaRPr lang="en-US" altLang="zh-CN" sz="2400" b="1" u="none" dirty="0">
              <a:solidFill>
                <a:schemeClr val="tx1"/>
              </a:solidFill>
              <a:latin typeface="Times New Roman" panose="02020603050405020304" pitchFamily="18" charset="0"/>
            </a:endParaRPr>
          </a:p>
        </p:txBody>
      </p:sp>
      <p:grpSp>
        <p:nvGrpSpPr>
          <p:cNvPr id="3" name="Group 13"/>
          <p:cNvGrpSpPr/>
          <p:nvPr/>
        </p:nvGrpSpPr>
        <p:grpSpPr>
          <a:xfrm>
            <a:off x="6934200" y="3657600"/>
            <a:ext cx="279400" cy="825500"/>
            <a:chOff x="4400" y="2230"/>
            <a:chExt cx="176" cy="520"/>
          </a:xfrm>
        </p:grpSpPr>
        <p:sp>
          <p:nvSpPr>
            <p:cNvPr id="15374" name="Rectangle 14"/>
            <p:cNvSpPr/>
            <p:nvPr/>
          </p:nvSpPr>
          <p:spPr>
            <a:xfrm>
              <a:off x="4400" y="2230"/>
              <a:ext cx="176" cy="317"/>
            </a:xfrm>
            <a:prstGeom prst="rect">
              <a:avLst/>
            </a:prstGeom>
            <a:noFill/>
            <a:ln w="22225">
              <a:noFill/>
            </a:ln>
          </p:spPr>
          <p:txBody>
            <a:bodyPr wrap="none" lIns="0" tIns="0" rIns="0" bIns="0" anchor="t">
              <a:spAutoFit/>
            </a:bodyPr>
            <a:p>
              <a:r>
                <a:rPr lang="en-US" altLang="zh-CN" sz="3300" b="1" u="none" dirty="0">
                  <a:solidFill>
                    <a:schemeClr val="tx1"/>
                  </a:solidFill>
                  <a:latin typeface="Times New Roman" panose="02020603050405020304" pitchFamily="18" charset="0"/>
                </a:rPr>
                <a:t>E</a:t>
              </a:r>
              <a:endParaRPr lang="en-US" altLang="zh-CN" sz="2400" b="1" u="none" dirty="0">
                <a:solidFill>
                  <a:schemeClr val="tx1"/>
                </a:solidFill>
                <a:latin typeface="Times New Roman" panose="02020603050405020304" pitchFamily="18" charset="0"/>
              </a:endParaRPr>
            </a:p>
          </p:txBody>
        </p:sp>
        <p:sp>
          <p:nvSpPr>
            <p:cNvPr id="15375" name="Line 15"/>
            <p:cNvSpPr/>
            <p:nvPr/>
          </p:nvSpPr>
          <p:spPr>
            <a:xfrm>
              <a:off x="4464" y="2544"/>
              <a:ext cx="1" cy="206"/>
            </a:xfrm>
            <a:prstGeom prst="line">
              <a:avLst/>
            </a:prstGeom>
            <a:ln w="22225" cap="flat" cmpd="sng">
              <a:solidFill>
                <a:schemeClr val="tx1"/>
              </a:solidFill>
              <a:prstDash val="solid"/>
              <a:round/>
              <a:headEnd type="none" w="med" len="med"/>
              <a:tailEnd type="none" w="med" len="med"/>
            </a:ln>
          </p:spPr>
        </p:sp>
      </p:grpSp>
      <p:grpSp>
        <p:nvGrpSpPr>
          <p:cNvPr id="4" name="Group 16"/>
          <p:cNvGrpSpPr/>
          <p:nvPr/>
        </p:nvGrpSpPr>
        <p:grpSpPr>
          <a:xfrm>
            <a:off x="4549775" y="4318000"/>
            <a:ext cx="390525" cy="825500"/>
            <a:chOff x="2866" y="2720"/>
            <a:chExt cx="246" cy="520"/>
          </a:xfrm>
        </p:grpSpPr>
        <p:sp>
          <p:nvSpPr>
            <p:cNvPr id="15377" name="Rectangle 17"/>
            <p:cNvSpPr/>
            <p:nvPr/>
          </p:nvSpPr>
          <p:spPr>
            <a:xfrm>
              <a:off x="2866" y="2730"/>
              <a:ext cx="246" cy="314"/>
            </a:xfrm>
            <a:prstGeom prst="rect">
              <a:avLst/>
            </a:prstGeom>
            <a:noFill/>
            <a:ln w="22225">
              <a:noFill/>
            </a:ln>
          </p:spPr>
          <p:txBody>
            <a:bodyPr anchor="t"/>
            <a:p>
              <a:endParaRPr lang="zh-CN" altLang="en-US" u="none" dirty="0">
                <a:solidFill>
                  <a:schemeClr val="tx1"/>
                </a:solidFill>
                <a:latin typeface="Arial" panose="020B0604020202020204" pitchFamily="34" charset="0"/>
              </a:endParaRPr>
            </a:p>
          </p:txBody>
        </p:sp>
        <p:sp>
          <p:nvSpPr>
            <p:cNvPr id="15378" name="Rectangle 18"/>
            <p:cNvSpPr/>
            <p:nvPr/>
          </p:nvSpPr>
          <p:spPr>
            <a:xfrm>
              <a:off x="2866" y="2720"/>
              <a:ext cx="176" cy="317"/>
            </a:xfrm>
            <a:prstGeom prst="rect">
              <a:avLst/>
            </a:prstGeom>
            <a:noFill/>
            <a:ln w="22225">
              <a:noFill/>
            </a:ln>
          </p:spPr>
          <p:txBody>
            <a:bodyPr wrap="none" lIns="0" tIns="0" rIns="0" bIns="0" anchor="t">
              <a:spAutoFit/>
            </a:bodyPr>
            <a:p>
              <a:r>
                <a:rPr lang="en-US" altLang="zh-CN" sz="3300" b="1" u="none" dirty="0">
                  <a:solidFill>
                    <a:schemeClr val="tx1"/>
                  </a:solidFill>
                  <a:latin typeface="Times New Roman" panose="02020603050405020304" pitchFamily="18" charset="0"/>
                </a:rPr>
                <a:t>E</a:t>
              </a:r>
              <a:endParaRPr lang="en-US" altLang="zh-CN" sz="2400" b="1" u="none" dirty="0">
                <a:solidFill>
                  <a:schemeClr val="tx1"/>
                </a:solidFill>
                <a:latin typeface="Times New Roman" panose="02020603050405020304" pitchFamily="18" charset="0"/>
              </a:endParaRPr>
            </a:p>
          </p:txBody>
        </p:sp>
        <p:sp>
          <p:nvSpPr>
            <p:cNvPr id="15379" name="Line 19"/>
            <p:cNvSpPr/>
            <p:nvPr/>
          </p:nvSpPr>
          <p:spPr>
            <a:xfrm>
              <a:off x="2984" y="3034"/>
              <a:ext cx="1" cy="206"/>
            </a:xfrm>
            <a:prstGeom prst="line">
              <a:avLst/>
            </a:prstGeom>
            <a:ln w="22225" cap="flat" cmpd="sng">
              <a:solidFill>
                <a:schemeClr val="tx1"/>
              </a:solidFill>
              <a:prstDash val="solid"/>
              <a:round/>
              <a:headEnd type="none" w="med" len="med"/>
              <a:tailEnd type="none" w="med" len="med"/>
            </a:ln>
          </p:spPr>
        </p:sp>
      </p:grpSp>
      <p:grpSp>
        <p:nvGrpSpPr>
          <p:cNvPr id="5" name="Group 20"/>
          <p:cNvGrpSpPr/>
          <p:nvPr/>
        </p:nvGrpSpPr>
        <p:grpSpPr>
          <a:xfrm>
            <a:off x="5867400" y="4343400"/>
            <a:ext cx="390525" cy="825500"/>
            <a:chOff x="3692" y="2720"/>
            <a:chExt cx="246" cy="520"/>
          </a:xfrm>
        </p:grpSpPr>
        <p:sp>
          <p:nvSpPr>
            <p:cNvPr id="15381" name="Rectangle 21"/>
            <p:cNvSpPr/>
            <p:nvPr/>
          </p:nvSpPr>
          <p:spPr>
            <a:xfrm>
              <a:off x="3692" y="2730"/>
              <a:ext cx="246" cy="314"/>
            </a:xfrm>
            <a:prstGeom prst="rect">
              <a:avLst/>
            </a:prstGeom>
            <a:noFill/>
            <a:ln w="22225">
              <a:noFill/>
            </a:ln>
          </p:spPr>
          <p:txBody>
            <a:bodyPr anchor="t"/>
            <a:p>
              <a:endParaRPr lang="zh-CN" altLang="en-US" u="none" dirty="0">
                <a:solidFill>
                  <a:schemeClr val="tx1"/>
                </a:solidFill>
                <a:latin typeface="Arial" panose="020B0604020202020204" pitchFamily="34" charset="0"/>
              </a:endParaRPr>
            </a:p>
          </p:txBody>
        </p:sp>
        <p:sp>
          <p:nvSpPr>
            <p:cNvPr id="15382" name="Rectangle 22"/>
            <p:cNvSpPr/>
            <p:nvPr/>
          </p:nvSpPr>
          <p:spPr>
            <a:xfrm>
              <a:off x="3692" y="2720"/>
              <a:ext cx="176" cy="317"/>
            </a:xfrm>
            <a:prstGeom prst="rect">
              <a:avLst/>
            </a:prstGeom>
            <a:noFill/>
            <a:ln w="22225">
              <a:noFill/>
            </a:ln>
          </p:spPr>
          <p:txBody>
            <a:bodyPr wrap="none" lIns="0" tIns="0" rIns="0" bIns="0" anchor="t">
              <a:spAutoFit/>
            </a:bodyPr>
            <a:p>
              <a:r>
                <a:rPr lang="en-US" altLang="zh-CN" sz="3300" b="1" u="none" dirty="0">
                  <a:solidFill>
                    <a:schemeClr val="tx1"/>
                  </a:solidFill>
                  <a:latin typeface="Times New Roman" panose="02020603050405020304" pitchFamily="18" charset="0"/>
                </a:rPr>
                <a:t>E</a:t>
              </a:r>
              <a:endParaRPr lang="en-US" altLang="zh-CN" sz="2400" b="1" u="none" dirty="0">
                <a:solidFill>
                  <a:schemeClr val="tx1"/>
                </a:solidFill>
                <a:latin typeface="Times New Roman" panose="02020603050405020304" pitchFamily="18" charset="0"/>
              </a:endParaRPr>
            </a:p>
          </p:txBody>
        </p:sp>
        <p:sp>
          <p:nvSpPr>
            <p:cNvPr id="15383" name="Line 23"/>
            <p:cNvSpPr/>
            <p:nvPr/>
          </p:nvSpPr>
          <p:spPr>
            <a:xfrm>
              <a:off x="3810" y="3034"/>
              <a:ext cx="1" cy="206"/>
            </a:xfrm>
            <a:prstGeom prst="line">
              <a:avLst/>
            </a:prstGeom>
            <a:ln w="22225" cap="flat" cmpd="sng">
              <a:solidFill>
                <a:schemeClr val="tx1"/>
              </a:solidFill>
              <a:prstDash val="solid"/>
              <a:round/>
              <a:headEnd type="none" w="med" len="med"/>
              <a:tailEnd type="none" w="med" len="med"/>
            </a:ln>
          </p:spPr>
        </p:sp>
      </p:grpSp>
      <p:grpSp>
        <p:nvGrpSpPr>
          <p:cNvPr id="6" name="Group 24"/>
          <p:cNvGrpSpPr/>
          <p:nvPr/>
        </p:nvGrpSpPr>
        <p:grpSpPr>
          <a:xfrm>
            <a:off x="4648200" y="3581400"/>
            <a:ext cx="1355725" cy="908050"/>
            <a:chOff x="2962" y="2211"/>
            <a:chExt cx="854" cy="572"/>
          </a:xfrm>
        </p:grpSpPr>
        <p:sp>
          <p:nvSpPr>
            <p:cNvPr id="15385" name="Line 25"/>
            <p:cNvSpPr/>
            <p:nvPr/>
          </p:nvSpPr>
          <p:spPr>
            <a:xfrm flipH="1">
              <a:off x="2962" y="2479"/>
              <a:ext cx="443" cy="254"/>
            </a:xfrm>
            <a:prstGeom prst="line">
              <a:avLst/>
            </a:prstGeom>
            <a:ln w="22225" cap="flat" cmpd="sng">
              <a:solidFill>
                <a:schemeClr val="tx1"/>
              </a:solidFill>
              <a:prstDash val="solid"/>
              <a:round/>
              <a:headEnd type="none" w="med" len="med"/>
              <a:tailEnd type="none" w="med" len="med"/>
            </a:ln>
          </p:spPr>
        </p:sp>
        <p:sp>
          <p:nvSpPr>
            <p:cNvPr id="15386" name="Line 26"/>
            <p:cNvSpPr/>
            <p:nvPr/>
          </p:nvSpPr>
          <p:spPr>
            <a:xfrm>
              <a:off x="3442" y="2479"/>
              <a:ext cx="374" cy="274"/>
            </a:xfrm>
            <a:prstGeom prst="line">
              <a:avLst/>
            </a:prstGeom>
            <a:ln w="22225" cap="flat" cmpd="sng">
              <a:solidFill>
                <a:schemeClr val="tx1"/>
              </a:solidFill>
              <a:prstDash val="solid"/>
              <a:round/>
              <a:headEnd type="none" w="med" len="med"/>
              <a:tailEnd type="none" w="med" len="med"/>
            </a:ln>
          </p:spPr>
        </p:sp>
        <p:sp>
          <p:nvSpPr>
            <p:cNvPr id="15387" name="Rectangle 27"/>
            <p:cNvSpPr/>
            <p:nvPr/>
          </p:nvSpPr>
          <p:spPr>
            <a:xfrm>
              <a:off x="3338" y="2211"/>
              <a:ext cx="176" cy="317"/>
            </a:xfrm>
            <a:prstGeom prst="rect">
              <a:avLst/>
            </a:prstGeom>
            <a:noFill/>
            <a:ln w="22225">
              <a:noFill/>
            </a:ln>
          </p:spPr>
          <p:txBody>
            <a:bodyPr wrap="none" lIns="0" tIns="0" rIns="0" bIns="0" anchor="t">
              <a:spAutoFit/>
            </a:bodyPr>
            <a:p>
              <a:r>
                <a:rPr lang="en-US" altLang="zh-CN" sz="3300" b="1" u="none" dirty="0">
                  <a:solidFill>
                    <a:schemeClr val="tx1"/>
                  </a:solidFill>
                  <a:latin typeface="Times New Roman" panose="02020603050405020304" pitchFamily="18" charset="0"/>
                </a:rPr>
                <a:t>E</a:t>
              </a:r>
              <a:endParaRPr lang="en-US" altLang="zh-CN" sz="2400" b="1" u="none" dirty="0">
                <a:solidFill>
                  <a:schemeClr val="tx1"/>
                </a:solidFill>
                <a:latin typeface="Times New Roman" panose="02020603050405020304" pitchFamily="18" charset="0"/>
              </a:endParaRPr>
            </a:p>
          </p:txBody>
        </p:sp>
        <p:sp>
          <p:nvSpPr>
            <p:cNvPr id="15388" name="Line 28"/>
            <p:cNvSpPr/>
            <p:nvPr/>
          </p:nvSpPr>
          <p:spPr>
            <a:xfrm flipH="1">
              <a:off x="3346" y="2479"/>
              <a:ext cx="118" cy="304"/>
            </a:xfrm>
            <a:prstGeom prst="line">
              <a:avLst/>
            </a:prstGeom>
            <a:ln w="22225" cap="flat" cmpd="sng">
              <a:solidFill>
                <a:schemeClr val="tx1"/>
              </a:solidFill>
              <a:prstDash val="solid"/>
              <a:round/>
              <a:headEnd type="none" w="med" len="med"/>
              <a:tailEnd type="none" w="med" len="med"/>
            </a:ln>
          </p:spPr>
        </p:sp>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232450">
                                            <p:txEl>
                                              <p:charRg st="0" end="41"/>
                                            </p:txEl>
                                          </p:spTgt>
                                        </p:tgtEl>
                                        <p:attrNameLst>
                                          <p:attrName>style.visibility</p:attrName>
                                        </p:attrNameLst>
                                      </p:cBhvr>
                                      <p:to>
                                        <p:strVal val="visible"/>
                                      </p:to>
                                    </p:set>
                                    <p:animEffect transition="in" filter="strips(downRight)">
                                      <p:cBhvr>
                                        <p:cTn id="7" dur="500"/>
                                        <p:tgtEl>
                                          <p:spTgt spid="232450">
                                            <p:txEl>
                                              <p:charRg st="0" end="4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32450">
                                            <p:txEl>
                                              <p:charRg st="41" end="51"/>
                                            </p:txEl>
                                          </p:spTgt>
                                        </p:tgtEl>
                                        <p:attrNameLst>
                                          <p:attrName>style.visibility</p:attrName>
                                        </p:attrNameLst>
                                      </p:cBhvr>
                                      <p:to>
                                        <p:strVal val="visible"/>
                                      </p:to>
                                    </p:set>
                                    <p:animEffect transition="in" filter="strips(downRight)">
                                      <p:cBhvr>
                                        <p:cTn id="12" dur="500"/>
                                        <p:tgtEl>
                                          <p:spTgt spid="232450">
                                            <p:txEl>
                                              <p:charRg st="41" end="5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232450">
                                            <p:txEl>
                                              <p:charRg st="51" end="61"/>
                                            </p:txEl>
                                          </p:spTgt>
                                        </p:tgtEl>
                                        <p:attrNameLst>
                                          <p:attrName>style.visibility</p:attrName>
                                        </p:attrNameLst>
                                      </p:cBhvr>
                                      <p:to>
                                        <p:strVal val="visible"/>
                                      </p:to>
                                    </p:set>
                                    <p:animEffect transition="in" filter="strips(downRight)">
                                      <p:cBhvr>
                                        <p:cTn id="17" dur="500"/>
                                        <p:tgtEl>
                                          <p:spTgt spid="232450">
                                            <p:txEl>
                                              <p:charRg st="51" end="6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7" presetClass="entr" presetSubtype="4" fill="hold" grpId="0" nodeType="clickEffect">
                                  <p:stCondLst>
                                    <p:cond delay="0"/>
                                  </p:stCondLst>
                                  <p:childTnLst>
                                    <p:set>
                                      <p:cBhvr>
                                        <p:cTn id="21" dur="1" fill="hold">
                                          <p:stCondLst>
                                            <p:cond delay="0"/>
                                          </p:stCondLst>
                                        </p:cTn>
                                        <p:tgtEl>
                                          <p:spTgt spid="232451"/>
                                        </p:tgtEl>
                                        <p:attrNameLst>
                                          <p:attrName>style.visibility</p:attrName>
                                        </p:attrNameLst>
                                      </p:cBhvr>
                                      <p:to>
                                        <p:strVal val="visible"/>
                                      </p:to>
                                    </p:set>
                                    <p:anim calcmode="lin" valueType="num">
                                      <p:cBhvr>
                                        <p:cTn id="22" dur="500" fill="hold"/>
                                        <p:tgtEl>
                                          <p:spTgt spid="232451"/>
                                        </p:tgtEl>
                                        <p:attrNameLst>
                                          <p:attrName>ppt_x</p:attrName>
                                        </p:attrNameLst>
                                      </p:cBhvr>
                                      <p:tavLst>
                                        <p:tav tm="0">
                                          <p:val>
                                            <p:strVal val="#ppt_x"/>
                                          </p:val>
                                        </p:tav>
                                        <p:tav tm="100000">
                                          <p:val>
                                            <p:strVal val="#ppt_x"/>
                                          </p:val>
                                        </p:tav>
                                      </p:tavLst>
                                    </p:anim>
                                    <p:anim calcmode="lin" valueType="num">
                                      <p:cBhvr>
                                        <p:cTn id="23" dur="500" fill="hold"/>
                                        <p:tgtEl>
                                          <p:spTgt spid="232451"/>
                                        </p:tgtEl>
                                        <p:attrNameLst>
                                          <p:attrName>ppt_y</p:attrName>
                                        </p:attrNameLst>
                                      </p:cBhvr>
                                      <p:tavLst>
                                        <p:tav tm="0">
                                          <p:val>
                                            <p:strVal val="#ppt_y+#ppt_h/2"/>
                                          </p:val>
                                        </p:tav>
                                        <p:tav tm="100000">
                                          <p:val>
                                            <p:strVal val="#ppt_y"/>
                                          </p:val>
                                        </p:tav>
                                      </p:tavLst>
                                    </p:anim>
                                    <p:anim calcmode="lin" valueType="num">
                                      <p:cBhvr>
                                        <p:cTn id="24" dur="500" fill="hold"/>
                                        <p:tgtEl>
                                          <p:spTgt spid="232451"/>
                                        </p:tgtEl>
                                        <p:attrNameLst>
                                          <p:attrName>ppt_w</p:attrName>
                                        </p:attrNameLst>
                                      </p:cBhvr>
                                      <p:tavLst>
                                        <p:tav tm="0">
                                          <p:val>
                                            <p:strVal val="#ppt_w"/>
                                          </p:val>
                                        </p:tav>
                                        <p:tav tm="100000">
                                          <p:val>
                                            <p:strVal val="#ppt_w"/>
                                          </p:val>
                                        </p:tav>
                                      </p:tavLst>
                                    </p:anim>
                                    <p:anim calcmode="lin" valueType="num">
                                      <p:cBhvr>
                                        <p:cTn id="25" dur="500" fill="hold"/>
                                        <p:tgtEl>
                                          <p:spTgt spid="232451"/>
                                        </p:tgtEl>
                                        <p:attrNameLst>
                                          <p:attrName>ppt_h</p:attrName>
                                        </p:attrNameLst>
                                      </p:cBhvr>
                                      <p:tavLst>
                                        <p:tav tm="0">
                                          <p:val>
                                            <p:fltVal val="0.000000"/>
                                          </p:val>
                                        </p:tav>
                                        <p:tav tm="100000">
                                          <p:val>
                                            <p:strVal val="#ppt_h"/>
                                          </p:val>
                                        </p:tav>
                                      </p:tavLst>
                                    </p:anim>
                                  </p:childTnLst>
                                </p:cTn>
                              </p:par>
                            </p:childTnLst>
                          </p:cTn>
                        </p:par>
                      </p:childTnLst>
                    </p:cTn>
                  </p:par>
                  <p:par>
                    <p:cTn id="26" fill="hold">
                      <p:stCondLst>
                        <p:cond delay="indefinite"/>
                      </p:stCondLst>
                      <p:childTnLst>
                        <p:par>
                          <p:cTn id="27" fill="hold">
                            <p:stCondLst>
                              <p:cond delay="0"/>
                            </p:stCondLst>
                            <p:childTnLst>
                              <p:par>
                                <p:cTn id="28" presetID="17" presetClass="entr" presetSubtype="4" fill="hold" nodeType="clickEffect">
                                  <p:stCondLst>
                                    <p:cond delay="0"/>
                                  </p:stCondLst>
                                  <p:childTnLst>
                                    <p:set>
                                      <p:cBhvr>
                                        <p:cTn id="29" dur="1" fill="hold">
                                          <p:stCondLst>
                                            <p:cond delay="0"/>
                                          </p:stCondLst>
                                        </p:cTn>
                                        <p:tgtEl>
                                          <p:spTgt spid="4"/>
                                        </p:tgtEl>
                                        <p:attrNameLst>
                                          <p:attrName>style.visibility</p:attrName>
                                        </p:attrNameLst>
                                      </p:cBhvr>
                                      <p:to>
                                        <p:strVal val="visible"/>
                                      </p:to>
                                    </p:set>
                                    <p:anim calcmode="lin" valueType="num">
                                      <p:cBhvr>
                                        <p:cTn id="30" dur="500" fill="hold"/>
                                        <p:tgtEl>
                                          <p:spTgt spid="4"/>
                                        </p:tgtEl>
                                        <p:attrNameLst>
                                          <p:attrName>ppt_x</p:attrName>
                                        </p:attrNameLst>
                                      </p:cBhvr>
                                      <p:tavLst>
                                        <p:tav tm="0">
                                          <p:val>
                                            <p:strVal val="#ppt_x"/>
                                          </p:val>
                                        </p:tav>
                                        <p:tav tm="100000">
                                          <p:val>
                                            <p:strVal val="#ppt_x"/>
                                          </p:val>
                                        </p:tav>
                                      </p:tavLst>
                                    </p:anim>
                                    <p:anim calcmode="lin" valueType="num">
                                      <p:cBhvr>
                                        <p:cTn id="31" dur="500" fill="hold"/>
                                        <p:tgtEl>
                                          <p:spTgt spid="4"/>
                                        </p:tgtEl>
                                        <p:attrNameLst>
                                          <p:attrName>ppt_y</p:attrName>
                                        </p:attrNameLst>
                                      </p:cBhvr>
                                      <p:tavLst>
                                        <p:tav tm="0">
                                          <p:val>
                                            <p:strVal val="#ppt_y+#ppt_h/2"/>
                                          </p:val>
                                        </p:tav>
                                        <p:tav tm="100000">
                                          <p:val>
                                            <p:strVal val="#ppt_y"/>
                                          </p:val>
                                        </p:tav>
                                      </p:tavLst>
                                    </p:anim>
                                    <p:anim calcmode="lin" valueType="num">
                                      <p:cBhvr>
                                        <p:cTn id="32" dur="500" fill="hold"/>
                                        <p:tgtEl>
                                          <p:spTgt spid="4"/>
                                        </p:tgtEl>
                                        <p:attrNameLst>
                                          <p:attrName>ppt_w</p:attrName>
                                        </p:attrNameLst>
                                      </p:cBhvr>
                                      <p:tavLst>
                                        <p:tav tm="0">
                                          <p:val>
                                            <p:strVal val="#ppt_w"/>
                                          </p:val>
                                        </p:tav>
                                        <p:tav tm="100000">
                                          <p:val>
                                            <p:strVal val="#ppt_w"/>
                                          </p:val>
                                        </p:tav>
                                      </p:tavLst>
                                    </p:anim>
                                    <p:anim calcmode="lin" valueType="num">
                                      <p:cBhvr>
                                        <p:cTn id="33" dur="500" fill="hold"/>
                                        <p:tgtEl>
                                          <p:spTgt spid="4"/>
                                        </p:tgtEl>
                                        <p:attrNameLst>
                                          <p:attrName>ppt_h</p:attrName>
                                        </p:attrNameLst>
                                      </p:cBhvr>
                                      <p:tavLst>
                                        <p:tav tm="0">
                                          <p:val>
                                            <p:fltVal val="0.000000"/>
                                          </p:val>
                                        </p:tav>
                                        <p:tav tm="100000">
                                          <p:val>
                                            <p:strVal val="#ppt_h"/>
                                          </p:val>
                                        </p:tav>
                                      </p:tavLst>
                                    </p:anim>
                                  </p:childTnLst>
                                </p:cTn>
                              </p:par>
                            </p:childTnLst>
                          </p:cTn>
                        </p:par>
                      </p:childTnLst>
                    </p:cTn>
                  </p:par>
                  <p:par>
                    <p:cTn id="34" fill="hold">
                      <p:stCondLst>
                        <p:cond delay="indefinite"/>
                      </p:stCondLst>
                      <p:childTnLst>
                        <p:par>
                          <p:cTn id="35" fill="hold">
                            <p:stCondLst>
                              <p:cond delay="0"/>
                            </p:stCondLst>
                            <p:childTnLst>
                              <p:par>
                                <p:cTn id="36" presetID="18" presetClass="entr" presetSubtype="6" fill="hold" grpId="0" nodeType="clickEffect">
                                  <p:stCondLst>
                                    <p:cond delay="0"/>
                                  </p:stCondLst>
                                  <p:childTnLst>
                                    <p:set>
                                      <p:cBhvr>
                                        <p:cTn id="37" dur="1" fill="hold">
                                          <p:stCondLst>
                                            <p:cond delay="0"/>
                                          </p:stCondLst>
                                        </p:cTn>
                                        <p:tgtEl>
                                          <p:spTgt spid="232450">
                                            <p:txEl>
                                              <p:charRg st="61" end="71"/>
                                            </p:txEl>
                                          </p:spTgt>
                                        </p:tgtEl>
                                        <p:attrNameLst>
                                          <p:attrName>style.visibility</p:attrName>
                                        </p:attrNameLst>
                                      </p:cBhvr>
                                      <p:to>
                                        <p:strVal val="visible"/>
                                      </p:to>
                                    </p:set>
                                    <p:animEffect transition="in" filter="strips(downRight)">
                                      <p:cBhvr>
                                        <p:cTn id="38" dur="500"/>
                                        <p:tgtEl>
                                          <p:spTgt spid="232450">
                                            <p:txEl>
                                              <p:charRg st="61" end="71"/>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7" presetClass="entr" presetSubtype="4" fill="hold" grpId="0" nodeType="clickEffect">
                                  <p:stCondLst>
                                    <p:cond delay="0"/>
                                  </p:stCondLst>
                                  <p:childTnLst>
                                    <p:set>
                                      <p:cBhvr>
                                        <p:cTn id="42" dur="1" fill="hold">
                                          <p:stCondLst>
                                            <p:cond delay="0"/>
                                          </p:stCondLst>
                                        </p:cTn>
                                        <p:tgtEl>
                                          <p:spTgt spid="232459"/>
                                        </p:tgtEl>
                                        <p:attrNameLst>
                                          <p:attrName>style.visibility</p:attrName>
                                        </p:attrNameLst>
                                      </p:cBhvr>
                                      <p:to>
                                        <p:strVal val="visible"/>
                                      </p:to>
                                    </p:set>
                                    <p:anim calcmode="lin" valueType="num">
                                      <p:cBhvr>
                                        <p:cTn id="43" dur="500" fill="hold"/>
                                        <p:tgtEl>
                                          <p:spTgt spid="232459"/>
                                        </p:tgtEl>
                                        <p:attrNameLst>
                                          <p:attrName>ppt_x</p:attrName>
                                        </p:attrNameLst>
                                      </p:cBhvr>
                                      <p:tavLst>
                                        <p:tav tm="0">
                                          <p:val>
                                            <p:strVal val="#ppt_x"/>
                                          </p:val>
                                        </p:tav>
                                        <p:tav tm="100000">
                                          <p:val>
                                            <p:strVal val="#ppt_x"/>
                                          </p:val>
                                        </p:tav>
                                      </p:tavLst>
                                    </p:anim>
                                    <p:anim calcmode="lin" valueType="num">
                                      <p:cBhvr>
                                        <p:cTn id="44" dur="500" fill="hold"/>
                                        <p:tgtEl>
                                          <p:spTgt spid="232459"/>
                                        </p:tgtEl>
                                        <p:attrNameLst>
                                          <p:attrName>ppt_y</p:attrName>
                                        </p:attrNameLst>
                                      </p:cBhvr>
                                      <p:tavLst>
                                        <p:tav tm="0">
                                          <p:val>
                                            <p:strVal val="#ppt_y+#ppt_h/2"/>
                                          </p:val>
                                        </p:tav>
                                        <p:tav tm="100000">
                                          <p:val>
                                            <p:strVal val="#ppt_y"/>
                                          </p:val>
                                        </p:tav>
                                      </p:tavLst>
                                    </p:anim>
                                    <p:anim calcmode="lin" valueType="num">
                                      <p:cBhvr>
                                        <p:cTn id="45" dur="500" fill="hold"/>
                                        <p:tgtEl>
                                          <p:spTgt spid="232459"/>
                                        </p:tgtEl>
                                        <p:attrNameLst>
                                          <p:attrName>ppt_w</p:attrName>
                                        </p:attrNameLst>
                                      </p:cBhvr>
                                      <p:tavLst>
                                        <p:tav tm="0">
                                          <p:val>
                                            <p:strVal val="#ppt_w"/>
                                          </p:val>
                                        </p:tav>
                                        <p:tav tm="100000">
                                          <p:val>
                                            <p:strVal val="#ppt_w"/>
                                          </p:val>
                                        </p:tav>
                                      </p:tavLst>
                                    </p:anim>
                                    <p:anim calcmode="lin" valueType="num">
                                      <p:cBhvr>
                                        <p:cTn id="46" dur="500" fill="hold"/>
                                        <p:tgtEl>
                                          <p:spTgt spid="232459"/>
                                        </p:tgtEl>
                                        <p:attrNameLst>
                                          <p:attrName>ppt_h</p:attrName>
                                        </p:attrNameLst>
                                      </p:cBhvr>
                                      <p:tavLst>
                                        <p:tav tm="0">
                                          <p:val>
                                            <p:fltVal val="0.000000"/>
                                          </p:val>
                                        </p:tav>
                                        <p:tav tm="100000">
                                          <p:val>
                                            <p:strVal val="#ppt_h"/>
                                          </p:val>
                                        </p:tav>
                                      </p:tavLst>
                                    </p:anim>
                                  </p:childTnLst>
                                </p:cTn>
                              </p:par>
                            </p:childTnLst>
                          </p:cTn>
                        </p:par>
                      </p:childTnLst>
                    </p:cTn>
                  </p:par>
                  <p:par>
                    <p:cTn id="47" fill="hold">
                      <p:stCondLst>
                        <p:cond delay="indefinite"/>
                      </p:stCondLst>
                      <p:childTnLst>
                        <p:par>
                          <p:cTn id="48" fill="hold">
                            <p:stCondLst>
                              <p:cond delay="0"/>
                            </p:stCondLst>
                            <p:childTnLst>
                              <p:par>
                                <p:cTn id="49" presetID="17" presetClass="entr" presetSubtype="4" fill="hold" nodeType="clickEffect">
                                  <p:stCondLst>
                                    <p:cond delay="0"/>
                                  </p:stCondLst>
                                  <p:childTnLst>
                                    <p:set>
                                      <p:cBhvr>
                                        <p:cTn id="50" dur="1" fill="hold">
                                          <p:stCondLst>
                                            <p:cond delay="0"/>
                                          </p:stCondLst>
                                        </p:cTn>
                                        <p:tgtEl>
                                          <p:spTgt spid="5"/>
                                        </p:tgtEl>
                                        <p:attrNameLst>
                                          <p:attrName>style.visibility</p:attrName>
                                        </p:attrNameLst>
                                      </p:cBhvr>
                                      <p:to>
                                        <p:strVal val="visible"/>
                                      </p:to>
                                    </p:set>
                                    <p:anim calcmode="lin" valueType="num">
                                      <p:cBhvr>
                                        <p:cTn id="51" dur="500" fill="hold"/>
                                        <p:tgtEl>
                                          <p:spTgt spid="5"/>
                                        </p:tgtEl>
                                        <p:attrNameLst>
                                          <p:attrName>ppt_x</p:attrName>
                                        </p:attrNameLst>
                                      </p:cBhvr>
                                      <p:tavLst>
                                        <p:tav tm="0">
                                          <p:val>
                                            <p:strVal val="#ppt_x"/>
                                          </p:val>
                                        </p:tav>
                                        <p:tav tm="100000">
                                          <p:val>
                                            <p:strVal val="#ppt_x"/>
                                          </p:val>
                                        </p:tav>
                                      </p:tavLst>
                                    </p:anim>
                                    <p:anim calcmode="lin" valueType="num">
                                      <p:cBhvr>
                                        <p:cTn id="52" dur="500" fill="hold"/>
                                        <p:tgtEl>
                                          <p:spTgt spid="5"/>
                                        </p:tgtEl>
                                        <p:attrNameLst>
                                          <p:attrName>ppt_y</p:attrName>
                                        </p:attrNameLst>
                                      </p:cBhvr>
                                      <p:tavLst>
                                        <p:tav tm="0">
                                          <p:val>
                                            <p:strVal val="#ppt_y+#ppt_h/2"/>
                                          </p:val>
                                        </p:tav>
                                        <p:tav tm="100000">
                                          <p:val>
                                            <p:strVal val="#ppt_y"/>
                                          </p:val>
                                        </p:tav>
                                      </p:tavLst>
                                    </p:anim>
                                    <p:anim calcmode="lin" valueType="num">
                                      <p:cBhvr>
                                        <p:cTn id="53" dur="500" fill="hold"/>
                                        <p:tgtEl>
                                          <p:spTgt spid="5"/>
                                        </p:tgtEl>
                                        <p:attrNameLst>
                                          <p:attrName>ppt_w</p:attrName>
                                        </p:attrNameLst>
                                      </p:cBhvr>
                                      <p:tavLst>
                                        <p:tav tm="0">
                                          <p:val>
                                            <p:strVal val="#ppt_w"/>
                                          </p:val>
                                        </p:tav>
                                        <p:tav tm="100000">
                                          <p:val>
                                            <p:strVal val="#ppt_w"/>
                                          </p:val>
                                        </p:tav>
                                      </p:tavLst>
                                    </p:anim>
                                    <p:anim calcmode="lin" valueType="num">
                                      <p:cBhvr>
                                        <p:cTn id="54" dur="500" fill="hold"/>
                                        <p:tgtEl>
                                          <p:spTgt spid="5"/>
                                        </p:tgtEl>
                                        <p:attrNameLst>
                                          <p:attrName>ppt_h</p:attrName>
                                        </p:attrNameLst>
                                      </p:cBhvr>
                                      <p:tavLst>
                                        <p:tav tm="0">
                                          <p:val>
                                            <p:fltVal val="0.000000"/>
                                          </p:val>
                                        </p:tav>
                                        <p:tav tm="100000">
                                          <p:val>
                                            <p:strVal val="#ppt_h"/>
                                          </p:val>
                                        </p:tav>
                                      </p:tavLst>
                                    </p:anim>
                                  </p:childTnLst>
                                </p:cTn>
                              </p:par>
                            </p:childTnLst>
                          </p:cTn>
                        </p:par>
                      </p:childTnLst>
                    </p:cTn>
                  </p:par>
                  <p:par>
                    <p:cTn id="55" fill="hold">
                      <p:stCondLst>
                        <p:cond delay="indefinite"/>
                      </p:stCondLst>
                      <p:childTnLst>
                        <p:par>
                          <p:cTn id="56" fill="hold">
                            <p:stCondLst>
                              <p:cond delay="0"/>
                            </p:stCondLst>
                            <p:childTnLst>
                              <p:par>
                                <p:cTn id="57" presetID="18" presetClass="entr" presetSubtype="6" fill="hold" grpId="0" nodeType="clickEffect">
                                  <p:stCondLst>
                                    <p:cond delay="0"/>
                                  </p:stCondLst>
                                  <p:childTnLst>
                                    <p:set>
                                      <p:cBhvr>
                                        <p:cTn id="58" dur="1" fill="hold">
                                          <p:stCondLst>
                                            <p:cond delay="0"/>
                                          </p:stCondLst>
                                        </p:cTn>
                                        <p:tgtEl>
                                          <p:spTgt spid="232450">
                                            <p:txEl>
                                              <p:charRg st="71" end="79"/>
                                            </p:txEl>
                                          </p:spTgt>
                                        </p:tgtEl>
                                        <p:attrNameLst>
                                          <p:attrName>style.visibility</p:attrName>
                                        </p:attrNameLst>
                                      </p:cBhvr>
                                      <p:to>
                                        <p:strVal val="visible"/>
                                      </p:to>
                                    </p:set>
                                    <p:animEffect transition="in" filter="strips(downRight)">
                                      <p:cBhvr>
                                        <p:cTn id="59" dur="500"/>
                                        <p:tgtEl>
                                          <p:spTgt spid="232450">
                                            <p:txEl>
                                              <p:charRg st="71" end="79"/>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17" presetClass="entr" presetSubtype="4" fill="hold" grpId="0" nodeType="clickEffect">
                                  <p:stCondLst>
                                    <p:cond delay="0"/>
                                  </p:stCondLst>
                                  <p:childTnLst>
                                    <p:set>
                                      <p:cBhvr>
                                        <p:cTn id="63" dur="1" fill="hold">
                                          <p:stCondLst>
                                            <p:cond delay="0"/>
                                          </p:stCondLst>
                                        </p:cTn>
                                        <p:tgtEl>
                                          <p:spTgt spid="232453"/>
                                        </p:tgtEl>
                                        <p:attrNameLst>
                                          <p:attrName>style.visibility</p:attrName>
                                        </p:attrNameLst>
                                      </p:cBhvr>
                                      <p:to>
                                        <p:strVal val="visible"/>
                                      </p:to>
                                    </p:set>
                                    <p:anim calcmode="lin" valueType="num">
                                      <p:cBhvr>
                                        <p:cTn id="64" dur="500" fill="hold"/>
                                        <p:tgtEl>
                                          <p:spTgt spid="232453"/>
                                        </p:tgtEl>
                                        <p:attrNameLst>
                                          <p:attrName>ppt_x</p:attrName>
                                        </p:attrNameLst>
                                      </p:cBhvr>
                                      <p:tavLst>
                                        <p:tav tm="0">
                                          <p:val>
                                            <p:strVal val="#ppt_x"/>
                                          </p:val>
                                        </p:tav>
                                        <p:tav tm="100000">
                                          <p:val>
                                            <p:strVal val="#ppt_x"/>
                                          </p:val>
                                        </p:tav>
                                      </p:tavLst>
                                    </p:anim>
                                    <p:anim calcmode="lin" valueType="num">
                                      <p:cBhvr>
                                        <p:cTn id="65" dur="500" fill="hold"/>
                                        <p:tgtEl>
                                          <p:spTgt spid="232453"/>
                                        </p:tgtEl>
                                        <p:attrNameLst>
                                          <p:attrName>ppt_y</p:attrName>
                                        </p:attrNameLst>
                                      </p:cBhvr>
                                      <p:tavLst>
                                        <p:tav tm="0">
                                          <p:val>
                                            <p:strVal val="#ppt_y+#ppt_h/2"/>
                                          </p:val>
                                        </p:tav>
                                        <p:tav tm="100000">
                                          <p:val>
                                            <p:strVal val="#ppt_y"/>
                                          </p:val>
                                        </p:tav>
                                      </p:tavLst>
                                    </p:anim>
                                    <p:anim calcmode="lin" valueType="num">
                                      <p:cBhvr>
                                        <p:cTn id="66" dur="500" fill="hold"/>
                                        <p:tgtEl>
                                          <p:spTgt spid="232453"/>
                                        </p:tgtEl>
                                        <p:attrNameLst>
                                          <p:attrName>ppt_w</p:attrName>
                                        </p:attrNameLst>
                                      </p:cBhvr>
                                      <p:tavLst>
                                        <p:tav tm="0">
                                          <p:val>
                                            <p:strVal val="#ppt_w"/>
                                          </p:val>
                                        </p:tav>
                                        <p:tav tm="100000">
                                          <p:val>
                                            <p:strVal val="#ppt_w"/>
                                          </p:val>
                                        </p:tav>
                                      </p:tavLst>
                                    </p:anim>
                                    <p:anim calcmode="lin" valueType="num">
                                      <p:cBhvr>
                                        <p:cTn id="67" dur="500" fill="hold"/>
                                        <p:tgtEl>
                                          <p:spTgt spid="232453"/>
                                        </p:tgtEl>
                                        <p:attrNameLst>
                                          <p:attrName>ppt_h</p:attrName>
                                        </p:attrNameLst>
                                      </p:cBhvr>
                                      <p:tavLst>
                                        <p:tav tm="0">
                                          <p:val>
                                            <p:fltVal val="0.000000"/>
                                          </p:val>
                                        </p:tav>
                                        <p:tav tm="100000">
                                          <p:val>
                                            <p:strVal val="#ppt_h"/>
                                          </p:val>
                                        </p:tav>
                                      </p:tavLst>
                                    </p:anim>
                                  </p:childTnLst>
                                </p:cTn>
                              </p:par>
                            </p:childTnLst>
                          </p:cTn>
                        </p:par>
                      </p:childTnLst>
                    </p:cTn>
                  </p:par>
                  <p:par>
                    <p:cTn id="68" fill="hold">
                      <p:stCondLst>
                        <p:cond delay="indefinite"/>
                      </p:stCondLst>
                      <p:childTnLst>
                        <p:par>
                          <p:cTn id="69" fill="hold">
                            <p:stCondLst>
                              <p:cond delay="0"/>
                            </p:stCondLst>
                            <p:childTnLst>
                              <p:par>
                                <p:cTn id="70" presetID="17" presetClass="entr" presetSubtype="4" fill="hold" nodeType="clickEffect">
                                  <p:stCondLst>
                                    <p:cond delay="0"/>
                                  </p:stCondLst>
                                  <p:childTnLst>
                                    <p:set>
                                      <p:cBhvr>
                                        <p:cTn id="71" dur="1" fill="hold">
                                          <p:stCondLst>
                                            <p:cond delay="0"/>
                                          </p:stCondLst>
                                        </p:cTn>
                                        <p:tgtEl>
                                          <p:spTgt spid="6"/>
                                        </p:tgtEl>
                                        <p:attrNameLst>
                                          <p:attrName>style.visibility</p:attrName>
                                        </p:attrNameLst>
                                      </p:cBhvr>
                                      <p:to>
                                        <p:strVal val="visible"/>
                                      </p:to>
                                    </p:set>
                                    <p:anim calcmode="lin" valueType="num">
                                      <p:cBhvr>
                                        <p:cTn id="72" dur="500" fill="hold"/>
                                        <p:tgtEl>
                                          <p:spTgt spid="6"/>
                                        </p:tgtEl>
                                        <p:attrNameLst>
                                          <p:attrName>ppt_x</p:attrName>
                                        </p:attrNameLst>
                                      </p:cBhvr>
                                      <p:tavLst>
                                        <p:tav tm="0">
                                          <p:val>
                                            <p:strVal val="#ppt_x"/>
                                          </p:val>
                                        </p:tav>
                                        <p:tav tm="100000">
                                          <p:val>
                                            <p:strVal val="#ppt_x"/>
                                          </p:val>
                                        </p:tav>
                                      </p:tavLst>
                                    </p:anim>
                                    <p:anim calcmode="lin" valueType="num">
                                      <p:cBhvr>
                                        <p:cTn id="73" dur="500" fill="hold"/>
                                        <p:tgtEl>
                                          <p:spTgt spid="6"/>
                                        </p:tgtEl>
                                        <p:attrNameLst>
                                          <p:attrName>ppt_y</p:attrName>
                                        </p:attrNameLst>
                                      </p:cBhvr>
                                      <p:tavLst>
                                        <p:tav tm="0">
                                          <p:val>
                                            <p:strVal val="#ppt_y+#ppt_h/2"/>
                                          </p:val>
                                        </p:tav>
                                        <p:tav tm="100000">
                                          <p:val>
                                            <p:strVal val="#ppt_y"/>
                                          </p:val>
                                        </p:tav>
                                      </p:tavLst>
                                    </p:anim>
                                    <p:anim calcmode="lin" valueType="num">
                                      <p:cBhvr>
                                        <p:cTn id="74" dur="500" fill="hold"/>
                                        <p:tgtEl>
                                          <p:spTgt spid="6"/>
                                        </p:tgtEl>
                                        <p:attrNameLst>
                                          <p:attrName>ppt_w</p:attrName>
                                        </p:attrNameLst>
                                      </p:cBhvr>
                                      <p:tavLst>
                                        <p:tav tm="0">
                                          <p:val>
                                            <p:strVal val="#ppt_w"/>
                                          </p:val>
                                        </p:tav>
                                        <p:tav tm="100000">
                                          <p:val>
                                            <p:strVal val="#ppt_w"/>
                                          </p:val>
                                        </p:tav>
                                      </p:tavLst>
                                    </p:anim>
                                    <p:anim calcmode="lin" valueType="num">
                                      <p:cBhvr>
                                        <p:cTn id="75" dur="500" fill="hold"/>
                                        <p:tgtEl>
                                          <p:spTgt spid="6"/>
                                        </p:tgtEl>
                                        <p:attrNameLst>
                                          <p:attrName>ppt_h</p:attrName>
                                        </p:attrNameLst>
                                      </p:cBhvr>
                                      <p:tavLst>
                                        <p:tav tm="0">
                                          <p:val>
                                            <p:fltVal val="0.000000"/>
                                          </p:val>
                                        </p:tav>
                                        <p:tav tm="100000">
                                          <p:val>
                                            <p:strVal val="#ppt_h"/>
                                          </p:val>
                                        </p:tav>
                                      </p:tavLst>
                                    </p:anim>
                                  </p:childTnLst>
                                </p:cTn>
                              </p:par>
                            </p:childTnLst>
                          </p:cTn>
                        </p:par>
                      </p:childTnLst>
                    </p:cTn>
                  </p:par>
                  <p:par>
                    <p:cTn id="76" fill="hold">
                      <p:stCondLst>
                        <p:cond delay="indefinite"/>
                      </p:stCondLst>
                      <p:childTnLst>
                        <p:par>
                          <p:cTn id="77" fill="hold">
                            <p:stCondLst>
                              <p:cond delay="0"/>
                            </p:stCondLst>
                            <p:childTnLst>
                              <p:par>
                                <p:cTn id="78" presetID="18" presetClass="entr" presetSubtype="6" fill="hold" grpId="0" nodeType="clickEffect">
                                  <p:stCondLst>
                                    <p:cond delay="0"/>
                                  </p:stCondLst>
                                  <p:childTnLst>
                                    <p:set>
                                      <p:cBhvr>
                                        <p:cTn id="79" dur="1" fill="hold">
                                          <p:stCondLst>
                                            <p:cond delay="0"/>
                                          </p:stCondLst>
                                        </p:cTn>
                                        <p:tgtEl>
                                          <p:spTgt spid="232450">
                                            <p:txEl>
                                              <p:charRg st="79" end="87"/>
                                            </p:txEl>
                                          </p:spTgt>
                                        </p:tgtEl>
                                        <p:attrNameLst>
                                          <p:attrName>style.visibility</p:attrName>
                                        </p:attrNameLst>
                                      </p:cBhvr>
                                      <p:to>
                                        <p:strVal val="visible"/>
                                      </p:to>
                                    </p:set>
                                    <p:animEffect transition="in" filter="strips(downRight)">
                                      <p:cBhvr>
                                        <p:cTn id="80" dur="500"/>
                                        <p:tgtEl>
                                          <p:spTgt spid="232450">
                                            <p:txEl>
                                              <p:charRg st="79" end="87"/>
                                            </p:txEl>
                                          </p:spTgt>
                                        </p:tgtEl>
                                      </p:cBhvr>
                                    </p:animEffect>
                                  </p:childTnLst>
                                </p:cTn>
                              </p:par>
                            </p:childTnLst>
                          </p:cTn>
                        </p:par>
                      </p:childTnLst>
                    </p:cTn>
                  </p:par>
                  <p:par>
                    <p:cTn id="81" fill="hold">
                      <p:stCondLst>
                        <p:cond delay="indefinite"/>
                      </p:stCondLst>
                      <p:childTnLst>
                        <p:par>
                          <p:cTn id="82" fill="hold">
                            <p:stCondLst>
                              <p:cond delay="0"/>
                            </p:stCondLst>
                            <p:childTnLst>
                              <p:par>
                                <p:cTn id="83" presetID="17" presetClass="entr" presetSubtype="4" fill="hold" grpId="0" nodeType="clickEffect">
                                  <p:stCondLst>
                                    <p:cond delay="0"/>
                                  </p:stCondLst>
                                  <p:childTnLst>
                                    <p:set>
                                      <p:cBhvr>
                                        <p:cTn id="84" dur="1" fill="hold">
                                          <p:stCondLst>
                                            <p:cond delay="0"/>
                                          </p:stCondLst>
                                        </p:cTn>
                                        <p:tgtEl>
                                          <p:spTgt spid="232460"/>
                                        </p:tgtEl>
                                        <p:attrNameLst>
                                          <p:attrName>style.visibility</p:attrName>
                                        </p:attrNameLst>
                                      </p:cBhvr>
                                      <p:to>
                                        <p:strVal val="visible"/>
                                      </p:to>
                                    </p:set>
                                    <p:anim calcmode="lin" valueType="num">
                                      <p:cBhvr>
                                        <p:cTn id="85" dur="500" fill="hold"/>
                                        <p:tgtEl>
                                          <p:spTgt spid="232460"/>
                                        </p:tgtEl>
                                        <p:attrNameLst>
                                          <p:attrName>ppt_x</p:attrName>
                                        </p:attrNameLst>
                                      </p:cBhvr>
                                      <p:tavLst>
                                        <p:tav tm="0">
                                          <p:val>
                                            <p:strVal val="#ppt_x"/>
                                          </p:val>
                                        </p:tav>
                                        <p:tav tm="100000">
                                          <p:val>
                                            <p:strVal val="#ppt_x"/>
                                          </p:val>
                                        </p:tav>
                                      </p:tavLst>
                                    </p:anim>
                                    <p:anim calcmode="lin" valueType="num">
                                      <p:cBhvr>
                                        <p:cTn id="86" dur="500" fill="hold"/>
                                        <p:tgtEl>
                                          <p:spTgt spid="232460"/>
                                        </p:tgtEl>
                                        <p:attrNameLst>
                                          <p:attrName>ppt_y</p:attrName>
                                        </p:attrNameLst>
                                      </p:cBhvr>
                                      <p:tavLst>
                                        <p:tav tm="0">
                                          <p:val>
                                            <p:strVal val="#ppt_y+#ppt_h/2"/>
                                          </p:val>
                                        </p:tav>
                                        <p:tav tm="100000">
                                          <p:val>
                                            <p:strVal val="#ppt_y"/>
                                          </p:val>
                                        </p:tav>
                                      </p:tavLst>
                                    </p:anim>
                                    <p:anim calcmode="lin" valueType="num">
                                      <p:cBhvr>
                                        <p:cTn id="87" dur="500" fill="hold"/>
                                        <p:tgtEl>
                                          <p:spTgt spid="232460"/>
                                        </p:tgtEl>
                                        <p:attrNameLst>
                                          <p:attrName>ppt_w</p:attrName>
                                        </p:attrNameLst>
                                      </p:cBhvr>
                                      <p:tavLst>
                                        <p:tav tm="0">
                                          <p:val>
                                            <p:strVal val="#ppt_w"/>
                                          </p:val>
                                        </p:tav>
                                        <p:tav tm="100000">
                                          <p:val>
                                            <p:strVal val="#ppt_w"/>
                                          </p:val>
                                        </p:tav>
                                      </p:tavLst>
                                    </p:anim>
                                    <p:anim calcmode="lin" valueType="num">
                                      <p:cBhvr>
                                        <p:cTn id="88" dur="500" fill="hold"/>
                                        <p:tgtEl>
                                          <p:spTgt spid="232460"/>
                                        </p:tgtEl>
                                        <p:attrNameLst>
                                          <p:attrName>ppt_h</p:attrName>
                                        </p:attrNameLst>
                                      </p:cBhvr>
                                      <p:tavLst>
                                        <p:tav tm="0">
                                          <p:val>
                                            <p:fltVal val="0.000000"/>
                                          </p:val>
                                        </p:tav>
                                        <p:tav tm="100000">
                                          <p:val>
                                            <p:strVal val="#ppt_h"/>
                                          </p:val>
                                        </p:tav>
                                      </p:tavLst>
                                    </p:anim>
                                  </p:childTnLst>
                                </p:cTn>
                              </p:par>
                            </p:childTnLst>
                          </p:cTn>
                        </p:par>
                      </p:childTnLst>
                    </p:cTn>
                  </p:par>
                  <p:par>
                    <p:cTn id="89" fill="hold">
                      <p:stCondLst>
                        <p:cond delay="indefinite"/>
                      </p:stCondLst>
                      <p:childTnLst>
                        <p:par>
                          <p:cTn id="90" fill="hold">
                            <p:stCondLst>
                              <p:cond delay="0"/>
                            </p:stCondLst>
                            <p:childTnLst>
                              <p:par>
                                <p:cTn id="91" presetID="17" presetClass="entr" presetSubtype="4" fill="hold" nodeType="clickEffect">
                                  <p:stCondLst>
                                    <p:cond delay="0"/>
                                  </p:stCondLst>
                                  <p:childTnLst>
                                    <p:set>
                                      <p:cBhvr>
                                        <p:cTn id="92" dur="1" fill="hold">
                                          <p:stCondLst>
                                            <p:cond delay="0"/>
                                          </p:stCondLst>
                                        </p:cTn>
                                        <p:tgtEl>
                                          <p:spTgt spid="3"/>
                                        </p:tgtEl>
                                        <p:attrNameLst>
                                          <p:attrName>style.visibility</p:attrName>
                                        </p:attrNameLst>
                                      </p:cBhvr>
                                      <p:to>
                                        <p:strVal val="visible"/>
                                      </p:to>
                                    </p:set>
                                    <p:anim calcmode="lin" valueType="num">
                                      <p:cBhvr>
                                        <p:cTn id="93" dur="500" fill="hold"/>
                                        <p:tgtEl>
                                          <p:spTgt spid="3"/>
                                        </p:tgtEl>
                                        <p:attrNameLst>
                                          <p:attrName>ppt_x</p:attrName>
                                        </p:attrNameLst>
                                      </p:cBhvr>
                                      <p:tavLst>
                                        <p:tav tm="0">
                                          <p:val>
                                            <p:strVal val="#ppt_x"/>
                                          </p:val>
                                        </p:tav>
                                        <p:tav tm="100000">
                                          <p:val>
                                            <p:strVal val="#ppt_x"/>
                                          </p:val>
                                        </p:tav>
                                      </p:tavLst>
                                    </p:anim>
                                    <p:anim calcmode="lin" valueType="num">
                                      <p:cBhvr>
                                        <p:cTn id="94" dur="500" fill="hold"/>
                                        <p:tgtEl>
                                          <p:spTgt spid="3"/>
                                        </p:tgtEl>
                                        <p:attrNameLst>
                                          <p:attrName>ppt_y</p:attrName>
                                        </p:attrNameLst>
                                      </p:cBhvr>
                                      <p:tavLst>
                                        <p:tav tm="0">
                                          <p:val>
                                            <p:strVal val="#ppt_y+#ppt_h/2"/>
                                          </p:val>
                                        </p:tav>
                                        <p:tav tm="100000">
                                          <p:val>
                                            <p:strVal val="#ppt_y"/>
                                          </p:val>
                                        </p:tav>
                                      </p:tavLst>
                                    </p:anim>
                                    <p:anim calcmode="lin" valueType="num">
                                      <p:cBhvr>
                                        <p:cTn id="95" dur="500" fill="hold"/>
                                        <p:tgtEl>
                                          <p:spTgt spid="3"/>
                                        </p:tgtEl>
                                        <p:attrNameLst>
                                          <p:attrName>ppt_w</p:attrName>
                                        </p:attrNameLst>
                                      </p:cBhvr>
                                      <p:tavLst>
                                        <p:tav tm="0">
                                          <p:val>
                                            <p:strVal val="#ppt_w"/>
                                          </p:val>
                                        </p:tav>
                                        <p:tav tm="100000">
                                          <p:val>
                                            <p:strVal val="#ppt_w"/>
                                          </p:val>
                                        </p:tav>
                                      </p:tavLst>
                                    </p:anim>
                                    <p:anim calcmode="lin" valueType="num">
                                      <p:cBhvr>
                                        <p:cTn id="96" dur="500" fill="hold"/>
                                        <p:tgtEl>
                                          <p:spTgt spid="3"/>
                                        </p:tgtEl>
                                        <p:attrNameLst>
                                          <p:attrName>ppt_h</p:attrName>
                                        </p:attrNameLst>
                                      </p:cBhvr>
                                      <p:tavLst>
                                        <p:tav tm="0">
                                          <p:val>
                                            <p:fltVal val="0.000000"/>
                                          </p:val>
                                        </p:tav>
                                        <p:tav tm="100000">
                                          <p:val>
                                            <p:strVal val="#ppt_h"/>
                                          </p:val>
                                        </p:tav>
                                      </p:tavLst>
                                    </p:anim>
                                  </p:childTnLst>
                                </p:cTn>
                              </p:par>
                            </p:childTnLst>
                          </p:cTn>
                        </p:par>
                      </p:childTnLst>
                    </p:cTn>
                  </p:par>
                  <p:par>
                    <p:cTn id="97" fill="hold">
                      <p:stCondLst>
                        <p:cond delay="indefinite"/>
                      </p:stCondLst>
                      <p:childTnLst>
                        <p:par>
                          <p:cTn id="98" fill="hold">
                            <p:stCondLst>
                              <p:cond delay="0"/>
                            </p:stCondLst>
                            <p:childTnLst>
                              <p:par>
                                <p:cTn id="99" presetID="18" presetClass="entr" presetSubtype="6" fill="hold" grpId="0" nodeType="clickEffect">
                                  <p:stCondLst>
                                    <p:cond delay="0"/>
                                  </p:stCondLst>
                                  <p:childTnLst>
                                    <p:set>
                                      <p:cBhvr>
                                        <p:cTn id="100" dur="1" fill="hold">
                                          <p:stCondLst>
                                            <p:cond delay="0"/>
                                          </p:stCondLst>
                                        </p:cTn>
                                        <p:tgtEl>
                                          <p:spTgt spid="232450">
                                            <p:txEl>
                                              <p:charRg st="87" end="92"/>
                                            </p:txEl>
                                          </p:spTgt>
                                        </p:tgtEl>
                                        <p:attrNameLst>
                                          <p:attrName>style.visibility</p:attrName>
                                        </p:attrNameLst>
                                      </p:cBhvr>
                                      <p:to>
                                        <p:strVal val="visible"/>
                                      </p:to>
                                    </p:set>
                                    <p:animEffect transition="in" filter="strips(downRight)">
                                      <p:cBhvr>
                                        <p:cTn id="101" dur="500"/>
                                        <p:tgtEl>
                                          <p:spTgt spid="232450">
                                            <p:txEl>
                                              <p:charRg st="87" end="92"/>
                                            </p:txEl>
                                          </p:spTgt>
                                        </p:tgtEl>
                                      </p:cBhvr>
                                    </p:animEffect>
                                  </p:childTnLst>
                                </p:cTn>
                              </p:par>
                            </p:childTnLst>
                          </p:cTn>
                        </p:par>
                      </p:childTnLst>
                    </p:cTn>
                  </p:par>
                  <p:par>
                    <p:cTn id="102" fill="hold">
                      <p:stCondLst>
                        <p:cond delay="indefinite"/>
                      </p:stCondLst>
                      <p:childTnLst>
                        <p:par>
                          <p:cTn id="103" fill="hold">
                            <p:stCondLst>
                              <p:cond delay="0"/>
                            </p:stCondLst>
                            <p:childTnLst>
                              <p:par>
                                <p:cTn id="104" presetID="17" presetClass="entr" presetSubtype="4" fill="hold" grpId="0" nodeType="clickEffect">
                                  <p:stCondLst>
                                    <p:cond delay="0"/>
                                  </p:stCondLst>
                                  <p:childTnLst>
                                    <p:set>
                                      <p:cBhvr>
                                        <p:cTn id="105" dur="1" fill="hold">
                                          <p:stCondLst>
                                            <p:cond delay="0"/>
                                          </p:stCondLst>
                                        </p:cTn>
                                        <p:tgtEl>
                                          <p:spTgt spid="232452"/>
                                        </p:tgtEl>
                                        <p:attrNameLst>
                                          <p:attrName>style.visibility</p:attrName>
                                        </p:attrNameLst>
                                      </p:cBhvr>
                                      <p:to>
                                        <p:strVal val="visible"/>
                                      </p:to>
                                    </p:set>
                                    <p:anim calcmode="lin" valueType="num">
                                      <p:cBhvr>
                                        <p:cTn id="106" dur="500" fill="hold"/>
                                        <p:tgtEl>
                                          <p:spTgt spid="232452"/>
                                        </p:tgtEl>
                                        <p:attrNameLst>
                                          <p:attrName>ppt_x</p:attrName>
                                        </p:attrNameLst>
                                      </p:cBhvr>
                                      <p:tavLst>
                                        <p:tav tm="0">
                                          <p:val>
                                            <p:strVal val="#ppt_x"/>
                                          </p:val>
                                        </p:tav>
                                        <p:tav tm="100000">
                                          <p:val>
                                            <p:strVal val="#ppt_x"/>
                                          </p:val>
                                        </p:tav>
                                      </p:tavLst>
                                    </p:anim>
                                    <p:anim calcmode="lin" valueType="num">
                                      <p:cBhvr>
                                        <p:cTn id="107" dur="500" fill="hold"/>
                                        <p:tgtEl>
                                          <p:spTgt spid="232452"/>
                                        </p:tgtEl>
                                        <p:attrNameLst>
                                          <p:attrName>ppt_y</p:attrName>
                                        </p:attrNameLst>
                                      </p:cBhvr>
                                      <p:tavLst>
                                        <p:tav tm="0">
                                          <p:val>
                                            <p:strVal val="#ppt_y+#ppt_h/2"/>
                                          </p:val>
                                        </p:tav>
                                        <p:tav tm="100000">
                                          <p:val>
                                            <p:strVal val="#ppt_y"/>
                                          </p:val>
                                        </p:tav>
                                      </p:tavLst>
                                    </p:anim>
                                    <p:anim calcmode="lin" valueType="num">
                                      <p:cBhvr>
                                        <p:cTn id="108" dur="500" fill="hold"/>
                                        <p:tgtEl>
                                          <p:spTgt spid="232452"/>
                                        </p:tgtEl>
                                        <p:attrNameLst>
                                          <p:attrName>ppt_w</p:attrName>
                                        </p:attrNameLst>
                                      </p:cBhvr>
                                      <p:tavLst>
                                        <p:tav tm="0">
                                          <p:val>
                                            <p:strVal val="#ppt_w"/>
                                          </p:val>
                                        </p:tav>
                                        <p:tav tm="100000">
                                          <p:val>
                                            <p:strVal val="#ppt_w"/>
                                          </p:val>
                                        </p:tav>
                                      </p:tavLst>
                                    </p:anim>
                                    <p:anim calcmode="lin" valueType="num">
                                      <p:cBhvr>
                                        <p:cTn id="109" dur="500" fill="hold"/>
                                        <p:tgtEl>
                                          <p:spTgt spid="232452"/>
                                        </p:tgtEl>
                                        <p:attrNameLst>
                                          <p:attrName>ppt_h</p:attrName>
                                        </p:attrNameLst>
                                      </p:cBhvr>
                                      <p:tavLst>
                                        <p:tav tm="0">
                                          <p:val>
                                            <p:fltVal val="0.000000"/>
                                          </p:val>
                                        </p:tav>
                                        <p:tav tm="100000">
                                          <p:val>
                                            <p:strVal val="#ppt_h"/>
                                          </p:val>
                                        </p:tav>
                                      </p:tavLst>
                                    </p:anim>
                                  </p:childTnLst>
                                </p:cTn>
                              </p:par>
                            </p:childTnLst>
                          </p:cTn>
                        </p:par>
                      </p:childTnLst>
                    </p:cTn>
                  </p:par>
                  <p:par>
                    <p:cTn id="110" fill="hold">
                      <p:stCondLst>
                        <p:cond delay="indefinite"/>
                      </p:stCondLst>
                      <p:childTnLst>
                        <p:par>
                          <p:cTn id="111" fill="hold">
                            <p:stCondLst>
                              <p:cond delay="0"/>
                            </p:stCondLst>
                            <p:childTnLst>
                              <p:par>
                                <p:cTn id="112" presetID="17" presetClass="entr" presetSubtype="4" fill="hold" nodeType="clickEffect">
                                  <p:stCondLst>
                                    <p:cond delay="0"/>
                                  </p:stCondLst>
                                  <p:childTnLst>
                                    <p:set>
                                      <p:cBhvr>
                                        <p:cTn id="113" dur="1" fill="hold">
                                          <p:stCondLst>
                                            <p:cond delay="0"/>
                                          </p:stCondLst>
                                        </p:cTn>
                                        <p:tgtEl>
                                          <p:spTgt spid="2"/>
                                        </p:tgtEl>
                                        <p:attrNameLst>
                                          <p:attrName>style.visibility</p:attrName>
                                        </p:attrNameLst>
                                      </p:cBhvr>
                                      <p:to>
                                        <p:strVal val="visible"/>
                                      </p:to>
                                    </p:set>
                                    <p:anim calcmode="lin" valueType="num">
                                      <p:cBhvr>
                                        <p:cTn id="114" dur="500" fill="hold"/>
                                        <p:tgtEl>
                                          <p:spTgt spid="2"/>
                                        </p:tgtEl>
                                        <p:attrNameLst>
                                          <p:attrName>ppt_x</p:attrName>
                                        </p:attrNameLst>
                                      </p:cBhvr>
                                      <p:tavLst>
                                        <p:tav tm="0">
                                          <p:val>
                                            <p:strVal val="#ppt_x"/>
                                          </p:val>
                                        </p:tav>
                                        <p:tav tm="100000">
                                          <p:val>
                                            <p:strVal val="#ppt_x"/>
                                          </p:val>
                                        </p:tav>
                                      </p:tavLst>
                                    </p:anim>
                                    <p:anim calcmode="lin" valueType="num">
                                      <p:cBhvr>
                                        <p:cTn id="115" dur="500" fill="hold"/>
                                        <p:tgtEl>
                                          <p:spTgt spid="2"/>
                                        </p:tgtEl>
                                        <p:attrNameLst>
                                          <p:attrName>ppt_y</p:attrName>
                                        </p:attrNameLst>
                                      </p:cBhvr>
                                      <p:tavLst>
                                        <p:tav tm="0">
                                          <p:val>
                                            <p:strVal val="#ppt_y+#ppt_h/2"/>
                                          </p:val>
                                        </p:tav>
                                        <p:tav tm="100000">
                                          <p:val>
                                            <p:strVal val="#ppt_y"/>
                                          </p:val>
                                        </p:tav>
                                      </p:tavLst>
                                    </p:anim>
                                    <p:anim calcmode="lin" valueType="num">
                                      <p:cBhvr>
                                        <p:cTn id="116" dur="500" fill="hold"/>
                                        <p:tgtEl>
                                          <p:spTgt spid="2"/>
                                        </p:tgtEl>
                                        <p:attrNameLst>
                                          <p:attrName>ppt_w</p:attrName>
                                        </p:attrNameLst>
                                      </p:cBhvr>
                                      <p:tavLst>
                                        <p:tav tm="0">
                                          <p:val>
                                            <p:strVal val="#ppt_w"/>
                                          </p:val>
                                        </p:tav>
                                        <p:tav tm="100000">
                                          <p:val>
                                            <p:strVal val="#ppt_w"/>
                                          </p:val>
                                        </p:tav>
                                      </p:tavLst>
                                    </p:anim>
                                    <p:anim calcmode="lin" valueType="num">
                                      <p:cBhvr>
                                        <p:cTn id="117" dur="500" fill="hold"/>
                                        <p:tgtEl>
                                          <p:spTgt spid="2"/>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2450" grpId="0" build="p"/>
      <p:bldP spid="232451" grpId="0"/>
      <p:bldP spid="232452" grpId="0"/>
      <p:bldP spid="232453" grpId="0"/>
      <p:bldP spid="232459" grpId="0"/>
      <p:bldP spid="23246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34819" name="Rectangle 3"/>
          <p:cNvSpPr>
            <a:spLocks noGrp="1"/>
          </p:cNvSpPr>
          <p:nvPr>
            <p:ph type="body"/>
          </p:nvPr>
        </p:nvSpPr>
        <p:spPr>
          <a:xfrm>
            <a:off x="539750" y="549275"/>
            <a:ext cx="8208963" cy="5903913"/>
          </a:xfrm>
          <a:ln/>
        </p:spPr>
        <p:txBody>
          <a:bodyPr vert="horz" wrap="square" lIns="91440" tIns="45720" rIns="91440" bIns="45720" anchor="t"/>
          <a:p>
            <a:pPr eaLnBrk="1" hangingPunct="1"/>
            <a:r>
              <a:rPr lang="zh-CN" altLang="en-US" b="1" dirty="0">
                <a:latin typeface="宋体" panose="02010600030101010101" pitchFamily="2" charset="-122"/>
              </a:rPr>
              <a:t>语法分析的方法：</a:t>
            </a:r>
            <a:endParaRPr lang="zh-CN" altLang="en-US" b="1" dirty="0">
              <a:latin typeface="宋体" panose="02010600030101010101" pitchFamily="2" charset="-122"/>
            </a:endParaRPr>
          </a:p>
          <a:p>
            <a:pPr lvl="1" indent="-436245" eaLnBrk="1" hangingPunct="1"/>
            <a:r>
              <a:rPr lang="zh-CN" altLang="en-US" b="1" dirty="0">
                <a:latin typeface="宋体" panose="02010600030101010101" pitchFamily="2" charset="-122"/>
              </a:rPr>
              <a:t>自下而上分析法</a:t>
            </a:r>
            <a:r>
              <a:rPr lang="en-US" altLang="zh-CN" b="1" dirty="0">
                <a:latin typeface="宋体" panose="02010600030101010101" pitchFamily="2" charset="-122"/>
              </a:rPr>
              <a:t>(Bottom-up)</a:t>
            </a:r>
            <a:endParaRPr lang="en-US" altLang="zh-CN" b="1" dirty="0">
              <a:latin typeface="宋体" panose="02010600030101010101" pitchFamily="2" charset="-122"/>
            </a:endParaRPr>
          </a:p>
          <a:p>
            <a:pPr lvl="1" indent="-436245" eaLnBrk="1" hangingPunct="1"/>
            <a:r>
              <a:rPr lang="zh-CN" altLang="en-US" b="1" dirty="0">
                <a:latin typeface="宋体" panose="02010600030101010101" pitchFamily="2" charset="-122"/>
              </a:rPr>
              <a:t>自上而下分析法</a:t>
            </a:r>
            <a:r>
              <a:rPr lang="en-US" altLang="zh-CN" b="1" dirty="0">
                <a:latin typeface="宋体" panose="02010600030101010101" pitchFamily="2" charset="-122"/>
              </a:rPr>
              <a:t>(Top-down)</a:t>
            </a:r>
            <a:endParaRPr lang="en-US" altLang="zh-CN" b="1" dirty="0">
              <a:latin typeface="宋体" panose="02010600030101010101" pitchFamily="2" charset="-122"/>
            </a:endParaRPr>
          </a:p>
          <a:p>
            <a:pPr lvl="2" indent="-394970" eaLnBrk="1" hangingPunct="1">
              <a:spcBef>
                <a:spcPct val="30000"/>
              </a:spcBef>
            </a:pPr>
            <a:r>
              <a:rPr lang="" altLang="en-US" sz="2800" b="1" dirty="0">
                <a:latin typeface="宋体" panose="02010600030101010101" pitchFamily="2" charset="-122"/>
              </a:rPr>
              <a:t>基本思想：它从文法的开始符号出发，反复使用各种产生式，寻找"匹配"的</a:t>
            </a:r>
            <a:r>
              <a:rPr lang="" altLang="en-US" sz="4000" b="1" dirty="0">
                <a:solidFill>
                  <a:srgbClr val="FF0000"/>
                </a:solidFill>
                <a:latin typeface="华文行楷" panose="02010800040101010101" pitchFamily="2" charset="-122"/>
                <a:ea typeface="华文行楷" panose="02010800040101010101" pitchFamily="2" charset="-122"/>
              </a:rPr>
              <a:t>推导</a:t>
            </a:r>
            <a:r>
              <a:rPr lang="" altLang="en-US" sz="2800" b="1" dirty="0">
                <a:latin typeface="宋体" panose="02010600030101010101" pitchFamily="2" charset="-122"/>
              </a:rPr>
              <a:t>。</a:t>
            </a:r>
            <a:endParaRPr lang="" altLang="en-US" sz="2800" b="1" dirty="0">
              <a:latin typeface="宋体" panose="02010600030101010101" pitchFamily="2" charset="-122"/>
            </a:endParaRPr>
          </a:p>
          <a:p>
            <a:pPr lvl="2" indent="-394970" eaLnBrk="1" hangingPunct="1">
              <a:spcBef>
                <a:spcPct val="30000"/>
              </a:spcBef>
            </a:pPr>
            <a:r>
              <a:rPr lang="" altLang="en-US" sz="2800" b="1" dirty="0">
                <a:latin typeface="宋体" panose="02010600030101010101" pitchFamily="2" charset="-122"/>
              </a:rPr>
              <a:t>递归下降分析法：对每一语法变量(非终结符)构造一个相应的子程序，每个子程序识别一定的语法单位，通过子程序间的信息反馈和联合作用实现对输入串的识别。</a:t>
            </a:r>
            <a:endParaRPr lang="" altLang="en-US" sz="2800" b="1" dirty="0">
              <a:latin typeface="宋体" panose="02010600030101010101" pitchFamily="2" charset="-122"/>
            </a:endParaRPr>
          </a:p>
          <a:p>
            <a:pPr lvl="2" indent="-394970" eaLnBrk="1" hangingPunct="1">
              <a:spcBef>
                <a:spcPct val="30000"/>
              </a:spcBef>
            </a:pPr>
            <a:r>
              <a:rPr lang="zh-CN" altLang="en-US" sz="2800" b="1" dirty="0">
                <a:latin typeface="宋体" panose="02010600030101010101" pitchFamily="2" charset="-122"/>
              </a:rPr>
              <a:t>预测分析程序</a:t>
            </a:r>
            <a:endParaRPr lang="zh-CN" altLang="en-US" sz="2800" b="1" dirty="0">
              <a:latin typeface="宋体" panose="02010600030101010101" pitchFamily="2" charset="-122"/>
            </a:endParaRPr>
          </a:p>
          <a:p>
            <a:pPr lvl="3" eaLnBrk="1" hangingPunct="1">
              <a:spcBef>
                <a:spcPct val="30000"/>
              </a:spcBef>
              <a:buChar char="F"/>
            </a:pPr>
            <a:r>
              <a:rPr lang="" altLang="en-US" sz="2800" b="1" dirty="0">
                <a:latin typeface="宋体" panose="02010600030101010101" pitchFamily="2" charset="-122"/>
              </a:rPr>
              <a:t>优点：直观、简单和宜于手工实现。</a:t>
            </a:r>
            <a:endParaRPr lang="en-US" altLang="zh-CN" sz="2800" b="1"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4819">
                                            <p:txEl>
                                              <p:charRg st="0" end="9"/>
                                            </p:txEl>
                                          </p:spTgt>
                                        </p:tgtEl>
                                        <p:attrNameLst>
                                          <p:attrName>style.visibility</p:attrName>
                                        </p:attrNameLst>
                                      </p:cBhvr>
                                      <p:to>
                                        <p:strVal val="visible"/>
                                      </p:to>
                                    </p:set>
                                    <p:animEffect transition="in" filter="wipe(up)">
                                      <p:cBhvr>
                                        <p:cTn id="7" dur="500"/>
                                        <p:tgtEl>
                                          <p:spTgt spid="34819">
                                            <p:txEl>
                                              <p:charRg st="0" end="9"/>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4819">
                                            <p:txEl>
                                              <p:charRg st="9" end="28"/>
                                            </p:txEl>
                                          </p:spTgt>
                                        </p:tgtEl>
                                        <p:attrNameLst>
                                          <p:attrName>style.visibility</p:attrName>
                                        </p:attrNameLst>
                                      </p:cBhvr>
                                      <p:to>
                                        <p:strVal val="visible"/>
                                      </p:to>
                                    </p:set>
                                    <p:animEffect transition="in" filter="wipe(up)">
                                      <p:cBhvr>
                                        <p:cTn id="12" dur="500"/>
                                        <p:tgtEl>
                                          <p:spTgt spid="34819">
                                            <p:txEl>
                                              <p:charRg st="9" end="2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4819">
                                            <p:txEl>
                                              <p:charRg st="28" end="46"/>
                                            </p:txEl>
                                          </p:spTgt>
                                        </p:tgtEl>
                                        <p:attrNameLst>
                                          <p:attrName>style.visibility</p:attrName>
                                        </p:attrNameLst>
                                      </p:cBhvr>
                                      <p:to>
                                        <p:strVal val="visible"/>
                                      </p:to>
                                    </p:set>
                                    <p:animEffect transition="in" filter="wipe(up)">
                                      <p:cBhvr>
                                        <p:cTn id="17" dur="500"/>
                                        <p:tgtEl>
                                          <p:spTgt spid="34819">
                                            <p:txEl>
                                              <p:charRg st="28" end="4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4819">
                                            <p:txEl>
                                              <p:charRg st="46" end="84"/>
                                            </p:txEl>
                                          </p:spTgt>
                                        </p:tgtEl>
                                        <p:attrNameLst>
                                          <p:attrName>style.visibility</p:attrName>
                                        </p:attrNameLst>
                                      </p:cBhvr>
                                      <p:to>
                                        <p:strVal val="visible"/>
                                      </p:to>
                                    </p:set>
                                    <p:animEffect transition="in" filter="wipe(up)">
                                      <p:cBhvr>
                                        <p:cTn id="22" dur="500"/>
                                        <p:tgtEl>
                                          <p:spTgt spid="34819">
                                            <p:txEl>
                                              <p:charRg st="46" end="8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4819">
                                            <p:txEl>
                                              <p:charRg st="84" end="158"/>
                                            </p:txEl>
                                          </p:spTgt>
                                        </p:tgtEl>
                                        <p:attrNameLst>
                                          <p:attrName>style.visibility</p:attrName>
                                        </p:attrNameLst>
                                      </p:cBhvr>
                                      <p:to>
                                        <p:strVal val="visible"/>
                                      </p:to>
                                    </p:set>
                                    <p:animEffect transition="in" filter="wipe(up)">
                                      <p:cBhvr>
                                        <p:cTn id="27" dur="500"/>
                                        <p:tgtEl>
                                          <p:spTgt spid="34819">
                                            <p:txEl>
                                              <p:charRg st="84" end="15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34819">
                                            <p:txEl>
                                              <p:charRg st="158" end="165"/>
                                            </p:txEl>
                                          </p:spTgt>
                                        </p:tgtEl>
                                        <p:attrNameLst>
                                          <p:attrName>style.visibility</p:attrName>
                                        </p:attrNameLst>
                                      </p:cBhvr>
                                      <p:to>
                                        <p:strVal val="visible"/>
                                      </p:to>
                                    </p:set>
                                    <p:animEffect transition="in" filter="wipe(up)">
                                      <p:cBhvr>
                                        <p:cTn id="32" dur="500"/>
                                        <p:tgtEl>
                                          <p:spTgt spid="34819">
                                            <p:txEl>
                                              <p:charRg st="158" end="16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34819">
                                            <p:txEl>
                                              <p:charRg st="165" end="182"/>
                                            </p:txEl>
                                          </p:spTgt>
                                        </p:tgtEl>
                                        <p:attrNameLst>
                                          <p:attrName>style.visibility</p:attrName>
                                        </p:attrNameLst>
                                      </p:cBhvr>
                                      <p:to>
                                        <p:strVal val="visible"/>
                                      </p:to>
                                    </p:set>
                                    <p:animEffect transition="in" filter="wipe(up)">
                                      <p:cBhvr>
                                        <p:cTn id="37" dur="500"/>
                                        <p:tgtEl>
                                          <p:spTgt spid="34819">
                                            <p:txEl>
                                              <p:charRg st="165" end="18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bldLvl="2"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17410" name="Rectangle 2"/>
          <p:cNvSpPr>
            <a:spLocks noGrp="1"/>
          </p:cNvSpPr>
          <p:nvPr>
            <p:ph type="title"/>
          </p:nvPr>
        </p:nvSpPr>
        <p:spPr>
          <a:xfrm>
            <a:off x="574675" y="385763"/>
            <a:ext cx="8001000" cy="730250"/>
          </a:xfrm>
          <a:ln/>
        </p:spPr>
        <p:txBody>
          <a:bodyPr vert="horz" wrap="square" lIns="91440" tIns="45720" rIns="91440" bIns="45720" anchor="ctr"/>
          <a:p>
            <a:pPr eaLnBrk="1" hangingPunct="1"/>
            <a:r>
              <a:rPr lang="en-US" altLang="zh-CN" b="1" dirty="0"/>
              <a:t>4.2  </a:t>
            </a:r>
            <a:r>
              <a:rPr lang="zh-CN" altLang="en-US" b="1" dirty="0"/>
              <a:t>自上而下分析面临的问题</a:t>
            </a:r>
            <a:endParaRPr lang="zh-CN" altLang="en-US" b="1" dirty="0"/>
          </a:p>
        </p:txBody>
      </p:sp>
      <p:sp>
        <p:nvSpPr>
          <p:cNvPr id="102403" name="Rectangle 3"/>
          <p:cNvSpPr>
            <a:spLocks noGrp="1"/>
          </p:cNvSpPr>
          <p:nvPr>
            <p:ph type="body"/>
          </p:nvPr>
        </p:nvSpPr>
        <p:spPr>
          <a:xfrm>
            <a:off x="609600" y="1524000"/>
            <a:ext cx="8139113" cy="4724400"/>
          </a:xfrm>
          <a:ln/>
        </p:spPr>
        <p:txBody>
          <a:bodyPr vert="horz" wrap="square" lIns="91440" tIns="45720" rIns="91440" bIns="45720" anchor="t"/>
          <a:p>
            <a:pPr marL="342900" indent="-342900" eaLnBrk="1" hangingPunct="1">
              <a:lnSpc>
                <a:spcPct val="90000"/>
              </a:lnSpc>
              <a:spcBef>
                <a:spcPts val="1300"/>
              </a:spcBef>
              <a:spcAft>
                <a:spcPts val="1300"/>
              </a:spcAft>
            </a:pPr>
            <a:r>
              <a:rPr lang="zh-CN" altLang="en-US" b="1" dirty="0"/>
              <a:t>自上而下就是从文法的开始符号出发，向下</a:t>
            </a:r>
            <a:r>
              <a:rPr lang="zh-CN" altLang="en-US" sz="3900" b="1" dirty="0">
                <a:solidFill>
                  <a:srgbClr val="FF0000"/>
                </a:solidFill>
                <a:ea typeface="华文新魏" panose="02010800040101010101" pitchFamily="2" charset="-122"/>
              </a:rPr>
              <a:t>推导</a:t>
            </a:r>
            <a:r>
              <a:rPr lang="zh-CN" altLang="en-US" b="1" dirty="0"/>
              <a:t>，推出句子。</a:t>
            </a:r>
            <a:endParaRPr lang="zh-CN" altLang="en-US" b="1" dirty="0"/>
          </a:p>
          <a:p>
            <a:pPr marL="819150" lvl="1" indent="-285750" eaLnBrk="1" hangingPunct="1">
              <a:lnSpc>
                <a:spcPct val="90000"/>
              </a:lnSpc>
              <a:spcBef>
                <a:spcPct val="0"/>
              </a:spcBef>
            </a:pPr>
            <a:r>
              <a:rPr lang="zh-CN" altLang="en-US" b="1" dirty="0"/>
              <a:t>带“回溯”的</a:t>
            </a:r>
            <a:endParaRPr lang="zh-CN" altLang="en-US" b="1" dirty="0"/>
          </a:p>
          <a:p>
            <a:pPr marL="819150" lvl="1" indent="-285750" eaLnBrk="1" hangingPunct="1">
              <a:lnSpc>
                <a:spcPct val="90000"/>
              </a:lnSpc>
              <a:spcBef>
                <a:spcPct val="0"/>
              </a:spcBef>
            </a:pPr>
            <a:r>
              <a:rPr lang="zh-CN" altLang="en-US" b="1" dirty="0"/>
              <a:t>不带回溯的递归子程序</a:t>
            </a:r>
            <a:r>
              <a:rPr lang="en-US" altLang="zh-CN" b="1" dirty="0"/>
              <a:t>(</a:t>
            </a:r>
            <a:r>
              <a:rPr lang="zh-CN" altLang="en-US" b="1" dirty="0"/>
              <a:t>递归下降</a:t>
            </a:r>
            <a:r>
              <a:rPr lang="en-US" altLang="zh-CN" b="1" dirty="0"/>
              <a:t>)</a:t>
            </a:r>
            <a:r>
              <a:rPr lang="zh-CN" altLang="en-US" b="1" dirty="0"/>
              <a:t>分析方法。</a:t>
            </a:r>
            <a:endParaRPr lang="zh-CN" altLang="en-US" b="1" dirty="0"/>
          </a:p>
          <a:p>
            <a:pPr marL="342900" indent="-342900" eaLnBrk="1" hangingPunct="1">
              <a:lnSpc>
                <a:spcPct val="90000"/>
              </a:lnSpc>
            </a:pPr>
            <a:r>
              <a:rPr lang="zh-CN" altLang="en-US" b="1" dirty="0"/>
              <a:t>自上而下分析的主旨：对任何输入串，试图用一切可能的办法，从文法开始符号</a:t>
            </a:r>
            <a:r>
              <a:rPr lang="en-US" altLang="zh-CN" b="1" dirty="0"/>
              <a:t>(</a:t>
            </a:r>
            <a:r>
              <a:rPr lang="zh-CN" altLang="en-US" b="1" dirty="0"/>
              <a:t>根结点</a:t>
            </a:r>
            <a:r>
              <a:rPr lang="en-US" altLang="zh-CN" b="1" dirty="0"/>
              <a:t>)</a:t>
            </a:r>
            <a:r>
              <a:rPr lang="zh-CN" altLang="en-US" b="1" dirty="0"/>
              <a:t>出发，自上而下地为输入串建立一棵</a:t>
            </a:r>
            <a:r>
              <a:rPr lang="zh-CN" altLang="en-US" sz="3900" b="1" dirty="0">
                <a:solidFill>
                  <a:srgbClr val="FF0000"/>
                </a:solidFill>
                <a:ea typeface="华文新魏" panose="02010800040101010101" pitchFamily="2" charset="-122"/>
              </a:rPr>
              <a:t>语法树</a:t>
            </a:r>
            <a:r>
              <a:rPr lang="zh-CN" altLang="en-US" b="1" dirty="0"/>
              <a:t>。或者说，为输入串寻找一个最左推导。</a:t>
            </a:r>
            <a:endParaRPr lang="zh-CN" altLang="en-US" b="1"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2403">
                                            <p:txEl>
                                              <p:charRg st="0" end="28"/>
                                            </p:txEl>
                                          </p:spTgt>
                                        </p:tgtEl>
                                        <p:attrNameLst>
                                          <p:attrName>style.visibility</p:attrName>
                                        </p:attrNameLst>
                                      </p:cBhvr>
                                      <p:to>
                                        <p:strVal val="visible"/>
                                      </p:to>
                                    </p:set>
                                    <p:animEffect transition="in" filter="wipe(left)">
                                      <p:cBhvr>
                                        <p:cTn id="7" dur="500"/>
                                        <p:tgtEl>
                                          <p:spTgt spid="102403">
                                            <p:txEl>
                                              <p:charRg st="0" end="28"/>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2403">
                                            <p:txEl>
                                              <p:charRg st="28" end="35"/>
                                            </p:txEl>
                                          </p:spTgt>
                                        </p:tgtEl>
                                        <p:attrNameLst>
                                          <p:attrName>style.visibility</p:attrName>
                                        </p:attrNameLst>
                                      </p:cBhvr>
                                      <p:to>
                                        <p:strVal val="visible"/>
                                      </p:to>
                                    </p:set>
                                    <p:animEffect transition="in" filter="wipe(left)">
                                      <p:cBhvr>
                                        <p:cTn id="12" dur="500"/>
                                        <p:tgtEl>
                                          <p:spTgt spid="102403">
                                            <p:txEl>
                                              <p:charRg st="28" end="3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2403">
                                            <p:txEl>
                                              <p:charRg st="35" end="57"/>
                                            </p:txEl>
                                          </p:spTgt>
                                        </p:tgtEl>
                                        <p:attrNameLst>
                                          <p:attrName>style.visibility</p:attrName>
                                        </p:attrNameLst>
                                      </p:cBhvr>
                                      <p:to>
                                        <p:strVal val="visible"/>
                                      </p:to>
                                    </p:set>
                                    <p:animEffect transition="in" filter="wipe(left)">
                                      <p:cBhvr>
                                        <p:cTn id="17" dur="500"/>
                                        <p:tgtEl>
                                          <p:spTgt spid="102403">
                                            <p:txEl>
                                              <p:charRg st="35" end="5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02403">
                                            <p:txEl>
                                              <p:charRg st="57" end="135"/>
                                            </p:txEl>
                                          </p:spTgt>
                                        </p:tgtEl>
                                        <p:attrNameLst>
                                          <p:attrName>style.visibility</p:attrName>
                                        </p:attrNameLst>
                                      </p:cBhvr>
                                      <p:to>
                                        <p:strVal val="visible"/>
                                      </p:to>
                                    </p:set>
                                    <p:animEffect transition="in" filter="wipe(up)">
                                      <p:cBhvr>
                                        <p:cTn id="22" dur="500"/>
                                        <p:tgtEl>
                                          <p:spTgt spid="102403">
                                            <p:txEl>
                                              <p:charRg st="57" end="13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3" grpId="0" bldLvl="2"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18434" name="Rectangle 3"/>
          <p:cNvSpPr>
            <a:spLocks noGrp="1"/>
          </p:cNvSpPr>
          <p:nvPr>
            <p:ph type="body"/>
          </p:nvPr>
        </p:nvSpPr>
        <p:spPr>
          <a:xfrm>
            <a:off x="838200" y="457200"/>
            <a:ext cx="7848600" cy="2286000"/>
          </a:xfrm>
          <a:ln/>
        </p:spPr>
        <p:txBody>
          <a:bodyPr vert="horz" wrap="square" lIns="91440" tIns="45720" rIns="91440" bIns="45720" anchor="t"/>
          <a:p>
            <a:pPr eaLnBrk="1" hangingPunct="1"/>
            <a:r>
              <a:rPr lang="zh-CN" altLang="en-US" b="1" dirty="0"/>
              <a:t>例</a:t>
            </a:r>
            <a:r>
              <a:rPr lang="en-US" altLang="zh-CN" b="1" dirty="0"/>
              <a:t>3.4.1  </a:t>
            </a:r>
            <a:r>
              <a:rPr lang="zh-CN" altLang="en-US" b="1" dirty="0"/>
              <a:t>假定有文法</a:t>
            </a:r>
            <a:r>
              <a:rPr lang="en-US" altLang="zh-CN" b="1" dirty="0"/>
              <a:t>G(S):</a:t>
            </a:r>
            <a:endParaRPr lang="en-US" altLang="zh-CN" b="1" dirty="0"/>
          </a:p>
          <a:p>
            <a:pPr eaLnBrk="1" hangingPunct="1">
              <a:spcBef>
                <a:spcPct val="0"/>
              </a:spcBef>
              <a:buNone/>
            </a:pPr>
            <a:r>
              <a:rPr lang="en-US" altLang="zh-CN" b="1" dirty="0"/>
              <a:t>           (1) S→xAy</a:t>
            </a:r>
            <a:endParaRPr lang="en-US" altLang="zh-CN" b="1" dirty="0"/>
          </a:p>
          <a:p>
            <a:pPr eaLnBrk="1" hangingPunct="1">
              <a:spcBef>
                <a:spcPct val="0"/>
              </a:spcBef>
              <a:buNone/>
            </a:pPr>
            <a:r>
              <a:rPr lang="en-US" altLang="zh-CN" b="1" dirty="0"/>
              <a:t>           (2) A→**|*		</a:t>
            </a:r>
            <a:endParaRPr lang="en-US" altLang="zh-CN" b="1" dirty="0"/>
          </a:p>
          <a:p>
            <a:pPr eaLnBrk="1" hangingPunct="1">
              <a:buNone/>
            </a:pPr>
            <a:r>
              <a:rPr lang="en-US" altLang="zh-CN" b="1" dirty="0"/>
              <a:t>   </a:t>
            </a:r>
            <a:r>
              <a:rPr lang="zh-CN" altLang="zh-CN" b="1" dirty="0"/>
              <a:t>分析</a:t>
            </a:r>
            <a:r>
              <a:rPr lang="zh-CN" altLang="en-US" b="1" dirty="0"/>
              <a:t>输入串</a:t>
            </a:r>
            <a:r>
              <a:rPr lang="en-US" altLang="zh-CN" b="1" dirty="0"/>
              <a:t>x*y(</a:t>
            </a:r>
            <a:r>
              <a:rPr lang="zh-CN" altLang="en-US" b="1" dirty="0"/>
              <a:t>记为</a:t>
            </a:r>
            <a:r>
              <a:rPr lang="zh-CN" altLang="en-US" b="1" dirty="0">
                <a:sym typeface="Symbol" panose="05050102010706020507" pitchFamily="18" charset="2"/>
              </a:rPr>
              <a:t></a:t>
            </a:r>
            <a:r>
              <a:rPr lang="en-US" altLang="zh-CN" b="1" dirty="0"/>
              <a:t>)</a:t>
            </a:r>
            <a:r>
              <a:rPr lang="zh-CN" altLang="en-US" b="1" dirty="0"/>
              <a:t>。</a:t>
            </a:r>
            <a:endParaRPr lang="zh-CN" altLang="en-US" b="1" dirty="0"/>
          </a:p>
        </p:txBody>
      </p:sp>
      <p:grpSp>
        <p:nvGrpSpPr>
          <p:cNvPr id="2" name="Group 138"/>
          <p:cNvGrpSpPr/>
          <p:nvPr/>
        </p:nvGrpSpPr>
        <p:grpSpPr>
          <a:xfrm>
            <a:off x="3048000" y="3352800"/>
            <a:ext cx="2209800" cy="1371600"/>
            <a:chOff x="336" y="3264"/>
            <a:chExt cx="1392" cy="864"/>
          </a:xfrm>
        </p:grpSpPr>
        <p:sp>
          <p:nvSpPr>
            <p:cNvPr id="18436" name="Rectangle 43"/>
            <p:cNvSpPr/>
            <p:nvPr/>
          </p:nvSpPr>
          <p:spPr>
            <a:xfrm>
              <a:off x="1248" y="3264"/>
              <a:ext cx="480" cy="288"/>
            </a:xfrm>
            <a:prstGeom prst="rect">
              <a:avLst/>
            </a:prstGeom>
            <a:noFill/>
            <a:ln w="22225">
              <a:noFill/>
            </a:ln>
          </p:spPr>
          <p:txBody>
            <a:bodyPr wrap="none" anchor="ctr"/>
            <a:p>
              <a:pPr algn="ctr"/>
              <a:r>
                <a:rPr lang="en-US" altLang="zh-CN" sz="2800" b="1" u="none" dirty="0">
                  <a:solidFill>
                    <a:schemeClr val="tx1"/>
                  </a:solidFill>
                  <a:latin typeface="Times New Roman" panose="02020603050405020304" pitchFamily="18" charset="0"/>
                </a:rPr>
                <a:t>S</a:t>
              </a:r>
              <a:endParaRPr lang="en-US" altLang="zh-CN" sz="2400" b="1" u="none" dirty="0">
                <a:solidFill>
                  <a:schemeClr val="tx1"/>
                </a:solidFill>
                <a:latin typeface="Times New Roman" panose="02020603050405020304" pitchFamily="18" charset="0"/>
              </a:endParaRPr>
            </a:p>
          </p:txBody>
        </p:sp>
        <p:sp>
          <p:nvSpPr>
            <p:cNvPr id="18437" name="Rectangle 44"/>
            <p:cNvSpPr/>
            <p:nvPr/>
          </p:nvSpPr>
          <p:spPr>
            <a:xfrm>
              <a:off x="432" y="3264"/>
              <a:ext cx="480" cy="288"/>
            </a:xfrm>
            <a:prstGeom prst="rect">
              <a:avLst/>
            </a:prstGeom>
            <a:noFill/>
            <a:ln w="22225">
              <a:noFill/>
            </a:ln>
          </p:spPr>
          <p:txBody>
            <a:bodyPr wrap="none" anchor="ctr"/>
            <a:p>
              <a:pPr algn="ctr"/>
              <a:r>
                <a:rPr lang="en-US" altLang="zh-CN" sz="2800" b="1" u="none" dirty="0">
                  <a:solidFill>
                    <a:schemeClr val="tx1"/>
                  </a:solidFill>
                  <a:latin typeface="Times New Roman" panose="02020603050405020304" pitchFamily="18" charset="0"/>
                </a:rPr>
                <a:t>x*y</a:t>
              </a:r>
              <a:endParaRPr lang="en-US" altLang="zh-CN" sz="2400" b="1" u="none" dirty="0">
                <a:solidFill>
                  <a:schemeClr val="tx1"/>
                </a:solidFill>
                <a:latin typeface="Times New Roman" panose="02020603050405020304" pitchFamily="18" charset="0"/>
              </a:endParaRPr>
            </a:p>
          </p:txBody>
        </p:sp>
        <p:grpSp>
          <p:nvGrpSpPr>
            <p:cNvPr id="18438" name="Group 137"/>
            <p:cNvGrpSpPr/>
            <p:nvPr/>
          </p:nvGrpSpPr>
          <p:grpSpPr>
            <a:xfrm>
              <a:off x="336" y="3552"/>
              <a:ext cx="480" cy="576"/>
              <a:chOff x="336" y="3552"/>
              <a:chExt cx="480" cy="576"/>
            </a:xfrm>
          </p:grpSpPr>
          <p:sp>
            <p:nvSpPr>
              <p:cNvPr id="18439" name="Line 46"/>
              <p:cNvSpPr/>
              <p:nvPr/>
            </p:nvSpPr>
            <p:spPr>
              <a:xfrm flipV="1">
                <a:off x="576" y="3552"/>
                <a:ext cx="0" cy="288"/>
              </a:xfrm>
              <a:prstGeom prst="line">
                <a:avLst/>
              </a:prstGeom>
              <a:ln w="22225" cap="sq" cmpd="sng">
                <a:solidFill>
                  <a:schemeClr val="tx1"/>
                </a:solidFill>
                <a:prstDash val="solid"/>
                <a:round/>
                <a:headEnd type="none" w="sm" len="sm"/>
                <a:tailEnd type="stealth" w="med" len="lg"/>
              </a:ln>
            </p:spPr>
          </p:sp>
          <p:sp>
            <p:nvSpPr>
              <p:cNvPr id="18440" name="Rectangle 47"/>
              <p:cNvSpPr/>
              <p:nvPr/>
            </p:nvSpPr>
            <p:spPr>
              <a:xfrm>
                <a:off x="336" y="3840"/>
                <a:ext cx="480" cy="288"/>
              </a:xfrm>
              <a:prstGeom prst="rect">
                <a:avLst/>
              </a:prstGeom>
              <a:noFill/>
              <a:ln w="22225">
                <a:noFill/>
              </a:ln>
            </p:spPr>
            <p:txBody>
              <a:bodyPr wrap="none" anchor="ctr"/>
              <a:p>
                <a:pPr algn="ctr"/>
                <a:r>
                  <a:rPr lang="en-US" altLang="zh-CN" sz="2800" b="1" u="none" dirty="0">
                    <a:solidFill>
                      <a:schemeClr val="tx1"/>
                    </a:solidFill>
                    <a:latin typeface="Times New Roman" panose="02020603050405020304" pitchFamily="18" charset="0"/>
                  </a:rPr>
                  <a:t>IP</a:t>
                </a:r>
                <a:endParaRPr lang="en-US" altLang="zh-CN" sz="2400" b="1" u="none" dirty="0">
                  <a:solidFill>
                    <a:schemeClr val="tx1"/>
                  </a:solidFill>
                  <a:latin typeface="Times New Roman" panose="02020603050405020304" pitchFamily="18" charset="0"/>
                </a:endParaRPr>
              </a:p>
            </p:txBody>
          </p:sp>
        </p:grpSp>
      </p:grpSp>
      <p:grpSp>
        <p:nvGrpSpPr>
          <p:cNvPr id="4" name="Group 141"/>
          <p:cNvGrpSpPr/>
          <p:nvPr/>
        </p:nvGrpSpPr>
        <p:grpSpPr>
          <a:xfrm>
            <a:off x="3048000" y="3352800"/>
            <a:ext cx="2819400" cy="1752600"/>
            <a:chOff x="1056" y="3552"/>
            <a:chExt cx="1776" cy="1104"/>
          </a:xfrm>
        </p:grpSpPr>
        <p:sp>
          <p:nvSpPr>
            <p:cNvPr id="18442" name="Rectangle 49"/>
            <p:cNvSpPr/>
            <p:nvPr/>
          </p:nvSpPr>
          <p:spPr>
            <a:xfrm>
              <a:off x="1968" y="3552"/>
              <a:ext cx="480" cy="240"/>
            </a:xfrm>
            <a:prstGeom prst="rect">
              <a:avLst/>
            </a:prstGeom>
            <a:noFill/>
            <a:ln w="22225">
              <a:noFill/>
            </a:ln>
          </p:spPr>
          <p:txBody>
            <a:bodyPr wrap="none" anchor="ctr"/>
            <a:p>
              <a:pPr algn="ctr"/>
              <a:r>
                <a:rPr lang="en-US" altLang="zh-CN" sz="2800" b="1" u="none" dirty="0">
                  <a:solidFill>
                    <a:schemeClr val="tx1"/>
                  </a:solidFill>
                  <a:latin typeface="Times New Roman" panose="02020603050405020304" pitchFamily="18" charset="0"/>
                </a:rPr>
                <a:t>S</a:t>
              </a:r>
              <a:endParaRPr lang="en-US" altLang="zh-CN" sz="2400" b="1" u="none" dirty="0">
                <a:solidFill>
                  <a:schemeClr val="tx1"/>
                </a:solidFill>
                <a:latin typeface="Times New Roman" panose="02020603050405020304" pitchFamily="18" charset="0"/>
              </a:endParaRPr>
            </a:p>
          </p:txBody>
        </p:sp>
        <p:sp>
          <p:nvSpPr>
            <p:cNvPr id="18443" name="Rectangle 50"/>
            <p:cNvSpPr/>
            <p:nvPr/>
          </p:nvSpPr>
          <p:spPr>
            <a:xfrm>
              <a:off x="1152" y="3552"/>
              <a:ext cx="480" cy="240"/>
            </a:xfrm>
            <a:prstGeom prst="rect">
              <a:avLst/>
            </a:prstGeom>
            <a:noFill/>
            <a:ln w="22225">
              <a:noFill/>
            </a:ln>
          </p:spPr>
          <p:txBody>
            <a:bodyPr wrap="none" anchor="ctr"/>
            <a:p>
              <a:pPr algn="ctr"/>
              <a:r>
                <a:rPr lang="en-US" altLang="zh-CN" sz="2800" b="1" u="none" dirty="0">
                  <a:solidFill>
                    <a:schemeClr val="tx1"/>
                  </a:solidFill>
                  <a:latin typeface="Times New Roman" panose="02020603050405020304" pitchFamily="18" charset="0"/>
                </a:rPr>
                <a:t>x*y</a:t>
              </a:r>
              <a:endParaRPr lang="en-US" altLang="zh-CN" sz="2400" b="1" u="none" dirty="0">
                <a:solidFill>
                  <a:schemeClr val="tx1"/>
                </a:solidFill>
                <a:latin typeface="Times New Roman" panose="02020603050405020304" pitchFamily="18" charset="0"/>
              </a:endParaRPr>
            </a:p>
          </p:txBody>
        </p:sp>
        <p:grpSp>
          <p:nvGrpSpPr>
            <p:cNvPr id="18444" name="Group 51"/>
            <p:cNvGrpSpPr/>
            <p:nvPr/>
          </p:nvGrpSpPr>
          <p:grpSpPr>
            <a:xfrm>
              <a:off x="1056" y="3792"/>
              <a:ext cx="480" cy="624"/>
              <a:chOff x="624" y="768"/>
              <a:chExt cx="480" cy="624"/>
            </a:xfrm>
          </p:grpSpPr>
          <p:sp>
            <p:nvSpPr>
              <p:cNvPr id="18445" name="Line 52"/>
              <p:cNvSpPr/>
              <p:nvPr/>
            </p:nvSpPr>
            <p:spPr>
              <a:xfrm flipV="1">
                <a:off x="864" y="768"/>
                <a:ext cx="1" cy="288"/>
              </a:xfrm>
              <a:prstGeom prst="line">
                <a:avLst/>
              </a:prstGeom>
              <a:ln w="22225" cap="sq" cmpd="sng">
                <a:solidFill>
                  <a:schemeClr val="tx1"/>
                </a:solidFill>
                <a:prstDash val="solid"/>
                <a:round/>
                <a:headEnd type="none" w="sm" len="sm"/>
                <a:tailEnd type="stealth" w="med" len="lg"/>
              </a:ln>
            </p:spPr>
          </p:sp>
          <p:sp>
            <p:nvSpPr>
              <p:cNvPr id="18446" name="Rectangle 53"/>
              <p:cNvSpPr/>
              <p:nvPr/>
            </p:nvSpPr>
            <p:spPr>
              <a:xfrm>
                <a:off x="624" y="1104"/>
                <a:ext cx="480" cy="288"/>
              </a:xfrm>
              <a:prstGeom prst="rect">
                <a:avLst/>
              </a:prstGeom>
              <a:noFill/>
              <a:ln w="22225">
                <a:noFill/>
              </a:ln>
            </p:spPr>
            <p:txBody>
              <a:bodyPr wrap="none" anchor="ctr"/>
              <a:p>
                <a:pPr algn="ctr"/>
                <a:r>
                  <a:rPr lang="en-US" altLang="zh-CN" sz="2800" b="1" u="none" dirty="0">
                    <a:solidFill>
                      <a:schemeClr val="tx1"/>
                    </a:solidFill>
                    <a:latin typeface="Times New Roman" panose="02020603050405020304" pitchFamily="18" charset="0"/>
                  </a:rPr>
                  <a:t>IP</a:t>
                </a:r>
                <a:endParaRPr lang="en-US" altLang="zh-CN" sz="2400" b="1" u="none" dirty="0">
                  <a:solidFill>
                    <a:schemeClr val="tx1"/>
                  </a:solidFill>
                  <a:latin typeface="Times New Roman" panose="02020603050405020304" pitchFamily="18" charset="0"/>
                </a:endParaRPr>
              </a:p>
            </p:txBody>
          </p:sp>
        </p:grpSp>
        <p:sp>
          <p:nvSpPr>
            <p:cNvPr id="18447" name="Line 54"/>
            <p:cNvSpPr/>
            <p:nvPr/>
          </p:nvSpPr>
          <p:spPr>
            <a:xfrm flipH="1">
              <a:off x="1824" y="3792"/>
              <a:ext cx="384" cy="288"/>
            </a:xfrm>
            <a:prstGeom prst="line">
              <a:avLst/>
            </a:prstGeom>
            <a:ln w="22225" cap="sq" cmpd="sng">
              <a:solidFill>
                <a:schemeClr val="tx1"/>
              </a:solidFill>
              <a:prstDash val="solid"/>
              <a:round/>
              <a:headEnd type="none" w="sm" len="sm"/>
              <a:tailEnd type="none" w="med" len="lg"/>
            </a:ln>
          </p:spPr>
        </p:sp>
        <p:sp>
          <p:nvSpPr>
            <p:cNvPr id="18448" name="Line 55"/>
            <p:cNvSpPr/>
            <p:nvPr/>
          </p:nvSpPr>
          <p:spPr>
            <a:xfrm>
              <a:off x="2208" y="3792"/>
              <a:ext cx="0" cy="288"/>
            </a:xfrm>
            <a:prstGeom prst="line">
              <a:avLst/>
            </a:prstGeom>
            <a:ln w="22225" cap="sq" cmpd="sng">
              <a:solidFill>
                <a:schemeClr val="tx1"/>
              </a:solidFill>
              <a:prstDash val="solid"/>
              <a:round/>
              <a:headEnd type="none" w="sm" len="sm"/>
              <a:tailEnd type="none" w="med" len="lg"/>
            </a:ln>
          </p:spPr>
        </p:sp>
        <p:sp>
          <p:nvSpPr>
            <p:cNvPr id="18449" name="Line 56"/>
            <p:cNvSpPr/>
            <p:nvPr/>
          </p:nvSpPr>
          <p:spPr>
            <a:xfrm>
              <a:off x="2208" y="3792"/>
              <a:ext cx="432" cy="288"/>
            </a:xfrm>
            <a:prstGeom prst="line">
              <a:avLst/>
            </a:prstGeom>
            <a:ln w="22225" cap="sq" cmpd="sng">
              <a:solidFill>
                <a:schemeClr val="tx1"/>
              </a:solidFill>
              <a:prstDash val="solid"/>
              <a:round/>
              <a:headEnd type="none" w="sm" len="sm"/>
              <a:tailEnd type="none" w="med" len="lg"/>
            </a:ln>
          </p:spPr>
        </p:sp>
        <p:sp>
          <p:nvSpPr>
            <p:cNvPr id="18450" name="Rectangle 57"/>
            <p:cNvSpPr/>
            <p:nvPr/>
          </p:nvSpPr>
          <p:spPr>
            <a:xfrm>
              <a:off x="1968" y="4080"/>
              <a:ext cx="480" cy="288"/>
            </a:xfrm>
            <a:prstGeom prst="rect">
              <a:avLst/>
            </a:prstGeom>
            <a:noFill/>
            <a:ln w="22225">
              <a:noFill/>
            </a:ln>
          </p:spPr>
          <p:txBody>
            <a:bodyPr wrap="none" anchor="ctr"/>
            <a:p>
              <a:pPr algn="ctr"/>
              <a:r>
                <a:rPr lang="en-US" altLang="zh-CN" sz="2800" b="1" u="none" dirty="0">
                  <a:solidFill>
                    <a:schemeClr val="tx1"/>
                  </a:solidFill>
                  <a:latin typeface="Times New Roman" panose="02020603050405020304" pitchFamily="18" charset="0"/>
                </a:rPr>
                <a:t>A</a:t>
              </a:r>
              <a:endParaRPr lang="en-US" altLang="zh-CN" sz="2400" b="1" u="none" dirty="0">
                <a:solidFill>
                  <a:schemeClr val="tx1"/>
                </a:solidFill>
                <a:latin typeface="Times New Roman" panose="02020603050405020304" pitchFamily="18" charset="0"/>
              </a:endParaRPr>
            </a:p>
          </p:txBody>
        </p:sp>
        <p:sp>
          <p:nvSpPr>
            <p:cNvPr id="18451" name="Rectangle 58"/>
            <p:cNvSpPr/>
            <p:nvPr/>
          </p:nvSpPr>
          <p:spPr>
            <a:xfrm>
              <a:off x="1632" y="4080"/>
              <a:ext cx="480" cy="288"/>
            </a:xfrm>
            <a:prstGeom prst="rect">
              <a:avLst/>
            </a:prstGeom>
            <a:noFill/>
            <a:ln w="22225">
              <a:noFill/>
            </a:ln>
          </p:spPr>
          <p:txBody>
            <a:bodyPr wrap="none" anchor="ctr"/>
            <a:p>
              <a:pPr algn="ctr"/>
              <a:r>
                <a:rPr lang="en-US" altLang="zh-CN" sz="2800" b="1" u="none" dirty="0">
                  <a:solidFill>
                    <a:schemeClr val="tx1"/>
                  </a:solidFill>
                  <a:latin typeface="Times New Roman" panose="02020603050405020304" pitchFamily="18" charset="0"/>
                </a:rPr>
                <a:t>x</a:t>
              </a:r>
              <a:endParaRPr lang="en-US" altLang="zh-CN" sz="2400" b="1" u="none" dirty="0">
                <a:solidFill>
                  <a:schemeClr val="tx1"/>
                </a:solidFill>
                <a:latin typeface="Times New Roman" panose="02020603050405020304" pitchFamily="18" charset="0"/>
              </a:endParaRPr>
            </a:p>
          </p:txBody>
        </p:sp>
        <p:sp>
          <p:nvSpPr>
            <p:cNvPr id="18452" name="Rectangle 59"/>
            <p:cNvSpPr/>
            <p:nvPr/>
          </p:nvSpPr>
          <p:spPr>
            <a:xfrm>
              <a:off x="2352" y="4080"/>
              <a:ext cx="480" cy="288"/>
            </a:xfrm>
            <a:prstGeom prst="rect">
              <a:avLst/>
            </a:prstGeom>
            <a:noFill/>
            <a:ln w="22225">
              <a:noFill/>
            </a:ln>
          </p:spPr>
          <p:txBody>
            <a:bodyPr wrap="none" anchor="ctr"/>
            <a:p>
              <a:pPr algn="ctr"/>
              <a:r>
                <a:rPr lang="en-US" altLang="zh-CN" sz="2800" b="1" u="none" dirty="0">
                  <a:solidFill>
                    <a:schemeClr val="tx1"/>
                  </a:solidFill>
                  <a:latin typeface="Times New Roman" panose="02020603050405020304" pitchFamily="18" charset="0"/>
                </a:rPr>
                <a:t>y</a:t>
              </a:r>
              <a:endParaRPr lang="en-US" altLang="zh-CN" sz="2400" b="1" u="none" dirty="0">
                <a:solidFill>
                  <a:schemeClr val="tx1"/>
                </a:solidFill>
                <a:latin typeface="Times New Roman" panose="02020603050405020304" pitchFamily="18" charset="0"/>
              </a:endParaRPr>
            </a:p>
          </p:txBody>
        </p:sp>
        <p:sp>
          <p:nvSpPr>
            <p:cNvPr id="18453" name="Line 60"/>
            <p:cNvSpPr/>
            <p:nvPr/>
          </p:nvSpPr>
          <p:spPr>
            <a:xfrm flipV="1">
              <a:off x="1824" y="4368"/>
              <a:ext cx="0" cy="288"/>
            </a:xfrm>
            <a:prstGeom prst="line">
              <a:avLst/>
            </a:prstGeom>
            <a:ln w="22225" cap="sq" cmpd="sng">
              <a:solidFill>
                <a:schemeClr val="tx1"/>
              </a:solidFill>
              <a:prstDash val="solid"/>
              <a:round/>
              <a:headEnd type="none" w="sm" len="sm"/>
              <a:tailEnd type="stealth" w="med" len="lg"/>
            </a:ln>
          </p:spPr>
        </p:sp>
      </p:grpSp>
      <p:grpSp>
        <p:nvGrpSpPr>
          <p:cNvPr id="6" name="Group 61"/>
          <p:cNvGrpSpPr/>
          <p:nvPr/>
        </p:nvGrpSpPr>
        <p:grpSpPr>
          <a:xfrm>
            <a:off x="3200400" y="3276600"/>
            <a:ext cx="2667000" cy="1752600"/>
            <a:chOff x="624" y="1968"/>
            <a:chExt cx="1680" cy="1104"/>
          </a:xfrm>
        </p:grpSpPr>
        <p:sp>
          <p:nvSpPr>
            <p:cNvPr id="18455" name="Rectangle 62"/>
            <p:cNvSpPr/>
            <p:nvPr/>
          </p:nvSpPr>
          <p:spPr>
            <a:xfrm>
              <a:off x="1440" y="1968"/>
              <a:ext cx="480" cy="288"/>
            </a:xfrm>
            <a:prstGeom prst="rect">
              <a:avLst/>
            </a:prstGeom>
            <a:noFill/>
            <a:ln w="22225">
              <a:noFill/>
            </a:ln>
          </p:spPr>
          <p:txBody>
            <a:bodyPr wrap="none" anchor="ctr"/>
            <a:p>
              <a:pPr algn="ctr"/>
              <a:r>
                <a:rPr lang="en-US" altLang="zh-CN" sz="2800" b="1" u="none" dirty="0">
                  <a:solidFill>
                    <a:schemeClr val="tx1"/>
                  </a:solidFill>
                  <a:latin typeface="Times New Roman" panose="02020603050405020304" pitchFamily="18" charset="0"/>
                </a:rPr>
                <a:t>S</a:t>
              </a:r>
              <a:endParaRPr lang="en-US" altLang="zh-CN" sz="2400" b="1" u="none" dirty="0">
                <a:solidFill>
                  <a:schemeClr val="tx1"/>
                </a:solidFill>
                <a:latin typeface="Times New Roman" panose="02020603050405020304" pitchFamily="18" charset="0"/>
              </a:endParaRPr>
            </a:p>
          </p:txBody>
        </p:sp>
        <p:sp>
          <p:nvSpPr>
            <p:cNvPr id="18456" name="Rectangle 63"/>
            <p:cNvSpPr/>
            <p:nvPr/>
          </p:nvSpPr>
          <p:spPr>
            <a:xfrm>
              <a:off x="624" y="1968"/>
              <a:ext cx="480" cy="288"/>
            </a:xfrm>
            <a:prstGeom prst="rect">
              <a:avLst/>
            </a:prstGeom>
            <a:noFill/>
            <a:ln w="22225">
              <a:noFill/>
            </a:ln>
          </p:spPr>
          <p:txBody>
            <a:bodyPr wrap="none" anchor="ctr"/>
            <a:p>
              <a:pPr algn="ctr"/>
              <a:r>
                <a:rPr lang="en-US" altLang="zh-CN" sz="2800" b="1" u="none" dirty="0">
                  <a:solidFill>
                    <a:schemeClr val="tx1"/>
                  </a:solidFill>
                  <a:latin typeface="Times New Roman" panose="02020603050405020304" pitchFamily="18" charset="0"/>
                </a:rPr>
                <a:t>x*y</a:t>
              </a:r>
              <a:endParaRPr lang="en-US" altLang="zh-CN" sz="2400" b="1" u="none" dirty="0">
                <a:solidFill>
                  <a:schemeClr val="tx1"/>
                </a:solidFill>
                <a:latin typeface="Times New Roman" panose="02020603050405020304" pitchFamily="18" charset="0"/>
              </a:endParaRPr>
            </a:p>
          </p:txBody>
        </p:sp>
        <p:sp>
          <p:nvSpPr>
            <p:cNvPr id="18457" name="Line 64"/>
            <p:cNvSpPr/>
            <p:nvPr/>
          </p:nvSpPr>
          <p:spPr>
            <a:xfrm flipV="1">
              <a:off x="864" y="2208"/>
              <a:ext cx="1" cy="288"/>
            </a:xfrm>
            <a:prstGeom prst="line">
              <a:avLst/>
            </a:prstGeom>
            <a:ln w="22225" cap="sq" cmpd="sng">
              <a:solidFill>
                <a:schemeClr val="tx1"/>
              </a:solidFill>
              <a:prstDash val="solid"/>
              <a:round/>
              <a:headEnd type="none" w="sm" len="sm"/>
              <a:tailEnd type="stealth" w="med" len="lg"/>
            </a:ln>
          </p:spPr>
        </p:sp>
        <p:sp>
          <p:nvSpPr>
            <p:cNvPr id="18458" name="Rectangle 65"/>
            <p:cNvSpPr/>
            <p:nvPr/>
          </p:nvSpPr>
          <p:spPr>
            <a:xfrm>
              <a:off x="624" y="2544"/>
              <a:ext cx="480" cy="288"/>
            </a:xfrm>
            <a:prstGeom prst="rect">
              <a:avLst/>
            </a:prstGeom>
            <a:noFill/>
            <a:ln w="22225">
              <a:noFill/>
            </a:ln>
          </p:spPr>
          <p:txBody>
            <a:bodyPr wrap="none" anchor="ctr"/>
            <a:p>
              <a:pPr algn="ctr"/>
              <a:r>
                <a:rPr lang="en-US" altLang="zh-CN" sz="2800" b="1" u="none" dirty="0">
                  <a:solidFill>
                    <a:schemeClr val="tx1"/>
                  </a:solidFill>
                  <a:latin typeface="Times New Roman" panose="02020603050405020304" pitchFamily="18" charset="0"/>
                </a:rPr>
                <a:t>IP</a:t>
              </a:r>
              <a:endParaRPr lang="en-US" altLang="zh-CN" sz="2400" b="1" u="none" dirty="0">
                <a:solidFill>
                  <a:schemeClr val="tx1"/>
                </a:solidFill>
                <a:latin typeface="Times New Roman" panose="02020603050405020304" pitchFamily="18" charset="0"/>
              </a:endParaRPr>
            </a:p>
          </p:txBody>
        </p:sp>
        <p:sp>
          <p:nvSpPr>
            <p:cNvPr id="18459" name="Line 66"/>
            <p:cNvSpPr/>
            <p:nvPr/>
          </p:nvSpPr>
          <p:spPr>
            <a:xfrm flipH="1">
              <a:off x="1296" y="2256"/>
              <a:ext cx="384" cy="288"/>
            </a:xfrm>
            <a:prstGeom prst="line">
              <a:avLst/>
            </a:prstGeom>
            <a:ln w="22225" cap="sq" cmpd="sng">
              <a:solidFill>
                <a:schemeClr val="tx1"/>
              </a:solidFill>
              <a:prstDash val="solid"/>
              <a:round/>
              <a:headEnd type="none" w="sm" len="sm"/>
              <a:tailEnd type="none" w="med" len="lg"/>
            </a:ln>
          </p:spPr>
        </p:sp>
        <p:sp>
          <p:nvSpPr>
            <p:cNvPr id="18460" name="Line 67"/>
            <p:cNvSpPr/>
            <p:nvPr/>
          </p:nvSpPr>
          <p:spPr>
            <a:xfrm>
              <a:off x="1680" y="2256"/>
              <a:ext cx="0" cy="288"/>
            </a:xfrm>
            <a:prstGeom prst="line">
              <a:avLst/>
            </a:prstGeom>
            <a:ln w="22225" cap="sq" cmpd="sng">
              <a:solidFill>
                <a:schemeClr val="tx1"/>
              </a:solidFill>
              <a:prstDash val="solid"/>
              <a:round/>
              <a:headEnd type="none" w="sm" len="sm"/>
              <a:tailEnd type="none" w="med" len="lg"/>
            </a:ln>
          </p:spPr>
        </p:sp>
        <p:sp>
          <p:nvSpPr>
            <p:cNvPr id="18461" name="Line 68"/>
            <p:cNvSpPr/>
            <p:nvPr/>
          </p:nvSpPr>
          <p:spPr>
            <a:xfrm>
              <a:off x="1680" y="2256"/>
              <a:ext cx="432" cy="288"/>
            </a:xfrm>
            <a:prstGeom prst="line">
              <a:avLst/>
            </a:prstGeom>
            <a:ln w="22225" cap="sq" cmpd="sng">
              <a:solidFill>
                <a:schemeClr val="tx1"/>
              </a:solidFill>
              <a:prstDash val="solid"/>
              <a:round/>
              <a:headEnd type="none" w="sm" len="sm"/>
              <a:tailEnd type="none" w="med" len="lg"/>
            </a:ln>
          </p:spPr>
        </p:sp>
        <p:sp>
          <p:nvSpPr>
            <p:cNvPr id="18462" name="Rectangle 69"/>
            <p:cNvSpPr/>
            <p:nvPr/>
          </p:nvSpPr>
          <p:spPr>
            <a:xfrm>
              <a:off x="1440" y="2544"/>
              <a:ext cx="480" cy="288"/>
            </a:xfrm>
            <a:prstGeom prst="rect">
              <a:avLst/>
            </a:prstGeom>
            <a:noFill/>
            <a:ln w="22225">
              <a:noFill/>
            </a:ln>
          </p:spPr>
          <p:txBody>
            <a:bodyPr wrap="none" anchor="ctr"/>
            <a:p>
              <a:pPr algn="ctr"/>
              <a:r>
                <a:rPr lang="en-US" altLang="zh-CN" sz="2800" b="1" u="none" dirty="0">
                  <a:solidFill>
                    <a:schemeClr val="tx1"/>
                  </a:solidFill>
                  <a:latin typeface="Times New Roman" panose="02020603050405020304" pitchFamily="18" charset="0"/>
                </a:rPr>
                <a:t>A</a:t>
              </a:r>
              <a:endParaRPr lang="en-US" altLang="zh-CN" sz="2400" b="1" u="none" dirty="0">
                <a:solidFill>
                  <a:schemeClr val="tx1"/>
                </a:solidFill>
                <a:latin typeface="Times New Roman" panose="02020603050405020304" pitchFamily="18" charset="0"/>
              </a:endParaRPr>
            </a:p>
          </p:txBody>
        </p:sp>
        <p:sp>
          <p:nvSpPr>
            <p:cNvPr id="18463" name="Rectangle 70"/>
            <p:cNvSpPr/>
            <p:nvPr/>
          </p:nvSpPr>
          <p:spPr>
            <a:xfrm>
              <a:off x="1056" y="2544"/>
              <a:ext cx="480" cy="288"/>
            </a:xfrm>
            <a:prstGeom prst="rect">
              <a:avLst/>
            </a:prstGeom>
            <a:noFill/>
            <a:ln w="22225">
              <a:noFill/>
            </a:ln>
          </p:spPr>
          <p:txBody>
            <a:bodyPr wrap="none" anchor="ctr"/>
            <a:p>
              <a:pPr algn="ctr"/>
              <a:r>
                <a:rPr lang="en-US" altLang="zh-CN" sz="2800" b="1" u="none" dirty="0">
                  <a:solidFill>
                    <a:schemeClr val="tx1"/>
                  </a:solidFill>
                  <a:latin typeface="Times New Roman" panose="02020603050405020304" pitchFamily="18" charset="0"/>
                </a:rPr>
                <a:t>x</a:t>
              </a:r>
              <a:endParaRPr lang="en-US" altLang="zh-CN" sz="2400" b="1" u="none" dirty="0">
                <a:solidFill>
                  <a:schemeClr val="tx1"/>
                </a:solidFill>
                <a:latin typeface="Times New Roman" panose="02020603050405020304" pitchFamily="18" charset="0"/>
              </a:endParaRPr>
            </a:p>
          </p:txBody>
        </p:sp>
        <p:sp>
          <p:nvSpPr>
            <p:cNvPr id="18464" name="Rectangle 71"/>
            <p:cNvSpPr/>
            <p:nvPr/>
          </p:nvSpPr>
          <p:spPr>
            <a:xfrm>
              <a:off x="1824" y="2544"/>
              <a:ext cx="480" cy="288"/>
            </a:xfrm>
            <a:prstGeom prst="rect">
              <a:avLst/>
            </a:prstGeom>
            <a:noFill/>
            <a:ln w="22225">
              <a:noFill/>
            </a:ln>
          </p:spPr>
          <p:txBody>
            <a:bodyPr wrap="none" anchor="ctr"/>
            <a:p>
              <a:pPr algn="ctr"/>
              <a:r>
                <a:rPr lang="en-US" altLang="zh-CN" sz="2800" b="1" u="none" dirty="0">
                  <a:solidFill>
                    <a:schemeClr val="tx1"/>
                  </a:solidFill>
                  <a:latin typeface="Times New Roman" panose="02020603050405020304" pitchFamily="18" charset="0"/>
                </a:rPr>
                <a:t>y</a:t>
              </a:r>
              <a:endParaRPr lang="en-US" altLang="zh-CN" sz="2400" b="1" u="none" dirty="0">
                <a:solidFill>
                  <a:schemeClr val="tx1"/>
                </a:solidFill>
                <a:latin typeface="Times New Roman" panose="02020603050405020304" pitchFamily="18" charset="0"/>
              </a:endParaRPr>
            </a:p>
          </p:txBody>
        </p:sp>
        <p:sp>
          <p:nvSpPr>
            <p:cNvPr id="18465" name="Line 72"/>
            <p:cNvSpPr/>
            <p:nvPr/>
          </p:nvSpPr>
          <p:spPr>
            <a:xfrm flipV="1">
              <a:off x="1680" y="2784"/>
              <a:ext cx="0" cy="288"/>
            </a:xfrm>
            <a:prstGeom prst="line">
              <a:avLst/>
            </a:prstGeom>
            <a:ln w="22225" cap="sq" cmpd="sng">
              <a:solidFill>
                <a:schemeClr val="tx1"/>
              </a:solidFill>
              <a:prstDash val="solid"/>
              <a:round/>
              <a:headEnd type="none" w="sm" len="sm"/>
              <a:tailEnd type="stealth" w="med" len="lg"/>
            </a:ln>
          </p:spPr>
        </p:sp>
      </p:grpSp>
      <p:grpSp>
        <p:nvGrpSpPr>
          <p:cNvPr id="7" name="Group 73"/>
          <p:cNvGrpSpPr/>
          <p:nvPr/>
        </p:nvGrpSpPr>
        <p:grpSpPr>
          <a:xfrm>
            <a:off x="3200400" y="3276600"/>
            <a:ext cx="2667000" cy="2514600"/>
            <a:chOff x="2736" y="2016"/>
            <a:chExt cx="1680" cy="1584"/>
          </a:xfrm>
        </p:grpSpPr>
        <p:sp>
          <p:nvSpPr>
            <p:cNvPr id="18467" name="Rectangle 74"/>
            <p:cNvSpPr/>
            <p:nvPr/>
          </p:nvSpPr>
          <p:spPr>
            <a:xfrm>
              <a:off x="3552" y="2016"/>
              <a:ext cx="480" cy="288"/>
            </a:xfrm>
            <a:prstGeom prst="rect">
              <a:avLst/>
            </a:prstGeom>
            <a:noFill/>
            <a:ln w="22225">
              <a:noFill/>
            </a:ln>
          </p:spPr>
          <p:txBody>
            <a:bodyPr wrap="none" anchor="ctr"/>
            <a:p>
              <a:pPr algn="ctr"/>
              <a:r>
                <a:rPr lang="en-US" altLang="zh-CN" sz="2800" b="1" u="none" dirty="0">
                  <a:solidFill>
                    <a:schemeClr val="tx1"/>
                  </a:solidFill>
                  <a:latin typeface="Times New Roman" panose="02020603050405020304" pitchFamily="18" charset="0"/>
                </a:rPr>
                <a:t>S</a:t>
              </a:r>
              <a:endParaRPr lang="en-US" altLang="zh-CN" sz="2400" b="1" u="none" dirty="0">
                <a:solidFill>
                  <a:schemeClr val="tx1"/>
                </a:solidFill>
                <a:latin typeface="Times New Roman" panose="02020603050405020304" pitchFamily="18" charset="0"/>
              </a:endParaRPr>
            </a:p>
          </p:txBody>
        </p:sp>
        <p:sp>
          <p:nvSpPr>
            <p:cNvPr id="18468" name="Rectangle 75"/>
            <p:cNvSpPr/>
            <p:nvPr/>
          </p:nvSpPr>
          <p:spPr>
            <a:xfrm>
              <a:off x="2736" y="2016"/>
              <a:ext cx="480" cy="288"/>
            </a:xfrm>
            <a:prstGeom prst="rect">
              <a:avLst/>
            </a:prstGeom>
            <a:noFill/>
            <a:ln w="22225">
              <a:noFill/>
            </a:ln>
          </p:spPr>
          <p:txBody>
            <a:bodyPr wrap="none" anchor="ctr"/>
            <a:p>
              <a:pPr algn="ctr"/>
              <a:r>
                <a:rPr lang="en-US" altLang="zh-CN" sz="2800" b="1" u="none" dirty="0">
                  <a:solidFill>
                    <a:schemeClr val="tx1"/>
                  </a:solidFill>
                  <a:latin typeface="Times New Roman" panose="02020603050405020304" pitchFamily="18" charset="0"/>
                </a:rPr>
                <a:t>x*y</a:t>
              </a:r>
              <a:endParaRPr lang="en-US" altLang="zh-CN" sz="2400" b="1" u="none" dirty="0">
                <a:solidFill>
                  <a:schemeClr val="tx1"/>
                </a:solidFill>
                <a:latin typeface="Times New Roman" panose="02020603050405020304" pitchFamily="18" charset="0"/>
              </a:endParaRPr>
            </a:p>
          </p:txBody>
        </p:sp>
        <p:grpSp>
          <p:nvGrpSpPr>
            <p:cNvPr id="18469" name="Group 76"/>
            <p:cNvGrpSpPr/>
            <p:nvPr/>
          </p:nvGrpSpPr>
          <p:grpSpPr>
            <a:xfrm>
              <a:off x="2736" y="2256"/>
              <a:ext cx="480" cy="624"/>
              <a:chOff x="624" y="768"/>
              <a:chExt cx="480" cy="624"/>
            </a:xfrm>
          </p:grpSpPr>
          <p:sp>
            <p:nvSpPr>
              <p:cNvPr id="18470" name="Line 77"/>
              <p:cNvSpPr/>
              <p:nvPr/>
            </p:nvSpPr>
            <p:spPr>
              <a:xfrm flipV="1">
                <a:off x="864" y="768"/>
                <a:ext cx="1" cy="288"/>
              </a:xfrm>
              <a:prstGeom prst="line">
                <a:avLst/>
              </a:prstGeom>
              <a:ln w="22225" cap="sq" cmpd="sng">
                <a:solidFill>
                  <a:schemeClr val="tx1"/>
                </a:solidFill>
                <a:prstDash val="solid"/>
                <a:round/>
                <a:headEnd type="none" w="sm" len="sm"/>
                <a:tailEnd type="stealth" w="med" len="lg"/>
              </a:ln>
            </p:spPr>
          </p:sp>
          <p:sp>
            <p:nvSpPr>
              <p:cNvPr id="18471" name="Rectangle 78"/>
              <p:cNvSpPr/>
              <p:nvPr/>
            </p:nvSpPr>
            <p:spPr>
              <a:xfrm>
                <a:off x="624" y="1104"/>
                <a:ext cx="480" cy="288"/>
              </a:xfrm>
              <a:prstGeom prst="rect">
                <a:avLst/>
              </a:prstGeom>
              <a:noFill/>
              <a:ln w="22225">
                <a:noFill/>
              </a:ln>
            </p:spPr>
            <p:txBody>
              <a:bodyPr wrap="none" anchor="ctr"/>
              <a:p>
                <a:pPr algn="ctr"/>
                <a:r>
                  <a:rPr lang="en-US" altLang="zh-CN" sz="2800" b="1" u="none" dirty="0">
                    <a:solidFill>
                      <a:schemeClr val="tx1"/>
                    </a:solidFill>
                    <a:latin typeface="Times New Roman" panose="02020603050405020304" pitchFamily="18" charset="0"/>
                  </a:rPr>
                  <a:t>IP</a:t>
                </a:r>
                <a:endParaRPr lang="en-US" altLang="zh-CN" sz="2400" b="1" u="none" dirty="0">
                  <a:solidFill>
                    <a:schemeClr val="tx1"/>
                  </a:solidFill>
                  <a:latin typeface="Times New Roman" panose="02020603050405020304" pitchFamily="18" charset="0"/>
                </a:endParaRPr>
              </a:p>
            </p:txBody>
          </p:sp>
        </p:grpSp>
        <p:sp>
          <p:nvSpPr>
            <p:cNvPr id="18472" name="Line 79"/>
            <p:cNvSpPr/>
            <p:nvPr/>
          </p:nvSpPr>
          <p:spPr>
            <a:xfrm flipH="1">
              <a:off x="3408" y="2304"/>
              <a:ext cx="384" cy="288"/>
            </a:xfrm>
            <a:prstGeom prst="line">
              <a:avLst/>
            </a:prstGeom>
            <a:ln w="22225" cap="sq" cmpd="sng">
              <a:solidFill>
                <a:schemeClr val="tx1"/>
              </a:solidFill>
              <a:prstDash val="solid"/>
              <a:round/>
              <a:headEnd type="none" w="sm" len="sm"/>
              <a:tailEnd type="none" w="med" len="lg"/>
            </a:ln>
          </p:spPr>
        </p:sp>
        <p:sp>
          <p:nvSpPr>
            <p:cNvPr id="18473" name="Line 80"/>
            <p:cNvSpPr/>
            <p:nvPr/>
          </p:nvSpPr>
          <p:spPr>
            <a:xfrm>
              <a:off x="3792" y="2304"/>
              <a:ext cx="0" cy="288"/>
            </a:xfrm>
            <a:prstGeom prst="line">
              <a:avLst/>
            </a:prstGeom>
            <a:ln w="22225" cap="sq" cmpd="sng">
              <a:solidFill>
                <a:schemeClr val="tx1"/>
              </a:solidFill>
              <a:prstDash val="solid"/>
              <a:round/>
              <a:headEnd type="none" w="sm" len="sm"/>
              <a:tailEnd type="none" w="med" len="lg"/>
            </a:ln>
          </p:spPr>
        </p:sp>
        <p:sp>
          <p:nvSpPr>
            <p:cNvPr id="18474" name="Line 81"/>
            <p:cNvSpPr/>
            <p:nvPr/>
          </p:nvSpPr>
          <p:spPr>
            <a:xfrm>
              <a:off x="3792" y="2304"/>
              <a:ext cx="432" cy="288"/>
            </a:xfrm>
            <a:prstGeom prst="line">
              <a:avLst/>
            </a:prstGeom>
            <a:ln w="22225" cap="sq" cmpd="sng">
              <a:solidFill>
                <a:schemeClr val="tx1"/>
              </a:solidFill>
              <a:prstDash val="solid"/>
              <a:round/>
              <a:headEnd type="none" w="sm" len="sm"/>
              <a:tailEnd type="none" w="med" len="lg"/>
            </a:ln>
          </p:spPr>
        </p:sp>
        <p:sp>
          <p:nvSpPr>
            <p:cNvPr id="18475" name="Rectangle 82"/>
            <p:cNvSpPr/>
            <p:nvPr/>
          </p:nvSpPr>
          <p:spPr>
            <a:xfrm>
              <a:off x="3552" y="2592"/>
              <a:ext cx="480" cy="288"/>
            </a:xfrm>
            <a:prstGeom prst="rect">
              <a:avLst/>
            </a:prstGeom>
            <a:noFill/>
            <a:ln w="22225">
              <a:noFill/>
            </a:ln>
          </p:spPr>
          <p:txBody>
            <a:bodyPr wrap="none" anchor="ctr"/>
            <a:p>
              <a:pPr algn="ctr"/>
              <a:r>
                <a:rPr lang="en-US" altLang="zh-CN" sz="2800" b="1" u="none" dirty="0">
                  <a:solidFill>
                    <a:schemeClr val="tx1"/>
                  </a:solidFill>
                  <a:latin typeface="Times New Roman" panose="02020603050405020304" pitchFamily="18" charset="0"/>
                </a:rPr>
                <a:t>A</a:t>
              </a:r>
              <a:endParaRPr lang="en-US" altLang="zh-CN" sz="2400" b="1" u="none" dirty="0">
                <a:solidFill>
                  <a:schemeClr val="tx1"/>
                </a:solidFill>
                <a:latin typeface="Times New Roman" panose="02020603050405020304" pitchFamily="18" charset="0"/>
              </a:endParaRPr>
            </a:p>
          </p:txBody>
        </p:sp>
        <p:sp>
          <p:nvSpPr>
            <p:cNvPr id="18476" name="Rectangle 83"/>
            <p:cNvSpPr/>
            <p:nvPr/>
          </p:nvSpPr>
          <p:spPr>
            <a:xfrm>
              <a:off x="3168" y="2592"/>
              <a:ext cx="480" cy="288"/>
            </a:xfrm>
            <a:prstGeom prst="rect">
              <a:avLst/>
            </a:prstGeom>
            <a:noFill/>
            <a:ln w="22225">
              <a:noFill/>
            </a:ln>
          </p:spPr>
          <p:txBody>
            <a:bodyPr wrap="none" anchor="ctr"/>
            <a:p>
              <a:pPr algn="ctr"/>
              <a:r>
                <a:rPr lang="en-US" altLang="zh-CN" sz="2800" b="1" u="none" dirty="0">
                  <a:solidFill>
                    <a:schemeClr val="tx1"/>
                  </a:solidFill>
                  <a:latin typeface="Times New Roman" panose="02020603050405020304" pitchFamily="18" charset="0"/>
                </a:rPr>
                <a:t>x</a:t>
              </a:r>
              <a:endParaRPr lang="en-US" altLang="zh-CN" sz="2400" b="1" u="none" dirty="0">
                <a:solidFill>
                  <a:schemeClr val="tx1"/>
                </a:solidFill>
                <a:latin typeface="Times New Roman" panose="02020603050405020304" pitchFamily="18" charset="0"/>
              </a:endParaRPr>
            </a:p>
          </p:txBody>
        </p:sp>
        <p:sp>
          <p:nvSpPr>
            <p:cNvPr id="18477" name="Rectangle 84"/>
            <p:cNvSpPr/>
            <p:nvPr/>
          </p:nvSpPr>
          <p:spPr>
            <a:xfrm>
              <a:off x="3936" y="2592"/>
              <a:ext cx="480" cy="288"/>
            </a:xfrm>
            <a:prstGeom prst="rect">
              <a:avLst/>
            </a:prstGeom>
            <a:noFill/>
            <a:ln w="22225">
              <a:noFill/>
            </a:ln>
          </p:spPr>
          <p:txBody>
            <a:bodyPr wrap="none" anchor="ctr"/>
            <a:p>
              <a:pPr algn="ctr"/>
              <a:r>
                <a:rPr lang="en-US" altLang="zh-CN" sz="2800" b="1" u="none" dirty="0">
                  <a:solidFill>
                    <a:schemeClr val="tx1"/>
                  </a:solidFill>
                  <a:latin typeface="Times New Roman" panose="02020603050405020304" pitchFamily="18" charset="0"/>
                </a:rPr>
                <a:t>y</a:t>
              </a:r>
              <a:endParaRPr lang="en-US" altLang="zh-CN" sz="2400" b="1" u="none" dirty="0">
                <a:solidFill>
                  <a:schemeClr val="tx1"/>
                </a:solidFill>
                <a:latin typeface="Times New Roman" panose="02020603050405020304" pitchFamily="18" charset="0"/>
              </a:endParaRPr>
            </a:p>
          </p:txBody>
        </p:sp>
        <p:sp>
          <p:nvSpPr>
            <p:cNvPr id="18478" name="Line 85"/>
            <p:cNvSpPr/>
            <p:nvPr/>
          </p:nvSpPr>
          <p:spPr>
            <a:xfrm flipH="1">
              <a:off x="3600" y="2880"/>
              <a:ext cx="192" cy="240"/>
            </a:xfrm>
            <a:prstGeom prst="line">
              <a:avLst/>
            </a:prstGeom>
            <a:ln w="22225" cap="sq" cmpd="sng">
              <a:solidFill>
                <a:schemeClr val="tx1"/>
              </a:solidFill>
              <a:prstDash val="solid"/>
              <a:round/>
              <a:headEnd type="none" w="sm" len="sm"/>
              <a:tailEnd type="none" w="med" len="lg"/>
            </a:ln>
          </p:spPr>
        </p:sp>
        <p:sp>
          <p:nvSpPr>
            <p:cNvPr id="18479" name="Line 86"/>
            <p:cNvSpPr/>
            <p:nvPr/>
          </p:nvSpPr>
          <p:spPr>
            <a:xfrm>
              <a:off x="3792" y="2880"/>
              <a:ext cx="192" cy="240"/>
            </a:xfrm>
            <a:prstGeom prst="line">
              <a:avLst/>
            </a:prstGeom>
            <a:ln w="22225" cap="sq" cmpd="sng">
              <a:solidFill>
                <a:schemeClr val="tx1"/>
              </a:solidFill>
              <a:prstDash val="solid"/>
              <a:round/>
              <a:headEnd type="none" w="sm" len="sm"/>
              <a:tailEnd type="none" w="med" len="lg"/>
            </a:ln>
          </p:spPr>
        </p:sp>
        <p:sp>
          <p:nvSpPr>
            <p:cNvPr id="18480" name="Rectangle 87"/>
            <p:cNvSpPr/>
            <p:nvPr/>
          </p:nvSpPr>
          <p:spPr>
            <a:xfrm>
              <a:off x="3744" y="3120"/>
              <a:ext cx="480" cy="288"/>
            </a:xfrm>
            <a:prstGeom prst="rect">
              <a:avLst/>
            </a:prstGeom>
            <a:noFill/>
            <a:ln w="22225">
              <a:noFill/>
            </a:ln>
          </p:spPr>
          <p:txBody>
            <a:bodyPr wrap="none" anchor="ctr"/>
            <a:p>
              <a:pPr algn="ctr"/>
              <a:r>
                <a:rPr lang="en-US" altLang="en-US" sz="2800" b="1" u="none" dirty="0">
                  <a:solidFill>
                    <a:schemeClr val="tx1"/>
                  </a:solidFill>
                  <a:latin typeface="Times New Roman" panose="02020603050405020304" pitchFamily="18" charset="0"/>
                </a:rPr>
                <a:t>*</a:t>
              </a:r>
              <a:endParaRPr lang="en-US" altLang="zh-CN" sz="2400" b="1" u="none" dirty="0">
                <a:solidFill>
                  <a:schemeClr val="tx1"/>
                </a:solidFill>
                <a:latin typeface="Times New Roman" panose="02020603050405020304" pitchFamily="18" charset="0"/>
              </a:endParaRPr>
            </a:p>
          </p:txBody>
        </p:sp>
        <p:sp>
          <p:nvSpPr>
            <p:cNvPr id="18481" name="Rectangle 88"/>
            <p:cNvSpPr/>
            <p:nvPr/>
          </p:nvSpPr>
          <p:spPr>
            <a:xfrm>
              <a:off x="3312" y="3120"/>
              <a:ext cx="480" cy="288"/>
            </a:xfrm>
            <a:prstGeom prst="rect">
              <a:avLst/>
            </a:prstGeom>
            <a:noFill/>
            <a:ln w="22225">
              <a:noFill/>
            </a:ln>
          </p:spPr>
          <p:txBody>
            <a:bodyPr wrap="none" anchor="ctr"/>
            <a:p>
              <a:pPr algn="ctr"/>
              <a:r>
                <a:rPr lang="en-US" altLang="en-US" sz="2800" b="1" u="none" dirty="0">
                  <a:solidFill>
                    <a:schemeClr val="tx1"/>
                  </a:solidFill>
                  <a:latin typeface="Times New Roman" panose="02020603050405020304" pitchFamily="18" charset="0"/>
                </a:rPr>
                <a:t>*</a:t>
              </a:r>
              <a:endParaRPr lang="en-US" altLang="zh-CN" sz="2400" b="1" u="none" dirty="0">
                <a:solidFill>
                  <a:schemeClr val="tx1"/>
                </a:solidFill>
                <a:latin typeface="Times New Roman" panose="02020603050405020304" pitchFamily="18" charset="0"/>
              </a:endParaRPr>
            </a:p>
          </p:txBody>
        </p:sp>
        <p:sp>
          <p:nvSpPr>
            <p:cNvPr id="18482" name="Line 89"/>
            <p:cNvSpPr/>
            <p:nvPr/>
          </p:nvSpPr>
          <p:spPr>
            <a:xfrm flipV="1">
              <a:off x="3552" y="3312"/>
              <a:ext cx="0" cy="288"/>
            </a:xfrm>
            <a:prstGeom prst="line">
              <a:avLst/>
            </a:prstGeom>
            <a:ln w="22225" cap="sq" cmpd="sng">
              <a:solidFill>
                <a:schemeClr val="tx1"/>
              </a:solidFill>
              <a:prstDash val="solid"/>
              <a:round/>
              <a:headEnd type="none" w="sm" len="sm"/>
              <a:tailEnd type="stealth" w="med" len="lg"/>
            </a:ln>
          </p:spPr>
        </p:sp>
      </p:grpSp>
      <p:grpSp>
        <p:nvGrpSpPr>
          <p:cNvPr id="9" name="Group 90"/>
          <p:cNvGrpSpPr/>
          <p:nvPr/>
        </p:nvGrpSpPr>
        <p:grpSpPr>
          <a:xfrm>
            <a:off x="3200400" y="3276600"/>
            <a:ext cx="2667000" cy="2514600"/>
            <a:chOff x="768" y="576"/>
            <a:chExt cx="1680" cy="1584"/>
          </a:xfrm>
        </p:grpSpPr>
        <p:sp>
          <p:nvSpPr>
            <p:cNvPr id="18484" name="Rectangle 91"/>
            <p:cNvSpPr/>
            <p:nvPr/>
          </p:nvSpPr>
          <p:spPr>
            <a:xfrm>
              <a:off x="1584" y="576"/>
              <a:ext cx="480" cy="288"/>
            </a:xfrm>
            <a:prstGeom prst="rect">
              <a:avLst/>
            </a:prstGeom>
            <a:noFill/>
            <a:ln w="22225">
              <a:noFill/>
            </a:ln>
          </p:spPr>
          <p:txBody>
            <a:bodyPr wrap="none" anchor="ctr"/>
            <a:p>
              <a:pPr algn="ctr"/>
              <a:r>
                <a:rPr lang="en-US" altLang="zh-CN" sz="2800" b="1" u="none" dirty="0">
                  <a:solidFill>
                    <a:schemeClr val="tx1"/>
                  </a:solidFill>
                  <a:latin typeface="Times New Roman" panose="02020603050405020304" pitchFamily="18" charset="0"/>
                </a:rPr>
                <a:t>S</a:t>
              </a:r>
              <a:endParaRPr lang="en-US" altLang="zh-CN" sz="2400" b="1" u="none" dirty="0">
                <a:solidFill>
                  <a:schemeClr val="tx1"/>
                </a:solidFill>
                <a:latin typeface="Times New Roman" panose="02020603050405020304" pitchFamily="18" charset="0"/>
              </a:endParaRPr>
            </a:p>
          </p:txBody>
        </p:sp>
        <p:sp>
          <p:nvSpPr>
            <p:cNvPr id="18485" name="Rectangle 92"/>
            <p:cNvSpPr/>
            <p:nvPr/>
          </p:nvSpPr>
          <p:spPr>
            <a:xfrm>
              <a:off x="768" y="576"/>
              <a:ext cx="480" cy="288"/>
            </a:xfrm>
            <a:prstGeom prst="rect">
              <a:avLst/>
            </a:prstGeom>
            <a:noFill/>
            <a:ln w="22225">
              <a:noFill/>
            </a:ln>
          </p:spPr>
          <p:txBody>
            <a:bodyPr wrap="none" anchor="ctr"/>
            <a:p>
              <a:pPr algn="ctr"/>
              <a:r>
                <a:rPr lang="en-US" altLang="zh-CN" sz="2800" b="1" u="none" dirty="0">
                  <a:solidFill>
                    <a:schemeClr val="tx1"/>
                  </a:solidFill>
                  <a:latin typeface="Times New Roman" panose="02020603050405020304" pitchFamily="18" charset="0"/>
                </a:rPr>
                <a:t>x*y</a:t>
              </a:r>
              <a:endParaRPr lang="en-US" altLang="zh-CN" sz="2400" b="1" u="none" dirty="0">
                <a:solidFill>
                  <a:schemeClr val="tx1"/>
                </a:solidFill>
                <a:latin typeface="Times New Roman" panose="02020603050405020304" pitchFamily="18" charset="0"/>
              </a:endParaRPr>
            </a:p>
          </p:txBody>
        </p:sp>
        <p:grpSp>
          <p:nvGrpSpPr>
            <p:cNvPr id="18486" name="Group 93"/>
            <p:cNvGrpSpPr/>
            <p:nvPr/>
          </p:nvGrpSpPr>
          <p:grpSpPr>
            <a:xfrm>
              <a:off x="864" y="864"/>
              <a:ext cx="480" cy="624"/>
              <a:chOff x="624" y="768"/>
              <a:chExt cx="480" cy="624"/>
            </a:xfrm>
          </p:grpSpPr>
          <p:sp>
            <p:nvSpPr>
              <p:cNvPr id="18487" name="Line 94"/>
              <p:cNvSpPr/>
              <p:nvPr/>
            </p:nvSpPr>
            <p:spPr>
              <a:xfrm flipV="1">
                <a:off x="864" y="768"/>
                <a:ext cx="1" cy="288"/>
              </a:xfrm>
              <a:prstGeom prst="line">
                <a:avLst/>
              </a:prstGeom>
              <a:ln w="22225" cap="sq" cmpd="sng">
                <a:solidFill>
                  <a:schemeClr val="tx1"/>
                </a:solidFill>
                <a:prstDash val="solid"/>
                <a:round/>
                <a:headEnd type="none" w="sm" len="sm"/>
                <a:tailEnd type="stealth" w="med" len="lg"/>
              </a:ln>
            </p:spPr>
          </p:sp>
          <p:sp>
            <p:nvSpPr>
              <p:cNvPr id="18488" name="Rectangle 95"/>
              <p:cNvSpPr/>
              <p:nvPr/>
            </p:nvSpPr>
            <p:spPr>
              <a:xfrm>
                <a:off x="624" y="1104"/>
                <a:ext cx="480" cy="288"/>
              </a:xfrm>
              <a:prstGeom prst="rect">
                <a:avLst/>
              </a:prstGeom>
              <a:noFill/>
              <a:ln w="22225">
                <a:noFill/>
              </a:ln>
            </p:spPr>
            <p:txBody>
              <a:bodyPr wrap="none" anchor="ctr"/>
              <a:p>
                <a:pPr algn="ctr"/>
                <a:r>
                  <a:rPr lang="en-US" altLang="zh-CN" sz="2800" b="1" u="none" dirty="0">
                    <a:solidFill>
                      <a:schemeClr val="tx1"/>
                    </a:solidFill>
                    <a:latin typeface="Times New Roman" panose="02020603050405020304" pitchFamily="18" charset="0"/>
                  </a:rPr>
                  <a:t>IP</a:t>
                </a:r>
                <a:endParaRPr lang="en-US" altLang="zh-CN" sz="2400" b="1" u="none" dirty="0">
                  <a:solidFill>
                    <a:schemeClr val="tx1"/>
                  </a:solidFill>
                  <a:latin typeface="Times New Roman" panose="02020603050405020304" pitchFamily="18" charset="0"/>
                </a:endParaRPr>
              </a:p>
            </p:txBody>
          </p:sp>
        </p:grpSp>
        <p:sp>
          <p:nvSpPr>
            <p:cNvPr id="18489" name="Line 96"/>
            <p:cNvSpPr/>
            <p:nvPr/>
          </p:nvSpPr>
          <p:spPr>
            <a:xfrm flipH="1">
              <a:off x="1440" y="864"/>
              <a:ext cx="384" cy="288"/>
            </a:xfrm>
            <a:prstGeom prst="line">
              <a:avLst/>
            </a:prstGeom>
            <a:ln w="22225" cap="sq" cmpd="sng">
              <a:solidFill>
                <a:schemeClr val="tx1"/>
              </a:solidFill>
              <a:prstDash val="solid"/>
              <a:round/>
              <a:headEnd type="none" w="sm" len="sm"/>
              <a:tailEnd type="none" w="med" len="lg"/>
            </a:ln>
          </p:spPr>
        </p:sp>
        <p:sp>
          <p:nvSpPr>
            <p:cNvPr id="18490" name="Line 97"/>
            <p:cNvSpPr/>
            <p:nvPr/>
          </p:nvSpPr>
          <p:spPr>
            <a:xfrm>
              <a:off x="1824" y="864"/>
              <a:ext cx="0" cy="288"/>
            </a:xfrm>
            <a:prstGeom prst="line">
              <a:avLst/>
            </a:prstGeom>
            <a:ln w="22225" cap="sq" cmpd="sng">
              <a:solidFill>
                <a:schemeClr val="tx1"/>
              </a:solidFill>
              <a:prstDash val="solid"/>
              <a:round/>
              <a:headEnd type="none" w="sm" len="sm"/>
              <a:tailEnd type="none" w="med" len="lg"/>
            </a:ln>
          </p:spPr>
        </p:sp>
        <p:sp>
          <p:nvSpPr>
            <p:cNvPr id="18491" name="Line 98"/>
            <p:cNvSpPr/>
            <p:nvPr/>
          </p:nvSpPr>
          <p:spPr>
            <a:xfrm>
              <a:off x="1824" y="864"/>
              <a:ext cx="432" cy="288"/>
            </a:xfrm>
            <a:prstGeom prst="line">
              <a:avLst/>
            </a:prstGeom>
            <a:ln w="22225" cap="sq" cmpd="sng">
              <a:solidFill>
                <a:schemeClr val="tx1"/>
              </a:solidFill>
              <a:prstDash val="solid"/>
              <a:round/>
              <a:headEnd type="none" w="sm" len="sm"/>
              <a:tailEnd type="none" w="med" len="lg"/>
            </a:ln>
          </p:spPr>
        </p:sp>
        <p:sp>
          <p:nvSpPr>
            <p:cNvPr id="18492" name="Rectangle 99"/>
            <p:cNvSpPr/>
            <p:nvPr/>
          </p:nvSpPr>
          <p:spPr>
            <a:xfrm>
              <a:off x="1584" y="1152"/>
              <a:ext cx="480" cy="288"/>
            </a:xfrm>
            <a:prstGeom prst="rect">
              <a:avLst/>
            </a:prstGeom>
            <a:noFill/>
            <a:ln w="22225">
              <a:noFill/>
            </a:ln>
          </p:spPr>
          <p:txBody>
            <a:bodyPr wrap="none" anchor="ctr"/>
            <a:p>
              <a:pPr algn="ctr"/>
              <a:r>
                <a:rPr lang="en-US" altLang="zh-CN" sz="2800" b="1" u="none" dirty="0">
                  <a:solidFill>
                    <a:schemeClr val="tx1"/>
                  </a:solidFill>
                  <a:latin typeface="Times New Roman" panose="02020603050405020304" pitchFamily="18" charset="0"/>
                </a:rPr>
                <a:t>A</a:t>
              </a:r>
              <a:endParaRPr lang="en-US" altLang="zh-CN" sz="2400" b="1" u="none" dirty="0">
                <a:solidFill>
                  <a:schemeClr val="tx1"/>
                </a:solidFill>
                <a:latin typeface="Times New Roman" panose="02020603050405020304" pitchFamily="18" charset="0"/>
              </a:endParaRPr>
            </a:p>
          </p:txBody>
        </p:sp>
        <p:sp>
          <p:nvSpPr>
            <p:cNvPr id="18493" name="Rectangle 100"/>
            <p:cNvSpPr/>
            <p:nvPr/>
          </p:nvSpPr>
          <p:spPr>
            <a:xfrm>
              <a:off x="1200" y="1152"/>
              <a:ext cx="480" cy="288"/>
            </a:xfrm>
            <a:prstGeom prst="rect">
              <a:avLst/>
            </a:prstGeom>
            <a:noFill/>
            <a:ln w="22225">
              <a:noFill/>
            </a:ln>
          </p:spPr>
          <p:txBody>
            <a:bodyPr wrap="none" anchor="ctr"/>
            <a:p>
              <a:pPr algn="ctr"/>
              <a:r>
                <a:rPr lang="en-US" altLang="zh-CN" sz="2800" b="1" u="none" dirty="0">
                  <a:solidFill>
                    <a:schemeClr val="tx1"/>
                  </a:solidFill>
                  <a:latin typeface="Times New Roman" panose="02020603050405020304" pitchFamily="18" charset="0"/>
                </a:rPr>
                <a:t>x</a:t>
              </a:r>
              <a:endParaRPr lang="en-US" altLang="zh-CN" sz="2400" b="1" u="none" dirty="0">
                <a:solidFill>
                  <a:schemeClr val="tx1"/>
                </a:solidFill>
                <a:latin typeface="Times New Roman" panose="02020603050405020304" pitchFamily="18" charset="0"/>
              </a:endParaRPr>
            </a:p>
          </p:txBody>
        </p:sp>
        <p:sp>
          <p:nvSpPr>
            <p:cNvPr id="18494" name="Rectangle 101"/>
            <p:cNvSpPr/>
            <p:nvPr/>
          </p:nvSpPr>
          <p:spPr>
            <a:xfrm>
              <a:off x="1968" y="1152"/>
              <a:ext cx="480" cy="288"/>
            </a:xfrm>
            <a:prstGeom prst="rect">
              <a:avLst/>
            </a:prstGeom>
            <a:noFill/>
            <a:ln w="22225">
              <a:noFill/>
            </a:ln>
          </p:spPr>
          <p:txBody>
            <a:bodyPr wrap="none" anchor="ctr"/>
            <a:p>
              <a:pPr algn="ctr"/>
              <a:r>
                <a:rPr lang="en-US" altLang="zh-CN" sz="2800" b="1" u="none" dirty="0">
                  <a:solidFill>
                    <a:schemeClr val="tx1"/>
                  </a:solidFill>
                  <a:latin typeface="Times New Roman" panose="02020603050405020304" pitchFamily="18" charset="0"/>
                </a:rPr>
                <a:t>y</a:t>
              </a:r>
              <a:endParaRPr lang="en-US" altLang="zh-CN" sz="2400" b="1" u="none" dirty="0">
                <a:solidFill>
                  <a:schemeClr val="tx1"/>
                </a:solidFill>
                <a:latin typeface="Times New Roman" panose="02020603050405020304" pitchFamily="18" charset="0"/>
              </a:endParaRPr>
            </a:p>
          </p:txBody>
        </p:sp>
        <p:sp>
          <p:nvSpPr>
            <p:cNvPr id="18495" name="Line 102"/>
            <p:cNvSpPr/>
            <p:nvPr/>
          </p:nvSpPr>
          <p:spPr>
            <a:xfrm flipH="1">
              <a:off x="1632" y="1440"/>
              <a:ext cx="192" cy="240"/>
            </a:xfrm>
            <a:prstGeom prst="line">
              <a:avLst/>
            </a:prstGeom>
            <a:ln w="22225" cap="sq" cmpd="sng">
              <a:solidFill>
                <a:schemeClr val="tx1"/>
              </a:solidFill>
              <a:prstDash val="solid"/>
              <a:round/>
              <a:headEnd type="none" w="sm" len="sm"/>
              <a:tailEnd type="none" w="med" len="lg"/>
            </a:ln>
          </p:spPr>
        </p:sp>
        <p:sp>
          <p:nvSpPr>
            <p:cNvPr id="18496" name="Line 103"/>
            <p:cNvSpPr/>
            <p:nvPr/>
          </p:nvSpPr>
          <p:spPr>
            <a:xfrm>
              <a:off x="1824" y="1440"/>
              <a:ext cx="192" cy="240"/>
            </a:xfrm>
            <a:prstGeom prst="line">
              <a:avLst/>
            </a:prstGeom>
            <a:ln w="22225" cap="sq" cmpd="sng">
              <a:solidFill>
                <a:schemeClr val="tx1"/>
              </a:solidFill>
              <a:prstDash val="solid"/>
              <a:round/>
              <a:headEnd type="none" w="sm" len="sm"/>
              <a:tailEnd type="none" w="med" len="lg"/>
            </a:ln>
          </p:spPr>
        </p:sp>
        <p:sp>
          <p:nvSpPr>
            <p:cNvPr id="18497" name="Rectangle 104"/>
            <p:cNvSpPr/>
            <p:nvPr/>
          </p:nvSpPr>
          <p:spPr>
            <a:xfrm>
              <a:off x="1776" y="1680"/>
              <a:ext cx="480" cy="288"/>
            </a:xfrm>
            <a:prstGeom prst="rect">
              <a:avLst/>
            </a:prstGeom>
            <a:noFill/>
            <a:ln w="22225">
              <a:noFill/>
            </a:ln>
          </p:spPr>
          <p:txBody>
            <a:bodyPr wrap="none" anchor="ctr"/>
            <a:p>
              <a:pPr algn="ctr"/>
              <a:r>
                <a:rPr lang="en-US" altLang="en-US" sz="2800" b="1" u="none" dirty="0">
                  <a:solidFill>
                    <a:schemeClr val="tx1"/>
                  </a:solidFill>
                  <a:latin typeface="Times New Roman" panose="02020603050405020304" pitchFamily="18" charset="0"/>
                </a:rPr>
                <a:t>*</a:t>
              </a:r>
              <a:endParaRPr lang="en-US" altLang="zh-CN" sz="2400" b="1" u="none" dirty="0">
                <a:solidFill>
                  <a:schemeClr val="tx1"/>
                </a:solidFill>
                <a:latin typeface="Times New Roman" panose="02020603050405020304" pitchFamily="18" charset="0"/>
              </a:endParaRPr>
            </a:p>
          </p:txBody>
        </p:sp>
        <p:sp>
          <p:nvSpPr>
            <p:cNvPr id="18498" name="Rectangle 105"/>
            <p:cNvSpPr/>
            <p:nvPr/>
          </p:nvSpPr>
          <p:spPr>
            <a:xfrm>
              <a:off x="1344" y="1680"/>
              <a:ext cx="480" cy="288"/>
            </a:xfrm>
            <a:prstGeom prst="rect">
              <a:avLst/>
            </a:prstGeom>
            <a:noFill/>
            <a:ln w="22225">
              <a:noFill/>
            </a:ln>
          </p:spPr>
          <p:txBody>
            <a:bodyPr wrap="none" anchor="ctr"/>
            <a:p>
              <a:pPr algn="ctr"/>
              <a:r>
                <a:rPr lang="en-US" altLang="en-US" sz="2800" b="1" u="none" dirty="0">
                  <a:solidFill>
                    <a:schemeClr val="tx1"/>
                  </a:solidFill>
                  <a:latin typeface="Times New Roman" panose="02020603050405020304" pitchFamily="18" charset="0"/>
                </a:rPr>
                <a:t>*</a:t>
              </a:r>
              <a:endParaRPr lang="en-US" altLang="zh-CN" sz="2400" b="1" u="none" dirty="0">
                <a:solidFill>
                  <a:schemeClr val="tx1"/>
                </a:solidFill>
                <a:latin typeface="Times New Roman" panose="02020603050405020304" pitchFamily="18" charset="0"/>
              </a:endParaRPr>
            </a:p>
          </p:txBody>
        </p:sp>
        <p:sp>
          <p:nvSpPr>
            <p:cNvPr id="18499" name="Line 106"/>
            <p:cNvSpPr/>
            <p:nvPr/>
          </p:nvSpPr>
          <p:spPr>
            <a:xfrm flipV="1">
              <a:off x="2016" y="1872"/>
              <a:ext cx="0" cy="288"/>
            </a:xfrm>
            <a:prstGeom prst="line">
              <a:avLst/>
            </a:prstGeom>
            <a:ln w="22225" cap="sq" cmpd="sng">
              <a:solidFill>
                <a:schemeClr val="tx1"/>
              </a:solidFill>
              <a:prstDash val="solid"/>
              <a:round/>
              <a:headEnd type="none" w="sm" len="sm"/>
              <a:tailEnd type="stealth" w="med" len="lg"/>
            </a:ln>
          </p:spPr>
        </p:sp>
      </p:grpSp>
      <p:grpSp>
        <p:nvGrpSpPr>
          <p:cNvPr id="11" name="Group 107"/>
          <p:cNvGrpSpPr/>
          <p:nvPr/>
        </p:nvGrpSpPr>
        <p:grpSpPr>
          <a:xfrm>
            <a:off x="3200400" y="3276600"/>
            <a:ext cx="2667000" cy="2514600"/>
            <a:chOff x="3264" y="624"/>
            <a:chExt cx="1680" cy="1584"/>
          </a:xfrm>
        </p:grpSpPr>
        <p:sp>
          <p:nvSpPr>
            <p:cNvPr id="18501" name="Rectangle 108"/>
            <p:cNvSpPr/>
            <p:nvPr/>
          </p:nvSpPr>
          <p:spPr>
            <a:xfrm>
              <a:off x="4080" y="624"/>
              <a:ext cx="480" cy="288"/>
            </a:xfrm>
            <a:prstGeom prst="rect">
              <a:avLst/>
            </a:prstGeom>
            <a:noFill/>
            <a:ln w="22225">
              <a:noFill/>
            </a:ln>
          </p:spPr>
          <p:txBody>
            <a:bodyPr wrap="none" anchor="ctr"/>
            <a:p>
              <a:pPr algn="ctr"/>
              <a:r>
                <a:rPr lang="en-US" altLang="zh-CN" sz="2800" b="1" u="none" dirty="0">
                  <a:solidFill>
                    <a:schemeClr val="tx1"/>
                  </a:solidFill>
                  <a:latin typeface="Times New Roman" panose="02020603050405020304" pitchFamily="18" charset="0"/>
                </a:rPr>
                <a:t>S</a:t>
              </a:r>
              <a:endParaRPr lang="en-US" altLang="zh-CN" sz="2400" b="1" u="none" dirty="0">
                <a:solidFill>
                  <a:schemeClr val="tx1"/>
                </a:solidFill>
                <a:latin typeface="Times New Roman" panose="02020603050405020304" pitchFamily="18" charset="0"/>
              </a:endParaRPr>
            </a:p>
          </p:txBody>
        </p:sp>
        <p:sp>
          <p:nvSpPr>
            <p:cNvPr id="18502" name="Rectangle 109"/>
            <p:cNvSpPr/>
            <p:nvPr/>
          </p:nvSpPr>
          <p:spPr>
            <a:xfrm>
              <a:off x="3264" y="624"/>
              <a:ext cx="480" cy="288"/>
            </a:xfrm>
            <a:prstGeom prst="rect">
              <a:avLst/>
            </a:prstGeom>
            <a:noFill/>
            <a:ln w="22225">
              <a:noFill/>
            </a:ln>
          </p:spPr>
          <p:txBody>
            <a:bodyPr wrap="none" anchor="ctr"/>
            <a:p>
              <a:pPr algn="ctr"/>
              <a:r>
                <a:rPr lang="en-US" altLang="zh-CN" sz="2800" b="1" u="none" dirty="0">
                  <a:solidFill>
                    <a:schemeClr val="tx1"/>
                  </a:solidFill>
                  <a:latin typeface="Times New Roman" panose="02020603050405020304" pitchFamily="18" charset="0"/>
                </a:rPr>
                <a:t>x*y</a:t>
              </a:r>
              <a:endParaRPr lang="en-US" altLang="zh-CN" sz="2400" b="1" u="none" dirty="0">
                <a:solidFill>
                  <a:schemeClr val="tx1"/>
                </a:solidFill>
                <a:latin typeface="Times New Roman" panose="02020603050405020304" pitchFamily="18" charset="0"/>
              </a:endParaRPr>
            </a:p>
          </p:txBody>
        </p:sp>
        <p:grpSp>
          <p:nvGrpSpPr>
            <p:cNvPr id="18503" name="Group 110"/>
            <p:cNvGrpSpPr/>
            <p:nvPr/>
          </p:nvGrpSpPr>
          <p:grpSpPr>
            <a:xfrm>
              <a:off x="3264" y="864"/>
              <a:ext cx="480" cy="624"/>
              <a:chOff x="624" y="768"/>
              <a:chExt cx="480" cy="624"/>
            </a:xfrm>
          </p:grpSpPr>
          <p:sp>
            <p:nvSpPr>
              <p:cNvPr id="18504" name="Line 111"/>
              <p:cNvSpPr/>
              <p:nvPr/>
            </p:nvSpPr>
            <p:spPr>
              <a:xfrm flipV="1">
                <a:off x="864" y="768"/>
                <a:ext cx="1" cy="288"/>
              </a:xfrm>
              <a:prstGeom prst="line">
                <a:avLst/>
              </a:prstGeom>
              <a:ln w="22225" cap="sq" cmpd="sng">
                <a:solidFill>
                  <a:schemeClr val="tx1"/>
                </a:solidFill>
                <a:prstDash val="solid"/>
                <a:round/>
                <a:headEnd type="none" w="sm" len="sm"/>
                <a:tailEnd type="stealth" w="med" len="lg"/>
              </a:ln>
            </p:spPr>
          </p:sp>
          <p:sp>
            <p:nvSpPr>
              <p:cNvPr id="18505" name="Rectangle 112"/>
              <p:cNvSpPr/>
              <p:nvPr/>
            </p:nvSpPr>
            <p:spPr>
              <a:xfrm>
                <a:off x="624" y="1104"/>
                <a:ext cx="480" cy="288"/>
              </a:xfrm>
              <a:prstGeom prst="rect">
                <a:avLst/>
              </a:prstGeom>
              <a:noFill/>
              <a:ln w="22225">
                <a:noFill/>
              </a:ln>
            </p:spPr>
            <p:txBody>
              <a:bodyPr wrap="none" anchor="ctr"/>
              <a:p>
                <a:pPr algn="ctr"/>
                <a:r>
                  <a:rPr lang="en-US" altLang="zh-CN" sz="2800" b="1" u="none" dirty="0">
                    <a:solidFill>
                      <a:schemeClr val="tx1"/>
                    </a:solidFill>
                    <a:latin typeface="Times New Roman" panose="02020603050405020304" pitchFamily="18" charset="0"/>
                  </a:rPr>
                  <a:t>IP</a:t>
                </a:r>
                <a:endParaRPr lang="en-US" altLang="zh-CN" sz="2400" b="1" u="none" dirty="0">
                  <a:solidFill>
                    <a:schemeClr val="tx1"/>
                  </a:solidFill>
                  <a:latin typeface="Times New Roman" panose="02020603050405020304" pitchFamily="18" charset="0"/>
                </a:endParaRPr>
              </a:p>
            </p:txBody>
          </p:sp>
        </p:grpSp>
        <p:sp>
          <p:nvSpPr>
            <p:cNvPr id="18506" name="Line 113"/>
            <p:cNvSpPr/>
            <p:nvPr/>
          </p:nvSpPr>
          <p:spPr>
            <a:xfrm flipH="1">
              <a:off x="3936" y="912"/>
              <a:ext cx="384" cy="288"/>
            </a:xfrm>
            <a:prstGeom prst="line">
              <a:avLst/>
            </a:prstGeom>
            <a:ln w="22225" cap="sq" cmpd="sng">
              <a:solidFill>
                <a:schemeClr val="tx1"/>
              </a:solidFill>
              <a:prstDash val="solid"/>
              <a:round/>
              <a:headEnd type="none" w="sm" len="sm"/>
              <a:tailEnd type="none" w="med" len="lg"/>
            </a:ln>
          </p:spPr>
        </p:sp>
        <p:sp>
          <p:nvSpPr>
            <p:cNvPr id="18507" name="Line 114"/>
            <p:cNvSpPr/>
            <p:nvPr/>
          </p:nvSpPr>
          <p:spPr>
            <a:xfrm>
              <a:off x="4320" y="912"/>
              <a:ext cx="0" cy="288"/>
            </a:xfrm>
            <a:prstGeom prst="line">
              <a:avLst/>
            </a:prstGeom>
            <a:ln w="22225" cap="sq" cmpd="sng">
              <a:solidFill>
                <a:schemeClr val="tx1"/>
              </a:solidFill>
              <a:prstDash val="solid"/>
              <a:round/>
              <a:headEnd type="none" w="sm" len="sm"/>
              <a:tailEnd type="none" w="med" len="lg"/>
            </a:ln>
          </p:spPr>
        </p:sp>
        <p:sp>
          <p:nvSpPr>
            <p:cNvPr id="18508" name="Line 115"/>
            <p:cNvSpPr/>
            <p:nvPr/>
          </p:nvSpPr>
          <p:spPr>
            <a:xfrm>
              <a:off x="4320" y="912"/>
              <a:ext cx="432" cy="288"/>
            </a:xfrm>
            <a:prstGeom prst="line">
              <a:avLst/>
            </a:prstGeom>
            <a:ln w="22225" cap="sq" cmpd="sng">
              <a:solidFill>
                <a:schemeClr val="tx1"/>
              </a:solidFill>
              <a:prstDash val="solid"/>
              <a:round/>
              <a:headEnd type="none" w="sm" len="sm"/>
              <a:tailEnd type="none" w="med" len="lg"/>
            </a:ln>
          </p:spPr>
        </p:sp>
        <p:sp>
          <p:nvSpPr>
            <p:cNvPr id="18509" name="Rectangle 116"/>
            <p:cNvSpPr/>
            <p:nvPr/>
          </p:nvSpPr>
          <p:spPr>
            <a:xfrm>
              <a:off x="4080" y="1200"/>
              <a:ext cx="480" cy="288"/>
            </a:xfrm>
            <a:prstGeom prst="rect">
              <a:avLst/>
            </a:prstGeom>
            <a:noFill/>
            <a:ln w="22225">
              <a:noFill/>
            </a:ln>
          </p:spPr>
          <p:txBody>
            <a:bodyPr wrap="none" anchor="ctr"/>
            <a:p>
              <a:pPr algn="ctr"/>
              <a:r>
                <a:rPr lang="en-US" altLang="zh-CN" sz="2800" b="1" u="none" dirty="0">
                  <a:solidFill>
                    <a:schemeClr val="tx1"/>
                  </a:solidFill>
                  <a:latin typeface="Times New Roman" panose="02020603050405020304" pitchFamily="18" charset="0"/>
                </a:rPr>
                <a:t>A</a:t>
              </a:r>
              <a:endParaRPr lang="en-US" altLang="zh-CN" sz="2400" b="1" u="none" dirty="0">
                <a:solidFill>
                  <a:schemeClr val="tx1"/>
                </a:solidFill>
                <a:latin typeface="Times New Roman" panose="02020603050405020304" pitchFamily="18" charset="0"/>
              </a:endParaRPr>
            </a:p>
          </p:txBody>
        </p:sp>
        <p:sp>
          <p:nvSpPr>
            <p:cNvPr id="18510" name="Rectangle 117"/>
            <p:cNvSpPr/>
            <p:nvPr/>
          </p:nvSpPr>
          <p:spPr>
            <a:xfrm>
              <a:off x="3696" y="1200"/>
              <a:ext cx="480" cy="288"/>
            </a:xfrm>
            <a:prstGeom prst="rect">
              <a:avLst/>
            </a:prstGeom>
            <a:noFill/>
            <a:ln w="22225">
              <a:noFill/>
            </a:ln>
          </p:spPr>
          <p:txBody>
            <a:bodyPr wrap="none" anchor="ctr"/>
            <a:p>
              <a:pPr algn="ctr"/>
              <a:r>
                <a:rPr lang="en-US" altLang="zh-CN" sz="2800" b="1" u="none" dirty="0">
                  <a:solidFill>
                    <a:schemeClr val="tx1"/>
                  </a:solidFill>
                  <a:latin typeface="Times New Roman" panose="02020603050405020304" pitchFamily="18" charset="0"/>
                </a:rPr>
                <a:t>x</a:t>
              </a:r>
              <a:endParaRPr lang="en-US" altLang="zh-CN" sz="2400" b="1" u="none" dirty="0">
                <a:solidFill>
                  <a:schemeClr val="tx1"/>
                </a:solidFill>
                <a:latin typeface="Times New Roman" panose="02020603050405020304" pitchFamily="18" charset="0"/>
              </a:endParaRPr>
            </a:p>
          </p:txBody>
        </p:sp>
        <p:sp>
          <p:nvSpPr>
            <p:cNvPr id="18511" name="Rectangle 118"/>
            <p:cNvSpPr/>
            <p:nvPr/>
          </p:nvSpPr>
          <p:spPr>
            <a:xfrm>
              <a:off x="4464" y="1200"/>
              <a:ext cx="480" cy="288"/>
            </a:xfrm>
            <a:prstGeom prst="rect">
              <a:avLst/>
            </a:prstGeom>
            <a:noFill/>
            <a:ln w="22225">
              <a:noFill/>
            </a:ln>
          </p:spPr>
          <p:txBody>
            <a:bodyPr wrap="none" anchor="ctr"/>
            <a:p>
              <a:pPr algn="ctr"/>
              <a:r>
                <a:rPr lang="en-US" altLang="zh-CN" sz="2800" b="1" u="none" dirty="0">
                  <a:solidFill>
                    <a:schemeClr val="tx1"/>
                  </a:solidFill>
                  <a:latin typeface="Times New Roman" panose="02020603050405020304" pitchFamily="18" charset="0"/>
                </a:rPr>
                <a:t>y</a:t>
              </a:r>
              <a:endParaRPr lang="en-US" altLang="zh-CN" sz="2400" b="1" u="none" dirty="0">
                <a:solidFill>
                  <a:schemeClr val="tx1"/>
                </a:solidFill>
                <a:latin typeface="Times New Roman" panose="02020603050405020304" pitchFamily="18" charset="0"/>
              </a:endParaRPr>
            </a:p>
          </p:txBody>
        </p:sp>
        <p:sp>
          <p:nvSpPr>
            <p:cNvPr id="18512" name="Rectangle 119"/>
            <p:cNvSpPr/>
            <p:nvPr/>
          </p:nvSpPr>
          <p:spPr>
            <a:xfrm>
              <a:off x="4080" y="1728"/>
              <a:ext cx="480" cy="288"/>
            </a:xfrm>
            <a:prstGeom prst="rect">
              <a:avLst/>
            </a:prstGeom>
            <a:noFill/>
            <a:ln w="22225">
              <a:noFill/>
            </a:ln>
          </p:spPr>
          <p:txBody>
            <a:bodyPr wrap="none" anchor="ctr"/>
            <a:p>
              <a:pPr algn="ctr"/>
              <a:r>
                <a:rPr lang="en-US" altLang="en-US" sz="2800" b="1" u="none" dirty="0">
                  <a:solidFill>
                    <a:schemeClr val="tx1"/>
                  </a:solidFill>
                  <a:latin typeface="Times New Roman" panose="02020603050405020304" pitchFamily="18" charset="0"/>
                </a:rPr>
                <a:t>*</a:t>
              </a:r>
              <a:endParaRPr lang="en-US" altLang="zh-CN" sz="2400" b="1" u="none" dirty="0">
                <a:solidFill>
                  <a:schemeClr val="tx1"/>
                </a:solidFill>
                <a:latin typeface="Times New Roman" panose="02020603050405020304" pitchFamily="18" charset="0"/>
              </a:endParaRPr>
            </a:p>
          </p:txBody>
        </p:sp>
        <p:sp>
          <p:nvSpPr>
            <p:cNvPr id="18513" name="Line 120"/>
            <p:cNvSpPr/>
            <p:nvPr/>
          </p:nvSpPr>
          <p:spPr>
            <a:xfrm>
              <a:off x="4320" y="1488"/>
              <a:ext cx="0" cy="288"/>
            </a:xfrm>
            <a:prstGeom prst="line">
              <a:avLst/>
            </a:prstGeom>
            <a:ln w="22225" cap="sq" cmpd="sng">
              <a:solidFill>
                <a:schemeClr val="tx1"/>
              </a:solidFill>
              <a:prstDash val="solid"/>
              <a:round/>
              <a:headEnd type="none" w="sm" len="sm"/>
              <a:tailEnd type="none" w="med" len="lg"/>
            </a:ln>
          </p:spPr>
        </p:sp>
        <p:sp>
          <p:nvSpPr>
            <p:cNvPr id="18514" name="Line 121"/>
            <p:cNvSpPr/>
            <p:nvPr/>
          </p:nvSpPr>
          <p:spPr>
            <a:xfrm flipV="1">
              <a:off x="4320" y="1920"/>
              <a:ext cx="0" cy="288"/>
            </a:xfrm>
            <a:prstGeom prst="line">
              <a:avLst/>
            </a:prstGeom>
            <a:ln w="22225" cap="sq" cmpd="sng">
              <a:solidFill>
                <a:schemeClr val="tx1"/>
              </a:solidFill>
              <a:prstDash val="solid"/>
              <a:round/>
              <a:headEnd type="none" w="sm" len="sm"/>
              <a:tailEnd type="stealth" w="med" len="lg"/>
            </a:ln>
          </p:spPr>
        </p:sp>
      </p:grpSp>
      <p:grpSp>
        <p:nvGrpSpPr>
          <p:cNvPr id="13" name="Group 122"/>
          <p:cNvGrpSpPr/>
          <p:nvPr/>
        </p:nvGrpSpPr>
        <p:grpSpPr>
          <a:xfrm>
            <a:off x="3200400" y="3276600"/>
            <a:ext cx="2667000" cy="2209800"/>
            <a:chOff x="3456" y="2400"/>
            <a:chExt cx="1680" cy="1392"/>
          </a:xfrm>
        </p:grpSpPr>
        <p:sp>
          <p:nvSpPr>
            <p:cNvPr id="18516" name="Rectangle 123"/>
            <p:cNvSpPr/>
            <p:nvPr/>
          </p:nvSpPr>
          <p:spPr>
            <a:xfrm>
              <a:off x="4272" y="2400"/>
              <a:ext cx="480" cy="288"/>
            </a:xfrm>
            <a:prstGeom prst="rect">
              <a:avLst/>
            </a:prstGeom>
            <a:noFill/>
            <a:ln w="22225">
              <a:noFill/>
            </a:ln>
          </p:spPr>
          <p:txBody>
            <a:bodyPr wrap="none" anchor="ctr"/>
            <a:p>
              <a:pPr algn="ctr"/>
              <a:r>
                <a:rPr lang="en-US" altLang="zh-CN" sz="2800" b="1" u="none" dirty="0">
                  <a:solidFill>
                    <a:schemeClr val="tx1"/>
                  </a:solidFill>
                  <a:latin typeface="Times New Roman" panose="02020603050405020304" pitchFamily="18" charset="0"/>
                </a:rPr>
                <a:t>S</a:t>
              </a:r>
              <a:endParaRPr lang="en-US" altLang="zh-CN" sz="2400" b="1" u="none" dirty="0">
                <a:solidFill>
                  <a:schemeClr val="tx1"/>
                </a:solidFill>
                <a:latin typeface="Times New Roman" panose="02020603050405020304" pitchFamily="18" charset="0"/>
              </a:endParaRPr>
            </a:p>
          </p:txBody>
        </p:sp>
        <p:sp>
          <p:nvSpPr>
            <p:cNvPr id="18517" name="Rectangle 124"/>
            <p:cNvSpPr/>
            <p:nvPr/>
          </p:nvSpPr>
          <p:spPr>
            <a:xfrm>
              <a:off x="3456" y="2400"/>
              <a:ext cx="480" cy="288"/>
            </a:xfrm>
            <a:prstGeom prst="rect">
              <a:avLst/>
            </a:prstGeom>
            <a:noFill/>
            <a:ln w="22225">
              <a:noFill/>
            </a:ln>
          </p:spPr>
          <p:txBody>
            <a:bodyPr wrap="none" anchor="ctr"/>
            <a:p>
              <a:pPr algn="ctr"/>
              <a:r>
                <a:rPr lang="en-US" altLang="zh-CN" sz="2800" b="1" u="none" dirty="0">
                  <a:solidFill>
                    <a:schemeClr val="tx1"/>
                  </a:solidFill>
                  <a:latin typeface="Times New Roman" panose="02020603050405020304" pitchFamily="18" charset="0"/>
                </a:rPr>
                <a:t>x*y</a:t>
              </a:r>
              <a:endParaRPr lang="en-US" altLang="zh-CN" sz="2400" b="1" u="none" dirty="0">
                <a:solidFill>
                  <a:schemeClr val="tx1"/>
                </a:solidFill>
                <a:latin typeface="Times New Roman" panose="02020603050405020304" pitchFamily="18" charset="0"/>
              </a:endParaRPr>
            </a:p>
          </p:txBody>
        </p:sp>
        <p:grpSp>
          <p:nvGrpSpPr>
            <p:cNvPr id="18518" name="Group 125"/>
            <p:cNvGrpSpPr/>
            <p:nvPr/>
          </p:nvGrpSpPr>
          <p:grpSpPr>
            <a:xfrm>
              <a:off x="3552" y="2688"/>
              <a:ext cx="480" cy="624"/>
              <a:chOff x="624" y="768"/>
              <a:chExt cx="480" cy="624"/>
            </a:xfrm>
          </p:grpSpPr>
          <p:sp>
            <p:nvSpPr>
              <p:cNvPr id="18519" name="Line 126"/>
              <p:cNvSpPr/>
              <p:nvPr/>
            </p:nvSpPr>
            <p:spPr>
              <a:xfrm flipV="1">
                <a:off x="864" y="768"/>
                <a:ext cx="1" cy="288"/>
              </a:xfrm>
              <a:prstGeom prst="line">
                <a:avLst/>
              </a:prstGeom>
              <a:ln w="22225" cap="sq" cmpd="sng">
                <a:solidFill>
                  <a:schemeClr val="tx1"/>
                </a:solidFill>
                <a:prstDash val="solid"/>
                <a:round/>
                <a:headEnd type="none" w="sm" len="sm"/>
                <a:tailEnd type="stealth" w="med" len="lg"/>
              </a:ln>
            </p:spPr>
          </p:sp>
          <p:sp>
            <p:nvSpPr>
              <p:cNvPr id="18520" name="Rectangle 127"/>
              <p:cNvSpPr/>
              <p:nvPr/>
            </p:nvSpPr>
            <p:spPr>
              <a:xfrm>
                <a:off x="624" y="1104"/>
                <a:ext cx="480" cy="288"/>
              </a:xfrm>
              <a:prstGeom prst="rect">
                <a:avLst/>
              </a:prstGeom>
              <a:noFill/>
              <a:ln w="22225">
                <a:noFill/>
              </a:ln>
            </p:spPr>
            <p:txBody>
              <a:bodyPr wrap="none" anchor="ctr"/>
              <a:p>
                <a:pPr algn="ctr"/>
                <a:r>
                  <a:rPr lang="en-US" altLang="zh-CN" sz="2800" b="1" u="none" dirty="0">
                    <a:solidFill>
                      <a:schemeClr val="tx1"/>
                    </a:solidFill>
                    <a:latin typeface="Times New Roman" panose="02020603050405020304" pitchFamily="18" charset="0"/>
                  </a:rPr>
                  <a:t>IP</a:t>
                </a:r>
                <a:endParaRPr lang="en-US" altLang="zh-CN" sz="2400" b="1" u="none" dirty="0">
                  <a:solidFill>
                    <a:schemeClr val="tx1"/>
                  </a:solidFill>
                  <a:latin typeface="Times New Roman" panose="02020603050405020304" pitchFamily="18" charset="0"/>
                </a:endParaRPr>
              </a:p>
            </p:txBody>
          </p:sp>
        </p:grpSp>
        <p:sp>
          <p:nvSpPr>
            <p:cNvPr id="18521" name="Line 128"/>
            <p:cNvSpPr/>
            <p:nvPr/>
          </p:nvSpPr>
          <p:spPr>
            <a:xfrm flipH="1">
              <a:off x="4128" y="2688"/>
              <a:ext cx="384" cy="288"/>
            </a:xfrm>
            <a:prstGeom prst="line">
              <a:avLst/>
            </a:prstGeom>
            <a:ln w="22225" cap="sq" cmpd="sng">
              <a:solidFill>
                <a:schemeClr val="tx1"/>
              </a:solidFill>
              <a:prstDash val="solid"/>
              <a:round/>
              <a:headEnd type="none" w="sm" len="sm"/>
              <a:tailEnd type="none" w="med" len="lg"/>
            </a:ln>
          </p:spPr>
        </p:sp>
        <p:sp>
          <p:nvSpPr>
            <p:cNvPr id="18522" name="Line 129"/>
            <p:cNvSpPr/>
            <p:nvPr/>
          </p:nvSpPr>
          <p:spPr>
            <a:xfrm>
              <a:off x="4512" y="2688"/>
              <a:ext cx="0" cy="288"/>
            </a:xfrm>
            <a:prstGeom prst="line">
              <a:avLst/>
            </a:prstGeom>
            <a:ln w="22225" cap="sq" cmpd="sng">
              <a:solidFill>
                <a:schemeClr val="tx1"/>
              </a:solidFill>
              <a:prstDash val="solid"/>
              <a:round/>
              <a:headEnd type="none" w="sm" len="sm"/>
              <a:tailEnd type="none" w="med" len="lg"/>
            </a:ln>
          </p:spPr>
        </p:sp>
        <p:sp>
          <p:nvSpPr>
            <p:cNvPr id="18523" name="Line 130"/>
            <p:cNvSpPr/>
            <p:nvPr/>
          </p:nvSpPr>
          <p:spPr>
            <a:xfrm>
              <a:off x="4512" y="2688"/>
              <a:ext cx="432" cy="288"/>
            </a:xfrm>
            <a:prstGeom prst="line">
              <a:avLst/>
            </a:prstGeom>
            <a:ln w="22225" cap="sq" cmpd="sng">
              <a:solidFill>
                <a:schemeClr val="tx1"/>
              </a:solidFill>
              <a:prstDash val="solid"/>
              <a:round/>
              <a:headEnd type="none" w="sm" len="sm"/>
              <a:tailEnd type="none" w="med" len="lg"/>
            </a:ln>
          </p:spPr>
        </p:sp>
        <p:sp>
          <p:nvSpPr>
            <p:cNvPr id="18524" name="Rectangle 131"/>
            <p:cNvSpPr/>
            <p:nvPr/>
          </p:nvSpPr>
          <p:spPr>
            <a:xfrm>
              <a:off x="4272" y="2976"/>
              <a:ext cx="480" cy="288"/>
            </a:xfrm>
            <a:prstGeom prst="rect">
              <a:avLst/>
            </a:prstGeom>
            <a:noFill/>
            <a:ln w="22225">
              <a:noFill/>
            </a:ln>
          </p:spPr>
          <p:txBody>
            <a:bodyPr wrap="none" anchor="ctr"/>
            <a:p>
              <a:pPr algn="ctr"/>
              <a:r>
                <a:rPr lang="en-US" altLang="zh-CN" sz="2800" b="1" u="none" dirty="0">
                  <a:solidFill>
                    <a:schemeClr val="tx1"/>
                  </a:solidFill>
                  <a:latin typeface="Times New Roman" panose="02020603050405020304" pitchFamily="18" charset="0"/>
                </a:rPr>
                <a:t>A</a:t>
              </a:r>
              <a:endParaRPr lang="en-US" altLang="zh-CN" sz="2400" b="1" u="none" dirty="0">
                <a:solidFill>
                  <a:schemeClr val="tx1"/>
                </a:solidFill>
                <a:latin typeface="Times New Roman" panose="02020603050405020304" pitchFamily="18" charset="0"/>
              </a:endParaRPr>
            </a:p>
          </p:txBody>
        </p:sp>
        <p:sp>
          <p:nvSpPr>
            <p:cNvPr id="18525" name="Rectangle 132"/>
            <p:cNvSpPr/>
            <p:nvPr/>
          </p:nvSpPr>
          <p:spPr>
            <a:xfrm>
              <a:off x="3888" y="2976"/>
              <a:ext cx="480" cy="288"/>
            </a:xfrm>
            <a:prstGeom prst="rect">
              <a:avLst/>
            </a:prstGeom>
            <a:noFill/>
            <a:ln w="22225">
              <a:noFill/>
            </a:ln>
          </p:spPr>
          <p:txBody>
            <a:bodyPr wrap="none" anchor="ctr"/>
            <a:p>
              <a:pPr algn="ctr"/>
              <a:r>
                <a:rPr lang="en-US" altLang="zh-CN" sz="2800" b="1" u="none" dirty="0">
                  <a:solidFill>
                    <a:schemeClr val="tx1"/>
                  </a:solidFill>
                  <a:latin typeface="Times New Roman" panose="02020603050405020304" pitchFamily="18" charset="0"/>
                </a:rPr>
                <a:t>x</a:t>
              </a:r>
              <a:endParaRPr lang="en-US" altLang="zh-CN" sz="2400" b="1" u="none" dirty="0">
                <a:solidFill>
                  <a:schemeClr val="tx1"/>
                </a:solidFill>
                <a:latin typeface="Times New Roman" panose="02020603050405020304" pitchFamily="18" charset="0"/>
              </a:endParaRPr>
            </a:p>
          </p:txBody>
        </p:sp>
        <p:sp>
          <p:nvSpPr>
            <p:cNvPr id="18526" name="Rectangle 133"/>
            <p:cNvSpPr/>
            <p:nvPr/>
          </p:nvSpPr>
          <p:spPr>
            <a:xfrm>
              <a:off x="4656" y="2976"/>
              <a:ext cx="480" cy="288"/>
            </a:xfrm>
            <a:prstGeom prst="rect">
              <a:avLst/>
            </a:prstGeom>
            <a:noFill/>
            <a:ln w="22225">
              <a:noFill/>
            </a:ln>
          </p:spPr>
          <p:txBody>
            <a:bodyPr wrap="none" anchor="ctr"/>
            <a:p>
              <a:pPr algn="ctr"/>
              <a:r>
                <a:rPr lang="en-US" altLang="zh-CN" sz="2800" b="1" u="none" dirty="0">
                  <a:solidFill>
                    <a:schemeClr val="tx1"/>
                  </a:solidFill>
                  <a:latin typeface="Times New Roman" panose="02020603050405020304" pitchFamily="18" charset="0"/>
                </a:rPr>
                <a:t>y</a:t>
              </a:r>
              <a:endParaRPr lang="en-US" altLang="zh-CN" sz="2400" b="1" u="none" dirty="0">
                <a:solidFill>
                  <a:schemeClr val="tx1"/>
                </a:solidFill>
                <a:latin typeface="Times New Roman" panose="02020603050405020304" pitchFamily="18" charset="0"/>
              </a:endParaRPr>
            </a:p>
          </p:txBody>
        </p:sp>
        <p:sp>
          <p:nvSpPr>
            <p:cNvPr id="18527" name="Rectangle 134"/>
            <p:cNvSpPr/>
            <p:nvPr/>
          </p:nvSpPr>
          <p:spPr>
            <a:xfrm>
              <a:off x="4272" y="3504"/>
              <a:ext cx="480" cy="288"/>
            </a:xfrm>
            <a:prstGeom prst="rect">
              <a:avLst/>
            </a:prstGeom>
            <a:noFill/>
            <a:ln w="22225">
              <a:noFill/>
            </a:ln>
          </p:spPr>
          <p:txBody>
            <a:bodyPr wrap="none" anchor="ctr"/>
            <a:p>
              <a:pPr algn="ctr"/>
              <a:r>
                <a:rPr lang="en-US" altLang="en-US" sz="2800" b="1" u="none" dirty="0">
                  <a:solidFill>
                    <a:schemeClr val="tx1"/>
                  </a:solidFill>
                  <a:latin typeface="Times New Roman" panose="02020603050405020304" pitchFamily="18" charset="0"/>
                </a:rPr>
                <a:t>*</a:t>
              </a:r>
              <a:endParaRPr lang="en-US" altLang="zh-CN" sz="2400" b="1" u="none" dirty="0">
                <a:solidFill>
                  <a:schemeClr val="tx1"/>
                </a:solidFill>
                <a:latin typeface="Times New Roman" panose="02020603050405020304" pitchFamily="18" charset="0"/>
              </a:endParaRPr>
            </a:p>
          </p:txBody>
        </p:sp>
        <p:sp>
          <p:nvSpPr>
            <p:cNvPr id="18528" name="Line 135"/>
            <p:cNvSpPr/>
            <p:nvPr/>
          </p:nvSpPr>
          <p:spPr>
            <a:xfrm>
              <a:off x="4512" y="3264"/>
              <a:ext cx="0" cy="288"/>
            </a:xfrm>
            <a:prstGeom prst="line">
              <a:avLst/>
            </a:prstGeom>
            <a:ln w="22225" cap="sq" cmpd="sng">
              <a:solidFill>
                <a:schemeClr val="tx1"/>
              </a:solidFill>
              <a:prstDash val="solid"/>
              <a:round/>
              <a:headEnd type="none" w="sm" len="sm"/>
              <a:tailEnd type="none" w="med" len="lg"/>
            </a:ln>
          </p:spPr>
        </p:sp>
        <p:sp>
          <p:nvSpPr>
            <p:cNvPr id="18529" name="Line 136"/>
            <p:cNvSpPr/>
            <p:nvPr/>
          </p:nvSpPr>
          <p:spPr>
            <a:xfrm flipV="1">
              <a:off x="4896" y="3312"/>
              <a:ext cx="0" cy="288"/>
            </a:xfrm>
            <a:prstGeom prst="line">
              <a:avLst/>
            </a:prstGeom>
            <a:ln w="22225" cap="sq" cmpd="sng">
              <a:solidFill>
                <a:schemeClr val="tx1"/>
              </a:solidFill>
              <a:prstDash val="solid"/>
              <a:round/>
              <a:headEnd type="none" w="sm" len="sm"/>
              <a:tailEnd type="stealth" w="med" len="lg"/>
            </a:ln>
          </p:spPr>
        </p:sp>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4"/>
                                        </p:tgtEl>
                                        <p:attrNameLst>
                                          <p:attrName>style.visibility</p:attrName>
                                        </p:attrNameLst>
                                      </p:cBhvr>
                                      <p:to>
                                        <p:strVal val="visible"/>
                                      </p:to>
                                    </p:se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6"/>
                                        </p:tgtEl>
                                        <p:attrNameLst>
                                          <p:attrName>style.visibility</p:attrName>
                                        </p:attrNameLst>
                                      </p:cBhvr>
                                      <p:to>
                                        <p:strVal val="visible"/>
                                      </p:to>
                                    </p:se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7"/>
                                        </p:tgtEl>
                                        <p:attrNameLst>
                                          <p:attrName>style.visibility</p:attrName>
                                        </p:attrNameLst>
                                      </p:cBhvr>
                                      <p:to>
                                        <p:strVal val="visible"/>
                                      </p:to>
                                    </p:se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9"/>
                                        </p:tgtEl>
                                        <p:attrNameLst>
                                          <p:attrName>style.visibility</p:attrName>
                                        </p:attrNameLst>
                                      </p:cBhvr>
                                      <p:to>
                                        <p:strVal val="visible"/>
                                      </p:to>
                                    </p:se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11"/>
                                        </p:tgtEl>
                                        <p:attrNameLst>
                                          <p:attrName>style.visibility</p:attrName>
                                        </p:attrNameLst>
                                      </p:cBhvr>
                                      <p:to>
                                        <p:strVal val="visible"/>
                                      </p:to>
                                    </p:set>
                                  </p:childTnLst>
                                  <p:subTnLst>
                                    <p:set>
                                      <p:cBhvr override="childStyle">
                                        <p:cTn dur="1" fill="hold" display="0" masterRel="nextClick" afterEffect="1"/>
                                        <p:tgtEl>
                                          <p:spTgt spid="11"/>
                                        </p:tgtEl>
                                        <p:attrNameLst>
                                          <p:attrName>style.visibility</p:attrName>
                                        </p:attrNameLst>
                                      </p:cBhvr>
                                      <p:to>
                                        <p:strVal val="hidden"/>
                                      </p:to>
                                    </p:set>
                                  </p:sub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499"/>
                                          </p:stCondLst>
                                        </p:cTn>
                                        <p:tgtEl>
                                          <p:spTgt spid="13"/>
                                        </p:tgtEl>
                                        <p:attrNameLst>
                                          <p:attrName>style.visibility</p:attrName>
                                        </p:attrNameLst>
                                      </p:cBhvr>
                                      <p:to>
                                        <p:strVal val="visible"/>
                                      </p:to>
                                    </p:set>
                                  </p:childTnLst>
                                  <p:subTnLst>
                                    <p:set>
                                      <p:cBhvr override="childStyle">
                                        <p:cTn dur="1" fill="hold" display="0" masterRel="nextClick" afterEffect="1"/>
                                        <p:tgtEl>
                                          <p:spTgt spid="13"/>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106499" name="Rectangle 3"/>
          <p:cNvSpPr>
            <a:spLocks noGrp="1"/>
          </p:cNvSpPr>
          <p:nvPr>
            <p:ph type="body"/>
          </p:nvPr>
        </p:nvSpPr>
        <p:spPr>
          <a:xfrm>
            <a:off x="685800" y="609600"/>
            <a:ext cx="8077200" cy="4343400"/>
          </a:xfrm>
          <a:ln/>
        </p:spPr>
        <p:txBody>
          <a:bodyPr vert="horz" wrap="square" lIns="91440" tIns="45720" rIns="91440" bIns="45720" anchor="t"/>
          <a:p>
            <a:pPr eaLnBrk="1" hangingPunct="1"/>
            <a:r>
              <a:rPr lang="" altLang="en-US" b="1" dirty="0">
                <a:latin typeface="宋体" panose="02010600030101010101" pitchFamily="2" charset="-122"/>
              </a:rPr>
              <a:t>当某个非终结符有多个产生式候选时，可能带来如下问题:</a:t>
            </a:r>
            <a:endParaRPr lang="" altLang="en-US" b="1" dirty="0">
              <a:latin typeface="宋体" panose="02010600030101010101" pitchFamily="2" charset="-122"/>
            </a:endParaRPr>
          </a:p>
          <a:p>
            <a:pPr lvl="1" indent="-436245" eaLnBrk="1" hangingPunct="1">
              <a:buNone/>
            </a:pPr>
            <a:r>
              <a:rPr lang="" altLang="en-US" b="1" dirty="0">
                <a:latin typeface="宋体" panose="02010600030101010101" pitchFamily="2" charset="-122"/>
              </a:rPr>
              <a:t>1. 分析过程中，当一个非终结符用某一个候选匹配成功时，这种匹配可能是暂时的</a:t>
            </a:r>
            <a:r>
              <a:rPr lang="" altLang="zh-CN" b="1" dirty="0">
                <a:latin typeface="宋体" panose="02010600030101010101" pitchFamily="2" charset="-122"/>
              </a:rPr>
              <a:t>。</a:t>
            </a:r>
            <a:r>
              <a:rPr lang="zh-CN" altLang="en-US" b="1" dirty="0">
                <a:latin typeface="宋体" panose="02010600030101010101" pitchFamily="2" charset="-122"/>
              </a:rPr>
              <a:t>出错时</a:t>
            </a:r>
            <a:r>
              <a:rPr lang="" altLang="en-US" b="1" dirty="0">
                <a:latin typeface="宋体" panose="02010600030101010101" pitchFamily="2" charset="-122"/>
              </a:rPr>
              <a:t>，不得不</a:t>
            </a:r>
            <a:r>
              <a:rPr lang="" altLang="en-US" b="1" dirty="0"/>
              <a:t>“</a:t>
            </a:r>
            <a:r>
              <a:rPr lang="" altLang="en-US" b="1" dirty="0">
                <a:latin typeface="宋体" panose="02010600030101010101" pitchFamily="2" charset="-122"/>
              </a:rPr>
              <a:t>回溯</a:t>
            </a:r>
            <a:r>
              <a:rPr lang="" altLang="en-US" b="1" dirty="0"/>
              <a:t>”</a:t>
            </a:r>
            <a:r>
              <a:rPr lang="zh-CN" altLang="en-US" b="1" dirty="0">
                <a:latin typeface="宋体" panose="02010600030101010101" pitchFamily="2" charset="-122"/>
              </a:rPr>
              <a:t>。</a:t>
            </a:r>
            <a:endParaRPr lang="zh-CN" altLang="en-US" b="1" dirty="0">
              <a:latin typeface="宋体" panose="02010600030101010101" pitchFamily="2" charset="-122"/>
            </a:endParaRPr>
          </a:p>
          <a:p>
            <a:pPr lvl="1" indent="-436245" eaLnBrk="1" hangingPunct="1">
              <a:buNone/>
            </a:pPr>
            <a:r>
              <a:rPr lang="" altLang="en-US" b="1" dirty="0">
                <a:latin typeface="宋体" panose="02010600030101010101" pitchFamily="2" charset="-122"/>
              </a:rPr>
              <a:t>2. 文法左递归问题</a:t>
            </a:r>
            <a:r>
              <a:rPr lang="" altLang="zh-CN" b="1" dirty="0">
                <a:latin typeface="宋体" panose="02010600030101010101" pitchFamily="2" charset="-122"/>
              </a:rPr>
              <a:t>。</a:t>
            </a:r>
            <a:r>
              <a:rPr lang="" altLang="en-US" b="1" dirty="0">
                <a:latin typeface="宋体" panose="02010600030101010101" pitchFamily="2" charset="-122"/>
              </a:rPr>
              <a:t>一个文法是含有左递归的，如果存在非终结符</a:t>
            </a:r>
            <a:r>
              <a:rPr lang="" altLang="zh-CN" b="1" dirty="0">
                <a:latin typeface="宋体" panose="02010600030101010101" pitchFamily="2" charset="-122"/>
              </a:rPr>
              <a:t>P</a:t>
            </a:r>
            <a:endParaRPr lang="en-US" altLang="zh-CN" b="1" dirty="0"/>
          </a:p>
        </p:txBody>
      </p:sp>
      <p:graphicFrame>
        <p:nvGraphicFramePr>
          <p:cNvPr id="106500" name="Object 4"/>
          <p:cNvGraphicFramePr>
            <a:graphicFrameLocks noChangeAspect="1"/>
          </p:cNvGraphicFramePr>
          <p:nvPr/>
        </p:nvGraphicFramePr>
        <p:xfrm>
          <a:off x="3635375" y="4005263"/>
          <a:ext cx="1562100" cy="769937"/>
        </p:xfrm>
        <a:graphic>
          <a:graphicData uri="http://schemas.openxmlformats.org/presentationml/2006/ole">
            <mc:AlternateContent xmlns:mc="http://schemas.openxmlformats.org/markup-compatibility/2006">
              <mc:Choice xmlns:v="urn:schemas-microsoft-com:vml" Requires="v">
                <p:oleObj spid="_x0000_s3076" name="" r:id="rId1" imgW="408940" imgH="200660" progId="Word.Document.8">
                  <p:embed/>
                </p:oleObj>
              </mc:Choice>
              <mc:Fallback>
                <p:oleObj name="" r:id="rId1" imgW="408940" imgH="200660" progId="Word.Document.8">
                  <p:embed/>
                  <p:pic>
                    <p:nvPicPr>
                      <p:cNvPr id="0" name="图片 3075"/>
                      <p:cNvPicPr/>
                      <p:nvPr/>
                    </p:nvPicPr>
                    <p:blipFill>
                      <a:blip r:embed="rId2">
                        <a:clrChange>
                          <a:clrFrom>
                            <a:srgbClr val="000000"/>
                          </a:clrFrom>
                          <a:clrTo>
                            <a:srgbClr val="000000"/>
                          </a:clrTo>
                        </a:clrChange>
                      </a:blip>
                      <a:stretch>
                        <a:fillRect/>
                      </a:stretch>
                    </p:blipFill>
                    <p:spPr>
                      <a:xfrm>
                        <a:off x="3635375" y="4005263"/>
                        <a:ext cx="1562100" cy="769937"/>
                      </a:xfrm>
                      <a:prstGeom prst="rect">
                        <a:avLst/>
                      </a:prstGeom>
                      <a:noFill/>
                      <a:ln w="38100">
                        <a:noFill/>
                        <a:miter/>
                      </a:ln>
                    </p:spPr>
                  </p:pic>
                </p:oleObj>
              </mc:Fallback>
            </mc:AlternateContent>
          </a:graphicData>
        </a:graphic>
      </p:graphicFrame>
      <p:sp>
        <p:nvSpPr>
          <p:cNvPr id="106501" name="Rectangle 5"/>
          <p:cNvSpPr/>
          <p:nvPr/>
        </p:nvSpPr>
        <p:spPr>
          <a:xfrm>
            <a:off x="539750" y="5084763"/>
            <a:ext cx="7772400" cy="990600"/>
          </a:xfrm>
          <a:prstGeom prst="rect">
            <a:avLst/>
          </a:prstGeom>
          <a:noFill/>
          <a:ln w="9525">
            <a:noFill/>
          </a:ln>
        </p:spPr>
        <p:txBody>
          <a:bodyPr anchor="t"/>
          <a:p>
            <a:pPr marL="857250" lvl="1" indent="-377825" algn="l" eaLnBrk="0" hangingPunct="0">
              <a:buClr>
                <a:schemeClr val="accent2"/>
              </a:buClr>
              <a:buFont typeface="Wingdings 2" panose="05020102010507070707" pitchFamily="18" charset="2"/>
              <a:buChar char="·"/>
            </a:pPr>
            <a:r>
              <a:rPr lang="zh-CN" altLang="en-US" sz="3200" b="1" u="none" dirty="0">
                <a:solidFill>
                  <a:schemeClr val="tx1"/>
                </a:solidFill>
                <a:latin typeface="宋体" panose="02010600030101010101" pitchFamily="2" charset="-122"/>
              </a:rPr>
              <a:t>含有左递归的文法将使自上而下的分析陷入无限循环。</a:t>
            </a:r>
            <a:endParaRPr lang="zh-CN" altLang="en-US" sz="3200" u="none" dirty="0">
              <a:solidFill>
                <a:schemeClr val="tx1"/>
              </a:solidFill>
              <a:latin typeface="宋体" panose="02010600030101010101" pitchFamily="2"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6499">
                                            <p:txEl>
                                              <p:charRg st="0" end="27"/>
                                            </p:txEl>
                                          </p:spTgt>
                                        </p:tgtEl>
                                        <p:attrNameLst>
                                          <p:attrName>style.visibility</p:attrName>
                                        </p:attrNameLst>
                                      </p:cBhvr>
                                      <p:to>
                                        <p:strVal val="visible"/>
                                      </p:to>
                                    </p:set>
                                    <p:animEffect transition="in" filter="wipe(left)">
                                      <p:cBhvr>
                                        <p:cTn id="7" dur="500"/>
                                        <p:tgtEl>
                                          <p:spTgt spid="106499">
                                            <p:txEl>
                                              <p:charRg st="0" end="27"/>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6499">
                                            <p:txEl>
                                              <p:charRg st="27" end="79"/>
                                            </p:txEl>
                                          </p:spTgt>
                                        </p:tgtEl>
                                        <p:attrNameLst>
                                          <p:attrName>style.visibility</p:attrName>
                                        </p:attrNameLst>
                                      </p:cBhvr>
                                      <p:to>
                                        <p:strVal val="visible"/>
                                      </p:to>
                                    </p:set>
                                    <p:animEffect transition="in" filter="wipe(left)">
                                      <p:cBhvr>
                                        <p:cTn id="12" dur="500"/>
                                        <p:tgtEl>
                                          <p:spTgt spid="106499">
                                            <p:txEl>
                                              <p:charRg st="27" end="7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6499">
                                            <p:txEl>
                                              <p:charRg st="79" end="112"/>
                                            </p:txEl>
                                          </p:spTgt>
                                        </p:tgtEl>
                                        <p:attrNameLst>
                                          <p:attrName>style.visibility</p:attrName>
                                        </p:attrNameLst>
                                      </p:cBhvr>
                                      <p:to>
                                        <p:strVal val="visible"/>
                                      </p:to>
                                    </p:set>
                                    <p:animEffect transition="in" filter="wipe(left)">
                                      <p:cBhvr>
                                        <p:cTn id="17" dur="500"/>
                                        <p:tgtEl>
                                          <p:spTgt spid="106499">
                                            <p:txEl>
                                              <p:charRg st="79" end="11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06500"/>
                                        </p:tgtEl>
                                        <p:attrNameLst>
                                          <p:attrName>style.visibility</p:attrName>
                                        </p:attrNameLst>
                                      </p:cBhvr>
                                      <p:to>
                                        <p:strVal val="visible"/>
                                      </p:to>
                                    </p:set>
                                    <p:animEffect transition="in" filter="wipe(left)">
                                      <p:cBhvr>
                                        <p:cTn id="22" dur="500"/>
                                        <p:tgtEl>
                                          <p:spTgt spid="10650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06501"/>
                                        </p:tgtEl>
                                        <p:attrNameLst>
                                          <p:attrName>style.visibility</p:attrName>
                                        </p:attrNameLst>
                                      </p:cBhvr>
                                      <p:to>
                                        <p:strVal val="visible"/>
                                      </p:to>
                                    </p:set>
                                    <p:animEffect transition="in" filter="wipe(left)">
                                      <p:cBhvr>
                                        <p:cTn id="27" dur="500"/>
                                        <p:tgtEl>
                                          <p:spTgt spid="1065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499" grpId="0" bldLvl="2" build="p"/>
      <p:bldP spid="10650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20482" name="Rectangle 2"/>
          <p:cNvSpPr>
            <a:spLocks noGrp="1"/>
          </p:cNvSpPr>
          <p:nvPr>
            <p:ph type="title"/>
          </p:nvPr>
        </p:nvSpPr>
        <p:spPr>
          <a:xfrm>
            <a:off x="796925" y="304800"/>
            <a:ext cx="7556500" cy="1012825"/>
          </a:xfrm>
          <a:ln/>
        </p:spPr>
        <p:txBody>
          <a:bodyPr vert="horz" wrap="square" lIns="91440" tIns="45720" rIns="91440" bIns="45720" anchor="ctr"/>
          <a:p>
            <a:pPr eaLnBrk="1" hangingPunct="1"/>
            <a:r>
              <a:rPr lang="en-US" altLang="zh-CN" b="1" dirty="0"/>
              <a:t>4.3  LL(1)</a:t>
            </a:r>
            <a:r>
              <a:rPr lang="zh-CN" altLang="en-US" b="1" dirty="0"/>
              <a:t>分析法</a:t>
            </a:r>
            <a:endParaRPr lang="zh-CN" altLang="en-US" b="1" dirty="0"/>
          </a:p>
        </p:txBody>
      </p:sp>
      <p:sp>
        <p:nvSpPr>
          <p:cNvPr id="107523" name="Rectangle 3"/>
          <p:cNvSpPr>
            <a:spLocks noGrp="1"/>
          </p:cNvSpPr>
          <p:nvPr>
            <p:ph type="body"/>
          </p:nvPr>
        </p:nvSpPr>
        <p:spPr>
          <a:xfrm>
            <a:off x="685800" y="1752600"/>
            <a:ext cx="7848600" cy="2286000"/>
          </a:xfrm>
          <a:ln/>
        </p:spPr>
        <p:txBody>
          <a:bodyPr vert="horz" wrap="square" lIns="91440" tIns="45720" rIns="91440" bIns="45720" anchor="t"/>
          <a:p>
            <a:pPr eaLnBrk="1" hangingPunct="1">
              <a:spcBef>
                <a:spcPts val="1300"/>
              </a:spcBef>
              <a:spcAft>
                <a:spcPts val="1300"/>
              </a:spcAft>
            </a:pPr>
            <a:r>
              <a:rPr lang="zh-CN" altLang="en-US" b="1" dirty="0"/>
              <a:t>构造不带回溯的自上而下分析算法</a:t>
            </a:r>
            <a:endParaRPr lang="zh-CN" altLang="en-US" b="1" dirty="0"/>
          </a:p>
          <a:p>
            <a:pPr lvl="1" indent="-436245" eaLnBrk="1" hangingPunct="1">
              <a:spcBef>
                <a:spcPct val="40000"/>
              </a:spcBef>
            </a:pPr>
            <a:r>
              <a:rPr lang="zh-CN" altLang="en-US" b="1" dirty="0"/>
              <a:t>要消除文法的左递归性</a:t>
            </a:r>
            <a:endParaRPr lang="zh-CN" altLang="en-US" b="1" dirty="0"/>
          </a:p>
          <a:p>
            <a:pPr lvl="1" indent="-436245" eaLnBrk="1" hangingPunct="1">
              <a:spcBef>
                <a:spcPct val="40000"/>
              </a:spcBef>
            </a:pPr>
            <a:r>
              <a:rPr lang="zh-CN" altLang="en-US" b="1" dirty="0"/>
              <a:t>克服回溯</a:t>
            </a:r>
            <a:endParaRPr lang="zh-CN" altLang="en-US" b="1"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7523">
                                            <p:txEl>
                                              <p:charRg st="0" end="16"/>
                                            </p:txEl>
                                          </p:spTgt>
                                        </p:tgtEl>
                                        <p:attrNameLst>
                                          <p:attrName>style.visibility</p:attrName>
                                        </p:attrNameLst>
                                      </p:cBhvr>
                                      <p:to>
                                        <p:strVal val="visible"/>
                                      </p:to>
                                    </p:set>
                                    <p:animEffect transition="in" filter="wipe(left)">
                                      <p:cBhvr>
                                        <p:cTn id="7" dur="500"/>
                                        <p:tgtEl>
                                          <p:spTgt spid="107523">
                                            <p:txEl>
                                              <p:charRg st="0" end="16"/>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7523">
                                            <p:txEl>
                                              <p:charRg st="16" end="27"/>
                                            </p:txEl>
                                          </p:spTgt>
                                        </p:tgtEl>
                                        <p:attrNameLst>
                                          <p:attrName>style.visibility</p:attrName>
                                        </p:attrNameLst>
                                      </p:cBhvr>
                                      <p:to>
                                        <p:strVal val="visible"/>
                                      </p:to>
                                    </p:set>
                                    <p:animEffect transition="in" filter="wipe(left)">
                                      <p:cBhvr>
                                        <p:cTn id="12" dur="500"/>
                                        <p:tgtEl>
                                          <p:spTgt spid="107523">
                                            <p:txEl>
                                              <p:charRg st="16" end="2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7523">
                                            <p:txEl>
                                              <p:charRg st="27" end="32"/>
                                            </p:txEl>
                                          </p:spTgt>
                                        </p:tgtEl>
                                        <p:attrNameLst>
                                          <p:attrName>style.visibility</p:attrName>
                                        </p:attrNameLst>
                                      </p:cBhvr>
                                      <p:to>
                                        <p:strVal val="visible"/>
                                      </p:to>
                                    </p:set>
                                    <p:animEffect transition="in" filter="wipe(left)">
                                      <p:cBhvr>
                                        <p:cTn id="17" dur="500"/>
                                        <p:tgtEl>
                                          <p:spTgt spid="107523">
                                            <p:txEl>
                                              <p:charRg st="27" end="3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3" grpId="0" bldLvl="2"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21506" name="Rectangle 2"/>
          <p:cNvSpPr>
            <a:spLocks noGrp="1"/>
          </p:cNvSpPr>
          <p:nvPr>
            <p:ph type="title"/>
          </p:nvPr>
        </p:nvSpPr>
        <p:spPr>
          <a:xfrm>
            <a:off x="685800" y="304800"/>
            <a:ext cx="7772400" cy="1143000"/>
          </a:xfrm>
          <a:ln/>
        </p:spPr>
        <p:txBody>
          <a:bodyPr vert="horz" wrap="square" lIns="91440" tIns="45720" rIns="91440" bIns="45720" anchor="ctr"/>
          <a:p>
            <a:pPr eaLnBrk="1" hangingPunct="1"/>
            <a:r>
              <a:rPr lang="en-US" altLang="zh-CN" b="1" dirty="0"/>
              <a:t>4.3.1  </a:t>
            </a:r>
            <a:r>
              <a:rPr lang="zh-CN" altLang="en-US" b="1" dirty="0"/>
              <a:t>左递归的消除</a:t>
            </a:r>
            <a:endParaRPr lang="zh-CN" altLang="en-US" b="1" dirty="0"/>
          </a:p>
        </p:txBody>
      </p:sp>
      <p:sp>
        <p:nvSpPr>
          <p:cNvPr id="108547" name="Rectangle 3"/>
          <p:cNvSpPr>
            <a:spLocks noGrp="1"/>
          </p:cNvSpPr>
          <p:nvPr>
            <p:ph type="body"/>
          </p:nvPr>
        </p:nvSpPr>
        <p:spPr>
          <a:xfrm>
            <a:off x="838200" y="1828800"/>
            <a:ext cx="7772400" cy="4840288"/>
          </a:xfrm>
          <a:ln/>
        </p:spPr>
        <p:txBody>
          <a:bodyPr vert="horz" wrap="square" lIns="91440" tIns="45720" rIns="91440" bIns="45720" anchor="t"/>
          <a:p>
            <a:pPr eaLnBrk="1" hangingPunct="1">
              <a:lnSpc>
                <a:spcPct val="90000"/>
              </a:lnSpc>
              <a:spcBef>
                <a:spcPts val="1000"/>
              </a:spcBef>
              <a:spcAft>
                <a:spcPts val="1000"/>
              </a:spcAft>
            </a:pPr>
            <a:r>
              <a:rPr lang="zh-CN" altLang="en-US" b="1" dirty="0"/>
              <a:t>直接消除见诸于产生式中的左递归：假定关于非终结符</a:t>
            </a:r>
            <a:r>
              <a:rPr lang="en-US" altLang="zh-CN" b="1" dirty="0"/>
              <a:t>P</a:t>
            </a:r>
            <a:r>
              <a:rPr lang="zh-CN" altLang="en-US" b="1" dirty="0"/>
              <a:t>的规则为</a:t>
            </a:r>
            <a:endParaRPr lang="zh-CN" altLang="en-US" b="1" dirty="0"/>
          </a:p>
          <a:p>
            <a:pPr lvl="1" indent="-436245" algn="ctr" eaLnBrk="1" hangingPunct="1">
              <a:lnSpc>
                <a:spcPct val="90000"/>
              </a:lnSpc>
              <a:spcBef>
                <a:spcPct val="0"/>
              </a:spcBef>
              <a:buNone/>
            </a:pPr>
            <a:r>
              <a:rPr lang="zh-CN" altLang="en-US" b="1" dirty="0"/>
              <a:t>	</a:t>
            </a:r>
            <a:r>
              <a:rPr lang="en-US" altLang="zh-CN" b="1" dirty="0"/>
              <a:t>P→P</a:t>
            </a:r>
            <a:r>
              <a:rPr lang="en-US" altLang="zh-CN" b="1" dirty="0">
                <a:sym typeface="Symbol" panose="05050102010706020507" pitchFamily="18" charset="2"/>
              </a:rPr>
              <a:t></a:t>
            </a:r>
            <a:r>
              <a:rPr lang="en-US" altLang="zh-CN" b="1" dirty="0"/>
              <a:t> | </a:t>
            </a:r>
            <a:r>
              <a:rPr lang="en-US" altLang="zh-CN" b="1" dirty="0">
                <a:sym typeface="Symbol" panose="05050102010706020507" pitchFamily="18" charset="2"/>
              </a:rPr>
              <a:t></a:t>
            </a:r>
            <a:endParaRPr lang="en-US" altLang="zh-CN" b="1" dirty="0"/>
          </a:p>
          <a:p>
            <a:pPr lvl="1" indent="-436245" eaLnBrk="1" hangingPunct="1">
              <a:lnSpc>
                <a:spcPct val="90000"/>
              </a:lnSpc>
              <a:buNone/>
            </a:pPr>
            <a:r>
              <a:rPr lang="en-US" altLang="zh-CN" b="1" dirty="0"/>
              <a:t>   </a:t>
            </a:r>
            <a:r>
              <a:rPr lang="zh-CN" altLang="en-US" b="1" dirty="0"/>
              <a:t>其中</a:t>
            </a:r>
            <a:r>
              <a:rPr lang="zh-CN" altLang="en-US" b="1" dirty="0">
                <a:sym typeface="Symbol" panose="05050102010706020507" pitchFamily="18" charset="2"/>
              </a:rPr>
              <a:t></a:t>
            </a:r>
            <a:r>
              <a:rPr lang="zh-CN" altLang="en-US" b="1" dirty="0"/>
              <a:t>不以</a:t>
            </a:r>
            <a:r>
              <a:rPr lang="en-US" altLang="zh-CN" b="1" dirty="0"/>
              <a:t>P</a:t>
            </a:r>
            <a:r>
              <a:rPr lang="zh-CN" altLang="en-US" b="1" dirty="0"/>
              <a:t>开头。</a:t>
            </a:r>
            <a:endParaRPr lang="zh-CN" altLang="en-US" b="1" dirty="0"/>
          </a:p>
          <a:p>
            <a:pPr eaLnBrk="1" hangingPunct="1">
              <a:lnSpc>
                <a:spcPct val="90000"/>
              </a:lnSpc>
              <a:buNone/>
            </a:pPr>
            <a:r>
              <a:rPr lang="zh-CN" altLang="en-US" b="1" dirty="0"/>
              <a:t>   我们可以把</a:t>
            </a:r>
            <a:r>
              <a:rPr lang="en-US" altLang="zh-CN" b="1" dirty="0"/>
              <a:t>P</a:t>
            </a:r>
            <a:r>
              <a:rPr lang="zh-CN" altLang="en-US" b="1" dirty="0"/>
              <a:t>的规则等价地改写为如下的非直接左递归形式：</a:t>
            </a:r>
            <a:endParaRPr lang="zh-CN" altLang="en-US" b="1" dirty="0"/>
          </a:p>
          <a:p>
            <a:pPr algn="ctr" eaLnBrk="1" hangingPunct="1">
              <a:lnSpc>
                <a:spcPct val="90000"/>
              </a:lnSpc>
              <a:spcBef>
                <a:spcPct val="0"/>
              </a:spcBef>
              <a:buNone/>
            </a:pPr>
            <a:r>
              <a:rPr lang="en-US" altLang="zh-CN" b="1" dirty="0"/>
              <a:t>P→</a:t>
            </a:r>
            <a:r>
              <a:rPr lang="en-US" altLang="zh-CN" b="1" dirty="0">
                <a:sym typeface="Symbol" panose="05050102010706020507" pitchFamily="18" charset="2"/>
              </a:rPr>
              <a:t></a:t>
            </a:r>
            <a:r>
              <a:rPr lang="en-US" altLang="zh-CN" b="1" dirty="0"/>
              <a:t>P</a:t>
            </a:r>
            <a:r>
              <a:rPr lang="en-US" altLang="zh-CN" b="1" dirty="0">
                <a:sym typeface="Symbol" panose="05050102010706020507" pitchFamily="18" charset="2"/>
              </a:rPr>
              <a:t></a:t>
            </a:r>
            <a:endParaRPr lang="en-US" altLang="zh-CN" b="1" dirty="0"/>
          </a:p>
          <a:p>
            <a:pPr algn="ctr" eaLnBrk="1" hangingPunct="1">
              <a:lnSpc>
                <a:spcPct val="90000"/>
              </a:lnSpc>
              <a:spcBef>
                <a:spcPct val="0"/>
              </a:spcBef>
              <a:buNone/>
            </a:pPr>
            <a:r>
              <a:rPr lang="en-US" altLang="zh-CN" b="1" dirty="0"/>
              <a:t>	P</a:t>
            </a:r>
            <a:r>
              <a:rPr lang="en-US" altLang="zh-CN" b="1" dirty="0">
                <a:sym typeface="Symbol" panose="05050102010706020507" pitchFamily="18" charset="2"/>
              </a:rPr>
              <a:t></a:t>
            </a:r>
            <a:r>
              <a:rPr lang="en-US" altLang="zh-CN" b="1" dirty="0"/>
              <a:t>→</a:t>
            </a:r>
            <a:r>
              <a:rPr lang="en-US" altLang="zh-CN" b="1" dirty="0">
                <a:sym typeface="Symbol" panose="05050102010706020507" pitchFamily="18" charset="2"/>
              </a:rPr>
              <a:t></a:t>
            </a:r>
            <a:r>
              <a:rPr lang="en-US" altLang="zh-CN" b="1" dirty="0"/>
              <a:t>P</a:t>
            </a:r>
            <a:r>
              <a:rPr lang="en-US" altLang="zh-CN" b="1" dirty="0">
                <a:sym typeface="Symbol" panose="05050102010706020507" pitchFamily="18" charset="2"/>
              </a:rPr>
              <a:t></a:t>
            </a:r>
            <a:r>
              <a:rPr lang="en-US" altLang="zh-CN" b="1" dirty="0"/>
              <a:t>|</a:t>
            </a:r>
            <a:r>
              <a:rPr lang="en-US" altLang="zh-CN" b="1" dirty="0">
                <a:sym typeface="Symbol" panose="05050102010706020507" pitchFamily="18" charset="2"/>
              </a:rPr>
              <a:t></a:t>
            </a:r>
            <a:endParaRPr lang="en-US" altLang="zh-CN" b="1" dirty="0">
              <a:sym typeface="Symbol" panose="05050102010706020507" pitchFamily="18" charset="2"/>
            </a:endParaRPr>
          </a:p>
          <a:p>
            <a:pPr algn="ctr" eaLnBrk="1" hangingPunct="1">
              <a:lnSpc>
                <a:spcPct val="90000"/>
              </a:lnSpc>
              <a:spcBef>
                <a:spcPct val="0"/>
              </a:spcBef>
              <a:buNone/>
            </a:pPr>
            <a:endParaRPr lang="en-US" altLang="zh-CN" b="1" dirty="0"/>
          </a:p>
          <a:p>
            <a:pPr algn="ctr" eaLnBrk="1" hangingPunct="1">
              <a:lnSpc>
                <a:spcPct val="90000"/>
              </a:lnSpc>
              <a:spcBef>
                <a:spcPct val="0"/>
              </a:spcBef>
              <a:buNone/>
            </a:pPr>
            <a:r>
              <a:rPr lang="en-US" altLang="zh-CN" b="1" dirty="0">
                <a:solidFill>
                  <a:schemeClr val="folHlink"/>
                </a:solidFill>
              </a:rPr>
              <a:t>L(</a:t>
            </a:r>
            <a:r>
              <a:rPr lang="" altLang="zh-CN" b="1" dirty="0">
                <a:solidFill>
                  <a:schemeClr val="folHlink"/>
                </a:solidFill>
              </a:rPr>
              <a:t>G</a:t>
            </a:r>
            <a:r>
              <a:rPr lang="en-US" altLang="zh-CN" b="1" dirty="0">
                <a:solidFill>
                  <a:schemeClr val="folHlink"/>
                </a:solidFill>
              </a:rPr>
              <a:t>)={</a:t>
            </a:r>
            <a:r>
              <a:rPr lang="en-US" altLang="zh-CN" b="1" dirty="0">
                <a:solidFill>
                  <a:schemeClr val="folHlink"/>
                </a:solidFill>
                <a:sym typeface="Symbol" panose="05050102010706020507" pitchFamily="18" charset="2"/>
              </a:rPr>
              <a:t></a:t>
            </a:r>
            <a:r>
              <a:rPr lang="en-US" altLang="zh-CN" b="1" baseline="30000" dirty="0">
                <a:solidFill>
                  <a:schemeClr val="folHlink"/>
                </a:solidFill>
              </a:rPr>
              <a:t>n</a:t>
            </a:r>
            <a:r>
              <a:rPr lang="en-US" altLang="zh-CN" b="1" dirty="0">
                <a:solidFill>
                  <a:schemeClr val="folHlink"/>
                </a:solidFill>
              </a:rPr>
              <a:t> | n </a:t>
            </a:r>
            <a:r>
              <a:rPr lang="en-US" altLang="zh-CN" b="1" dirty="0">
                <a:solidFill>
                  <a:schemeClr val="folHlink"/>
                </a:solidFill>
                <a:sym typeface="Symbol" panose="05050102010706020507" pitchFamily="18" charset="2"/>
              </a:rPr>
              <a:t></a:t>
            </a:r>
            <a:r>
              <a:rPr lang="en-US" altLang="zh-CN" dirty="0">
                <a:solidFill>
                  <a:schemeClr val="folHlink"/>
                </a:solidFill>
              </a:rPr>
              <a:t> </a:t>
            </a:r>
            <a:r>
              <a:rPr lang="en-US" altLang="zh-CN" b="1" dirty="0">
                <a:solidFill>
                  <a:schemeClr val="folHlink"/>
                </a:solidFill>
              </a:rPr>
              <a:t>0}</a:t>
            </a:r>
            <a:endParaRPr lang="en-US" altLang="zh-CN" b="1" dirty="0">
              <a:solidFill>
                <a:schemeClr val="folHlink"/>
              </a:solidFill>
            </a:endParaRPr>
          </a:p>
        </p:txBody>
      </p:sp>
      <p:sp>
        <p:nvSpPr>
          <p:cNvPr id="108548" name="AutoShape 4"/>
          <p:cNvSpPr/>
          <p:nvPr/>
        </p:nvSpPr>
        <p:spPr>
          <a:xfrm>
            <a:off x="6372225" y="5013325"/>
            <a:ext cx="2303463" cy="1008063"/>
          </a:xfrm>
          <a:prstGeom prst="wedgeRectCallout">
            <a:avLst>
              <a:gd name="adj1" fmla="val -75361"/>
              <a:gd name="adj2" fmla="val 37560"/>
            </a:avLst>
          </a:prstGeom>
          <a:solidFill>
            <a:srgbClr val="FFFF99"/>
          </a:solidFill>
          <a:ln w="12700" cap="flat" cmpd="sng">
            <a:solidFill>
              <a:srgbClr val="FF0000"/>
            </a:solidFill>
            <a:prstDash val="solid"/>
            <a:miter/>
            <a:headEnd type="none" w="med" len="med"/>
            <a:tailEnd type="none" w="lg" len="lg"/>
          </a:ln>
        </p:spPr>
        <p:txBody>
          <a:bodyPr anchor="ctr"/>
          <a:p>
            <a:pPr algn="ctr"/>
            <a:r>
              <a:rPr lang="zh-CN" altLang="en-GB" sz="3600" u="none" dirty="0">
                <a:solidFill>
                  <a:srgbClr val="3333CC"/>
                </a:solidFill>
                <a:latin typeface="Arial" panose="020B0604020202020204" pitchFamily="34" charset="0"/>
                <a:ea typeface="华文新魏" panose="02010800040101010101" pitchFamily="2" charset="-122"/>
              </a:rPr>
              <a:t>左递归变右递归</a:t>
            </a:r>
            <a:endParaRPr lang="en-GB" altLang="zh-CN" sz="3600" u="none" dirty="0">
              <a:solidFill>
                <a:srgbClr val="3333CC"/>
              </a:solidFill>
              <a:latin typeface="Arial" panose="020B0604020202020204" pitchFamily="34" charset="0"/>
              <a:ea typeface="华文新魏" panose="02010800040101010101" pitchFamily="2"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8547">
                                            <p:txEl>
                                              <p:charRg st="0" end="30"/>
                                            </p:txEl>
                                          </p:spTgt>
                                        </p:tgtEl>
                                        <p:attrNameLst>
                                          <p:attrName>style.visibility</p:attrName>
                                        </p:attrNameLst>
                                      </p:cBhvr>
                                      <p:to>
                                        <p:strVal val="visible"/>
                                      </p:to>
                                    </p:set>
                                    <p:animEffect transition="in" filter="wipe(left)">
                                      <p:cBhvr>
                                        <p:cTn id="7" dur="500"/>
                                        <p:tgtEl>
                                          <p:spTgt spid="108547">
                                            <p:txEl>
                                              <p:charRg st="0" end="3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8547">
                                            <p:txEl>
                                              <p:charRg st="30" end="40"/>
                                            </p:txEl>
                                          </p:spTgt>
                                        </p:tgtEl>
                                        <p:attrNameLst>
                                          <p:attrName>style.visibility</p:attrName>
                                        </p:attrNameLst>
                                      </p:cBhvr>
                                      <p:to>
                                        <p:strVal val="visible"/>
                                      </p:to>
                                    </p:set>
                                    <p:animEffect transition="in" filter="wipe(left)">
                                      <p:cBhvr>
                                        <p:cTn id="11" dur="500"/>
                                        <p:tgtEl>
                                          <p:spTgt spid="108547">
                                            <p:txEl>
                                              <p:charRg st="30" end="4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08547">
                                            <p:txEl>
                                              <p:charRg st="40" end="53"/>
                                            </p:txEl>
                                          </p:spTgt>
                                        </p:tgtEl>
                                        <p:attrNameLst>
                                          <p:attrName>style.visibility</p:attrName>
                                        </p:attrNameLst>
                                      </p:cBhvr>
                                      <p:to>
                                        <p:strVal val="visible"/>
                                      </p:to>
                                    </p:set>
                                    <p:animEffect transition="in" filter="wipe(left)">
                                      <p:cBhvr>
                                        <p:cTn id="15" dur="500"/>
                                        <p:tgtEl>
                                          <p:spTgt spid="108547">
                                            <p:txEl>
                                              <p:charRg st="40" end="5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08547">
                                            <p:txEl>
                                              <p:charRg st="53" end="84"/>
                                            </p:txEl>
                                          </p:spTgt>
                                        </p:tgtEl>
                                        <p:attrNameLst>
                                          <p:attrName>style.visibility</p:attrName>
                                        </p:attrNameLst>
                                      </p:cBhvr>
                                      <p:to>
                                        <p:strVal val="visible"/>
                                      </p:to>
                                    </p:set>
                                    <p:animEffect transition="in" filter="wipe(left)">
                                      <p:cBhvr>
                                        <p:cTn id="20" dur="500"/>
                                        <p:tgtEl>
                                          <p:spTgt spid="108547">
                                            <p:txEl>
                                              <p:charRg st="53" end="8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08547">
                                            <p:txEl>
                                              <p:charRg st="84" end="90"/>
                                            </p:txEl>
                                          </p:spTgt>
                                        </p:tgtEl>
                                        <p:attrNameLst>
                                          <p:attrName>style.visibility</p:attrName>
                                        </p:attrNameLst>
                                      </p:cBhvr>
                                      <p:to>
                                        <p:strVal val="visible"/>
                                      </p:to>
                                    </p:set>
                                    <p:animEffect transition="in" filter="wipe(left)">
                                      <p:cBhvr>
                                        <p:cTn id="25" dur="500"/>
                                        <p:tgtEl>
                                          <p:spTgt spid="108547">
                                            <p:txEl>
                                              <p:charRg st="84" end="9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08547">
                                            <p:txEl>
                                              <p:charRg st="90" end="100"/>
                                            </p:txEl>
                                          </p:spTgt>
                                        </p:tgtEl>
                                        <p:attrNameLst>
                                          <p:attrName>style.visibility</p:attrName>
                                        </p:attrNameLst>
                                      </p:cBhvr>
                                      <p:to>
                                        <p:strVal val="visible"/>
                                      </p:to>
                                    </p:set>
                                    <p:animEffect transition="in" filter="wipe(left)">
                                      <p:cBhvr>
                                        <p:cTn id="30" dur="500"/>
                                        <p:tgtEl>
                                          <p:spTgt spid="108547">
                                            <p:txEl>
                                              <p:charRg st="90" end="10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08547">
                                            <p:txEl>
                                              <p:charRg st="101" end="120"/>
                                            </p:txEl>
                                          </p:spTgt>
                                        </p:tgtEl>
                                        <p:attrNameLst>
                                          <p:attrName>style.visibility</p:attrName>
                                        </p:attrNameLst>
                                      </p:cBhvr>
                                      <p:to>
                                        <p:strVal val="visible"/>
                                      </p:to>
                                    </p:set>
                                    <p:animEffect transition="in" filter="wipe(left)">
                                      <p:cBhvr>
                                        <p:cTn id="35" dur="500"/>
                                        <p:tgtEl>
                                          <p:spTgt spid="108547">
                                            <p:txEl>
                                              <p:charRg st="101" end="12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08548"/>
                                        </p:tgtEl>
                                        <p:attrNameLst>
                                          <p:attrName>style.visibility</p:attrName>
                                        </p:attrNameLst>
                                      </p:cBhvr>
                                      <p:to>
                                        <p:strVal val="visible"/>
                                      </p:to>
                                    </p:set>
                                    <p:animEffect transition="in" filter="wipe(left)">
                                      <p:cBhvr>
                                        <p:cTn id="40" dur="500"/>
                                        <p:tgtEl>
                                          <p:spTgt spid="1085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7" grpId="0" build="p"/>
      <p:bldP spid="10854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109571" name="Rectangle 3"/>
          <p:cNvSpPr>
            <a:spLocks noGrp="1"/>
          </p:cNvSpPr>
          <p:nvPr>
            <p:ph type="body"/>
          </p:nvPr>
        </p:nvSpPr>
        <p:spPr>
          <a:xfrm>
            <a:off x="468313" y="1052513"/>
            <a:ext cx="8351837" cy="4724400"/>
          </a:xfrm>
          <a:ln/>
        </p:spPr>
        <p:txBody>
          <a:bodyPr vert="horz" wrap="square" lIns="91440" tIns="45720" rIns="91440" bIns="45720" anchor="t"/>
          <a:p>
            <a:pPr eaLnBrk="1" hangingPunct="1"/>
            <a:r>
              <a:rPr lang="zh-CN" altLang="en-US" b="1" dirty="0"/>
              <a:t>一般而言，假定</a:t>
            </a:r>
            <a:r>
              <a:rPr lang="en-US" altLang="zh-CN" b="1" dirty="0"/>
              <a:t>P</a:t>
            </a:r>
            <a:r>
              <a:rPr lang="zh-CN" altLang="en-US" b="1" dirty="0"/>
              <a:t>关于的全部产生式是</a:t>
            </a:r>
            <a:endParaRPr lang="zh-CN" altLang="en-US" b="1" dirty="0"/>
          </a:p>
          <a:p>
            <a:pPr lvl="1" indent="-436245" algn="ctr" eaLnBrk="1" hangingPunct="1">
              <a:buNone/>
            </a:pPr>
            <a:r>
              <a:rPr lang="zh-CN" altLang="en-US" sz="3200" b="1" dirty="0"/>
              <a:t>	</a:t>
            </a:r>
            <a:r>
              <a:rPr lang="en-US" altLang="zh-CN" sz="3200" b="1" dirty="0"/>
              <a:t>P→</a:t>
            </a:r>
            <a:r>
              <a:rPr lang="en-US" altLang="zh-CN" sz="3200" b="1" dirty="0">
                <a:solidFill>
                  <a:srgbClr val="FF0000"/>
                </a:solidFill>
              </a:rPr>
              <a:t>P</a:t>
            </a:r>
            <a:r>
              <a:rPr lang="en-US" altLang="zh-CN" sz="3200" b="1" dirty="0">
                <a:solidFill>
                  <a:srgbClr val="FF0000"/>
                </a:solidFill>
                <a:sym typeface="Symbol" panose="05050102010706020507" pitchFamily="18" charset="2"/>
              </a:rPr>
              <a:t></a:t>
            </a:r>
            <a:r>
              <a:rPr lang="en-US" altLang="zh-CN" sz="3200" b="1" baseline="-25000" dirty="0">
                <a:solidFill>
                  <a:srgbClr val="FF0000"/>
                </a:solidFill>
              </a:rPr>
              <a:t>1 </a:t>
            </a:r>
            <a:r>
              <a:rPr lang="en-US" altLang="zh-CN" sz="3200" b="1" dirty="0">
                <a:solidFill>
                  <a:srgbClr val="FF0000"/>
                </a:solidFill>
              </a:rPr>
              <a:t>| P</a:t>
            </a:r>
            <a:r>
              <a:rPr lang="en-US" altLang="zh-CN" sz="3200" b="1" dirty="0">
                <a:solidFill>
                  <a:srgbClr val="FF0000"/>
                </a:solidFill>
                <a:sym typeface="Symbol" panose="05050102010706020507" pitchFamily="18" charset="2"/>
              </a:rPr>
              <a:t></a:t>
            </a:r>
            <a:r>
              <a:rPr lang="en-US" altLang="zh-CN" sz="3200" b="1" baseline="-25000" dirty="0">
                <a:solidFill>
                  <a:srgbClr val="FF0000"/>
                </a:solidFill>
              </a:rPr>
              <a:t>2 </a:t>
            </a:r>
            <a:r>
              <a:rPr lang="en-US" altLang="zh-CN" sz="3200" b="1" dirty="0">
                <a:solidFill>
                  <a:srgbClr val="FF0000"/>
                </a:solidFill>
              </a:rPr>
              <a:t>| … | P</a:t>
            </a:r>
            <a:r>
              <a:rPr lang="en-US" altLang="zh-CN" sz="3200" b="1" dirty="0">
                <a:solidFill>
                  <a:srgbClr val="FF0000"/>
                </a:solidFill>
                <a:sym typeface="Symbol" panose="05050102010706020507" pitchFamily="18" charset="2"/>
              </a:rPr>
              <a:t></a:t>
            </a:r>
            <a:r>
              <a:rPr lang="en-US" altLang="zh-CN" sz="3200" b="1" baseline="-25000" dirty="0">
                <a:solidFill>
                  <a:srgbClr val="FF0000"/>
                </a:solidFill>
              </a:rPr>
              <a:t>m</a:t>
            </a:r>
            <a:r>
              <a:rPr lang="en-US" altLang="zh-CN" sz="3200" b="1" baseline="-25000" dirty="0"/>
              <a:t> </a:t>
            </a:r>
            <a:r>
              <a:rPr lang="en-US" altLang="zh-CN" sz="3200" b="1" dirty="0"/>
              <a:t>| </a:t>
            </a:r>
            <a:r>
              <a:rPr lang="en-US" altLang="zh-CN" sz="3200" b="1" dirty="0">
                <a:solidFill>
                  <a:srgbClr val="3366CC"/>
                </a:solidFill>
                <a:sym typeface="Symbol" panose="05050102010706020507" pitchFamily="18" charset="2"/>
              </a:rPr>
              <a:t></a:t>
            </a:r>
            <a:r>
              <a:rPr lang="en-US" altLang="zh-CN" sz="3200" b="1" baseline="-25000" dirty="0">
                <a:solidFill>
                  <a:srgbClr val="3366CC"/>
                </a:solidFill>
              </a:rPr>
              <a:t>1 </a:t>
            </a:r>
            <a:r>
              <a:rPr lang="en-US" altLang="zh-CN" sz="3200" b="1" dirty="0">
                <a:solidFill>
                  <a:srgbClr val="3366CC"/>
                </a:solidFill>
              </a:rPr>
              <a:t>| </a:t>
            </a:r>
            <a:r>
              <a:rPr lang="en-US" altLang="zh-CN" sz="3200" b="1" dirty="0">
                <a:solidFill>
                  <a:srgbClr val="3366CC"/>
                </a:solidFill>
                <a:sym typeface="Symbol" panose="05050102010706020507" pitchFamily="18" charset="2"/>
              </a:rPr>
              <a:t></a:t>
            </a:r>
            <a:r>
              <a:rPr lang="en-US" altLang="zh-CN" sz="3200" b="1" baseline="-25000" dirty="0">
                <a:solidFill>
                  <a:srgbClr val="3366CC"/>
                </a:solidFill>
              </a:rPr>
              <a:t>2</a:t>
            </a:r>
            <a:r>
              <a:rPr lang="en-US" altLang="zh-CN" sz="3200" b="1" dirty="0">
                <a:solidFill>
                  <a:srgbClr val="3366CC"/>
                </a:solidFill>
              </a:rPr>
              <a:t>|…|</a:t>
            </a:r>
            <a:r>
              <a:rPr lang="en-US" altLang="zh-CN" sz="3200" b="1" dirty="0">
                <a:solidFill>
                  <a:srgbClr val="3366CC"/>
                </a:solidFill>
                <a:sym typeface="Symbol" panose="05050102010706020507" pitchFamily="18" charset="2"/>
              </a:rPr>
              <a:t></a:t>
            </a:r>
            <a:r>
              <a:rPr lang="en-US" altLang="zh-CN" sz="3200" b="1" baseline="-25000" dirty="0">
                <a:solidFill>
                  <a:srgbClr val="3366CC"/>
                </a:solidFill>
              </a:rPr>
              <a:t>n</a:t>
            </a:r>
            <a:endParaRPr lang="en-US" altLang="zh-CN" sz="3200" b="1" dirty="0">
              <a:solidFill>
                <a:srgbClr val="3366CC"/>
              </a:solidFill>
            </a:endParaRPr>
          </a:p>
          <a:p>
            <a:pPr eaLnBrk="1" hangingPunct="1">
              <a:buNone/>
            </a:pPr>
            <a:r>
              <a:rPr lang="zh-CN" altLang="en-US" b="1" dirty="0"/>
              <a:t>其中，每个</a:t>
            </a:r>
            <a:r>
              <a:rPr lang="zh-CN" altLang="en-US" b="1" dirty="0">
                <a:sym typeface="Symbol" panose="05050102010706020507" pitchFamily="18" charset="2"/>
              </a:rPr>
              <a:t></a:t>
            </a:r>
            <a:r>
              <a:rPr lang="zh-CN" altLang="en-US" b="1" dirty="0"/>
              <a:t>都不等于</a:t>
            </a:r>
            <a:r>
              <a:rPr lang="zh-CN" altLang="en-US" b="1" dirty="0">
                <a:sym typeface="Symbol" panose="05050102010706020507" pitchFamily="18" charset="2"/>
              </a:rPr>
              <a:t></a:t>
            </a:r>
            <a:r>
              <a:rPr lang="zh-CN" altLang="en-US" b="1" dirty="0"/>
              <a:t>，每个</a:t>
            </a:r>
            <a:r>
              <a:rPr lang="zh-CN" altLang="en-US" b="1" dirty="0">
                <a:sym typeface="Symbol" panose="05050102010706020507" pitchFamily="18" charset="2"/>
              </a:rPr>
              <a:t></a:t>
            </a:r>
            <a:r>
              <a:rPr lang="zh-CN" altLang="en-US" b="1" dirty="0"/>
              <a:t>都不以</a:t>
            </a:r>
            <a:r>
              <a:rPr lang="en-US" altLang="zh-CN" b="1" dirty="0"/>
              <a:t>P</a:t>
            </a:r>
            <a:r>
              <a:rPr lang="zh-CN" altLang="en-US" b="1" dirty="0"/>
              <a:t>开头</a:t>
            </a:r>
            <a:endParaRPr lang="zh-CN" altLang="en-US" b="1" dirty="0"/>
          </a:p>
          <a:p>
            <a:pPr eaLnBrk="1" hangingPunct="1">
              <a:spcBef>
                <a:spcPct val="50000"/>
              </a:spcBef>
              <a:buNone/>
            </a:pPr>
            <a:r>
              <a:rPr lang="zh-CN" altLang="en-US" b="1" dirty="0"/>
              <a:t>   那么，消除</a:t>
            </a:r>
            <a:r>
              <a:rPr lang="en-US" altLang="zh-CN" b="1" dirty="0"/>
              <a:t>P</a:t>
            </a:r>
            <a:r>
              <a:rPr lang="zh-CN" altLang="en-US" b="1" dirty="0"/>
              <a:t>的直接左递归性就是把这些规则改写成： </a:t>
            </a:r>
            <a:endParaRPr lang="zh-CN" altLang="en-US" b="1" dirty="0"/>
          </a:p>
          <a:p>
            <a:pPr algn="ctr" eaLnBrk="1" hangingPunct="1">
              <a:buNone/>
            </a:pPr>
            <a:r>
              <a:rPr lang="zh-CN" altLang="en-US" b="1" dirty="0"/>
              <a:t>  		</a:t>
            </a:r>
            <a:r>
              <a:rPr lang="en-US" altLang="zh-CN" b="1" dirty="0"/>
              <a:t>P→</a:t>
            </a:r>
            <a:r>
              <a:rPr lang="en-US" altLang="zh-CN" b="1" dirty="0">
                <a:sym typeface="Symbol" panose="05050102010706020507" pitchFamily="18" charset="2"/>
              </a:rPr>
              <a:t></a:t>
            </a:r>
            <a:r>
              <a:rPr lang="en-US" altLang="zh-CN" b="1" baseline="-25000" dirty="0"/>
              <a:t>1</a:t>
            </a:r>
            <a:r>
              <a:rPr lang="en-US" altLang="zh-CN" b="1" dirty="0"/>
              <a:t>P</a:t>
            </a:r>
            <a:r>
              <a:rPr lang="en-US" altLang="zh-CN" b="1" dirty="0">
                <a:sym typeface="Symbol" panose="05050102010706020507" pitchFamily="18" charset="2"/>
              </a:rPr>
              <a:t></a:t>
            </a:r>
            <a:r>
              <a:rPr lang="en-US" altLang="zh-CN" b="1" dirty="0"/>
              <a:t> | </a:t>
            </a:r>
            <a:r>
              <a:rPr lang="en-US" altLang="zh-CN" b="1" dirty="0">
                <a:sym typeface="Symbol" panose="05050102010706020507" pitchFamily="18" charset="2"/>
              </a:rPr>
              <a:t></a:t>
            </a:r>
            <a:r>
              <a:rPr lang="en-US" altLang="zh-CN" b="1" baseline="-25000" dirty="0"/>
              <a:t>2</a:t>
            </a:r>
            <a:r>
              <a:rPr lang="en-US" altLang="zh-CN" b="1" dirty="0"/>
              <a:t>P</a:t>
            </a:r>
            <a:r>
              <a:rPr lang="en-US" altLang="zh-CN" b="1" dirty="0">
                <a:sym typeface="Symbol" panose="05050102010706020507" pitchFamily="18" charset="2"/>
              </a:rPr>
              <a:t></a:t>
            </a:r>
            <a:r>
              <a:rPr lang="en-US" altLang="zh-CN" b="1" dirty="0"/>
              <a:t> | … | </a:t>
            </a:r>
            <a:r>
              <a:rPr lang="en-US" altLang="zh-CN" b="1" dirty="0">
                <a:sym typeface="Symbol" panose="05050102010706020507" pitchFamily="18" charset="2"/>
              </a:rPr>
              <a:t></a:t>
            </a:r>
            <a:r>
              <a:rPr lang="en-US" altLang="zh-CN" b="1" baseline="-25000" dirty="0"/>
              <a:t>n</a:t>
            </a:r>
            <a:r>
              <a:rPr lang="en-US" altLang="zh-CN" b="1" dirty="0"/>
              <a:t>P</a:t>
            </a:r>
            <a:r>
              <a:rPr lang="en-US" altLang="zh-CN" b="1" dirty="0">
                <a:sym typeface="Symbol" panose="05050102010706020507" pitchFamily="18" charset="2"/>
              </a:rPr>
              <a:t></a:t>
            </a:r>
            <a:endParaRPr lang="en-US" altLang="zh-CN" b="1" dirty="0"/>
          </a:p>
          <a:p>
            <a:pPr algn="ctr" eaLnBrk="1" hangingPunct="1">
              <a:buNone/>
            </a:pPr>
            <a:r>
              <a:rPr lang="en-US" altLang="zh-CN" b="1" dirty="0"/>
              <a:t>	P</a:t>
            </a:r>
            <a:r>
              <a:rPr lang="en-US" altLang="zh-CN" b="1" dirty="0">
                <a:sym typeface="Symbol" panose="05050102010706020507" pitchFamily="18" charset="2"/>
              </a:rPr>
              <a:t></a:t>
            </a:r>
            <a:r>
              <a:rPr lang="en-US" altLang="zh-CN" b="1" dirty="0"/>
              <a:t>→</a:t>
            </a:r>
            <a:r>
              <a:rPr lang="en-US" altLang="zh-CN" b="1" dirty="0">
                <a:sym typeface="Symbol" panose="05050102010706020507" pitchFamily="18" charset="2"/>
              </a:rPr>
              <a:t></a:t>
            </a:r>
            <a:r>
              <a:rPr lang="en-US" altLang="zh-CN" b="1" baseline="-25000" dirty="0"/>
              <a:t>1</a:t>
            </a:r>
            <a:r>
              <a:rPr lang="en-US" altLang="zh-CN" b="1" dirty="0"/>
              <a:t>P</a:t>
            </a:r>
            <a:r>
              <a:rPr lang="en-US" altLang="zh-CN" b="1" dirty="0">
                <a:sym typeface="Symbol" panose="05050102010706020507" pitchFamily="18" charset="2"/>
              </a:rPr>
              <a:t></a:t>
            </a:r>
            <a:r>
              <a:rPr lang="en-US" altLang="zh-CN" b="1" dirty="0"/>
              <a:t> | </a:t>
            </a:r>
            <a:r>
              <a:rPr lang="en-US" altLang="zh-CN" b="1" dirty="0">
                <a:sym typeface="Symbol" panose="05050102010706020507" pitchFamily="18" charset="2"/>
              </a:rPr>
              <a:t></a:t>
            </a:r>
            <a:r>
              <a:rPr lang="en-US" altLang="zh-CN" b="1" baseline="-25000" dirty="0"/>
              <a:t>2</a:t>
            </a:r>
            <a:r>
              <a:rPr lang="en-US" altLang="zh-CN" b="1" dirty="0"/>
              <a:t>P</a:t>
            </a:r>
            <a:r>
              <a:rPr lang="en-US" altLang="zh-CN" b="1" dirty="0">
                <a:sym typeface="Symbol" panose="05050102010706020507" pitchFamily="18" charset="2"/>
              </a:rPr>
              <a:t></a:t>
            </a:r>
            <a:r>
              <a:rPr lang="en-US" altLang="zh-CN" b="1" dirty="0"/>
              <a:t> |… | </a:t>
            </a:r>
            <a:r>
              <a:rPr lang="en-US" altLang="zh-CN" b="1" dirty="0">
                <a:sym typeface="Symbol" panose="05050102010706020507" pitchFamily="18" charset="2"/>
              </a:rPr>
              <a:t></a:t>
            </a:r>
            <a:r>
              <a:rPr lang="en-US" altLang="zh-CN" b="1" baseline="-25000" dirty="0"/>
              <a:t>m</a:t>
            </a:r>
            <a:r>
              <a:rPr lang="en-US" altLang="zh-CN" b="1" dirty="0"/>
              <a:t>P</a:t>
            </a:r>
            <a:r>
              <a:rPr lang="en-US" altLang="zh-CN" b="1" dirty="0">
                <a:sym typeface="Symbol" panose="05050102010706020507" pitchFamily="18" charset="2"/>
              </a:rPr>
              <a:t></a:t>
            </a:r>
            <a:r>
              <a:rPr lang="en-US" altLang="zh-CN" b="1" dirty="0"/>
              <a:t> | </a:t>
            </a:r>
            <a:r>
              <a:rPr lang="en-US" altLang="zh-CN" b="1" dirty="0">
                <a:sym typeface="Symbol" panose="05050102010706020507" pitchFamily="18" charset="2"/>
              </a:rPr>
              <a:t></a:t>
            </a:r>
            <a:endParaRPr lang="en-US" altLang="zh-CN" b="1" dirty="0"/>
          </a:p>
          <a:p>
            <a:pPr eaLnBrk="1" hangingPunct="1"/>
            <a:endParaRPr lang="en-US" altLang="zh-CN" b="1" dirty="0"/>
          </a:p>
        </p:txBody>
      </p:sp>
      <p:sp>
        <p:nvSpPr>
          <p:cNvPr id="109572" name="AutoShape 4"/>
          <p:cNvSpPr/>
          <p:nvPr/>
        </p:nvSpPr>
        <p:spPr>
          <a:xfrm>
            <a:off x="323850" y="5445125"/>
            <a:ext cx="2303463" cy="1008063"/>
          </a:xfrm>
          <a:prstGeom prst="wedgeRectCallout">
            <a:avLst>
              <a:gd name="adj1" fmla="val 43593"/>
              <a:gd name="adj2" fmla="val -80236"/>
            </a:avLst>
          </a:prstGeom>
          <a:solidFill>
            <a:srgbClr val="FFFF99"/>
          </a:solidFill>
          <a:ln w="12700" cap="flat" cmpd="sng">
            <a:solidFill>
              <a:srgbClr val="FF0000"/>
            </a:solidFill>
            <a:prstDash val="solid"/>
            <a:miter/>
            <a:headEnd type="none" w="med" len="med"/>
            <a:tailEnd type="none" w="lg" len="lg"/>
          </a:ln>
        </p:spPr>
        <p:txBody>
          <a:bodyPr anchor="ctr"/>
          <a:p>
            <a:pPr algn="ctr"/>
            <a:r>
              <a:rPr lang="zh-CN" altLang="en-GB" sz="3600" u="none" dirty="0">
                <a:solidFill>
                  <a:srgbClr val="3333CC"/>
                </a:solidFill>
                <a:latin typeface="Arial" panose="020B0604020202020204" pitchFamily="34" charset="0"/>
                <a:ea typeface="华文新魏" panose="02010800040101010101" pitchFamily="2" charset="-122"/>
              </a:rPr>
              <a:t>左递归变右递归</a:t>
            </a:r>
            <a:endParaRPr lang="en-GB" altLang="zh-CN" sz="3600" u="none" dirty="0">
              <a:solidFill>
                <a:srgbClr val="3333CC"/>
              </a:solidFill>
              <a:latin typeface="Arial" panose="020B0604020202020204" pitchFamily="34" charset="0"/>
              <a:ea typeface="华文新魏" panose="02010800040101010101" pitchFamily="2"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9571">
                                            <p:txEl>
                                              <p:charRg st="0" end="18"/>
                                            </p:txEl>
                                          </p:spTgt>
                                        </p:tgtEl>
                                        <p:attrNameLst>
                                          <p:attrName>style.visibility</p:attrName>
                                        </p:attrNameLst>
                                      </p:cBhvr>
                                      <p:to>
                                        <p:strVal val="visible"/>
                                      </p:to>
                                    </p:set>
                                    <p:animEffect transition="in" filter="wipe(left)">
                                      <p:cBhvr>
                                        <p:cTn id="7" dur="500"/>
                                        <p:tgtEl>
                                          <p:spTgt spid="109571">
                                            <p:txEl>
                                              <p:charRg st="0" end="18"/>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9571">
                                            <p:txEl>
                                              <p:charRg st="18" end="56"/>
                                            </p:txEl>
                                          </p:spTgt>
                                        </p:tgtEl>
                                        <p:attrNameLst>
                                          <p:attrName>style.visibility</p:attrName>
                                        </p:attrNameLst>
                                      </p:cBhvr>
                                      <p:to>
                                        <p:strVal val="visible"/>
                                      </p:to>
                                    </p:set>
                                    <p:animEffect transition="in" filter="wipe(left)">
                                      <p:cBhvr>
                                        <p:cTn id="11" dur="500"/>
                                        <p:tgtEl>
                                          <p:spTgt spid="109571">
                                            <p:txEl>
                                              <p:charRg st="18" end="56"/>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09571">
                                            <p:txEl>
                                              <p:charRg st="56" end="78"/>
                                            </p:txEl>
                                          </p:spTgt>
                                        </p:tgtEl>
                                        <p:attrNameLst>
                                          <p:attrName>style.visibility</p:attrName>
                                        </p:attrNameLst>
                                      </p:cBhvr>
                                      <p:to>
                                        <p:strVal val="visible"/>
                                      </p:to>
                                    </p:set>
                                    <p:animEffect transition="in" filter="wipe(left)">
                                      <p:cBhvr>
                                        <p:cTn id="16" dur="500"/>
                                        <p:tgtEl>
                                          <p:spTgt spid="109571">
                                            <p:txEl>
                                              <p:charRg st="56" end="78"/>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09571">
                                            <p:txEl>
                                              <p:charRg st="78" end="107"/>
                                            </p:txEl>
                                          </p:spTgt>
                                        </p:tgtEl>
                                        <p:attrNameLst>
                                          <p:attrName>style.visibility</p:attrName>
                                        </p:attrNameLst>
                                      </p:cBhvr>
                                      <p:to>
                                        <p:strVal val="visible"/>
                                      </p:to>
                                    </p:set>
                                    <p:animEffect transition="in" filter="wipe(left)">
                                      <p:cBhvr>
                                        <p:cTn id="21" dur="500"/>
                                        <p:tgtEl>
                                          <p:spTgt spid="109571">
                                            <p:txEl>
                                              <p:charRg st="78" end="107"/>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09571">
                                            <p:txEl>
                                              <p:charRg st="107" end="136"/>
                                            </p:txEl>
                                          </p:spTgt>
                                        </p:tgtEl>
                                        <p:attrNameLst>
                                          <p:attrName>style.visibility</p:attrName>
                                        </p:attrNameLst>
                                      </p:cBhvr>
                                      <p:to>
                                        <p:strVal val="visible"/>
                                      </p:to>
                                    </p:set>
                                    <p:animEffect transition="in" filter="wipe(left)">
                                      <p:cBhvr>
                                        <p:cTn id="26" dur="500"/>
                                        <p:tgtEl>
                                          <p:spTgt spid="109571">
                                            <p:txEl>
                                              <p:charRg st="107" end="136"/>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09571">
                                            <p:txEl>
                                              <p:charRg st="136" end="166"/>
                                            </p:txEl>
                                          </p:spTgt>
                                        </p:tgtEl>
                                        <p:attrNameLst>
                                          <p:attrName>style.visibility</p:attrName>
                                        </p:attrNameLst>
                                      </p:cBhvr>
                                      <p:to>
                                        <p:strVal val="visible"/>
                                      </p:to>
                                    </p:set>
                                    <p:animEffect transition="in" filter="wipe(left)">
                                      <p:cBhvr>
                                        <p:cTn id="31" dur="500"/>
                                        <p:tgtEl>
                                          <p:spTgt spid="109571">
                                            <p:txEl>
                                              <p:charRg st="136" end="16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109572"/>
                                        </p:tgtEl>
                                        <p:attrNameLst>
                                          <p:attrName>style.visibility</p:attrName>
                                        </p:attrNameLst>
                                      </p:cBhvr>
                                      <p:to>
                                        <p:strVal val="visible"/>
                                      </p:to>
                                    </p:set>
                                    <p:animEffect transition="in" filter="wipe(up)">
                                      <p:cBhvr>
                                        <p:cTn id="36" dur="500"/>
                                        <p:tgtEl>
                                          <p:spTgt spid="1095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1" grpId="0" build="p"/>
      <p:bldP spid="10957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110595" name="Rectangle 3"/>
          <p:cNvSpPr>
            <a:spLocks noGrp="1"/>
          </p:cNvSpPr>
          <p:nvPr>
            <p:ph type="body"/>
          </p:nvPr>
        </p:nvSpPr>
        <p:spPr>
          <a:xfrm>
            <a:off x="685800" y="533400"/>
            <a:ext cx="5326063" cy="5715000"/>
          </a:xfrm>
          <a:ln/>
        </p:spPr>
        <p:txBody>
          <a:bodyPr vert="horz" wrap="square" lIns="91440" tIns="45720" rIns="91440" bIns="45720" anchor="t"/>
          <a:p>
            <a:pPr eaLnBrk="1" hangingPunct="1"/>
            <a:r>
              <a:rPr lang="zh-CN" altLang="en-US" b="1" dirty="0"/>
              <a:t>例  文法</a:t>
            </a:r>
            <a:r>
              <a:rPr lang="en-US" altLang="zh-CN" b="1" dirty="0"/>
              <a:t>G(E):</a:t>
            </a:r>
            <a:endParaRPr lang="en-US" altLang="zh-CN" b="1" dirty="0"/>
          </a:p>
          <a:p>
            <a:pPr lvl="1" indent="-436245" eaLnBrk="1" hangingPunct="1">
              <a:spcBef>
                <a:spcPct val="0"/>
              </a:spcBef>
              <a:buNone/>
            </a:pPr>
            <a:r>
              <a:rPr lang="en-US" altLang="zh-CN" sz="3200" b="1" dirty="0"/>
              <a:t>E→E</a:t>
            </a:r>
            <a:r>
              <a:rPr lang="zh-CN" altLang="en-US" sz="3200" b="1" dirty="0"/>
              <a:t>＋</a:t>
            </a:r>
            <a:r>
              <a:rPr lang="en-US" altLang="zh-CN" sz="3200" b="1" dirty="0"/>
              <a:t>T | T</a:t>
            </a:r>
            <a:endParaRPr lang="en-US" altLang="zh-CN" sz="3200" b="1" dirty="0"/>
          </a:p>
          <a:p>
            <a:pPr lvl="1" indent="-436245" eaLnBrk="1" hangingPunct="1">
              <a:spcBef>
                <a:spcPct val="0"/>
              </a:spcBef>
              <a:buNone/>
            </a:pPr>
            <a:r>
              <a:rPr lang="en-US" altLang="zh-CN" sz="3200" b="1" dirty="0"/>
              <a:t>T→T*F | F</a:t>
            </a:r>
            <a:endParaRPr lang="en-US" altLang="zh-CN" sz="3200" b="1" dirty="0"/>
          </a:p>
          <a:p>
            <a:pPr lvl="1" indent="-436245" eaLnBrk="1" hangingPunct="1">
              <a:spcBef>
                <a:spcPct val="0"/>
              </a:spcBef>
              <a:buNone/>
            </a:pPr>
            <a:r>
              <a:rPr lang="en-US" altLang="zh-CN" sz="3200" b="1" dirty="0"/>
              <a:t>F→(E) | i</a:t>
            </a:r>
            <a:endParaRPr lang="en-US" altLang="zh-CN" sz="3200" b="1" dirty="0"/>
          </a:p>
          <a:p>
            <a:pPr eaLnBrk="1" hangingPunct="1">
              <a:spcBef>
                <a:spcPct val="30000"/>
              </a:spcBef>
              <a:buNone/>
            </a:pPr>
            <a:r>
              <a:rPr lang="zh-CN" altLang="en-US" b="1" dirty="0"/>
              <a:t>经消去直接左递归后变成：</a:t>
            </a:r>
            <a:endParaRPr lang="zh-CN" altLang="en-US" b="1" dirty="0"/>
          </a:p>
          <a:p>
            <a:pPr eaLnBrk="1" hangingPunct="1">
              <a:spcBef>
                <a:spcPct val="0"/>
              </a:spcBef>
              <a:buNone/>
            </a:pPr>
            <a:r>
              <a:rPr lang="zh-CN" altLang="en-US" b="1" dirty="0">
                <a:solidFill>
                  <a:schemeClr val="hlink"/>
                </a:solidFill>
              </a:rPr>
              <a:t>    </a:t>
            </a:r>
            <a:r>
              <a:rPr lang="en-US" altLang="zh-CN" b="1" dirty="0">
                <a:solidFill>
                  <a:schemeClr val="hlink"/>
                </a:solidFill>
              </a:rPr>
              <a:t>E→TE</a:t>
            </a:r>
            <a:r>
              <a:rPr lang="en-US" altLang="zh-CN" b="1" dirty="0">
                <a:solidFill>
                  <a:schemeClr val="hlink"/>
                </a:solidFill>
                <a:sym typeface="Symbol" panose="05050102010706020507" pitchFamily="18" charset="2"/>
              </a:rPr>
              <a:t></a:t>
            </a:r>
            <a:endParaRPr lang="en-US" altLang="zh-CN" b="1" dirty="0">
              <a:solidFill>
                <a:schemeClr val="hlink"/>
              </a:solidFill>
            </a:endParaRPr>
          </a:p>
          <a:p>
            <a:pPr eaLnBrk="1" hangingPunct="1">
              <a:spcBef>
                <a:spcPct val="0"/>
              </a:spcBef>
              <a:buNone/>
            </a:pPr>
            <a:r>
              <a:rPr lang="en-US" altLang="zh-CN" b="1" dirty="0">
                <a:solidFill>
                  <a:schemeClr val="hlink"/>
                </a:solidFill>
              </a:rPr>
              <a:t>    E</a:t>
            </a:r>
            <a:r>
              <a:rPr lang="en-US" altLang="zh-CN" b="1" dirty="0">
                <a:solidFill>
                  <a:schemeClr val="hlink"/>
                </a:solidFill>
                <a:sym typeface="Symbol" panose="05050102010706020507" pitchFamily="18" charset="2"/>
              </a:rPr>
              <a:t></a:t>
            </a:r>
            <a:r>
              <a:rPr lang="en-US" altLang="zh-CN" b="1" dirty="0">
                <a:solidFill>
                  <a:schemeClr val="hlink"/>
                </a:solidFill>
              </a:rPr>
              <a:t>→+TE</a:t>
            </a:r>
            <a:r>
              <a:rPr lang="en-US" altLang="zh-CN" b="1" dirty="0">
                <a:solidFill>
                  <a:schemeClr val="hlink"/>
                </a:solidFill>
                <a:sym typeface="Symbol" panose="05050102010706020507" pitchFamily="18" charset="2"/>
              </a:rPr>
              <a:t></a:t>
            </a:r>
            <a:r>
              <a:rPr lang="en-US" altLang="zh-CN" b="1" dirty="0">
                <a:solidFill>
                  <a:schemeClr val="hlink"/>
                </a:solidFill>
              </a:rPr>
              <a:t> | </a:t>
            </a:r>
            <a:r>
              <a:rPr lang="en-US" altLang="zh-CN" b="1" dirty="0">
                <a:solidFill>
                  <a:schemeClr val="hlink"/>
                </a:solidFill>
                <a:sym typeface="Symbol" panose="05050102010706020507" pitchFamily="18" charset="2"/>
              </a:rPr>
              <a:t></a:t>
            </a:r>
            <a:endParaRPr lang="en-US" altLang="zh-CN" b="1" dirty="0">
              <a:solidFill>
                <a:schemeClr val="hlink"/>
              </a:solidFill>
            </a:endParaRPr>
          </a:p>
          <a:p>
            <a:pPr eaLnBrk="1" hangingPunct="1">
              <a:spcBef>
                <a:spcPct val="0"/>
              </a:spcBef>
              <a:buNone/>
            </a:pPr>
            <a:r>
              <a:rPr lang="en-US" altLang="zh-CN" b="1" dirty="0"/>
              <a:t>    </a:t>
            </a:r>
            <a:r>
              <a:rPr lang="en-US" altLang="zh-CN" b="1" dirty="0">
                <a:solidFill>
                  <a:srgbClr val="3333CC"/>
                </a:solidFill>
              </a:rPr>
              <a:t>T→FT</a:t>
            </a:r>
            <a:r>
              <a:rPr lang="en-US" altLang="zh-CN" b="1" dirty="0">
                <a:solidFill>
                  <a:srgbClr val="3333CC"/>
                </a:solidFill>
                <a:sym typeface="Symbol" panose="05050102010706020507" pitchFamily="18" charset="2"/>
              </a:rPr>
              <a:t></a:t>
            </a:r>
            <a:endParaRPr lang="en-US" altLang="zh-CN" b="1" dirty="0">
              <a:solidFill>
                <a:srgbClr val="3333CC"/>
              </a:solidFill>
            </a:endParaRPr>
          </a:p>
          <a:p>
            <a:pPr eaLnBrk="1" hangingPunct="1">
              <a:spcBef>
                <a:spcPct val="0"/>
              </a:spcBef>
              <a:buNone/>
            </a:pPr>
            <a:r>
              <a:rPr lang="en-US" altLang="zh-CN" b="1" dirty="0">
                <a:solidFill>
                  <a:srgbClr val="3333CC"/>
                </a:solidFill>
              </a:rPr>
              <a:t>    T</a:t>
            </a:r>
            <a:r>
              <a:rPr lang="en-US" altLang="zh-CN" b="1" dirty="0">
                <a:solidFill>
                  <a:srgbClr val="3333CC"/>
                </a:solidFill>
                <a:sym typeface="Symbol" panose="05050102010706020507" pitchFamily="18" charset="2"/>
              </a:rPr>
              <a:t></a:t>
            </a:r>
            <a:r>
              <a:rPr lang="en-US" altLang="zh-CN" b="1" dirty="0">
                <a:solidFill>
                  <a:srgbClr val="3333CC"/>
                </a:solidFill>
              </a:rPr>
              <a:t>→*FT</a:t>
            </a:r>
            <a:r>
              <a:rPr lang="en-US" altLang="zh-CN" b="1" dirty="0">
                <a:solidFill>
                  <a:srgbClr val="3333CC"/>
                </a:solidFill>
                <a:sym typeface="Symbol" panose="05050102010706020507" pitchFamily="18" charset="2"/>
              </a:rPr>
              <a:t></a:t>
            </a:r>
            <a:r>
              <a:rPr lang="en-US" altLang="zh-CN" b="1" dirty="0">
                <a:solidFill>
                  <a:srgbClr val="3333CC"/>
                </a:solidFill>
              </a:rPr>
              <a:t> | </a:t>
            </a:r>
            <a:r>
              <a:rPr lang="en-US" altLang="zh-CN" b="1" dirty="0">
                <a:solidFill>
                  <a:srgbClr val="3333CC"/>
                </a:solidFill>
                <a:sym typeface="Symbol" panose="05050102010706020507" pitchFamily="18" charset="2"/>
              </a:rPr>
              <a:t></a:t>
            </a:r>
            <a:endParaRPr lang="en-US" altLang="zh-CN" b="1" dirty="0">
              <a:solidFill>
                <a:srgbClr val="3333CC"/>
              </a:solidFill>
            </a:endParaRPr>
          </a:p>
          <a:p>
            <a:pPr eaLnBrk="1" hangingPunct="1">
              <a:spcBef>
                <a:spcPct val="0"/>
              </a:spcBef>
              <a:buNone/>
            </a:pPr>
            <a:r>
              <a:rPr lang="en-US" altLang="zh-CN" b="1" dirty="0"/>
              <a:t>    F→(E) | i		</a:t>
            </a:r>
            <a:endParaRPr lang="en-US" altLang="zh-CN" b="1" dirty="0"/>
          </a:p>
        </p:txBody>
      </p:sp>
      <p:sp>
        <p:nvSpPr>
          <p:cNvPr id="110596" name="Text Box 4"/>
          <p:cNvSpPr txBox="1"/>
          <p:nvPr/>
        </p:nvSpPr>
        <p:spPr>
          <a:xfrm>
            <a:off x="4067175" y="3500438"/>
            <a:ext cx="962025" cy="579437"/>
          </a:xfrm>
          <a:prstGeom prst="rect">
            <a:avLst/>
          </a:prstGeom>
          <a:noFill/>
          <a:ln w="12700">
            <a:noFill/>
          </a:ln>
        </p:spPr>
        <p:txBody>
          <a:bodyPr wrap="none" anchor="t">
            <a:spAutoFit/>
          </a:bodyPr>
          <a:p>
            <a:r>
              <a:rPr lang="en-US" altLang="zh-CN" sz="3200" b="1" u="none" dirty="0">
                <a:solidFill>
                  <a:schemeClr val="tx1"/>
                </a:solidFill>
                <a:latin typeface="Times New Roman" panose="02020603050405020304" pitchFamily="18" charset="0"/>
              </a:rPr>
              <a:t>(4.2)</a:t>
            </a:r>
            <a:endParaRPr lang="en-US" altLang="zh-CN" sz="2400" b="1" u="none" dirty="0">
              <a:solidFill>
                <a:schemeClr val="tx1"/>
              </a:solidFill>
              <a:latin typeface="Times New Roman" panose="02020603050405020304" pitchFamily="18" charset="0"/>
            </a:endParaRPr>
          </a:p>
        </p:txBody>
      </p:sp>
      <p:sp>
        <p:nvSpPr>
          <p:cNvPr id="110597" name="Rectangle 5"/>
          <p:cNvSpPr/>
          <p:nvPr/>
        </p:nvSpPr>
        <p:spPr>
          <a:xfrm>
            <a:off x="971550" y="1052513"/>
            <a:ext cx="2736850" cy="503237"/>
          </a:xfrm>
          <a:prstGeom prst="rect">
            <a:avLst/>
          </a:prstGeom>
          <a:solidFill>
            <a:srgbClr val="CCFFCC">
              <a:alpha val="39999"/>
            </a:srgbClr>
          </a:solidFill>
          <a:ln w="25400" cap="flat" cmpd="sng">
            <a:solidFill>
              <a:srgbClr val="008000"/>
            </a:solidFill>
            <a:prstDash val="solid"/>
            <a:miter/>
            <a:headEnd type="none" w="med" len="med"/>
            <a:tailEnd type="none" w="lg" len="lg"/>
          </a:ln>
        </p:spPr>
        <p:txBody>
          <a:bodyPr wrap="none" anchor="ctr"/>
          <a:p>
            <a:endParaRPr lang="zh-CN" altLang="en-US" u="none" dirty="0">
              <a:solidFill>
                <a:schemeClr val="tx1"/>
              </a:solidFill>
              <a:latin typeface="Arial" panose="020B0604020202020204" pitchFamily="34" charset="0"/>
            </a:endParaRPr>
          </a:p>
        </p:txBody>
      </p:sp>
      <p:sp>
        <p:nvSpPr>
          <p:cNvPr id="110598" name="Rectangle 6"/>
          <p:cNvSpPr/>
          <p:nvPr/>
        </p:nvSpPr>
        <p:spPr>
          <a:xfrm>
            <a:off x="971550" y="1557338"/>
            <a:ext cx="2736850" cy="503237"/>
          </a:xfrm>
          <a:prstGeom prst="rect">
            <a:avLst/>
          </a:prstGeom>
          <a:solidFill>
            <a:srgbClr val="CC99FF">
              <a:alpha val="39999"/>
            </a:srgbClr>
          </a:solidFill>
          <a:ln w="25400" cap="flat" cmpd="sng">
            <a:solidFill>
              <a:srgbClr val="3333CC"/>
            </a:solidFill>
            <a:prstDash val="solid"/>
            <a:miter/>
            <a:headEnd type="none" w="med" len="med"/>
            <a:tailEnd type="none" w="lg" len="lg"/>
          </a:ln>
        </p:spPr>
        <p:txBody>
          <a:bodyPr wrap="none" anchor="ctr"/>
          <a:p>
            <a:endParaRPr lang="zh-CN" altLang="en-US" u="none" dirty="0">
              <a:solidFill>
                <a:schemeClr val="tx1"/>
              </a:solidFill>
              <a:latin typeface="Arial" panose="020B0604020202020204" pitchFamily="34" charset="0"/>
            </a:endParaRPr>
          </a:p>
        </p:txBody>
      </p:sp>
      <p:sp>
        <p:nvSpPr>
          <p:cNvPr id="110600" name="Rectangle 8"/>
          <p:cNvSpPr/>
          <p:nvPr/>
        </p:nvSpPr>
        <p:spPr>
          <a:xfrm>
            <a:off x="4211638" y="4076700"/>
            <a:ext cx="4932362" cy="2205038"/>
          </a:xfrm>
          <a:prstGeom prst="rect">
            <a:avLst/>
          </a:prstGeom>
          <a:solidFill>
            <a:srgbClr val="FFFF99"/>
          </a:solidFill>
          <a:ln w="9525" cap="flat" cmpd="sng">
            <a:solidFill>
              <a:srgbClr val="FF0000"/>
            </a:solidFill>
            <a:prstDash val="solid"/>
            <a:miter/>
            <a:headEnd type="none" w="med" len="med"/>
            <a:tailEnd type="none" w="med" len="med"/>
          </a:ln>
        </p:spPr>
        <p:txBody>
          <a:bodyPr anchor="t"/>
          <a:p>
            <a:pPr marL="342900" indent="-342900" algn="ctr">
              <a:spcBef>
                <a:spcPct val="20000"/>
              </a:spcBef>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P→</a:t>
            </a:r>
            <a:r>
              <a:rPr lang="en-US" altLang="zh-CN" sz="2800" b="1" u="none" dirty="0">
                <a:solidFill>
                  <a:srgbClr val="FF0000"/>
                </a:solidFill>
                <a:latin typeface="Arial" panose="020B0604020202020204" pitchFamily="34" charset="0"/>
              </a:rPr>
              <a:t>P</a:t>
            </a:r>
            <a:r>
              <a:rPr lang="en-US" altLang="zh-CN" sz="2800" b="1" u="none" dirty="0">
                <a:solidFill>
                  <a:srgbClr val="FF0000"/>
                </a:solidFill>
                <a:latin typeface="Arial" panose="020B0604020202020204" pitchFamily="34" charset="0"/>
                <a:sym typeface="Symbol" panose="05050102010706020507" pitchFamily="18" charset="2"/>
              </a:rPr>
              <a:t></a:t>
            </a:r>
            <a:r>
              <a:rPr lang="en-US" altLang="zh-CN" sz="2800" b="1" u="none" baseline="-25000" dirty="0">
                <a:solidFill>
                  <a:srgbClr val="FF0000"/>
                </a:solidFill>
                <a:latin typeface="Arial" panose="020B0604020202020204" pitchFamily="34" charset="0"/>
              </a:rPr>
              <a:t>1 </a:t>
            </a:r>
            <a:r>
              <a:rPr lang="en-US" altLang="zh-CN" sz="2800" b="1" u="none" dirty="0">
                <a:solidFill>
                  <a:srgbClr val="FF0000"/>
                </a:solidFill>
                <a:latin typeface="Arial" panose="020B0604020202020204" pitchFamily="34" charset="0"/>
              </a:rPr>
              <a:t>| P</a:t>
            </a:r>
            <a:r>
              <a:rPr lang="en-US" altLang="zh-CN" sz="2800" b="1" u="none" dirty="0">
                <a:solidFill>
                  <a:srgbClr val="FF0000"/>
                </a:solidFill>
                <a:latin typeface="Arial" panose="020B0604020202020204" pitchFamily="34" charset="0"/>
                <a:sym typeface="Symbol" panose="05050102010706020507" pitchFamily="18" charset="2"/>
              </a:rPr>
              <a:t></a:t>
            </a:r>
            <a:r>
              <a:rPr lang="en-US" altLang="zh-CN" sz="2800" b="1" u="none" baseline="-25000" dirty="0">
                <a:solidFill>
                  <a:srgbClr val="FF0000"/>
                </a:solidFill>
                <a:latin typeface="Arial" panose="020B0604020202020204" pitchFamily="34" charset="0"/>
              </a:rPr>
              <a:t>2 </a:t>
            </a:r>
            <a:r>
              <a:rPr lang="en-US" altLang="zh-CN" sz="2800" b="1" u="none" dirty="0">
                <a:solidFill>
                  <a:srgbClr val="FF0000"/>
                </a:solidFill>
                <a:latin typeface="Arial" panose="020B0604020202020204" pitchFamily="34" charset="0"/>
              </a:rPr>
              <a:t>| … | P</a:t>
            </a:r>
            <a:r>
              <a:rPr lang="en-US" altLang="zh-CN" sz="2800" b="1" u="none" dirty="0">
                <a:solidFill>
                  <a:srgbClr val="FF0000"/>
                </a:solidFill>
                <a:latin typeface="Arial" panose="020B0604020202020204" pitchFamily="34" charset="0"/>
                <a:sym typeface="Symbol" panose="05050102010706020507" pitchFamily="18" charset="2"/>
              </a:rPr>
              <a:t></a:t>
            </a:r>
            <a:r>
              <a:rPr lang="en-US" altLang="zh-CN" sz="2800" b="1" u="none" baseline="-25000" dirty="0">
                <a:solidFill>
                  <a:srgbClr val="FF0000"/>
                </a:solidFill>
                <a:latin typeface="Arial" panose="020B0604020202020204" pitchFamily="34" charset="0"/>
              </a:rPr>
              <a:t>m</a:t>
            </a:r>
            <a:r>
              <a:rPr lang="en-US" altLang="zh-CN" sz="2800" b="1" u="none" baseline="-25000" dirty="0">
                <a:solidFill>
                  <a:schemeClr val="tx1"/>
                </a:solidFill>
                <a:latin typeface="Arial" panose="020B0604020202020204" pitchFamily="34" charset="0"/>
              </a:rPr>
              <a:t> </a:t>
            </a:r>
            <a:r>
              <a:rPr lang="en-US" altLang="zh-CN" sz="2800" b="1" u="none" dirty="0">
                <a:solidFill>
                  <a:schemeClr val="tx1"/>
                </a:solidFill>
                <a:latin typeface="Arial" panose="020B0604020202020204" pitchFamily="34" charset="0"/>
              </a:rPr>
              <a:t>| </a:t>
            </a:r>
            <a:r>
              <a:rPr lang="en-US" altLang="zh-CN" sz="2800" b="1" u="none" dirty="0">
                <a:solidFill>
                  <a:srgbClr val="3366CC"/>
                </a:solidFill>
                <a:latin typeface="Arial" panose="020B0604020202020204" pitchFamily="34" charset="0"/>
                <a:sym typeface="Symbol" panose="05050102010706020507" pitchFamily="18" charset="2"/>
              </a:rPr>
              <a:t></a:t>
            </a:r>
            <a:r>
              <a:rPr lang="en-US" altLang="zh-CN" sz="2800" b="1" u="none" baseline="-25000" dirty="0">
                <a:solidFill>
                  <a:srgbClr val="3366CC"/>
                </a:solidFill>
                <a:latin typeface="Arial" panose="020B0604020202020204" pitchFamily="34" charset="0"/>
              </a:rPr>
              <a:t>1 </a:t>
            </a:r>
            <a:r>
              <a:rPr lang="en-US" altLang="zh-CN" sz="2800" b="1" u="none" dirty="0">
                <a:solidFill>
                  <a:srgbClr val="3366CC"/>
                </a:solidFill>
                <a:latin typeface="Arial" panose="020B0604020202020204" pitchFamily="34" charset="0"/>
              </a:rPr>
              <a:t>| </a:t>
            </a:r>
            <a:r>
              <a:rPr lang="en-US" altLang="zh-CN" sz="2800" b="1" u="none" dirty="0">
                <a:solidFill>
                  <a:srgbClr val="3366CC"/>
                </a:solidFill>
                <a:latin typeface="Arial" panose="020B0604020202020204" pitchFamily="34" charset="0"/>
                <a:sym typeface="Symbol" panose="05050102010706020507" pitchFamily="18" charset="2"/>
              </a:rPr>
              <a:t></a:t>
            </a:r>
            <a:r>
              <a:rPr lang="en-US" altLang="zh-CN" sz="2800" b="1" u="none" baseline="-25000" dirty="0">
                <a:solidFill>
                  <a:srgbClr val="3366CC"/>
                </a:solidFill>
                <a:latin typeface="Arial" panose="020B0604020202020204" pitchFamily="34" charset="0"/>
              </a:rPr>
              <a:t>2</a:t>
            </a:r>
            <a:r>
              <a:rPr lang="en-US" altLang="zh-CN" sz="2800" b="1" u="none" dirty="0">
                <a:solidFill>
                  <a:srgbClr val="3366CC"/>
                </a:solidFill>
                <a:latin typeface="Arial" panose="020B0604020202020204" pitchFamily="34" charset="0"/>
              </a:rPr>
              <a:t>|…|</a:t>
            </a:r>
            <a:r>
              <a:rPr lang="en-US" altLang="zh-CN" sz="2800" b="1" u="none" dirty="0">
                <a:solidFill>
                  <a:srgbClr val="3366CC"/>
                </a:solidFill>
                <a:latin typeface="Arial" panose="020B0604020202020204" pitchFamily="34" charset="0"/>
                <a:sym typeface="Symbol" panose="05050102010706020507" pitchFamily="18" charset="2"/>
              </a:rPr>
              <a:t></a:t>
            </a:r>
            <a:r>
              <a:rPr lang="en-US" altLang="zh-CN" sz="2800" b="1" u="none" baseline="-25000" dirty="0">
                <a:solidFill>
                  <a:srgbClr val="3366CC"/>
                </a:solidFill>
                <a:latin typeface="Arial" panose="020B0604020202020204" pitchFamily="34" charset="0"/>
              </a:rPr>
              <a:t>n</a:t>
            </a:r>
            <a:endParaRPr lang="en-US" altLang="zh-CN" sz="2800" b="1" u="none" dirty="0">
              <a:solidFill>
                <a:srgbClr val="3366CC"/>
              </a:solidFill>
              <a:latin typeface="Arial" panose="020B0604020202020204" pitchFamily="34" charset="0"/>
            </a:endParaRPr>
          </a:p>
          <a:p>
            <a:pPr marL="342900" indent="-342900">
              <a:spcBef>
                <a:spcPct val="20000"/>
              </a:spcBef>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P→</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baseline="-25000" dirty="0">
                <a:solidFill>
                  <a:schemeClr val="tx1"/>
                </a:solidFill>
                <a:latin typeface="Arial" panose="020B0604020202020204" pitchFamily="34" charset="0"/>
              </a:rPr>
              <a:t>1</a:t>
            </a:r>
            <a:r>
              <a:rPr lang="en-US" altLang="zh-CN" sz="2800" b="1" u="none" dirty="0">
                <a:solidFill>
                  <a:schemeClr val="tx1"/>
                </a:solidFill>
                <a:latin typeface="Arial" panose="020B0604020202020204" pitchFamily="34" charset="0"/>
              </a:rPr>
              <a:t>P</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 | </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baseline="-25000" dirty="0">
                <a:solidFill>
                  <a:schemeClr val="tx1"/>
                </a:solidFill>
                <a:latin typeface="Arial" panose="020B0604020202020204" pitchFamily="34" charset="0"/>
              </a:rPr>
              <a:t>2</a:t>
            </a:r>
            <a:r>
              <a:rPr lang="en-US" altLang="zh-CN" sz="2800" b="1" u="none" dirty="0">
                <a:solidFill>
                  <a:schemeClr val="tx1"/>
                </a:solidFill>
                <a:latin typeface="Arial" panose="020B0604020202020204" pitchFamily="34" charset="0"/>
              </a:rPr>
              <a:t>P</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 | … | </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baseline="-25000" dirty="0">
                <a:solidFill>
                  <a:schemeClr val="tx1"/>
                </a:solidFill>
                <a:latin typeface="Arial" panose="020B0604020202020204" pitchFamily="34" charset="0"/>
              </a:rPr>
              <a:t>n</a:t>
            </a:r>
            <a:r>
              <a:rPr lang="en-US" altLang="zh-CN" sz="2800" b="1" u="none" dirty="0">
                <a:solidFill>
                  <a:schemeClr val="tx1"/>
                </a:solidFill>
                <a:latin typeface="Arial" panose="020B0604020202020204" pitchFamily="34" charset="0"/>
              </a:rPr>
              <a:t>P</a:t>
            </a:r>
            <a:r>
              <a:rPr lang="en-US" altLang="zh-CN" sz="2800" b="1" u="none" dirty="0">
                <a:solidFill>
                  <a:schemeClr val="tx1"/>
                </a:solidFill>
                <a:latin typeface="Arial" panose="020B0604020202020204" pitchFamily="34" charset="0"/>
                <a:sym typeface="Symbol" panose="05050102010706020507" pitchFamily="18" charset="2"/>
              </a:rPr>
              <a:t></a:t>
            </a:r>
            <a:endParaRPr lang="en-US" altLang="zh-CN" sz="2800" b="1" u="none" dirty="0">
              <a:solidFill>
                <a:schemeClr val="tx1"/>
              </a:solidFill>
              <a:latin typeface="Arial" panose="020B0604020202020204" pitchFamily="34" charset="0"/>
            </a:endParaRPr>
          </a:p>
          <a:p>
            <a:pPr marL="342900" indent="-342900">
              <a:spcBef>
                <a:spcPct val="20000"/>
              </a:spcBef>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P</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baseline="-25000" dirty="0">
                <a:solidFill>
                  <a:schemeClr val="tx1"/>
                </a:solidFill>
                <a:latin typeface="Arial" panose="020B0604020202020204" pitchFamily="34" charset="0"/>
              </a:rPr>
              <a:t>1</a:t>
            </a:r>
            <a:r>
              <a:rPr lang="en-US" altLang="zh-CN" sz="2800" b="1" u="none" dirty="0">
                <a:solidFill>
                  <a:schemeClr val="tx1"/>
                </a:solidFill>
                <a:latin typeface="Arial" panose="020B0604020202020204" pitchFamily="34" charset="0"/>
              </a:rPr>
              <a:t>P</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 | </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baseline="-25000" dirty="0">
                <a:solidFill>
                  <a:schemeClr val="tx1"/>
                </a:solidFill>
                <a:latin typeface="Arial" panose="020B0604020202020204" pitchFamily="34" charset="0"/>
              </a:rPr>
              <a:t>2</a:t>
            </a:r>
            <a:r>
              <a:rPr lang="en-US" altLang="zh-CN" sz="2800" b="1" u="none" dirty="0">
                <a:solidFill>
                  <a:schemeClr val="tx1"/>
                </a:solidFill>
                <a:latin typeface="Arial" panose="020B0604020202020204" pitchFamily="34" charset="0"/>
              </a:rPr>
              <a:t>P</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 |… | </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baseline="-25000" dirty="0">
                <a:solidFill>
                  <a:schemeClr val="tx1"/>
                </a:solidFill>
                <a:latin typeface="Arial" panose="020B0604020202020204" pitchFamily="34" charset="0"/>
              </a:rPr>
              <a:t>m</a:t>
            </a:r>
            <a:r>
              <a:rPr lang="en-US" altLang="zh-CN" sz="2800" b="1" u="none" dirty="0">
                <a:solidFill>
                  <a:schemeClr val="tx1"/>
                </a:solidFill>
                <a:latin typeface="Arial" panose="020B0604020202020204" pitchFamily="34" charset="0"/>
              </a:rPr>
              <a:t>P</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 | </a:t>
            </a:r>
            <a:r>
              <a:rPr lang="en-US" altLang="zh-CN" sz="2800" b="1" u="none" dirty="0">
                <a:solidFill>
                  <a:schemeClr val="tx1"/>
                </a:solidFill>
                <a:latin typeface="Arial" panose="020B0604020202020204" pitchFamily="34" charset="0"/>
                <a:sym typeface="Symbol" panose="05050102010706020507" pitchFamily="18" charset="2"/>
              </a:rPr>
              <a:t></a:t>
            </a:r>
            <a:endParaRPr lang="en-US" altLang="zh-CN" sz="2800" b="1" u="none" dirty="0">
              <a:solidFill>
                <a:schemeClr val="tx1"/>
              </a:solidFill>
              <a:latin typeface="Arial" panose="020B0604020202020204" pitchFamily="34"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0595">
                                            <p:txEl>
                                              <p:charRg st="0" end="11"/>
                                            </p:txEl>
                                          </p:spTgt>
                                        </p:tgtEl>
                                        <p:attrNameLst>
                                          <p:attrName>style.visibility</p:attrName>
                                        </p:attrNameLst>
                                      </p:cBhvr>
                                      <p:to>
                                        <p:strVal val="visible"/>
                                      </p:to>
                                    </p:set>
                                    <p:animEffect transition="in" filter="wipe(left)">
                                      <p:cBhvr>
                                        <p:cTn id="7" dur="500"/>
                                        <p:tgtEl>
                                          <p:spTgt spid="110595">
                                            <p:txEl>
                                              <p:charRg st="0" end="11"/>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10595">
                                            <p:txEl>
                                              <p:charRg st="11" end="21"/>
                                            </p:txEl>
                                          </p:spTgt>
                                        </p:tgtEl>
                                        <p:attrNameLst>
                                          <p:attrName>style.visibility</p:attrName>
                                        </p:attrNameLst>
                                      </p:cBhvr>
                                      <p:to>
                                        <p:strVal val="visible"/>
                                      </p:to>
                                    </p:set>
                                    <p:animEffect transition="in" filter="wipe(left)">
                                      <p:cBhvr>
                                        <p:cTn id="11" dur="500"/>
                                        <p:tgtEl>
                                          <p:spTgt spid="110595">
                                            <p:txEl>
                                              <p:charRg st="11" end="2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10595">
                                            <p:txEl>
                                              <p:charRg st="21" end="31"/>
                                            </p:txEl>
                                          </p:spTgt>
                                        </p:tgtEl>
                                        <p:attrNameLst>
                                          <p:attrName>style.visibility</p:attrName>
                                        </p:attrNameLst>
                                      </p:cBhvr>
                                      <p:to>
                                        <p:strVal val="visible"/>
                                      </p:to>
                                    </p:set>
                                    <p:animEffect transition="in" filter="wipe(left)">
                                      <p:cBhvr>
                                        <p:cTn id="15" dur="500"/>
                                        <p:tgtEl>
                                          <p:spTgt spid="110595">
                                            <p:txEl>
                                              <p:charRg st="21" end="31"/>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10595">
                                            <p:txEl>
                                              <p:charRg st="31" end="41"/>
                                            </p:txEl>
                                          </p:spTgt>
                                        </p:tgtEl>
                                        <p:attrNameLst>
                                          <p:attrName>style.visibility</p:attrName>
                                        </p:attrNameLst>
                                      </p:cBhvr>
                                      <p:to>
                                        <p:strVal val="visible"/>
                                      </p:to>
                                    </p:set>
                                    <p:animEffect transition="in" filter="wipe(left)">
                                      <p:cBhvr>
                                        <p:cTn id="19" dur="500"/>
                                        <p:tgtEl>
                                          <p:spTgt spid="110595">
                                            <p:txEl>
                                              <p:charRg st="31" end="4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10595">
                                            <p:txEl>
                                              <p:charRg st="41" end="54"/>
                                            </p:txEl>
                                          </p:spTgt>
                                        </p:tgtEl>
                                        <p:attrNameLst>
                                          <p:attrName>style.visibility</p:attrName>
                                        </p:attrNameLst>
                                      </p:cBhvr>
                                      <p:to>
                                        <p:strVal val="visible"/>
                                      </p:to>
                                    </p:set>
                                    <p:animEffect transition="in" filter="wipe(left)">
                                      <p:cBhvr>
                                        <p:cTn id="24" dur="500"/>
                                        <p:tgtEl>
                                          <p:spTgt spid="110595">
                                            <p:txEl>
                                              <p:charRg st="41" end="5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060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0600">
                                            <p:txEl>
                                              <p:charRg st="0" end="37"/>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0600">
                                            <p:txEl>
                                              <p:charRg st="37" end="62"/>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10600">
                                            <p:txEl>
                                              <p:charRg st="62" end="9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110597"/>
                                        </p:tgtEl>
                                        <p:attrNameLst>
                                          <p:attrName>style.visibility</p:attrName>
                                        </p:attrNameLst>
                                      </p:cBhvr>
                                      <p:to>
                                        <p:strVal val="visible"/>
                                      </p:to>
                                    </p:set>
                                    <p:animEffect transition="in" filter="dissolve">
                                      <p:cBhvr>
                                        <p:cTn id="39" dur="500"/>
                                        <p:tgtEl>
                                          <p:spTgt spid="110597"/>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10595">
                                            <p:txEl>
                                              <p:charRg st="54" end="64"/>
                                            </p:txEl>
                                          </p:spTgt>
                                        </p:tgtEl>
                                        <p:attrNameLst>
                                          <p:attrName>style.visibility</p:attrName>
                                        </p:attrNameLst>
                                      </p:cBhvr>
                                      <p:to>
                                        <p:strVal val="visible"/>
                                      </p:to>
                                    </p:set>
                                    <p:animEffect transition="in" filter="wipe(left)">
                                      <p:cBhvr>
                                        <p:cTn id="44" dur="500"/>
                                        <p:tgtEl>
                                          <p:spTgt spid="110595">
                                            <p:txEl>
                                              <p:charRg st="54" end="64"/>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10595">
                                            <p:txEl>
                                              <p:charRg st="64" end="80"/>
                                            </p:txEl>
                                          </p:spTgt>
                                        </p:tgtEl>
                                        <p:attrNameLst>
                                          <p:attrName>style.visibility</p:attrName>
                                        </p:attrNameLst>
                                      </p:cBhvr>
                                      <p:to>
                                        <p:strVal val="visible"/>
                                      </p:to>
                                    </p:set>
                                    <p:animEffect transition="in" filter="wipe(left)">
                                      <p:cBhvr>
                                        <p:cTn id="49" dur="500"/>
                                        <p:tgtEl>
                                          <p:spTgt spid="110595">
                                            <p:txEl>
                                              <p:charRg st="64" end="80"/>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9" presetClass="exit" presetSubtype="0" fill="hold" grpId="1" nodeType="clickEffect">
                                  <p:stCondLst>
                                    <p:cond delay="0"/>
                                  </p:stCondLst>
                                  <p:childTnLst>
                                    <p:animEffect transition="out" filter="dissolve">
                                      <p:cBhvr>
                                        <p:cTn id="53" dur="500"/>
                                        <p:tgtEl>
                                          <p:spTgt spid="110597"/>
                                        </p:tgtEl>
                                      </p:cBhvr>
                                    </p:animEffect>
                                    <p:set>
                                      <p:cBhvr>
                                        <p:cTn id="54" dur="1" fill="hold">
                                          <p:stCondLst>
                                            <p:cond delay="499"/>
                                          </p:stCondLst>
                                        </p:cTn>
                                        <p:tgtEl>
                                          <p:spTgt spid="110597"/>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9" presetClass="entr" presetSubtype="0" fill="hold" grpId="0" nodeType="clickEffect">
                                  <p:stCondLst>
                                    <p:cond delay="0"/>
                                  </p:stCondLst>
                                  <p:childTnLst>
                                    <p:set>
                                      <p:cBhvr>
                                        <p:cTn id="58" dur="1" fill="hold">
                                          <p:stCondLst>
                                            <p:cond delay="0"/>
                                          </p:stCondLst>
                                        </p:cTn>
                                        <p:tgtEl>
                                          <p:spTgt spid="110598"/>
                                        </p:tgtEl>
                                        <p:attrNameLst>
                                          <p:attrName>style.visibility</p:attrName>
                                        </p:attrNameLst>
                                      </p:cBhvr>
                                      <p:to>
                                        <p:strVal val="visible"/>
                                      </p:to>
                                    </p:set>
                                    <p:animEffect transition="in" filter="dissolve">
                                      <p:cBhvr>
                                        <p:cTn id="59" dur="500"/>
                                        <p:tgtEl>
                                          <p:spTgt spid="110598"/>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110595">
                                            <p:txEl>
                                              <p:charRg st="80" end="90"/>
                                            </p:txEl>
                                          </p:spTgt>
                                        </p:tgtEl>
                                        <p:attrNameLst>
                                          <p:attrName>style.visibility</p:attrName>
                                        </p:attrNameLst>
                                      </p:cBhvr>
                                      <p:to>
                                        <p:strVal val="visible"/>
                                      </p:to>
                                    </p:set>
                                    <p:animEffect transition="in" filter="wipe(left)">
                                      <p:cBhvr>
                                        <p:cTn id="64" dur="500"/>
                                        <p:tgtEl>
                                          <p:spTgt spid="110595">
                                            <p:txEl>
                                              <p:charRg st="80" end="90"/>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110595">
                                            <p:txEl>
                                              <p:charRg st="90" end="106"/>
                                            </p:txEl>
                                          </p:spTgt>
                                        </p:tgtEl>
                                        <p:attrNameLst>
                                          <p:attrName>style.visibility</p:attrName>
                                        </p:attrNameLst>
                                      </p:cBhvr>
                                      <p:to>
                                        <p:strVal val="visible"/>
                                      </p:to>
                                    </p:set>
                                    <p:animEffect transition="in" filter="wipe(left)">
                                      <p:cBhvr>
                                        <p:cTn id="69" dur="500"/>
                                        <p:tgtEl>
                                          <p:spTgt spid="110595">
                                            <p:txEl>
                                              <p:charRg st="90" end="106"/>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9" presetClass="exit" presetSubtype="0" fill="hold" grpId="1" nodeType="clickEffect">
                                  <p:stCondLst>
                                    <p:cond delay="0"/>
                                  </p:stCondLst>
                                  <p:childTnLst>
                                    <p:animEffect transition="out" filter="dissolve">
                                      <p:cBhvr>
                                        <p:cTn id="73" dur="500"/>
                                        <p:tgtEl>
                                          <p:spTgt spid="110598"/>
                                        </p:tgtEl>
                                      </p:cBhvr>
                                    </p:animEffect>
                                    <p:set>
                                      <p:cBhvr>
                                        <p:cTn id="74" dur="1" fill="hold">
                                          <p:stCondLst>
                                            <p:cond delay="499"/>
                                          </p:stCondLst>
                                        </p:cTn>
                                        <p:tgtEl>
                                          <p:spTgt spid="110598"/>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110595">
                                            <p:txEl>
                                              <p:charRg st="106" end="122"/>
                                            </p:txEl>
                                          </p:spTgt>
                                        </p:tgtEl>
                                        <p:attrNameLst>
                                          <p:attrName>style.visibility</p:attrName>
                                        </p:attrNameLst>
                                      </p:cBhvr>
                                      <p:to>
                                        <p:strVal val="visible"/>
                                      </p:to>
                                    </p:set>
                                    <p:animEffect transition="in" filter="wipe(left)">
                                      <p:cBhvr>
                                        <p:cTn id="79" dur="500"/>
                                        <p:tgtEl>
                                          <p:spTgt spid="110595">
                                            <p:txEl>
                                              <p:charRg st="106" end="122"/>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110596"/>
                                        </p:tgtEl>
                                        <p:attrNameLst>
                                          <p:attrName>style.visibility</p:attrName>
                                        </p:attrNameLst>
                                      </p:cBhvr>
                                      <p:to>
                                        <p:strVal val="visible"/>
                                      </p:to>
                                    </p:set>
                                    <p:animEffect transition="in" filter="wipe(left)">
                                      <p:cBhvr>
                                        <p:cTn id="84" dur="500"/>
                                        <p:tgtEl>
                                          <p:spTgt spid="1105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5" grpId="0" build="p"/>
      <p:bldP spid="110596" grpId="0"/>
      <p:bldP spid="110597" grpId="0" animBg="1"/>
      <p:bldP spid="110597" grpId="1" animBg="1"/>
      <p:bldP spid="110598" grpId="0" animBg="1"/>
      <p:bldP spid="110598" grpId="1" animBg="1"/>
      <p:bldP spid="110600" grpId="0" animBg="1" build="allAtOnce"/>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111619" name="Rectangle 3"/>
          <p:cNvSpPr>
            <a:spLocks noGrp="1"/>
          </p:cNvSpPr>
          <p:nvPr>
            <p:ph type="body"/>
          </p:nvPr>
        </p:nvSpPr>
        <p:spPr>
          <a:xfrm>
            <a:off x="684213" y="692150"/>
            <a:ext cx="8229600" cy="3124200"/>
          </a:xfrm>
          <a:ln/>
        </p:spPr>
        <p:txBody>
          <a:bodyPr vert="horz" wrap="square" lIns="91440" tIns="45720" rIns="91440" bIns="45720" anchor="t"/>
          <a:p>
            <a:pPr eaLnBrk="1" hangingPunct="1">
              <a:lnSpc>
                <a:spcPct val="90000"/>
              </a:lnSpc>
            </a:pPr>
            <a:r>
              <a:rPr lang="zh-CN" altLang="en-US" b="1" dirty="0"/>
              <a:t>例如文法</a:t>
            </a:r>
            <a:r>
              <a:rPr lang="en-US" altLang="zh-CN" b="1" dirty="0"/>
              <a:t>G(S):</a:t>
            </a:r>
            <a:endParaRPr lang="en-US" altLang="zh-CN" b="1" dirty="0"/>
          </a:p>
          <a:p>
            <a:pPr lvl="1" indent="-436245" eaLnBrk="1" hangingPunct="1">
              <a:lnSpc>
                <a:spcPct val="90000"/>
              </a:lnSpc>
              <a:spcBef>
                <a:spcPct val="0"/>
              </a:spcBef>
              <a:buNone/>
            </a:pPr>
            <a:r>
              <a:rPr lang="en-US" altLang="zh-CN" sz="3200" b="1" dirty="0"/>
              <a:t>S→Qc|c</a:t>
            </a:r>
            <a:endParaRPr lang="en-US" altLang="zh-CN" sz="3200" b="1" dirty="0"/>
          </a:p>
          <a:p>
            <a:pPr lvl="1" indent="-436245" eaLnBrk="1" hangingPunct="1">
              <a:lnSpc>
                <a:spcPct val="90000"/>
              </a:lnSpc>
              <a:spcBef>
                <a:spcPct val="0"/>
              </a:spcBef>
              <a:buNone/>
            </a:pPr>
            <a:r>
              <a:rPr lang="en-US" altLang="zh-CN" sz="3200" b="1" dirty="0"/>
              <a:t>Q→Rb|b</a:t>
            </a:r>
            <a:endParaRPr lang="en-US" altLang="zh-CN" sz="3200" b="1" dirty="0"/>
          </a:p>
          <a:p>
            <a:pPr lvl="1" indent="-436245" eaLnBrk="1" hangingPunct="1">
              <a:lnSpc>
                <a:spcPct val="90000"/>
              </a:lnSpc>
              <a:spcBef>
                <a:spcPct val="0"/>
              </a:spcBef>
              <a:buNone/>
            </a:pPr>
            <a:r>
              <a:rPr lang="en-US" altLang="zh-CN" sz="3200" b="1" dirty="0"/>
              <a:t>R→Sa|a		                    (4.3)</a:t>
            </a:r>
            <a:endParaRPr lang="en-US" altLang="zh-CN" sz="3200" b="1" dirty="0"/>
          </a:p>
          <a:p>
            <a:pPr eaLnBrk="1" hangingPunct="1">
              <a:lnSpc>
                <a:spcPct val="90000"/>
              </a:lnSpc>
              <a:buNone/>
            </a:pPr>
            <a:r>
              <a:rPr lang="zh-CN" altLang="en-US" sz="2800" b="1" dirty="0"/>
              <a:t>虽没有直接左递归，但</a:t>
            </a:r>
            <a:r>
              <a:rPr lang="en-US" altLang="zh-CN" sz="2800" b="1" dirty="0"/>
              <a:t>S</a:t>
            </a:r>
            <a:r>
              <a:rPr lang="zh-CN" altLang="en-US" sz="2800" b="1" dirty="0"/>
              <a:t>、</a:t>
            </a:r>
            <a:r>
              <a:rPr lang="en-US" altLang="zh-CN" sz="2800" b="1" dirty="0"/>
              <a:t>Q</a:t>
            </a:r>
            <a:r>
              <a:rPr lang="zh-CN" altLang="en-US" sz="2800" b="1" dirty="0"/>
              <a:t>、</a:t>
            </a:r>
            <a:r>
              <a:rPr lang="en-US" altLang="zh-CN" sz="2800" b="1" dirty="0"/>
              <a:t>R</a:t>
            </a:r>
            <a:r>
              <a:rPr lang="zh-CN" altLang="en-US" sz="2800" b="1" dirty="0"/>
              <a:t>都是左递归的</a:t>
            </a:r>
            <a:endParaRPr lang="zh-CN" altLang="en-US" sz="2600" b="1" dirty="0"/>
          </a:p>
          <a:p>
            <a:pPr algn="ctr" eaLnBrk="1" hangingPunct="1">
              <a:lnSpc>
                <a:spcPct val="90000"/>
              </a:lnSpc>
              <a:buNone/>
            </a:pPr>
            <a:r>
              <a:rPr lang="en-US" altLang="zh-CN" b="1" dirty="0"/>
              <a:t>S</a:t>
            </a:r>
            <a:r>
              <a:rPr lang="en-US" altLang="zh-CN" b="1" dirty="0">
                <a:sym typeface="Symbol" panose="05050102010706020507" pitchFamily="18" charset="2"/>
              </a:rPr>
              <a:t></a:t>
            </a:r>
            <a:r>
              <a:rPr lang="en-US" altLang="zh-CN" b="1" dirty="0"/>
              <a:t>Qc</a:t>
            </a:r>
            <a:r>
              <a:rPr lang="en-US" altLang="zh-CN" b="1" dirty="0">
                <a:sym typeface="Symbol" panose="05050102010706020507" pitchFamily="18" charset="2"/>
              </a:rPr>
              <a:t></a:t>
            </a:r>
            <a:r>
              <a:rPr lang="en-US" altLang="zh-CN" b="1" dirty="0"/>
              <a:t>Rbc</a:t>
            </a:r>
            <a:r>
              <a:rPr lang="en-US" altLang="zh-CN" b="1" dirty="0">
                <a:sym typeface="Symbol" panose="05050102010706020507" pitchFamily="18" charset="2"/>
              </a:rPr>
              <a:t></a:t>
            </a:r>
            <a:r>
              <a:rPr lang="en-US" altLang="zh-CN" b="1" dirty="0"/>
              <a:t>Sabc</a:t>
            </a:r>
            <a:endParaRPr lang="en-US" altLang="zh-CN" b="1" dirty="0"/>
          </a:p>
        </p:txBody>
      </p:sp>
      <p:sp>
        <p:nvSpPr>
          <p:cNvPr id="111620" name="Rectangle 4"/>
          <p:cNvSpPr/>
          <p:nvPr/>
        </p:nvSpPr>
        <p:spPr>
          <a:xfrm>
            <a:off x="533400" y="3962400"/>
            <a:ext cx="7620000" cy="1295400"/>
          </a:xfrm>
          <a:prstGeom prst="rect">
            <a:avLst/>
          </a:prstGeom>
          <a:noFill/>
          <a:ln w="9525">
            <a:noFill/>
          </a:ln>
        </p:spPr>
        <p:txBody>
          <a:bodyPr anchor="t"/>
          <a:p>
            <a:pPr eaLnBrk="0" hangingPunct="0"/>
            <a:r>
              <a:rPr lang="zh-CN" altLang="en-US" sz="3200" b="1" u="none" dirty="0">
                <a:solidFill>
                  <a:schemeClr val="tx1"/>
                </a:solidFill>
                <a:latin typeface="Times New Roman" panose="02020603050405020304" pitchFamily="18" charset="0"/>
              </a:rPr>
              <a:t>一个文法消除左递归的条件：</a:t>
            </a:r>
            <a:endParaRPr lang="zh-CN" altLang="en-US" sz="3200" b="1" u="none" dirty="0">
              <a:solidFill>
                <a:schemeClr val="tx1"/>
              </a:solidFill>
              <a:latin typeface="Times New Roman" panose="02020603050405020304" pitchFamily="18" charset="0"/>
            </a:endParaRPr>
          </a:p>
          <a:p>
            <a:pPr lvl="1" indent="0" algn="l" eaLnBrk="0" hangingPunct="0">
              <a:buClr>
                <a:schemeClr val="accent2"/>
              </a:buClr>
              <a:buFont typeface="Wingdings" panose="05000000000000000000" pitchFamily="2" charset="2"/>
              <a:buChar char="F"/>
            </a:pPr>
            <a:r>
              <a:rPr lang="zh-CN" altLang="en-US" sz="3200" b="1" u="none" dirty="0">
                <a:solidFill>
                  <a:schemeClr val="tx1"/>
                </a:solidFill>
                <a:latin typeface="Times New Roman" panose="02020603050405020304" pitchFamily="18" charset="0"/>
              </a:rPr>
              <a:t>不含以</a:t>
            </a:r>
            <a:r>
              <a:rPr lang="zh-CN" altLang="en-US" sz="3200" b="1" u="none" dirty="0">
                <a:solidFill>
                  <a:schemeClr val="tx1"/>
                </a:solidFill>
                <a:latin typeface="Times New Roman" panose="02020603050405020304" pitchFamily="18" charset="0"/>
                <a:sym typeface="Symbol" panose="05050102010706020507" pitchFamily="18" charset="2"/>
              </a:rPr>
              <a:t></a:t>
            </a:r>
            <a:r>
              <a:rPr lang="zh-CN" altLang="en-US" sz="3200" b="1" u="none" dirty="0">
                <a:solidFill>
                  <a:schemeClr val="tx1"/>
                </a:solidFill>
                <a:latin typeface="Times New Roman" panose="02020603050405020304" pitchFamily="18" charset="0"/>
              </a:rPr>
              <a:t>为右部的产生式</a:t>
            </a:r>
            <a:endParaRPr lang="zh-CN" altLang="en-US" sz="3200" b="1" u="none" dirty="0">
              <a:solidFill>
                <a:schemeClr val="tx1"/>
              </a:solidFill>
              <a:latin typeface="Times New Roman" panose="02020603050405020304" pitchFamily="18" charset="0"/>
            </a:endParaRPr>
          </a:p>
          <a:p>
            <a:pPr lvl="1" indent="0" algn="l" eaLnBrk="0" hangingPunct="0">
              <a:buClr>
                <a:schemeClr val="accent2"/>
              </a:buClr>
              <a:buFont typeface="Wingdings" panose="05000000000000000000" pitchFamily="2" charset="2"/>
              <a:buChar char="F"/>
            </a:pPr>
            <a:r>
              <a:rPr lang="zh-CN" altLang="en-US" sz="3200" b="1" u="none" dirty="0">
                <a:solidFill>
                  <a:schemeClr val="tx1"/>
                </a:solidFill>
                <a:latin typeface="Times New Roman" panose="02020603050405020304" pitchFamily="18" charset="0"/>
              </a:rPr>
              <a:t>不含回路。</a:t>
            </a:r>
            <a:endParaRPr lang="zh-CN" altLang="en-US" sz="3200" b="1" u="none" dirty="0">
              <a:solidFill>
                <a:schemeClr val="tx1"/>
              </a:solidFill>
              <a:latin typeface="Times New Roman" panose="02020603050405020304" pitchFamily="18" charset="0"/>
            </a:endParaRPr>
          </a:p>
        </p:txBody>
      </p:sp>
      <p:graphicFrame>
        <p:nvGraphicFramePr>
          <p:cNvPr id="111621" name="Object 5"/>
          <p:cNvGraphicFramePr>
            <a:graphicFrameLocks noChangeAspect="1"/>
          </p:cNvGraphicFramePr>
          <p:nvPr/>
        </p:nvGraphicFramePr>
        <p:xfrm>
          <a:off x="3581400" y="5257800"/>
          <a:ext cx="1371600" cy="892175"/>
        </p:xfrm>
        <a:graphic>
          <a:graphicData uri="http://schemas.openxmlformats.org/presentationml/2006/ole">
            <mc:AlternateContent xmlns:mc="http://schemas.openxmlformats.org/markup-compatibility/2006">
              <mc:Choice xmlns:v="urn:schemas-microsoft-com:vml" Requires="v">
                <p:oleObj spid="_x0000_s3077" name="" r:id="rId1" imgW="360680" imgH="232410" progId="Equation.3">
                  <p:embed/>
                </p:oleObj>
              </mc:Choice>
              <mc:Fallback>
                <p:oleObj name="" r:id="rId1" imgW="360680" imgH="232410" progId="Equation.3">
                  <p:embed/>
                  <p:pic>
                    <p:nvPicPr>
                      <p:cNvPr id="0" name="图片 3076"/>
                      <p:cNvPicPr/>
                      <p:nvPr/>
                    </p:nvPicPr>
                    <p:blipFill>
                      <a:blip r:embed="rId2">
                        <a:clrChange>
                          <a:clrFrom>
                            <a:srgbClr val="000000"/>
                          </a:clrFrom>
                          <a:clrTo>
                            <a:srgbClr val="000000"/>
                          </a:clrTo>
                        </a:clrChange>
                      </a:blip>
                      <a:stretch>
                        <a:fillRect/>
                      </a:stretch>
                    </p:blipFill>
                    <p:spPr>
                      <a:xfrm>
                        <a:off x="3581400" y="5257800"/>
                        <a:ext cx="1371600" cy="892175"/>
                      </a:xfrm>
                      <a:prstGeom prst="rect">
                        <a:avLst/>
                      </a:prstGeom>
                      <a:noFill/>
                      <a:ln w="38100">
                        <a:noFill/>
                        <a:miter/>
                      </a:ln>
                    </p:spPr>
                  </p:pic>
                </p:oleObj>
              </mc:Fallback>
            </mc:AlternateContent>
          </a:graphicData>
        </a:graphic>
      </p:graphicFrame>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1619">
                                            <p:txEl>
                                              <p:charRg st="0" end="10"/>
                                            </p:txEl>
                                          </p:spTgt>
                                        </p:tgtEl>
                                        <p:attrNameLst>
                                          <p:attrName>style.visibility</p:attrName>
                                        </p:attrNameLst>
                                      </p:cBhvr>
                                      <p:to>
                                        <p:strVal val="visible"/>
                                      </p:to>
                                    </p:set>
                                    <p:animEffect transition="in" filter="wipe(left)">
                                      <p:cBhvr>
                                        <p:cTn id="7" dur="500"/>
                                        <p:tgtEl>
                                          <p:spTgt spid="111619">
                                            <p:txEl>
                                              <p:charRg st="0" end="1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11619">
                                            <p:txEl>
                                              <p:charRg st="10" end="17"/>
                                            </p:txEl>
                                          </p:spTgt>
                                        </p:tgtEl>
                                        <p:attrNameLst>
                                          <p:attrName>style.visibility</p:attrName>
                                        </p:attrNameLst>
                                      </p:cBhvr>
                                      <p:to>
                                        <p:strVal val="visible"/>
                                      </p:to>
                                    </p:set>
                                    <p:animEffect transition="in" filter="wipe(left)">
                                      <p:cBhvr>
                                        <p:cTn id="11" dur="500"/>
                                        <p:tgtEl>
                                          <p:spTgt spid="111619">
                                            <p:txEl>
                                              <p:charRg st="10" end="17"/>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11619">
                                            <p:txEl>
                                              <p:charRg st="17" end="24"/>
                                            </p:txEl>
                                          </p:spTgt>
                                        </p:tgtEl>
                                        <p:attrNameLst>
                                          <p:attrName>style.visibility</p:attrName>
                                        </p:attrNameLst>
                                      </p:cBhvr>
                                      <p:to>
                                        <p:strVal val="visible"/>
                                      </p:to>
                                    </p:set>
                                    <p:animEffect transition="in" filter="wipe(left)">
                                      <p:cBhvr>
                                        <p:cTn id="15" dur="500"/>
                                        <p:tgtEl>
                                          <p:spTgt spid="111619">
                                            <p:txEl>
                                              <p:charRg st="17" end="24"/>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11619">
                                            <p:txEl>
                                              <p:charRg st="24" end="58"/>
                                            </p:txEl>
                                          </p:spTgt>
                                        </p:tgtEl>
                                        <p:attrNameLst>
                                          <p:attrName>style.visibility</p:attrName>
                                        </p:attrNameLst>
                                      </p:cBhvr>
                                      <p:to>
                                        <p:strVal val="visible"/>
                                      </p:to>
                                    </p:set>
                                    <p:animEffect transition="in" filter="wipe(left)">
                                      <p:cBhvr>
                                        <p:cTn id="19" dur="500"/>
                                        <p:tgtEl>
                                          <p:spTgt spid="111619">
                                            <p:txEl>
                                              <p:charRg st="24" end="58"/>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11619">
                                            <p:txEl>
                                              <p:charRg st="58" end="80"/>
                                            </p:txEl>
                                          </p:spTgt>
                                        </p:tgtEl>
                                        <p:attrNameLst>
                                          <p:attrName>style.visibility</p:attrName>
                                        </p:attrNameLst>
                                      </p:cBhvr>
                                      <p:to>
                                        <p:strVal val="visible"/>
                                      </p:to>
                                    </p:set>
                                    <p:animEffect transition="in" filter="wipe(left)">
                                      <p:cBhvr>
                                        <p:cTn id="24" dur="500"/>
                                        <p:tgtEl>
                                          <p:spTgt spid="111619">
                                            <p:txEl>
                                              <p:charRg st="58" end="8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11619">
                                            <p:txEl>
                                              <p:charRg st="80" end="94"/>
                                            </p:txEl>
                                          </p:spTgt>
                                        </p:tgtEl>
                                        <p:attrNameLst>
                                          <p:attrName>style.visibility</p:attrName>
                                        </p:attrNameLst>
                                      </p:cBhvr>
                                      <p:to>
                                        <p:strVal val="visible"/>
                                      </p:to>
                                    </p:set>
                                    <p:animEffect transition="in" filter="wipe(left)">
                                      <p:cBhvr>
                                        <p:cTn id="29" dur="500"/>
                                        <p:tgtEl>
                                          <p:spTgt spid="111619">
                                            <p:txEl>
                                              <p:charRg st="80" end="94"/>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11620">
                                            <p:txEl>
                                              <p:charRg st="0" end="14"/>
                                            </p:txEl>
                                          </p:spTgt>
                                        </p:tgtEl>
                                        <p:attrNameLst>
                                          <p:attrName>style.visibility</p:attrName>
                                        </p:attrNameLst>
                                      </p:cBhvr>
                                      <p:to>
                                        <p:strVal val="visible"/>
                                      </p:to>
                                    </p:set>
                                    <p:animEffect transition="in" filter="wipe(left)">
                                      <p:cBhvr>
                                        <p:cTn id="34" dur="500"/>
                                        <p:tgtEl>
                                          <p:spTgt spid="111620">
                                            <p:txEl>
                                              <p:charRg st="0" end="14"/>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11620">
                                            <p:txEl>
                                              <p:charRg st="14" end="26"/>
                                            </p:txEl>
                                          </p:spTgt>
                                        </p:tgtEl>
                                        <p:attrNameLst>
                                          <p:attrName>style.visibility</p:attrName>
                                        </p:attrNameLst>
                                      </p:cBhvr>
                                      <p:to>
                                        <p:strVal val="visible"/>
                                      </p:to>
                                    </p:set>
                                    <p:animEffect transition="in" filter="wipe(left)">
                                      <p:cBhvr>
                                        <p:cTn id="39" dur="500"/>
                                        <p:tgtEl>
                                          <p:spTgt spid="111620">
                                            <p:txEl>
                                              <p:charRg st="14" end="26"/>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11620">
                                            <p:txEl>
                                              <p:charRg st="26" end="32"/>
                                            </p:txEl>
                                          </p:spTgt>
                                        </p:tgtEl>
                                        <p:attrNameLst>
                                          <p:attrName>style.visibility</p:attrName>
                                        </p:attrNameLst>
                                      </p:cBhvr>
                                      <p:to>
                                        <p:strVal val="visible"/>
                                      </p:to>
                                    </p:set>
                                    <p:animEffect transition="in" filter="wipe(left)">
                                      <p:cBhvr>
                                        <p:cTn id="44" dur="500"/>
                                        <p:tgtEl>
                                          <p:spTgt spid="111620">
                                            <p:txEl>
                                              <p:charRg st="26" end="32"/>
                                            </p:txEl>
                                          </p:spTgt>
                                        </p:tgtEl>
                                      </p:cBhvr>
                                    </p:animEffect>
                                  </p:childTnLst>
                                </p:cTn>
                              </p:par>
                            </p:childTnLst>
                          </p:cTn>
                        </p:par>
                        <p:par>
                          <p:cTn id="45" fill="hold">
                            <p:stCondLst>
                              <p:cond delay="500"/>
                            </p:stCondLst>
                            <p:childTnLst>
                              <p:par>
                                <p:cTn id="46" presetID="22" presetClass="entr" presetSubtype="8" fill="hold" nodeType="afterEffect">
                                  <p:stCondLst>
                                    <p:cond delay="0"/>
                                  </p:stCondLst>
                                  <p:childTnLst>
                                    <p:set>
                                      <p:cBhvr>
                                        <p:cTn id="47" dur="1" fill="hold">
                                          <p:stCondLst>
                                            <p:cond delay="0"/>
                                          </p:stCondLst>
                                        </p:cTn>
                                        <p:tgtEl>
                                          <p:spTgt spid="111621"/>
                                        </p:tgtEl>
                                        <p:attrNameLst>
                                          <p:attrName>style.visibility</p:attrName>
                                        </p:attrNameLst>
                                      </p:cBhvr>
                                      <p:to>
                                        <p:strVal val="visible"/>
                                      </p:to>
                                    </p:set>
                                    <p:animEffect transition="in" filter="wipe(left)">
                                      <p:cBhvr>
                                        <p:cTn id="48" dur="500"/>
                                        <p:tgtEl>
                                          <p:spTgt spid="1116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19" grpId="0" build="p"/>
      <p:bldP spid="111620" grpId="0" bldLvl="2"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112643" name="Rectangle 3"/>
          <p:cNvSpPr>
            <a:spLocks noGrp="1"/>
          </p:cNvSpPr>
          <p:nvPr>
            <p:ph type="body"/>
          </p:nvPr>
        </p:nvSpPr>
        <p:spPr>
          <a:xfrm>
            <a:off x="533400" y="620713"/>
            <a:ext cx="8305800" cy="5627687"/>
          </a:xfrm>
          <a:ln/>
        </p:spPr>
        <p:txBody>
          <a:bodyPr vert="horz" wrap="square" lIns="91440" tIns="45720" rIns="91440" bIns="45720" anchor="t"/>
          <a:p>
            <a:pPr eaLnBrk="1" hangingPunct="1"/>
            <a:r>
              <a:rPr lang="zh-CN" altLang="en-US" b="1" dirty="0"/>
              <a:t>消除左递归的算法</a:t>
            </a:r>
            <a:r>
              <a:rPr lang="en-US" altLang="zh-CN" b="1" dirty="0"/>
              <a:t>:</a:t>
            </a:r>
            <a:endParaRPr lang="en-US" altLang="zh-CN" b="1" dirty="0"/>
          </a:p>
          <a:p>
            <a:pPr lvl="1" indent="-436245" eaLnBrk="1" hangingPunct="1">
              <a:buNone/>
            </a:pPr>
            <a:r>
              <a:rPr lang="en-US" altLang="zh-CN" sz="2600" b="1" dirty="0"/>
              <a:t>1. </a:t>
            </a:r>
            <a:r>
              <a:rPr lang="zh-CN" altLang="en-US" sz="2600" b="1" dirty="0"/>
              <a:t>把文法</a:t>
            </a:r>
            <a:r>
              <a:rPr lang="en-US" altLang="zh-CN" sz="2600" b="1" dirty="0"/>
              <a:t>G</a:t>
            </a:r>
            <a:r>
              <a:rPr lang="zh-CN" altLang="en-US" sz="2600" b="1" dirty="0"/>
              <a:t>的所有非终结符按任一种顺序排列成</a:t>
            </a:r>
            <a:r>
              <a:rPr lang="en-US" altLang="zh-CN" sz="2600" b="1" dirty="0"/>
              <a:t>P</a:t>
            </a:r>
            <a:r>
              <a:rPr lang="en-US" altLang="zh-CN" sz="2600" b="1" baseline="-25000" dirty="0"/>
              <a:t>1</a:t>
            </a:r>
            <a:r>
              <a:rPr lang="zh-CN" altLang="en-US" sz="2600" b="1" dirty="0"/>
              <a:t>，</a:t>
            </a:r>
            <a:r>
              <a:rPr lang="en-US" altLang="zh-CN" sz="2600" b="1" dirty="0"/>
              <a:t>P</a:t>
            </a:r>
            <a:r>
              <a:rPr lang="en-US" altLang="zh-CN" sz="2600" b="1" baseline="-25000" dirty="0"/>
              <a:t>2</a:t>
            </a:r>
            <a:r>
              <a:rPr lang="zh-CN" altLang="en-US" sz="2600" b="1" dirty="0"/>
              <a:t>，</a:t>
            </a:r>
            <a:r>
              <a:rPr lang="en-US" altLang="zh-CN" sz="2600" b="1" dirty="0"/>
              <a:t>…</a:t>
            </a:r>
            <a:r>
              <a:rPr lang="zh-CN" altLang="en-US" sz="2600" b="1" dirty="0"/>
              <a:t>，</a:t>
            </a:r>
            <a:r>
              <a:rPr lang="en-US" altLang="zh-CN" sz="2600" b="1" dirty="0"/>
              <a:t>P</a:t>
            </a:r>
            <a:r>
              <a:rPr lang="en-US" altLang="zh-CN" sz="2600" b="1" baseline="-25000" dirty="0"/>
              <a:t>n</a:t>
            </a:r>
            <a:r>
              <a:rPr lang="zh-CN" altLang="en-US" sz="2600" b="1" dirty="0"/>
              <a:t>；按此顺序执行；</a:t>
            </a:r>
            <a:endParaRPr lang="zh-CN" altLang="en-US" sz="2600" b="1" dirty="0"/>
          </a:p>
          <a:p>
            <a:pPr lvl="1" indent="-436245" eaLnBrk="1" hangingPunct="1">
              <a:buNone/>
            </a:pPr>
            <a:r>
              <a:rPr lang="en-US" altLang="zh-CN" sz="2600" b="1" dirty="0"/>
              <a:t>2. </a:t>
            </a:r>
            <a:r>
              <a:rPr lang="en-US" altLang="zh-CN" sz="2400" b="1" dirty="0"/>
              <a:t>FOR  i:=1  TO  n  DO</a:t>
            </a:r>
            <a:endParaRPr lang="en-US" altLang="zh-CN" sz="2400" b="1" dirty="0"/>
          </a:p>
          <a:p>
            <a:pPr lvl="1" indent="-436245" eaLnBrk="1" hangingPunct="1">
              <a:spcBef>
                <a:spcPct val="0"/>
              </a:spcBef>
              <a:buNone/>
            </a:pPr>
            <a:r>
              <a:rPr lang="en-US" altLang="zh-CN" sz="2400" b="1" dirty="0"/>
              <a:t>    BEGIN</a:t>
            </a:r>
            <a:endParaRPr lang="en-US" altLang="zh-CN" sz="2400" b="1" dirty="0"/>
          </a:p>
          <a:p>
            <a:pPr lvl="1" indent="-436245" eaLnBrk="1" hangingPunct="1">
              <a:spcBef>
                <a:spcPct val="0"/>
              </a:spcBef>
              <a:buNone/>
            </a:pPr>
            <a:r>
              <a:rPr lang="en-US" altLang="zh-CN" sz="2400" b="1" dirty="0">
                <a:solidFill>
                  <a:srgbClr val="3366CC"/>
                </a:solidFill>
              </a:rPr>
              <a:t>         FOR  j:=1  TO  i-1  DO</a:t>
            </a:r>
            <a:endParaRPr lang="en-US" altLang="zh-CN" sz="2600" b="1" dirty="0">
              <a:solidFill>
                <a:srgbClr val="3366CC"/>
              </a:solidFill>
            </a:endParaRPr>
          </a:p>
          <a:p>
            <a:pPr lvl="1" indent="-436245" eaLnBrk="1" hangingPunct="1">
              <a:spcBef>
                <a:spcPct val="0"/>
              </a:spcBef>
              <a:buNone/>
            </a:pPr>
            <a:r>
              <a:rPr lang="en-US" altLang="zh-CN" sz="2600" b="1" dirty="0">
                <a:solidFill>
                  <a:srgbClr val="3366CC"/>
                </a:solidFill>
              </a:rPr>
              <a:t>             </a:t>
            </a:r>
            <a:r>
              <a:rPr lang="zh-CN" altLang="en-US" sz="2600" b="1" dirty="0">
                <a:solidFill>
                  <a:srgbClr val="3366CC"/>
                </a:solidFill>
              </a:rPr>
              <a:t>把形如</a:t>
            </a:r>
            <a:r>
              <a:rPr lang="en-US" altLang="zh-CN" sz="2600" b="1" dirty="0">
                <a:solidFill>
                  <a:srgbClr val="3366CC"/>
                </a:solidFill>
              </a:rPr>
              <a:t>P</a:t>
            </a:r>
            <a:r>
              <a:rPr lang="en-US" altLang="zh-CN" sz="2600" b="1" baseline="-25000" dirty="0">
                <a:solidFill>
                  <a:srgbClr val="3366CC"/>
                </a:solidFill>
              </a:rPr>
              <a:t>i</a:t>
            </a:r>
            <a:r>
              <a:rPr lang="en-US" altLang="zh-CN" sz="2600" b="1" dirty="0">
                <a:solidFill>
                  <a:srgbClr val="3366CC"/>
                </a:solidFill>
              </a:rPr>
              <a:t>→P</a:t>
            </a:r>
            <a:r>
              <a:rPr lang="en-US" altLang="zh-CN" sz="2600" b="1" baseline="-25000" dirty="0">
                <a:solidFill>
                  <a:srgbClr val="3366CC"/>
                </a:solidFill>
              </a:rPr>
              <a:t>j</a:t>
            </a:r>
            <a:r>
              <a:rPr lang="en-US" altLang="zh-CN" sz="2600" b="1" dirty="0">
                <a:solidFill>
                  <a:srgbClr val="3366CC"/>
                </a:solidFill>
                <a:sym typeface="Symbol" panose="05050102010706020507" pitchFamily="18" charset="2"/>
              </a:rPr>
              <a:t></a:t>
            </a:r>
            <a:r>
              <a:rPr lang="zh-CN" altLang="en-US" sz="2600" b="1" dirty="0">
                <a:solidFill>
                  <a:srgbClr val="3366CC"/>
                </a:solidFill>
              </a:rPr>
              <a:t>的规则改写成</a:t>
            </a:r>
            <a:endParaRPr lang="zh-CN" altLang="en-US" sz="2600" b="1" dirty="0">
              <a:solidFill>
                <a:srgbClr val="3366CC"/>
              </a:solidFill>
            </a:endParaRPr>
          </a:p>
          <a:p>
            <a:pPr lvl="1" indent="-436245" eaLnBrk="1" hangingPunct="1">
              <a:spcBef>
                <a:spcPct val="0"/>
              </a:spcBef>
              <a:buNone/>
            </a:pPr>
            <a:r>
              <a:rPr lang="zh-CN" altLang="en-US" sz="2600" b="1" dirty="0">
                <a:solidFill>
                  <a:srgbClr val="3366CC"/>
                </a:solidFill>
              </a:rPr>
              <a:t>              </a:t>
            </a:r>
            <a:r>
              <a:rPr lang="en-US" altLang="zh-CN" sz="2600" b="1" dirty="0">
                <a:solidFill>
                  <a:srgbClr val="3366CC"/>
                </a:solidFill>
              </a:rPr>
              <a:t>P</a:t>
            </a:r>
            <a:r>
              <a:rPr lang="en-US" altLang="zh-CN" sz="2600" b="1" baseline="-25000" dirty="0">
                <a:solidFill>
                  <a:srgbClr val="3366CC"/>
                </a:solidFill>
              </a:rPr>
              <a:t>i</a:t>
            </a:r>
            <a:r>
              <a:rPr lang="en-US" altLang="zh-CN" sz="2600" b="1" dirty="0">
                <a:solidFill>
                  <a:srgbClr val="3366CC"/>
                </a:solidFill>
              </a:rPr>
              <a:t>→</a:t>
            </a:r>
            <a:r>
              <a:rPr lang="en-US" altLang="zh-CN" sz="2600" b="1" dirty="0">
                <a:solidFill>
                  <a:srgbClr val="3366CC"/>
                </a:solidFill>
                <a:sym typeface="Symbol" panose="05050102010706020507" pitchFamily="18" charset="2"/>
              </a:rPr>
              <a:t></a:t>
            </a:r>
            <a:r>
              <a:rPr lang="en-US" altLang="zh-CN" sz="2600" b="1" baseline="-25000" dirty="0">
                <a:solidFill>
                  <a:srgbClr val="3366CC"/>
                </a:solidFill>
              </a:rPr>
              <a:t>1</a:t>
            </a:r>
            <a:r>
              <a:rPr lang="en-US" altLang="zh-CN" sz="2600" b="1" dirty="0">
                <a:solidFill>
                  <a:srgbClr val="3366CC"/>
                </a:solidFill>
                <a:sym typeface="Symbol" panose="05050102010706020507" pitchFamily="18" charset="2"/>
              </a:rPr>
              <a:t></a:t>
            </a:r>
            <a:r>
              <a:rPr lang="en-US" altLang="zh-CN" sz="2600" b="1" dirty="0">
                <a:solidFill>
                  <a:srgbClr val="3366CC"/>
                </a:solidFill>
              </a:rPr>
              <a:t>|</a:t>
            </a:r>
            <a:r>
              <a:rPr lang="en-US" altLang="zh-CN" sz="2600" b="1" dirty="0">
                <a:solidFill>
                  <a:srgbClr val="3366CC"/>
                </a:solidFill>
                <a:sym typeface="Symbol" panose="05050102010706020507" pitchFamily="18" charset="2"/>
              </a:rPr>
              <a:t></a:t>
            </a:r>
            <a:r>
              <a:rPr lang="en-US" altLang="zh-CN" sz="2600" b="1" baseline="-25000" dirty="0">
                <a:solidFill>
                  <a:srgbClr val="3366CC"/>
                </a:solidFill>
              </a:rPr>
              <a:t>2</a:t>
            </a:r>
            <a:r>
              <a:rPr lang="en-US" altLang="zh-CN" sz="2600" b="1" dirty="0">
                <a:solidFill>
                  <a:srgbClr val="3366CC"/>
                </a:solidFill>
                <a:sym typeface="Symbol" panose="05050102010706020507" pitchFamily="18" charset="2"/>
              </a:rPr>
              <a:t></a:t>
            </a:r>
            <a:r>
              <a:rPr lang="en-US" altLang="zh-CN" sz="2600" b="1" dirty="0">
                <a:solidFill>
                  <a:srgbClr val="3366CC"/>
                </a:solidFill>
              </a:rPr>
              <a:t>|…|</a:t>
            </a:r>
            <a:r>
              <a:rPr lang="en-US" altLang="zh-CN" sz="2600" b="1" dirty="0">
                <a:solidFill>
                  <a:srgbClr val="3366CC"/>
                </a:solidFill>
                <a:sym typeface="Symbol" panose="05050102010706020507" pitchFamily="18" charset="2"/>
              </a:rPr>
              <a:t></a:t>
            </a:r>
            <a:r>
              <a:rPr lang="en-US" altLang="zh-CN" sz="2600" b="1" baseline="-25000" dirty="0">
                <a:solidFill>
                  <a:srgbClr val="3366CC"/>
                </a:solidFill>
              </a:rPr>
              <a:t>k</a:t>
            </a:r>
            <a:r>
              <a:rPr lang="en-US" altLang="zh-CN" sz="2600" b="1" dirty="0">
                <a:solidFill>
                  <a:srgbClr val="3366CC"/>
                </a:solidFill>
                <a:sym typeface="Symbol" panose="05050102010706020507" pitchFamily="18" charset="2"/>
              </a:rPr>
              <a:t> ; </a:t>
            </a:r>
            <a:endParaRPr lang="en-US" altLang="zh-CN" sz="2600" b="1" dirty="0">
              <a:solidFill>
                <a:srgbClr val="3366CC"/>
              </a:solidFill>
              <a:sym typeface="Symbol" panose="05050102010706020507" pitchFamily="18" charset="2"/>
            </a:endParaRPr>
          </a:p>
          <a:p>
            <a:pPr lvl="1" indent="-436245" eaLnBrk="1" hangingPunct="1">
              <a:spcBef>
                <a:spcPct val="0"/>
              </a:spcBef>
              <a:buNone/>
            </a:pPr>
            <a:r>
              <a:rPr lang="en-US" altLang="zh-CN" sz="2600" b="1" dirty="0">
                <a:solidFill>
                  <a:srgbClr val="3366CC"/>
                </a:solidFill>
                <a:sym typeface="Symbol" panose="05050102010706020507" pitchFamily="18" charset="2"/>
              </a:rPr>
              <a:t>             (</a:t>
            </a:r>
            <a:r>
              <a:rPr lang="zh-CN" altLang="en-US" sz="2600" b="1" dirty="0">
                <a:solidFill>
                  <a:srgbClr val="3366CC"/>
                </a:solidFill>
              </a:rPr>
              <a:t>其中</a:t>
            </a:r>
            <a:r>
              <a:rPr lang="en-US" altLang="zh-CN" sz="2600" b="1" dirty="0">
                <a:solidFill>
                  <a:srgbClr val="3366CC"/>
                </a:solidFill>
              </a:rPr>
              <a:t>P</a:t>
            </a:r>
            <a:r>
              <a:rPr lang="en-US" altLang="zh-CN" sz="2600" b="1" baseline="-25000" dirty="0">
                <a:solidFill>
                  <a:srgbClr val="3366CC"/>
                </a:solidFill>
              </a:rPr>
              <a:t>j</a:t>
            </a:r>
            <a:r>
              <a:rPr lang="en-US" altLang="zh-CN" sz="2600" b="1" dirty="0">
                <a:solidFill>
                  <a:srgbClr val="3366CC"/>
                </a:solidFill>
              </a:rPr>
              <a:t>→</a:t>
            </a:r>
            <a:r>
              <a:rPr lang="en-US" altLang="zh-CN" sz="2600" b="1" dirty="0">
                <a:solidFill>
                  <a:srgbClr val="3366CC"/>
                </a:solidFill>
                <a:sym typeface="Symbol" panose="05050102010706020507" pitchFamily="18" charset="2"/>
              </a:rPr>
              <a:t></a:t>
            </a:r>
            <a:r>
              <a:rPr lang="en-US" altLang="zh-CN" sz="2600" b="1" baseline="-25000" dirty="0">
                <a:solidFill>
                  <a:srgbClr val="3366CC"/>
                </a:solidFill>
              </a:rPr>
              <a:t>1</a:t>
            </a:r>
            <a:r>
              <a:rPr lang="en-US" altLang="zh-CN" sz="2600" b="1" dirty="0">
                <a:solidFill>
                  <a:srgbClr val="3366CC"/>
                </a:solidFill>
              </a:rPr>
              <a:t>|</a:t>
            </a:r>
            <a:r>
              <a:rPr lang="en-US" altLang="zh-CN" sz="2600" b="1" dirty="0">
                <a:solidFill>
                  <a:srgbClr val="3366CC"/>
                </a:solidFill>
                <a:sym typeface="Symbol" panose="05050102010706020507" pitchFamily="18" charset="2"/>
              </a:rPr>
              <a:t></a:t>
            </a:r>
            <a:r>
              <a:rPr lang="en-US" altLang="zh-CN" sz="2600" b="1" baseline="-25000" dirty="0">
                <a:solidFill>
                  <a:srgbClr val="3366CC"/>
                </a:solidFill>
              </a:rPr>
              <a:t>2</a:t>
            </a:r>
            <a:r>
              <a:rPr lang="en-US" altLang="zh-CN" sz="2600" b="1" dirty="0">
                <a:solidFill>
                  <a:srgbClr val="3366CC"/>
                </a:solidFill>
              </a:rPr>
              <a:t>|…|</a:t>
            </a:r>
            <a:r>
              <a:rPr lang="en-US" altLang="zh-CN" sz="2600" b="1" dirty="0">
                <a:solidFill>
                  <a:srgbClr val="3366CC"/>
                </a:solidFill>
                <a:sym typeface="Symbol" panose="05050102010706020507" pitchFamily="18" charset="2"/>
              </a:rPr>
              <a:t></a:t>
            </a:r>
            <a:r>
              <a:rPr lang="en-US" altLang="zh-CN" sz="2600" b="1" baseline="-25000" dirty="0">
                <a:solidFill>
                  <a:srgbClr val="3366CC"/>
                </a:solidFill>
              </a:rPr>
              <a:t>k</a:t>
            </a:r>
            <a:r>
              <a:rPr lang="zh-CN" altLang="en-US" sz="2600" b="1" dirty="0">
                <a:solidFill>
                  <a:srgbClr val="3366CC"/>
                </a:solidFill>
              </a:rPr>
              <a:t>是关于</a:t>
            </a:r>
            <a:r>
              <a:rPr lang="en-US" altLang="zh-CN" sz="2600" b="1" dirty="0">
                <a:solidFill>
                  <a:srgbClr val="3366CC"/>
                </a:solidFill>
              </a:rPr>
              <a:t>P</a:t>
            </a:r>
            <a:r>
              <a:rPr lang="en-US" altLang="zh-CN" sz="2600" b="1" baseline="-25000" dirty="0">
                <a:solidFill>
                  <a:srgbClr val="3366CC"/>
                </a:solidFill>
              </a:rPr>
              <a:t>j</a:t>
            </a:r>
            <a:r>
              <a:rPr lang="zh-CN" altLang="en-US" sz="2600" b="1" dirty="0">
                <a:solidFill>
                  <a:srgbClr val="3366CC"/>
                </a:solidFill>
              </a:rPr>
              <a:t>的所有规则</a:t>
            </a:r>
            <a:r>
              <a:rPr lang="en-US" altLang="zh-CN" sz="2600" b="1" dirty="0">
                <a:solidFill>
                  <a:srgbClr val="3366CC"/>
                </a:solidFill>
              </a:rPr>
              <a:t>)</a:t>
            </a:r>
            <a:endParaRPr lang="en-US" altLang="zh-CN" sz="2600" b="1" dirty="0">
              <a:solidFill>
                <a:srgbClr val="3366CC"/>
              </a:solidFill>
            </a:endParaRPr>
          </a:p>
          <a:p>
            <a:pPr lvl="1" indent="-436245" eaLnBrk="1" hangingPunct="1">
              <a:spcBef>
                <a:spcPct val="0"/>
              </a:spcBef>
              <a:buNone/>
            </a:pPr>
            <a:r>
              <a:rPr lang="en-US" altLang="zh-CN" sz="2600" b="1" dirty="0"/>
              <a:t>       </a:t>
            </a:r>
            <a:r>
              <a:rPr lang="zh-CN" altLang="en-US" sz="2600" b="1" dirty="0"/>
              <a:t>消除关于</a:t>
            </a:r>
            <a:r>
              <a:rPr lang="en-US" altLang="zh-CN" sz="2600" b="1" dirty="0"/>
              <a:t>P</a:t>
            </a:r>
            <a:r>
              <a:rPr lang="en-US" altLang="zh-CN" sz="2600" b="1" baseline="-25000" dirty="0"/>
              <a:t>i</a:t>
            </a:r>
            <a:r>
              <a:rPr lang="zh-CN" altLang="en-US" sz="2600" b="1" dirty="0"/>
              <a:t>规则的直接左递归性</a:t>
            </a:r>
            <a:endParaRPr lang="zh-CN" altLang="en-US" sz="2600" b="1" dirty="0"/>
          </a:p>
          <a:p>
            <a:pPr lvl="1" indent="-436245" eaLnBrk="1" hangingPunct="1">
              <a:spcBef>
                <a:spcPct val="0"/>
              </a:spcBef>
              <a:buNone/>
            </a:pPr>
            <a:r>
              <a:rPr lang="zh-CN" altLang="en-US" sz="2600" b="1" dirty="0"/>
              <a:t>    </a:t>
            </a:r>
            <a:r>
              <a:rPr lang="en-US" altLang="zh-CN" sz="2400" b="1" dirty="0"/>
              <a:t>END</a:t>
            </a:r>
            <a:endParaRPr lang="en-US" altLang="zh-CN" sz="2400" b="1" dirty="0"/>
          </a:p>
          <a:p>
            <a:pPr lvl="1" indent="-436245" eaLnBrk="1" hangingPunct="1">
              <a:buNone/>
            </a:pPr>
            <a:r>
              <a:rPr lang="en-US" altLang="zh-CN" sz="2600" b="1" dirty="0"/>
              <a:t>3. </a:t>
            </a:r>
            <a:r>
              <a:rPr lang="zh-CN" altLang="en-US" sz="2600" b="1" dirty="0"/>
              <a:t>化简由</a:t>
            </a:r>
            <a:r>
              <a:rPr lang="en-US" altLang="zh-CN" sz="2600" b="1" dirty="0"/>
              <a:t>2</a:t>
            </a:r>
            <a:r>
              <a:rPr lang="zh-CN" altLang="en-US" sz="2600" b="1" dirty="0"/>
              <a:t>所得的文法。去除那些从开始符号出发永远无法到达的非终结符的产生规则。</a:t>
            </a:r>
            <a:endParaRPr lang="zh-CN" altLang="en-US" sz="2600" b="1"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2643">
                                            <p:txEl>
                                              <p:charRg st="0" end="10"/>
                                            </p:txEl>
                                          </p:spTgt>
                                        </p:tgtEl>
                                        <p:attrNameLst>
                                          <p:attrName>style.visibility</p:attrName>
                                        </p:attrNameLst>
                                      </p:cBhvr>
                                      <p:to>
                                        <p:strVal val="visible"/>
                                      </p:to>
                                    </p:set>
                                    <p:animEffect transition="in" filter="wipe(left)">
                                      <p:cBhvr>
                                        <p:cTn id="7" dur="500"/>
                                        <p:tgtEl>
                                          <p:spTgt spid="112643">
                                            <p:txEl>
                                              <p:charRg st="0" end="1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2643">
                                            <p:txEl>
                                              <p:charRg st="10" end="52"/>
                                            </p:txEl>
                                          </p:spTgt>
                                        </p:tgtEl>
                                        <p:attrNameLst>
                                          <p:attrName>style.visibility</p:attrName>
                                        </p:attrNameLst>
                                      </p:cBhvr>
                                      <p:to>
                                        <p:strVal val="visible"/>
                                      </p:to>
                                    </p:set>
                                    <p:animEffect transition="in" filter="wipe(left)">
                                      <p:cBhvr>
                                        <p:cTn id="12" dur="500"/>
                                        <p:tgtEl>
                                          <p:spTgt spid="112643">
                                            <p:txEl>
                                              <p:charRg st="10" end="5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2643">
                                            <p:txEl>
                                              <p:charRg st="52" end="76"/>
                                            </p:txEl>
                                          </p:spTgt>
                                        </p:tgtEl>
                                        <p:attrNameLst>
                                          <p:attrName>style.visibility</p:attrName>
                                        </p:attrNameLst>
                                      </p:cBhvr>
                                      <p:to>
                                        <p:strVal val="visible"/>
                                      </p:to>
                                    </p:set>
                                    <p:animEffect transition="in" filter="wipe(left)">
                                      <p:cBhvr>
                                        <p:cTn id="17" dur="500"/>
                                        <p:tgtEl>
                                          <p:spTgt spid="112643">
                                            <p:txEl>
                                              <p:charRg st="52" end="7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2643">
                                            <p:txEl>
                                              <p:charRg st="76" end="86"/>
                                            </p:txEl>
                                          </p:spTgt>
                                        </p:tgtEl>
                                        <p:attrNameLst>
                                          <p:attrName>style.visibility</p:attrName>
                                        </p:attrNameLst>
                                      </p:cBhvr>
                                      <p:to>
                                        <p:strVal val="visible"/>
                                      </p:to>
                                    </p:set>
                                    <p:animEffect transition="in" filter="wipe(left)">
                                      <p:cBhvr>
                                        <p:cTn id="22" dur="500"/>
                                        <p:tgtEl>
                                          <p:spTgt spid="112643">
                                            <p:txEl>
                                              <p:charRg st="76" end="8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2643">
                                            <p:txEl>
                                              <p:charRg st="86" end="118"/>
                                            </p:txEl>
                                          </p:spTgt>
                                        </p:tgtEl>
                                        <p:attrNameLst>
                                          <p:attrName>style.visibility</p:attrName>
                                        </p:attrNameLst>
                                      </p:cBhvr>
                                      <p:to>
                                        <p:strVal val="visible"/>
                                      </p:to>
                                    </p:set>
                                    <p:animEffect transition="in" filter="wipe(left)">
                                      <p:cBhvr>
                                        <p:cTn id="27" dur="500"/>
                                        <p:tgtEl>
                                          <p:spTgt spid="112643">
                                            <p:txEl>
                                              <p:charRg st="86" end="118"/>
                                            </p:txEl>
                                          </p:spTgt>
                                        </p:tgtEl>
                                      </p:cBhvr>
                                    </p:animEffect>
                                  </p:childTnLst>
                                </p:cTn>
                              </p:par>
                            </p:childTnLst>
                          </p:cTn>
                        </p:par>
                        <p:par>
                          <p:cTn id="28" fill="hold">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112643">
                                            <p:txEl>
                                              <p:charRg st="118" end="147"/>
                                            </p:txEl>
                                          </p:spTgt>
                                        </p:tgtEl>
                                        <p:attrNameLst>
                                          <p:attrName>style.visibility</p:attrName>
                                        </p:attrNameLst>
                                      </p:cBhvr>
                                      <p:to>
                                        <p:strVal val="visible"/>
                                      </p:to>
                                    </p:set>
                                    <p:animEffect transition="in" filter="wipe(left)">
                                      <p:cBhvr>
                                        <p:cTn id="31" dur="500"/>
                                        <p:tgtEl>
                                          <p:spTgt spid="112643">
                                            <p:txEl>
                                              <p:charRg st="118" end="147"/>
                                            </p:txEl>
                                          </p:spTgt>
                                        </p:tgtEl>
                                      </p:cBhvr>
                                    </p:animEffect>
                                  </p:childTnLst>
                                </p:cTn>
                              </p:par>
                            </p:childTnLst>
                          </p:cTn>
                        </p:par>
                        <p:par>
                          <p:cTn id="32" fill="hold">
                            <p:stCondLst>
                              <p:cond delay="1000"/>
                            </p:stCondLst>
                            <p:childTnLst>
                              <p:par>
                                <p:cTn id="33" presetID="22" presetClass="entr" presetSubtype="8" fill="hold" grpId="0" nodeType="afterEffect">
                                  <p:stCondLst>
                                    <p:cond delay="0"/>
                                  </p:stCondLst>
                                  <p:childTnLst>
                                    <p:set>
                                      <p:cBhvr>
                                        <p:cTn id="34" dur="1" fill="hold">
                                          <p:stCondLst>
                                            <p:cond delay="0"/>
                                          </p:stCondLst>
                                        </p:cTn>
                                        <p:tgtEl>
                                          <p:spTgt spid="112643">
                                            <p:txEl>
                                              <p:charRg st="147" end="181"/>
                                            </p:txEl>
                                          </p:spTgt>
                                        </p:tgtEl>
                                        <p:attrNameLst>
                                          <p:attrName>style.visibility</p:attrName>
                                        </p:attrNameLst>
                                      </p:cBhvr>
                                      <p:to>
                                        <p:strVal val="visible"/>
                                      </p:to>
                                    </p:set>
                                    <p:animEffect transition="in" filter="wipe(left)">
                                      <p:cBhvr>
                                        <p:cTn id="35" dur="500"/>
                                        <p:tgtEl>
                                          <p:spTgt spid="112643">
                                            <p:txEl>
                                              <p:charRg st="147" end="181"/>
                                            </p:txEl>
                                          </p:spTgt>
                                        </p:tgtEl>
                                      </p:cBhvr>
                                    </p:animEffect>
                                  </p:childTnLst>
                                </p:cTn>
                              </p:par>
                            </p:childTnLst>
                          </p:cTn>
                        </p:par>
                        <p:par>
                          <p:cTn id="36" fill="hold">
                            <p:stCondLst>
                              <p:cond delay="1500"/>
                            </p:stCondLst>
                            <p:childTnLst>
                              <p:par>
                                <p:cTn id="37" presetID="22" presetClass="entr" presetSubtype="8" fill="hold" grpId="0" nodeType="afterEffect">
                                  <p:stCondLst>
                                    <p:cond delay="0"/>
                                  </p:stCondLst>
                                  <p:childTnLst>
                                    <p:set>
                                      <p:cBhvr>
                                        <p:cTn id="38" dur="1" fill="hold">
                                          <p:stCondLst>
                                            <p:cond delay="0"/>
                                          </p:stCondLst>
                                        </p:cTn>
                                        <p:tgtEl>
                                          <p:spTgt spid="112643">
                                            <p:txEl>
                                              <p:charRg st="181" end="222"/>
                                            </p:txEl>
                                          </p:spTgt>
                                        </p:tgtEl>
                                        <p:attrNameLst>
                                          <p:attrName>style.visibility</p:attrName>
                                        </p:attrNameLst>
                                      </p:cBhvr>
                                      <p:to>
                                        <p:strVal val="visible"/>
                                      </p:to>
                                    </p:set>
                                    <p:animEffect transition="in" filter="wipe(left)">
                                      <p:cBhvr>
                                        <p:cTn id="39" dur="500"/>
                                        <p:tgtEl>
                                          <p:spTgt spid="112643">
                                            <p:txEl>
                                              <p:charRg st="181" end="222"/>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12643">
                                            <p:txEl>
                                              <p:charRg st="222" end="245"/>
                                            </p:txEl>
                                          </p:spTgt>
                                        </p:tgtEl>
                                        <p:attrNameLst>
                                          <p:attrName>style.visibility</p:attrName>
                                        </p:attrNameLst>
                                      </p:cBhvr>
                                      <p:to>
                                        <p:strVal val="visible"/>
                                      </p:to>
                                    </p:set>
                                    <p:animEffect transition="in" filter="wipe(left)">
                                      <p:cBhvr>
                                        <p:cTn id="44" dur="500"/>
                                        <p:tgtEl>
                                          <p:spTgt spid="112643">
                                            <p:txEl>
                                              <p:charRg st="222" end="245"/>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12643">
                                            <p:txEl>
                                              <p:charRg st="245" end="253"/>
                                            </p:txEl>
                                          </p:spTgt>
                                        </p:tgtEl>
                                        <p:attrNameLst>
                                          <p:attrName>style.visibility</p:attrName>
                                        </p:attrNameLst>
                                      </p:cBhvr>
                                      <p:to>
                                        <p:strVal val="visible"/>
                                      </p:to>
                                    </p:set>
                                    <p:animEffect transition="in" filter="wipe(left)">
                                      <p:cBhvr>
                                        <p:cTn id="49" dur="500"/>
                                        <p:tgtEl>
                                          <p:spTgt spid="112643">
                                            <p:txEl>
                                              <p:charRg st="245" end="253"/>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12643">
                                            <p:txEl>
                                              <p:charRg st="253" end="295"/>
                                            </p:txEl>
                                          </p:spTgt>
                                        </p:tgtEl>
                                        <p:attrNameLst>
                                          <p:attrName>style.visibility</p:attrName>
                                        </p:attrNameLst>
                                      </p:cBhvr>
                                      <p:to>
                                        <p:strVal val="visible"/>
                                      </p:to>
                                    </p:set>
                                    <p:animEffect transition="in" filter="wipe(left)">
                                      <p:cBhvr>
                                        <p:cTn id="54" dur="500"/>
                                        <p:tgtEl>
                                          <p:spTgt spid="112643">
                                            <p:txEl>
                                              <p:charRg st="253" end="29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3" grpId="0" bldLvl="2"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112643" name="Rectangle 3"/>
          <p:cNvSpPr>
            <a:spLocks noGrp="1"/>
          </p:cNvSpPr>
          <p:nvPr>
            <p:ph type="body"/>
          </p:nvPr>
        </p:nvSpPr>
        <p:spPr>
          <a:xfrm>
            <a:off x="533400" y="620713"/>
            <a:ext cx="8305800" cy="5627687"/>
          </a:xfrm>
          <a:ln/>
        </p:spPr>
        <p:txBody>
          <a:bodyPr vert="horz" wrap="square" lIns="91440" tIns="45720" rIns="91440" bIns="45720" anchor="t"/>
          <a:p>
            <a:pPr marL="571500" indent="-571500" eaLnBrk="1" hangingPunct="1"/>
            <a:r>
              <a:rPr lang="zh-CN" altLang="en-US" sz="3400" b="1" dirty="0"/>
              <a:t>注：消除左递归算法的注意事项</a:t>
            </a:r>
            <a:r>
              <a:rPr lang="en-US" altLang="zh-CN" sz="3400" b="1" dirty="0"/>
              <a:t>:</a:t>
            </a:r>
            <a:endParaRPr lang="en-US" altLang="zh-CN" sz="3400" b="1" dirty="0"/>
          </a:p>
          <a:p>
            <a:pPr marL="1005205" lvl="1" indent="-533400" eaLnBrk="1" hangingPunct="1">
              <a:buNone/>
            </a:pPr>
            <a:r>
              <a:rPr lang="en-US" altLang="zh-CN" b="1" dirty="0"/>
              <a:t>1. </a:t>
            </a:r>
            <a:r>
              <a:rPr lang="zh-CN" altLang="en-US" b="1" dirty="0"/>
              <a:t>此算法适用于，消除了</a:t>
            </a:r>
            <a:r>
              <a:rPr lang="en-US" altLang="zh-CN" b="1" dirty="0"/>
              <a:t>P→P </a:t>
            </a:r>
            <a:r>
              <a:rPr lang="zh-CN" altLang="en-US" b="1" dirty="0"/>
              <a:t>产生式和不以</a:t>
            </a:r>
            <a:r>
              <a:rPr lang="zh-CN" altLang="en-US" b="1" dirty="0">
                <a:sym typeface="Symbol" panose="05050102010706020507" pitchFamily="18" charset="2"/>
              </a:rPr>
              <a:t></a:t>
            </a:r>
            <a:r>
              <a:rPr lang="zh-CN" altLang="en-US" b="1" dirty="0"/>
              <a:t>为右部的产生式的文法。</a:t>
            </a:r>
            <a:endParaRPr lang="zh-CN" altLang="en-US" b="1" dirty="0"/>
          </a:p>
          <a:p>
            <a:pPr marL="1005205" lvl="1" indent="-533400" eaLnBrk="1" hangingPunct="1">
              <a:buNone/>
            </a:pPr>
            <a:r>
              <a:rPr lang="en-US" altLang="zh-CN" sz="3000" b="1" dirty="0"/>
              <a:t>2. </a:t>
            </a:r>
            <a:r>
              <a:rPr lang="zh-CN" altLang="en-US" sz="3000" b="1" dirty="0"/>
              <a:t>该算法的第二步所做的工作可以理解为：</a:t>
            </a:r>
            <a:endParaRPr lang="en-US" altLang="zh-CN" b="1" dirty="0"/>
          </a:p>
          <a:p>
            <a:pPr marL="1367155" lvl="2" indent="-457200" eaLnBrk="1" hangingPunct="1">
              <a:spcBef>
                <a:spcPct val="0"/>
              </a:spcBef>
              <a:buAutoNum type="alphaLcParenR"/>
            </a:pPr>
            <a:r>
              <a:rPr lang="zh-CN" altLang="en-US" b="1" dirty="0">
                <a:solidFill>
                  <a:srgbClr val="3366CC"/>
                </a:solidFill>
              </a:rPr>
              <a:t>若产生式出现直接左递归，则用消除直接左递归的方法消除；</a:t>
            </a:r>
            <a:endParaRPr lang="zh-CN" altLang="en-US" b="1" dirty="0">
              <a:solidFill>
                <a:srgbClr val="3366CC"/>
              </a:solidFill>
            </a:endParaRPr>
          </a:p>
          <a:p>
            <a:pPr marL="1367155" lvl="2" indent="-457200" eaLnBrk="1" hangingPunct="1">
              <a:spcBef>
                <a:spcPct val="0"/>
              </a:spcBef>
              <a:buAutoNum type="alphaLcParenR"/>
            </a:pPr>
            <a:r>
              <a:rPr lang="zh-CN" altLang="en-US" b="1" dirty="0">
                <a:solidFill>
                  <a:srgbClr val="3366CC"/>
                </a:solidFill>
              </a:rPr>
              <a:t>若产生式右部的最左符号是非终结符且序号大于左部的非终结符，则不作替换处理；</a:t>
            </a:r>
            <a:endParaRPr lang="zh-CN" altLang="en-US" b="1" dirty="0">
              <a:solidFill>
                <a:srgbClr val="3366CC"/>
              </a:solidFill>
            </a:endParaRPr>
          </a:p>
          <a:p>
            <a:pPr marL="1367155" lvl="2" indent="-457200" eaLnBrk="1" hangingPunct="1">
              <a:spcBef>
                <a:spcPct val="0"/>
              </a:spcBef>
              <a:buAutoNum type="alphaLcParenR"/>
            </a:pPr>
            <a:r>
              <a:rPr lang="zh-CN" altLang="en-US" b="1" dirty="0">
                <a:solidFill>
                  <a:srgbClr val="3366CC"/>
                </a:solidFill>
              </a:rPr>
              <a:t>若序号小于左部的非终结符， 则将序号小的非终结符（已处理过）用其右部串替换，然后消除新的直接左递归；</a:t>
            </a:r>
            <a:endParaRPr lang="zh-CN" altLang="en-US" b="1" dirty="0">
              <a:solidFill>
                <a:srgbClr val="3366CC"/>
              </a:solidFill>
            </a:endParaRPr>
          </a:p>
          <a:p>
            <a:pPr marL="1367155" lvl="2" indent="-457200" eaLnBrk="1" hangingPunct="1">
              <a:spcBef>
                <a:spcPct val="0"/>
              </a:spcBef>
              <a:buAutoNum type="alphaLcParenR"/>
            </a:pPr>
            <a:r>
              <a:rPr lang="zh-CN" altLang="en-US" b="1" dirty="0">
                <a:solidFill>
                  <a:srgbClr val="3366CC"/>
                </a:solidFill>
              </a:rPr>
              <a:t>因此每次替换的非终结符均为前面已经处理过的非终结符。</a:t>
            </a:r>
            <a:endParaRPr lang="en-US" altLang="zh-CN" b="1" dirty="0">
              <a:solidFill>
                <a:srgbClr val="3366CC"/>
              </a:solidFill>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2643">
                                            <p:txEl>
                                              <p:charRg st="0" end="16"/>
                                            </p:txEl>
                                          </p:spTgt>
                                        </p:tgtEl>
                                        <p:attrNameLst>
                                          <p:attrName>style.visibility</p:attrName>
                                        </p:attrNameLst>
                                      </p:cBhvr>
                                      <p:to>
                                        <p:strVal val="visible"/>
                                      </p:to>
                                    </p:set>
                                    <p:animEffect transition="in" filter="wipe(left)">
                                      <p:cBhvr>
                                        <p:cTn id="7" dur="500"/>
                                        <p:tgtEl>
                                          <p:spTgt spid="112643">
                                            <p:txEl>
                                              <p:charRg st="0" end="16"/>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2643">
                                            <p:txEl>
                                              <p:charRg st="16" end="52"/>
                                            </p:txEl>
                                          </p:spTgt>
                                        </p:tgtEl>
                                        <p:attrNameLst>
                                          <p:attrName>style.visibility</p:attrName>
                                        </p:attrNameLst>
                                      </p:cBhvr>
                                      <p:to>
                                        <p:strVal val="visible"/>
                                      </p:to>
                                    </p:set>
                                    <p:animEffect transition="in" filter="wipe(left)">
                                      <p:cBhvr>
                                        <p:cTn id="12" dur="500"/>
                                        <p:tgtEl>
                                          <p:spTgt spid="112643">
                                            <p:txEl>
                                              <p:charRg st="16" end="5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2643">
                                            <p:txEl>
                                              <p:charRg st="52" end="74"/>
                                            </p:txEl>
                                          </p:spTgt>
                                        </p:tgtEl>
                                        <p:attrNameLst>
                                          <p:attrName>style.visibility</p:attrName>
                                        </p:attrNameLst>
                                      </p:cBhvr>
                                      <p:to>
                                        <p:strVal val="visible"/>
                                      </p:to>
                                    </p:set>
                                    <p:animEffect transition="in" filter="wipe(left)">
                                      <p:cBhvr>
                                        <p:cTn id="17" dur="500"/>
                                        <p:tgtEl>
                                          <p:spTgt spid="112643">
                                            <p:txEl>
                                              <p:charRg st="52" end="74"/>
                                            </p:txEl>
                                          </p:spTgt>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112643">
                                            <p:txEl>
                                              <p:charRg st="74" end="102"/>
                                            </p:txEl>
                                          </p:spTgt>
                                        </p:tgtEl>
                                        <p:attrNameLst>
                                          <p:attrName>style.visibility</p:attrName>
                                        </p:attrNameLst>
                                      </p:cBhvr>
                                      <p:to>
                                        <p:strVal val="visible"/>
                                      </p:to>
                                    </p:set>
                                    <p:animEffect transition="in" filter="wipe(left)">
                                      <p:cBhvr>
                                        <p:cTn id="20" dur="500"/>
                                        <p:tgtEl>
                                          <p:spTgt spid="112643">
                                            <p:txEl>
                                              <p:charRg st="74" end="102"/>
                                            </p:txEl>
                                          </p:spTgt>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112643">
                                            <p:txEl>
                                              <p:charRg st="102" end="140"/>
                                            </p:txEl>
                                          </p:spTgt>
                                        </p:tgtEl>
                                        <p:attrNameLst>
                                          <p:attrName>style.visibility</p:attrName>
                                        </p:attrNameLst>
                                      </p:cBhvr>
                                      <p:to>
                                        <p:strVal val="visible"/>
                                      </p:to>
                                    </p:set>
                                    <p:animEffect transition="in" filter="wipe(left)">
                                      <p:cBhvr>
                                        <p:cTn id="23" dur="500"/>
                                        <p:tgtEl>
                                          <p:spTgt spid="112643">
                                            <p:txEl>
                                              <p:charRg st="102" end="140"/>
                                            </p:txEl>
                                          </p:spTgt>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112643">
                                            <p:txEl>
                                              <p:charRg st="140" end="191"/>
                                            </p:txEl>
                                          </p:spTgt>
                                        </p:tgtEl>
                                        <p:attrNameLst>
                                          <p:attrName>style.visibility</p:attrName>
                                        </p:attrNameLst>
                                      </p:cBhvr>
                                      <p:to>
                                        <p:strVal val="visible"/>
                                      </p:to>
                                    </p:set>
                                    <p:animEffect transition="in" filter="wipe(left)">
                                      <p:cBhvr>
                                        <p:cTn id="26" dur="500"/>
                                        <p:tgtEl>
                                          <p:spTgt spid="112643">
                                            <p:txEl>
                                              <p:charRg st="140" end="191"/>
                                            </p:txEl>
                                          </p:spTgt>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112643">
                                            <p:txEl>
                                              <p:charRg st="191" end="218"/>
                                            </p:txEl>
                                          </p:spTgt>
                                        </p:tgtEl>
                                        <p:attrNameLst>
                                          <p:attrName>style.visibility</p:attrName>
                                        </p:attrNameLst>
                                      </p:cBhvr>
                                      <p:to>
                                        <p:strVal val="visible"/>
                                      </p:to>
                                    </p:set>
                                    <p:animEffect transition="in" filter="wipe(left)">
                                      <p:cBhvr>
                                        <p:cTn id="29" dur="500"/>
                                        <p:tgtEl>
                                          <p:spTgt spid="112643">
                                            <p:txEl>
                                              <p:charRg st="191" end="2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3" grpId="0" bldLvl="2"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113667" name="Rectangle 3"/>
          <p:cNvSpPr>
            <a:spLocks noGrp="1"/>
          </p:cNvSpPr>
          <p:nvPr>
            <p:ph type="body"/>
          </p:nvPr>
        </p:nvSpPr>
        <p:spPr>
          <a:xfrm>
            <a:off x="685800" y="188913"/>
            <a:ext cx="7772400" cy="5907087"/>
          </a:xfrm>
          <a:ln/>
        </p:spPr>
        <p:txBody>
          <a:bodyPr vert="horz" wrap="square" lIns="91440" tIns="45720" rIns="91440" bIns="45720" anchor="t"/>
          <a:p>
            <a:pPr eaLnBrk="1" hangingPunct="1">
              <a:lnSpc>
                <a:spcPct val="90000"/>
              </a:lnSpc>
            </a:pPr>
            <a:r>
              <a:rPr lang="zh-CN" altLang="en-US" sz="2600" b="1" dirty="0"/>
              <a:t>例 考虑文法</a:t>
            </a:r>
            <a:r>
              <a:rPr lang="en-US" altLang="zh-CN" sz="2600" b="1" dirty="0"/>
              <a:t>G(S)</a:t>
            </a:r>
            <a:endParaRPr lang="en-US" altLang="zh-CN" sz="2600" b="1" dirty="0"/>
          </a:p>
          <a:p>
            <a:pPr lvl="1" indent="-436245" eaLnBrk="1" hangingPunct="1">
              <a:lnSpc>
                <a:spcPct val="90000"/>
              </a:lnSpc>
              <a:buNone/>
            </a:pPr>
            <a:r>
              <a:rPr lang="en-US" altLang="zh-CN" sz="2400" b="1" dirty="0"/>
              <a:t>S→Qc|c</a:t>
            </a:r>
            <a:endParaRPr lang="en-US" altLang="zh-CN" sz="2400" b="1" dirty="0"/>
          </a:p>
          <a:p>
            <a:pPr lvl="1" indent="-436245" eaLnBrk="1" hangingPunct="1">
              <a:lnSpc>
                <a:spcPct val="90000"/>
              </a:lnSpc>
              <a:spcBef>
                <a:spcPct val="0"/>
              </a:spcBef>
              <a:buNone/>
            </a:pPr>
            <a:r>
              <a:rPr lang="en-US" altLang="zh-CN" sz="2400" b="1" dirty="0"/>
              <a:t>Q→Rb|b</a:t>
            </a:r>
            <a:endParaRPr lang="en-US" altLang="zh-CN" sz="2400" b="1" dirty="0"/>
          </a:p>
          <a:p>
            <a:pPr lvl="1" indent="-436245" eaLnBrk="1" hangingPunct="1">
              <a:lnSpc>
                <a:spcPct val="90000"/>
              </a:lnSpc>
              <a:spcBef>
                <a:spcPct val="0"/>
              </a:spcBef>
              <a:buNone/>
            </a:pPr>
            <a:r>
              <a:rPr lang="en-US" altLang="zh-CN" sz="2400" b="1" dirty="0"/>
              <a:t>R→Sa|a</a:t>
            </a:r>
            <a:endParaRPr lang="en-US" altLang="zh-CN" sz="2400" b="1" dirty="0"/>
          </a:p>
          <a:p>
            <a:pPr eaLnBrk="1" hangingPunct="1">
              <a:lnSpc>
                <a:spcPct val="90000"/>
              </a:lnSpc>
              <a:spcBef>
                <a:spcPct val="45000"/>
              </a:spcBef>
            </a:pPr>
            <a:r>
              <a:rPr lang="zh-CN" altLang="en-US" sz="2600" b="1" dirty="0"/>
              <a:t>令非终结符排序为</a:t>
            </a:r>
            <a:r>
              <a:rPr lang="en-US" altLang="zh-CN" sz="2600" b="1" dirty="0"/>
              <a:t>R</a:t>
            </a:r>
            <a:r>
              <a:rPr lang="zh-CN" altLang="en-US" sz="2600" b="1" dirty="0"/>
              <a:t>、</a:t>
            </a:r>
            <a:r>
              <a:rPr lang="en-US" altLang="zh-CN" sz="2600" b="1" dirty="0"/>
              <a:t>Q</a:t>
            </a:r>
            <a:r>
              <a:rPr lang="zh-CN" altLang="en-US" sz="2600" b="1" dirty="0"/>
              <a:t>、</a:t>
            </a:r>
            <a:r>
              <a:rPr lang="en-US" altLang="zh-CN" sz="2600" b="1" dirty="0"/>
              <a:t>S</a:t>
            </a:r>
            <a:r>
              <a:rPr lang="zh-CN" altLang="en-US" sz="2600" b="1" dirty="0"/>
              <a:t>（即</a:t>
            </a:r>
            <a:r>
              <a:rPr lang="en-US" altLang="zh-CN" sz="2600" b="1" dirty="0"/>
              <a:t>1</a:t>
            </a:r>
            <a:r>
              <a:rPr lang="zh-CN" altLang="en-US" sz="2600" b="1" dirty="0"/>
              <a:t>，</a:t>
            </a:r>
            <a:r>
              <a:rPr lang="en-US" altLang="zh-CN" sz="2600" b="1" dirty="0"/>
              <a:t>2</a:t>
            </a:r>
            <a:r>
              <a:rPr lang="zh-CN" altLang="en-US" sz="2600" b="1" dirty="0"/>
              <a:t>，</a:t>
            </a:r>
            <a:r>
              <a:rPr lang="en-US" altLang="zh-CN" sz="2600" b="1" dirty="0"/>
              <a:t>3</a:t>
            </a:r>
            <a:r>
              <a:rPr lang="zh-CN" altLang="en-US" sz="2600" b="1" dirty="0"/>
              <a:t>）。</a:t>
            </a:r>
            <a:endParaRPr lang="zh-CN" altLang="en-US" sz="2600" b="1" dirty="0"/>
          </a:p>
          <a:p>
            <a:pPr eaLnBrk="1" hangingPunct="1">
              <a:lnSpc>
                <a:spcPct val="90000"/>
              </a:lnSpc>
              <a:spcBef>
                <a:spcPct val="0"/>
              </a:spcBef>
            </a:pPr>
            <a:r>
              <a:rPr lang="zh-CN" altLang="en-US" sz="2600" b="1" dirty="0"/>
              <a:t>对于</a:t>
            </a:r>
            <a:r>
              <a:rPr lang="en-US" altLang="zh-CN" sz="2600" b="1" dirty="0"/>
              <a:t>R</a:t>
            </a:r>
            <a:r>
              <a:rPr lang="zh-CN" altLang="en-US" sz="2600" b="1" dirty="0"/>
              <a:t>，不存在直接左递归。 </a:t>
            </a:r>
            <a:r>
              <a:rPr lang="en-US" altLang="zh-CN" sz="2600" b="1" dirty="0"/>
              <a:t>R→Sa|a</a:t>
            </a:r>
            <a:r>
              <a:rPr lang="zh-CN" altLang="en-US" sz="2600" b="1" dirty="0"/>
              <a:t>产生式中</a:t>
            </a:r>
            <a:r>
              <a:rPr lang="en-US" altLang="zh-CN" sz="2600" b="1" dirty="0"/>
              <a:t>S</a:t>
            </a:r>
            <a:r>
              <a:rPr lang="zh-CN" altLang="en-US" sz="2600" b="1" dirty="0"/>
              <a:t>的序号大于</a:t>
            </a:r>
            <a:r>
              <a:rPr lang="en-US" altLang="zh-CN" sz="2600" b="1" dirty="0"/>
              <a:t>R</a:t>
            </a:r>
            <a:r>
              <a:rPr lang="zh-CN" altLang="en-US" sz="2600" b="1" dirty="0"/>
              <a:t>，不作替换处理</a:t>
            </a:r>
            <a:endParaRPr lang="zh-CN" altLang="en-US" sz="2600" b="1" dirty="0"/>
          </a:p>
          <a:p>
            <a:pPr eaLnBrk="1" hangingPunct="1">
              <a:lnSpc>
                <a:spcPct val="90000"/>
              </a:lnSpc>
              <a:spcBef>
                <a:spcPct val="0"/>
              </a:spcBef>
            </a:pPr>
            <a:r>
              <a:rPr lang="zh-CN" altLang="en-US" sz="2600" b="1" dirty="0"/>
              <a:t>对于</a:t>
            </a:r>
            <a:r>
              <a:rPr lang="en-US" altLang="zh-CN" sz="2600" b="1" dirty="0"/>
              <a:t>Q</a:t>
            </a:r>
            <a:r>
              <a:rPr lang="zh-CN" altLang="en-US" sz="2600" b="1" dirty="0"/>
              <a:t>， </a:t>
            </a:r>
            <a:r>
              <a:rPr lang="en-US" altLang="zh-CN" sz="2600" b="1" dirty="0"/>
              <a:t>Q→Rb|b</a:t>
            </a:r>
            <a:r>
              <a:rPr lang="zh-CN" altLang="en-US" sz="2600" b="1" dirty="0"/>
              <a:t>中</a:t>
            </a:r>
            <a:r>
              <a:rPr lang="en-US" altLang="zh-CN" sz="2600" b="1" dirty="0"/>
              <a:t>R</a:t>
            </a:r>
            <a:r>
              <a:rPr lang="zh-CN" altLang="en-US" sz="2600" b="1" dirty="0"/>
              <a:t>的序号小于</a:t>
            </a:r>
            <a:r>
              <a:rPr lang="en-US" altLang="zh-CN" sz="2600" b="1" dirty="0"/>
              <a:t>Q</a:t>
            </a:r>
            <a:r>
              <a:rPr lang="zh-CN" altLang="en-US" sz="2600" b="1" dirty="0"/>
              <a:t>，把</a:t>
            </a:r>
            <a:r>
              <a:rPr lang="en-US" altLang="zh-CN" sz="2600" b="1" dirty="0"/>
              <a:t>R</a:t>
            </a:r>
            <a:r>
              <a:rPr lang="zh-CN" altLang="en-US" sz="2600" b="1" dirty="0"/>
              <a:t>代入到</a:t>
            </a:r>
            <a:r>
              <a:rPr lang="en-US" altLang="zh-CN" sz="2600" b="1" dirty="0"/>
              <a:t>Q</a:t>
            </a:r>
            <a:r>
              <a:rPr lang="zh-CN" altLang="en-US" sz="2600" b="1" dirty="0"/>
              <a:t>的有关候选后，把</a:t>
            </a:r>
            <a:r>
              <a:rPr lang="en-US" altLang="zh-CN" sz="2600" b="1" dirty="0"/>
              <a:t>Q</a:t>
            </a:r>
            <a:r>
              <a:rPr lang="zh-CN" altLang="en-US" sz="2600" b="1" dirty="0"/>
              <a:t>的规则变为     </a:t>
            </a:r>
            <a:endParaRPr lang="zh-CN" altLang="en-US" sz="2600" b="1" dirty="0"/>
          </a:p>
          <a:p>
            <a:pPr algn="ctr" eaLnBrk="1" hangingPunct="1">
              <a:lnSpc>
                <a:spcPct val="90000"/>
              </a:lnSpc>
              <a:spcBef>
                <a:spcPct val="0"/>
              </a:spcBef>
              <a:buNone/>
            </a:pPr>
            <a:r>
              <a:rPr lang="en-US" altLang="zh-CN" sz="2600" b="1" dirty="0"/>
              <a:t>Q→Sab | ab | b</a:t>
            </a:r>
            <a:endParaRPr lang="en-US" altLang="zh-CN" sz="2600" b="1" dirty="0"/>
          </a:p>
          <a:p>
            <a:pPr eaLnBrk="1" hangingPunct="1">
              <a:lnSpc>
                <a:spcPct val="90000"/>
              </a:lnSpc>
              <a:spcBef>
                <a:spcPct val="0"/>
              </a:spcBef>
              <a:buNone/>
            </a:pPr>
            <a:r>
              <a:rPr lang="zh-CN" altLang="en-US" sz="2600" b="1" dirty="0"/>
              <a:t>     不存在直接左递归，并且产生式中</a:t>
            </a:r>
            <a:r>
              <a:rPr lang="en-US" altLang="zh-CN" sz="2600" b="1" dirty="0"/>
              <a:t>S</a:t>
            </a:r>
            <a:r>
              <a:rPr lang="zh-CN" altLang="en-US" sz="2600" b="1" dirty="0"/>
              <a:t>的序号大于</a:t>
            </a:r>
            <a:r>
              <a:rPr lang="en-US" altLang="zh-CN" sz="2600" b="1" dirty="0"/>
              <a:t>Q</a:t>
            </a:r>
            <a:r>
              <a:rPr lang="zh-CN" altLang="en-US" sz="2600" b="1" dirty="0"/>
              <a:t>，不再做替换处理。</a:t>
            </a:r>
            <a:endParaRPr lang="zh-CN" altLang="en-US" sz="2600" b="1" dirty="0"/>
          </a:p>
          <a:p>
            <a:pPr eaLnBrk="1" hangingPunct="1">
              <a:lnSpc>
                <a:spcPct val="90000"/>
              </a:lnSpc>
              <a:spcBef>
                <a:spcPct val="0"/>
              </a:spcBef>
              <a:buNone/>
            </a:pPr>
            <a:endParaRPr lang="zh-CN" altLang="en-US" sz="2600" b="1" dirty="0">
              <a:solidFill>
                <a:srgbClr val="FF3300"/>
              </a:solidFill>
            </a:endParaRPr>
          </a:p>
          <a:p>
            <a:pPr eaLnBrk="1" hangingPunct="1">
              <a:lnSpc>
                <a:spcPct val="90000"/>
              </a:lnSpc>
              <a:spcBef>
                <a:spcPct val="0"/>
              </a:spcBef>
              <a:buNone/>
            </a:pPr>
            <a:r>
              <a:rPr lang="zh-CN" altLang="en-US" sz="3600" b="1" u="sng" dirty="0">
                <a:solidFill>
                  <a:srgbClr val="FF3300"/>
                </a:solidFill>
              </a:rPr>
              <a:t>原则：高</a:t>
            </a:r>
            <a:r>
              <a:rPr lang="en-US" altLang="zh-CN" sz="3600" b="1" u="sng" dirty="0">
                <a:solidFill>
                  <a:srgbClr val="FF3300"/>
                </a:solidFill>
              </a:rPr>
              <a:t>→</a:t>
            </a:r>
            <a:r>
              <a:rPr lang="zh-CN" altLang="en-US" sz="3600" b="1" u="sng" dirty="0">
                <a:solidFill>
                  <a:srgbClr val="FF3300"/>
                </a:solidFill>
              </a:rPr>
              <a:t>低，则替换。</a:t>
            </a:r>
            <a:endParaRPr lang="zh-CN" altLang="en-US" sz="3600" b="1" u="sng" dirty="0">
              <a:solidFill>
                <a:srgbClr val="FF3300"/>
              </a:solidFill>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3667">
                                            <p:txEl>
                                              <p:charRg st="0" end="11"/>
                                            </p:txEl>
                                          </p:spTgt>
                                        </p:tgtEl>
                                        <p:attrNameLst>
                                          <p:attrName>style.visibility</p:attrName>
                                        </p:attrNameLst>
                                      </p:cBhvr>
                                      <p:to>
                                        <p:strVal val="visible"/>
                                      </p:to>
                                    </p:set>
                                    <p:animEffect transition="in" filter="wipe(left)">
                                      <p:cBhvr>
                                        <p:cTn id="7" dur="500"/>
                                        <p:tgtEl>
                                          <p:spTgt spid="113667">
                                            <p:txEl>
                                              <p:charRg st="0" end="11"/>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13667">
                                            <p:txEl>
                                              <p:charRg st="11" end="18"/>
                                            </p:txEl>
                                          </p:spTgt>
                                        </p:tgtEl>
                                        <p:attrNameLst>
                                          <p:attrName>style.visibility</p:attrName>
                                        </p:attrNameLst>
                                      </p:cBhvr>
                                      <p:to>
                                        <p:strVal val="visible"/>
                                      </p:to>
                                    </p:set>
                                    <p:animEffect transition="in" filter="wipe(left)">
                                      <p:cBhvr>
                                        <p:cTn id="10" dur="500"/>
                                        <p:tgtEl>
                                          <p:spTgt spid="113667">
                                            <p:txEl>
                                              <p:charRg st="11" end="18"/>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13667">
                                            <p:txEl>
                                              <p:charRg st="18" end="25"/>
                                            </p:txEl>
                                          </p:spTgt>
                                        </p:tgtEl>
                                        <p:attrNameLst>
                                          <p:attrName>style.visibility</p:attrName>
                                        </p:attrNameLst>
                                      </p:cBhvr>
                                      <p:to>
                                        <p:strVal val="visible"/>
                                      </p:to>
                                    </p:set>
                                    <p:animEffect transition="in" filter="wipe(left)">
                                      <p:cBhvr>
                                        <p:cTn id="13" dur="500"/>
                                        <p:tgtEl>
                                          <p:spTgt spid="113667">
                                            <p:txEl>
                                              <p:charRg st="18" end="25"/>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13667">
                                            <p:txEl>
                                              <p:charRg st="25" end="32"/>
                                            </p:txEl>
                                          </p:spTgt>
                                        </p:tgtEl>
                                        <p:attrNameLst>
                                          <p:attrName>style.visibility</p:attrName>
                                        </p:attrNameLst>
                                      </p:cBhvr>
                                      <p:to>
                                        <p:strVal val="visible"/>
                                      </p:to>
                                    </p:set>
                                    <p:animEffect transition="in" filter="wipe(left)">
                                      <p:cBhvr>
                                        <p:cTn id="16" dur="500"/>
                                        <p:tgtEl>
                                          <p:spTgt spid="113667">
                                            <p:txEl>
                                              <p:charRg st="25" end="3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13667">
                                            <p:txEl>
                                              <p:charRg st="32" end="55"/>
                                            </p:txEl>
                                          </p:spTgt>
                                        </p:tgtEl>
                                        <p:attrNameLst>
                                          <p:attrName>style.visibility</p:attrName>
                                        </p:attrNameLst>
                                      </p:cBhvr>
                                      <p:to>
                                        <p:strVal val="visible"/>
                                      </p:to>
                                    </p:set>
                                    <p:animEffect transition="in" filter="wipe(left)">
                                      <p:cBhvr>
                                        <p:cTn id="21" dur="500"/>
                                        <p:tgtEl>
                                          <p:spTgt spid="113667">
                                            <p:txEl>
                                              <p:charRg st="32" end="5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13667">
                                            <p:txEl>
                                              <p:charRg st="55" end="94"/>
                                            </p:txEl>
                                          </p:spTgt>
                                        </p:tgtEl>
                                        <p:attrNameLst>
                                          <p:attrName>style.visibility</p:attrName>
                                        </p:attrNameLst>
                                      </p:cBhvr>
                                      <p:to>
                                        <p:strVal val="visible"/>
                                      </p:to>
                                    </p:set>
                                    <p:animEffect transition="in" filter="wipe(left)">
                                      <p:cBhvr>
                                        <p:cTn id="26" dur="500"/>
                                        <p:tgtEl>
                                          <p:spTgt spid="113667">
                                            <p:txEl>
                                              <p:charRg st="55" end="9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13667">
                                            <p:txEl>
                                              <p:charRg st="94" end="140"/>
                                            </p:txEl>
                                          </p:spTgt>
                                        </p:tgtEl>
                                        <p:attrNameLst>
                                          <p:attrName>style.visibility</p:attrName>
                                        </p:attrNameLst>
                                      </p:cBhvr>
                                      <p:to>
                                        <p:strVal val="visible"/>
                                      </p:to>
                                    </p:set>
                                    <p:animEffect transition="in" filter="wipe(left)">
                                      <p:cBhvr>
                                        <p:cTn id="31" dur="500"/>
                                        <p:tgtEl>
                                          <p:spTgt spid="113667">
                                            <p:txEl>
                                              <p:charRg st="94" end="14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13667">
                                            <p:txEl>
                                              <p:charRg st="140" end="155"/>
                                            </p:txEl>
                                          </p:spTgt>
                                        </p:tgtEl>
                                        <p:attrNameLst>
                                          <p:attrName>style.visibility</p:attrName>
                                        </p:attrNameLst>
                                      </p:cBhvr>
                                      <p:to>
                                        <p:strVal val="visible"/>
                                      </p:to>
                                    </p:set>
                                    <p:animEffect transition="in" filter="wipe(left)">
                                      <p:cBhvr>
                                        <p:cTn id="36" dur="500"/>
                                        <p:tgtEl>
                                          <p:spTgt spid="113667">
                                            <p:txEl>
                                              <p:charRg st="140" end="155"/>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13667">
                                            <p:txEl>
                                              <p:charRg st="155" end="192"/>
                                            </p:txEl>
                                          </p:spTgt>
                                        </p:tgtEl>
                                        <p:attrNameLst>
                                          <p:attrName>style.visibility</p:attrName>
                                        </p:attrNameLst>
                                      </p:cBhvr>
                                      <p:to>
                                        <p:strVal val="visible"/>
                                      </p:to>
                                    </p:set>
                                    <p:animEffect transition="in" filter="wipe(left)">
                                      <p:cBhvr>
                                        <p:cTn id="41" dur="500"/>
                                        <p:tgtEl>
                                          <p:spTgt spid="113667">
                                            <p:txEl>
                                              <p:charRg st="155" end="192"/>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13667">
                                            <p:txEl>
                                              <p:charRg st="193" end="205"/>
                                            </p:txEl>
                                          </p:spTgt>
                                        </p:tgtEl>
                                        <p:attrNameLst>
                                          <p:attrName>style.visibility</p:attrName>
                                        </p:attrNameLst>
                                      </p:cBhvr>
                                      <p:to>
                                        <p:strVal val="visible"/>
                                      </p:to>
                                    </p:set>
                                    <p:animEffect transition="in" filter="wipe(left)">
                                      <p:cBhvr>
                                        <p:cTn id="46" dur="500"/>
                                        <p:tgtEl>
                                          <p:spTgt spid="113667">
                                            <p:txEl>
                                              <p:charRg st="193" end="20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7"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114691" name="Rectangle 3"/>
          <p:cNvSpPr>
            <a:spLocks noGrp="1"/>
          </p:cNvSpPr>
          <p:nvPr>
            <p:ph type="body"/>
          </p:nvPr>
        </p:nvSpPr>
        <p:spPr>
          <a:xfrm>
            <a:off x="685800" y="685800"/>
            <a:ext cx="7772400" cy="5410200"/>
          </a:xfrm>
          <a:ln/>
        </p:spPr>
        <p:txBody>
          <a:bodyPr vert="horz" wrap="square" lIns="91440" tIns="45720" rIns="91440" bIns="45720" anchor="t"/>
          <a:p>
            <a:pPr eaLnBrk="1" hangingPunct="1"/>
            <a:r>
              <a:rPr lang="zh-CN" altLang="en-US" b="1" dirty="0"/>
              <a:t>例 考虑文法</a:t>
            </a:r>
            <a:r>
              <a:rPr lang="en-US" altLang="zh-CN" b="1" dirty="0"/>
              <a:t>G(S)</a:t>
            </a:r>
            <a:endParaRPr lang="en-US" altLang="zh-CN" b="1" dirty="0"/>
          </a:p>
          <a:p>
            <a:pPr lvl="1" indent="-436245" eaLnBrk="1" hangingPunct="1">
              <a:buNone/>
            </a:pPr>
            <a:r>
              <a:rPr lang="en-US" altLang="zh-CN" b="1" dirty="0"/>
              <a:t>S→Qc|c</a:t>
            </a:r>
            <a:endParaRPr lang="en-US" altLang="zh-CN" b="1" dirty="0"/>
          </a:p>
          <a:p>
            <a:pPr lvl="1" indent="-436245" eaLnBrk="1" hangingPunct="1">
              <a:spcBef>
                <a:spcPct val="0"/>
              </a:spcBef>
              <a:buNone/>
            </a:pPr>
            <a:r>
              <a:rPr lang="en-US" altLang="zh-CN" b="1" dirty="0"/>
              <a:t>Q→Rb|b</a:t>
            </a:r>
            <a:endParaRPr lang="en-US" altLang="zh-CN" b="1" dirty="0"/>
          </a:p>
          <a:p>
            <a:pPr lvl="1" indent="-436245" eaLnBrk="1" hangingPunct="1">
              <a:spcBef>
                <a:spcPct val="0"/>
              </a:spcBef>
              <a:buNone/>
            </a:pPr>
            <a:r>
              <a:rPr lang="en-US" altLang="zh-CN" b="1" dirty="0"/>
              <a:t>R→Sa|a</a:t>
            </a:r>
            <a:endParaRPr lang="en-US" altLang="zh-CN" b="1" dirty="0"/>
          </a:p>
          <a:p>
            <a:pPr eaLnBrk="1" hangingPunct="1">
              <a:spcBef>
                <a:spcPct val="45000"/>
              </a:spcBef>
            </a:pPr>
            <a:r>
              <a:rPr lang="zh-CN" altLang="en-US" b="1" dirty="0"/>
              <a:t>令它的非终结符的排序为</a:t>
            </a:r>
            <a:r>
              <a:rPr lang="en-US" altLang="zh-CN" b="1" dirty="0"/>
              <a:t>R</a:t>
            </a:r>
            <a:r>
              <a:rPr lang="zh-CN" altLang="en-US" b="1" dirty="0"/>
              <a:t>、</a:t>
            </a:r>
            <a:r>
              <a:rPr lang="en-US" altLang="zh-CN" b="1" dirty="0"/>
              <a:t>Q</a:t>
            </a:r>
            <a:r>
              <a:rPr lang="zh-CN" altLang="en-US" b="1" dirty="0"/>
              <a:t>、</a:t>
            </a:r>
            <a:r>
              <a:rPr lang="en-US" altLang="zh-CN" b="1" dirty="0"/>
              <a:t>S</a:t>
            </a:r>
            <a:r>
              <a:rPr lang="zh-CN" altLang="en-US" b="1" dirty="0"/>
              <a:t>。</a:t>
            </a:r>
            <a:endParaRPr lang="zh-CN" altLang="en-US" b="1" dirty="0"/>
          </a:p>
          <a:p>
            <a:pPr eaLnBrk="1" hangingPunct="1">
              <a:spcBef>
                <a:spcPct val="0"/>
              </a:spcBef>
            </a:pPr>
            <a:r>
              <a:rPr lang="en-US" altLang="zh-CN" b="1" dirty="0"/>
              <a:t>Q</a:t>
            </a:r>
            <a:r>
              <a:rPr lang="zh-CN" altLang="en-US" b="1" dirty="0"/>
              <a:t>的规则变为     </a:t>
            </a:r>
            <a:endParaRPr lang="zh-CN" altLang="en-US" b="1" dirty="0"/>
          </a:p>
          <a:p>
            <a:pPr algn="ctr" eaLnBrk="1" hangingPunct="1">
              <a:spcBef>
                <a:spcPct val="0"/>
              </a:spcBef>
              <a:buNone/>
            </a:pPr>
            <a:r>
              <a:rPr lang="en-US" altLang="zh-CN" b="1" dirty="0"/>
              <a:t>Q→Sab | ab | b</a:t>
            </a:r>
            <a:endParaRPr lang="en-US" altLang="zh-CN" b="1" dirty="0"/>
          </a:p>
          <a:p>
            <a:pPr eaLnBrk="1" hangingPunct="1"/>
            <a:r>
              <a:rPr lang="zh-CN" altLang="en-US" b="1" dirty="0"/>
              <a:t>对于</a:t>
            </a:r>
            <a:r>
              <a:rPr lang="en-US" altLang="zh-CN" b="1" dirty="0"/>
              <a:t>S</a:t>
            </a:r>
            <a:r>
              <a:rPr lang="zh-CN" altLang="en-US" b="1" dirty="0"/>
              <a:t>， </a:t>
            </a:r>
            <a:r>
              <a:rPr lang="en-US" altLang="zh-CN" b="1" dirty="0"/>
              <a:t>S→Qc|c</a:t>
            </a:r>
            <a:r>
              <a:rPr lang="zh-CN" altLang="en-US" b="1" dirty="0"/>
              <a:t>产生式中</a:t>
            </a:r>
            <a:r>
              <a:rPr lang="en-US" altLang="zh-CN" b="1" dirty="0"/>
              <a:t>Q</a:t>
            </a:r>
            <a:r>
              <a:rPr lang="zh-CN" altLang="en-US" b="1" dirty="0"/>
              <a:t>序号小于</a:t>
            </a:r>
            <a:r>
              <a:rPr lang="en-US" altLang="zh-CN" b="1" dirty="0"/>
              <a:t>S</a:t>
            </a:r>
            <a:r>
              <a:rPr lang="zh-CN" altLang="en-US" b="1" dirty="0"/>
              <a:t>，把</a:t>
            </a:r>
            <a:r>
              <a:rPr lang="en-US" altLang="zh-CN" b="1" dirty="0"/>
              <a:t>Q</a:t>
            </a:r>
            <a:r>
              <a:rPr lang="zh-CN" altLang="en-US" b="1" dirty="0"/>
              <a:t>的产生式代入到</a:t>
            </a:r>
            <a:r>
              <a:rPr lang="en-US" altLang="zh-CN" b="1" dirty="0"/>
              <a:t>S</a:t>
            </a:r>
            <a:r>
              <a:rPr lang="zh-CN" altLang="en-US" b="1" dirty="0"/>
              <a:t>的有关候选后，</a:t>
            </a:r>
            <a:r>
              <a:rPr lang="en-US" altLang="zh-CN" b="1" dirty="0"/>
              <a:t>S</a:t>
            </a:r>
            <a:r>
              <a:rPr lang="zh-CN" altLang="en-US" b="1" dirty="0"/>
              <a:t>变成</a:t>
            </a:r>
            <a:endParaRPr lang="zh-CN" altLang="en-US" b="1" dirty="0"/>
          </a:p>
          <a:p>
            <a:pPr algn="ctr" eaLnBrk="1" hangingPunct="1">
              <a:buNone/>
            </a:pPr>
            <a:r>
              <a:rPr lang="en-US" altLang="zh-CN" b="1" dirty="0"/>
              <a:t>S→Sabc | abc | bc | c</a:t>
            </a:r>
            <a:endParaRPr lang="en-US" altLang="zh-CN" b="1"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4691">
                                            <p:txEl>
                                              <p:charRg st="77" end="120"/>
                                            </p:txEl>
                                          </p:spTgt>
                                        </p:tgtEl>
                                        <p:attrNameLst>
                                          <p:attrName>style.visibility</p:attrName>
                                        </p:attrNameLst>
                                      </p:cBhvr>
                                      <p:to>
                                        <p:strVal val="visible"/>
                                      </p:to>
                                    </p:set>
                                    <p:animEffect transition="in" filter="wipe(left)">
                                      <p:cBhvr>
                                        <p:cTn id="7" dur="500"/>
                                        <p:tgtEl>
                                          <p:spTgt spid="114691">
                                            <p:txEl>
                                              <p:charRg st="77" end="12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14691">
                                            <p:txEl>
                                              <p:charRg st="120" end="142"/>
                                            </p:txEl>
                                          </p:spTgt>
                                        </p:tgtEl>
                                        <p:attrNameLst>
                                          <p:attrName>style.visibility</p:attrName>
                                        </p:attrNameLst>
                                      </p:cBhvr>
                                      <p:to>
                                        <p:strVal val="visible"/>
                                      </p:to>
                                    </p:set>
                                    <p:animEffect transition="in" filter="wipe(left)">
                                      <p:cBhvr>
                                        <p:cTn id="11" dur="500"/>
                                        <p:tgtEl>
                                          <p:spTgt spid="114691">
                                            <p:txEl>
                                              <p:charRg st="120" end="14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1"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256002" name="Rectangle 2"/>
          <p:cNvSpPr>
            <a:spLocks noGrp="1"/>
          </p:cNvSpPr>
          <p:nvPr>
            <p:ph type="body"/>
          </p:nvPr>
        </p:nvSpPr>
        <p:spPr>
          <a:xfrm>
            <a:off x="685800" y="685800"/>
            <a:ext cx="7772400" cy="5410200"/>
          </a:xfrm>
          <a:ln/>
        </p:spPr>
        <p:txBody>
          <a:bodyPr vert="horz" wrap="square" lIns="91440" tIns="45720" rIns="91440" bIns="45720" anchor="t"/>
          <a:p>
            <a:pPr eaLnBrk="1" hangingPunct="1"/>
            <a:r>
              <a:rPr lang="zh-CN" altLang="en-US" b="1" dirty="0"/>
              <a:t>例 考虑文法</a:t>
            </a:r>
            <a:r>
              <a:rPr lang="en-US" altLang="zh-CN" b="1" dirty="0"/>
              <a:t>G(S)</a:t>
            </a:r>
            <a:endParaRPr lang="en-US" altLang="zh-CN" b="1" dirty="0"/>
          </a:p>
          <a:p>
            <a:pPr lvl="1" indent="-436245" eaLnBrk="1" hangingPunct="1">
              <a:buNone/>
            </a:pPr>
            <a:r>
              <a:rPr lang="en-US" altLang="zh-CN" b="1" dirty="0"/>
              <a:t>S→Qc|c</a:t>
            </a:r>
            <a:endParaRPr lang="en-US" altLang="zh-CN" b="1" dirty="0"/>
          </a:p>
          <a:p>
            <a:pPr lvl="1" indent="-436245" eaLnBrk="1" hangingPunct="1">
              <a:spcBef>
                <a:spcPct val="0"/>
              </a:spcBef>
              <a:buNone/>
            </a:pPr>
            <a:r>
              <a:rPr lang="en-US" altLang="zh-CN" b="1" dirty="0"/>
              <a:t>Q→Rb|b</a:t>
            </a:r>
            <a:endParaRPr lang="en-US" altLang="zh-CN" b="1" dirty="0"/>
          </a:p>
          <a:p>
            <a:pPr lvl="1" indent="-436245" eaLnBrk="1" hangingPunct="1">
              <a:spcBef>
                <a:spcPct val="0"/>
              </a:spcBef>
              <a:buNone/>
            </a:pPr>
            <a:r>
              <a:rPr lang="en-US" altLang="zh-CN" b="1" dirty="0"/>
              <a:t>R→Sa|a</a:t>
            </a:r>
            <a:endParaRPr lang="en-US" altLang="zh-CN" b="1" dirty="0"/>
          </a:p>
          <a:p>
            <a:pPr eaLnBrk="1" hangingPunct="1"/>
            <a:r>
              <a:rPr lang="en-US" altLang="zh-CN" b="1" dirty="0"/>
              <a:t>S</a:t>
            </a:r>
            <a:r>
              <a:rPr lang="zh-CN" altLang="en-US" b="1" dirty="0"/>
              <a:t>变成</a:t>
            </a:r>
            <a:endParaRPr lang="zh-CN" altLang="en-US" b="1" dirty="0"/>
          </a:p>
          <a:p>
            <a:pPr algn="ctr" eaLnBrk="1" hangingPunct="1">
              <a:buNone/>
            </a:pPr>
            <a:r>
              <a:rPr lang="en-US" altLang="zh-CN" b="1" dirty="0"/>
              <a:t>S→Sabc | abc | bc | c</a:t>
            </a:r>
            <a:endParaRPr lang="en-US" altLang="zh-CN" b="1" dirty="0"/>
          </a:p>
          <a:p>
            <a:pPr eaLnBrk="1" hangingPunct="1"/>
            <a:r>
              <a:rPr lang="zh-CN" altLang="en-US" b="1" dirty="0"/>
              <a:t>出现左递归，消除</a:t>
            </a:r>
            <a:r>
              <a:rPr lang="en-US" altLang="zh-CN" b="1" dirty="0"/>
              <a:t>S</a:t>
            </a:r>
            <a:r>
              <a:rPr lang="zh-CN" altLang="en-US" b="1" dirty="0"/>
              <a:t>的直接左递归后：</a:t>
            </a:r>
            <a:endParaRPr lang="zh-CN" altLang="en-US" b="1" dirty="0"/>
          </a:p>
          <a:p>
            <a:pPr eaLnBrk="1" hangingPunct="1">
              <a:spcBef>
                <a:spcPct val="0"/>
              </a:spcBef>
              <a:buNone/>
            </a:pPr>
            <a:r>
              <a:rPr lang="zh-CN" altLang="en-US" b="1" dirty="0"/>
              <a:t>			</a:t>
            </a:r>
            <a:r>
              <a:rPr lang="en-US" altLang="zh-CN" b="1" dirty="0"/>
              <a:t>S→abcS</a:t>
            </a:r>
            <a:r>
              <a:rPr lang="en-US" altLang="zh-CN" b="1" dirty="0">
                <a:sym typeface="Symbol" panose="05050102010706020507" pitchFamily="18" charset="2"/>
              </a:rPr>
              <a:t></a:t>
            </a:r>
            <a:r>
              <a:rPr lang="en-US" altLang="zh-CN" b="1" dirty="0"/>
              <a:t> | bcS</a:t>
            </a:r>
            <a:r>
              <a:rPr lang="en-US" altLang="zh-CN" b="1" dirty="0">
                <a:sym typeface="Symbol" panose="05050102010706020507" pitchFamily="18" charset="2"/>
              </a:rPr>
              <a:t></a:t>
            </a:r>
            <a:r>
              <a:rPr lang="en-US" altLang="zh-CN" b="1" dirty="0"/>
              <a:t> | cS</a:t>
            </a:r>
            <a:r>
              <a:rPr lang="en-US" altLang="zh-CN" b="1" dirty="0">
                <a:sym typeface="Symbol" panose="05050102010706020507" pitchFamily="18" charset="2"/>
              </a:rPr>
              <a:t></a:t>
            </a:r>
            <a:endParaRPr lang="en-US" altLang="zh-CN" b="1" dirty="0"/>
          </a:p>
          <a:p>
            <a:pPr eaLnBrk="1" hangingPunct="1">
              <a:spcBef>
                <a:spcPct val="0"/>
              </a:spcBef>
              <a:buNone/>
            </a:pPr>
            <a:r>
              <a:rPr lang="en-US" altLang="zh-CN" b="1" dirty="0"/>
              <a:t>			S</a:t>
            </a:r>
            <a:r>
              <a:rPr lang="en-US" altLang="zh-CN" b="1" dirty="0">
                <a:sym typeface="Symbol" panose="05050102010706020507" pitchFamily="18" charset="2"/>
              </a:rPr>
              <a:t></a:t>
            </a:r>
            <a:r>
              <a:rPr lang="en-US" altLang="zh-CN" b="1" dirty="0"/>
              <a:t>→abcS</a:t>
            </a:r>
            <a:r>
              <a:rPr lang="en-US" altLang="zh-CN" b="1" dirty="0">
                <a:sym typeface="Symbol" panose="05050102010706020507" pitchFamily="18" charset="2"/>
              </a:rPr>
              <a:t></a:t>
            </a:r>
            <a:r>
              <a:rPr lang="en-US" altLang="zh-CN" b="1" dirty="0"/>
              <a:t> | </a:t>
            </a:r>
            <a:r>
              <a:rPr lang="en-US" altLang="zh-CN" b="1" dirty="0">
                <a:sym typeface="Symbol" panose="05050102010706020507" pitchFamily="18" charset="2"/>
              </a:rPr>
              <a:t></a:t>
            </a:r>
            <a:endParaRPr lang="en-US" altLang="zh-CN" b="1" dirty="0"/>
          </a:p>
          <a:p>
            <a:pPr eaLnBrk="1" hangingPunct="1">
              <a:spcBef>
                <a:spcPct val="0"/>
              </a:spcBef>
              <a:buNone/>
            </a:pPr>
            <a:r>
              <a:rPr lang="en-US" altLang="zh-CN" b="1" dirty="0"/>
              <a:t>			Q→Sab |ab | b</a:t>
            </a:r>
            <a:endParaRPr lang="en-US" altLang="zh-CN" b="1" dirty="0"/>
          </a:p>
          <a:p>
            <a:pPr eaLnBrk="1" hangingPunct="1">
              <a:spcBef>
                <a:spcPct val="0"/>
              </a:spcBef>
              <a:buNone/>
            </a:pPr>
            <a:r>
              <a:rPr lang="en-US" altLang="zh-CN" b="1" dirty="0"/>
              <a:t>			R→Sa|a</a:t>
            </a:r>
            <a:endParaRPr lang="en-US" altLang="zh-CN" b="1"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6002">
                                            <p:txEl>
                                              <p:charRg st="58" end="76"/>
                                            </p:txEl>
                                          </p:spTgt>
                                        </p:tgtEl>
                                        <p:attrNameLst>
                                          <p:attrName>style.visibility</p:attrName>
                                        </p:attrNameLst>
                                      </p:cBhvr>
                                      <p:to>
                                        <p:strVal val="visible"/>
                                      </p:to>
                                    </p:set>
                                    <p:animEffect transition="in" filter="wipe(left)">
                                      <p:cBhvr>
                                        <p:cTn id="7" dur="500"/>
                                        <p:tgtEl>
                                          <p:spTgt spid="256002">
                                            <p:txEl>
                                              <p:charRg st="58" end="76"/>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56002">
                                            <p:txEl>
                                              <p:charRg st="76" end="100"/>
                                            </p:txEl>
                                          </p:spTgt>
                                        </p:tgtEl>
                                        <p:attrNameLst>
                                          <p:attrName>style.visibility</p:attrName>
                                        </p:attrNameLst>
                                      </p:cBhvr>
                                      <p:to>
                                        <p:strVal val="visible"/>
                                      </p:to>
                                    </p:set>
                                    <p:animEffect transition="in" filter="wipe(left)">
                                      <p:cBhvr>
                                        <p:cTn id="12" dur="500"/>
                                        <p:tgtEl>
                                          <p:spTgt spid="256002">
                                            <p:txEl>
                                              <p:charRg st="76" end="10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56002">
                                            <p:txEl>
                                              <p:charRg st="100" end="116"/>
                                            </p:txEl>
                                          </p:spTgt>
                                        </p:tgtEl>
                                        <p:attrNameLst>
                                          <p:attrName>style.visibility</p:attrName>
                                        </p:attrNameLst>
                                      </p:cBhvr>
                                      <p:to>
                                        <p:strVal val="visible"/>
                                      </p:to>
                                    </p:set>
                                    <p:animEffect transition="in" filter="wipe(left)">
                                      <p:cBhvr>
                                        <p:cTn id="17" dur="500"/>
                                        <p:tgtEl>
                                          <p:spTgt spid="256002">
                                            <p:txEl>
                                              <p:charRg st="100" end="11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56002">
                                            <p:txEl>
                                              <p:charRg st="116" end="133"/>
                                            </p:txEl>
                                          </p:spTgt>
                                        </p:tgtEl>
                                        <p:attrNameLst>
                                          <p:attrName>style.visibility</p:attrName>
                                        </p:attrNameLst>
                                      </p:cBhvr>
                                      <p:to>
                                        <p:strVal val="visible"/>
                                      </p:to>
                                    </p:set>
                                    <p:animEffect transition="in" filter="wipe(left)">
                                      <p:cBhvr>
                                        <p:cTn id="22" dur="500"/>
                                        <p:tgtEl>
                                          <p:spTgt spid="256002">
                                            <p:txEl>
                                              <p:charRg st="116" end="13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56002">
                                            <p:txEl>
                                              <p:charRg st="133" end="143"/>
                                            </p:txEl>
                                          </p:spTgt>
                                        </p:tgtEl>
                                        <p:attrNameLst>
                                          <p:attrName>style.visibility</p:attrName>
                                        </p:attrNameLst>
                                      </p:cBhvr>
                                      <p:to>
                                        <p:strVal val="visible"/>
                                      </p:to>
                                    </p:set>
                                    <p:animEffect transition="in" filter="wipe(left)">
                                      <p:cBhvr>
                                        <p:cTn id="27" dur="500"/>
                                        <p:tgtEl>
                                          <p:spTgt spid="256002">
                                            <p:txEl>
                                              <p:charRg st="133" end="14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02"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257026" name="Rectangle 2"/>
          <p:cNvSpPr>
            <a:spLocks noGrp="1"/>
          </p:cNvSpPr>
          <p:nvPr>
            <p:ph type="body"/>
          </p:nvPr>
        </p:nvSpPr>
        <p:spPr>
          <a:xfrm>
            <a:off x="684213" y="476250"/>
            <a:ext cx="7772400" cy="5410200"/>
          </a:xfrm>
          <a:ln/>
        </p:spPr>
        <p:txBody>
          <a:bodyPr vert="horz" wrap="square" lIns="91440" tIns="45720" rIns="91440" bIns="45720" anchor="t"/>
          <a:p>
            <a:pPr eaLnBrk="1" hangingPunct="1"/>
            <a:r>
              <a:rPr lang="zh-CN" altLang="en-US" b="1" dirty="0"/>
              <a:t>例 考虑文法</a:t>
            </a:r>
            <a:r>
              <a:rPr lang="en-US" altLang="zh-CN" b="1" dirty="0"/>
              <a:t>G(S)</a:t>
            </a:r>
            <a:endParaRPr lang="en-US" altLang="zh-CN" b="1" dirty="0"/>
          </a:p>
          <a:p>
            <a:pPr lvl="1" indent="-436245" eaLnBrk="1" hangingPunct="1">
              <a:buNone/>
            </a:pPr>
            <a:r>
              <a:rPr lang="en-US" altLang="zh-CN" b="1" dirty="0"/>
              <a:t>S→Qc|c</a:t>
            </a:r>
            <a:endParaRPr lang="en-US" altLang="zh-CN" b="1" dirty="0"/>
          </a:p>
          <a:p>
            <a:pPr lvl="1" indent="-436245" eaLnBrk="1" hangingPunct="1">
              <a:spcBef>
                <a:spcPct val="0"/>
              </a:spcBef>
              <a:buNone/>
            </a:pPr>
            <a:r>
              <a:rPr lang="en-US" altLang="zh-CN" b="1" dirty="0"/>
              <a:t>Q→Rb|b</a:t>
            </a:r>
            <a:endParaRPr lang="en-US" altLang="zh-CN" b="1" dirty="0"/>
          </a:p>
          <a:p>
            <a:pPr lvl="1" indent="-436245" eaLnBrk="1" hangingPunct="1">
              <a:spcBef>
                <a:spcPct val="0"/>
              </a:spcBef>
              <a:buNone/>
            </a:pPr>
            <a:r>
              <a:rPr lang="en-US" altLang="zh-CN" b="1" dirty="0"/>
              <a:t>R→Sa|a</a:t>
            </a:r>
            <a:endParaRPr lang="en-US" altLang="zh-CN" b="1" dirty="0"/>
          </a:p>
          <a:p>
            <a:pPr eaLnBrk="1" hangingPunct="1"/>
            <a:r>
              <a:rPr lang="zh-CN" altLang="en-US" b="1" dirty="0"/>
              <a:t>消除</a:t>
            </a:r>
            <a:r>
              <a:rPr lang="en-US" altLang="zh-CN" b="1" dirty="0"/>
              <a:t>S</a:t>
            </a:r>
            <a:r>
              <a:rPr lang="zh-CN" altLang="en-US" b="1" dirty="0"/>
              <a:t>的直接左递归后：</a:t>
            </a:r>
            <a:endParaRPr lang="zh-CN" altLang="en-US" b="1" dirty="0"/>
          </a:p>
          <a:p>
            <a:pPr eaLnBrk="1" hangingPunct="1">
              <a:spcBef>
                <a:spcPct val="0"/>
              </a:spcBef>
              <a:buNone/>
            </a:pPr>
            <a:r>
              <a:rPr lang="zh-CN" altLang="en-US" b="1" dirty="0"/>
              <a:t>			</a:t>
            </a:r>
            <a:r>
              <a:rPr lang="en-US" altLang="zh-CN" b="1" dirty="0"/>
              <a:t>S→abcS</a:t>
            </a:r>
            <a:r>
              <a:rPr lang="en-US" altLang="zh-CN" b="1" dirty="0">
                <a:sym typeface="Symbol" panose="05050102010706020507" pitchFamily="18" charset="2"/>
              </a:rPr>
              <a:t></a:t>
            </a:r>
            <a:r>
              <a:rPr lang="en-US" altLang="zh-CN" b="1" dirty="0"/>
              <a:t> | bcS</a:t>
            </a:r>
            <a:r>
              <a:rPr lang="en-US" altLang="zh-CN" b="1" dirty="0">
                <a:sym typeface="Symbol" panose="05050102010706020507" pitchFamily="18" charset="2"/>
              </a:rPr>
              <a:t></a:t>
            </a:r>
            <a:r>
              <a:rPr lang="en-US" altLang="zh-CN" b="1" dirty="0"/>
              <a:t> | cS</a:t>
            </a:r>
            <a:r>
              <a:rPr lang="en-US" altLang="zh-CN" b="1" dirty="0">
                <a:sym typeface="Symbol" panose="05050102010706020507" pitchFamily="18" charset="2"/>
              </a:rPr>
              <a:t></a:t>
            </a:r>
            <a:endParaRPr lang="en-US" altLang="zh-CN" b="1" dirty="0"/>
          </a:p>
          <a:p>
            <a:pPr eaLnBrk="1" hangingPunct="1">
              <a:spcBef>
                <a:spcPct val="0"/>
              </a:spcBef>
              <a:buNone/>
            </a:pPr>
            <a:r>
              <a:rPr lang="en-US" altLang="zh-CN" b="1" dirty="0"/>
              <a:t>			S</a:t>
            </a:r>
            <a:r>
              <a:rPr lang="en-US" altLang="zh-CN" b="1" dirty="0">
                <a:sym typeface="Symbol" panose="05050102010706020507" pitchFamily="18" charset="2"/>
              </a:rPr>
              <a:t></a:t>
            </a:r>
            <a:r>
              <a:rPr lang="en-US" altLang="zh-CN" b="1" dirty="0"/>
              <a:t>→abcS</a:t>
            </a:r>
            <a:r>
              <a:rPr lang="en-US" altLang="zh-CN" b="1" dirty="0">
                <a:sym typeface="Symbol" panose="05050102010706020507" pitchFamily="18" charset="2"/>
              </a:rPr>
              <a:t></a:t>
            </a:r>
            <a:r>
              <a:rPr lang="en-US" altLang="zh-CN" b="1" dirty="0"/>
              <a:t> | </a:t>
            </a:r>
            <a:r>
              <a:rPr lang="en-US" altLang="zh-CN" b="1" dirty="0">
                <a:sym typeface="Symbol" panose="05050102010706020507" pitchFamily="18" charset="2"/>
              </a:rPr>
              <a:t></a:t>
            </a:r>
            <a:endParaRPr lang="en-US" altLang="zh-CN" b="1" dirty="0"/>
          </a:p>
          <a:p>
            <a:pPr eaLnBrk="1" hangingPunct="1">
              <a:spcBef>
                <a:spcPct val="0"/>
              </a:spcBef>
              <a:buNone/>
            </a:pPr>
            <a:r>
              <a:rPr lang="en-US" altLang="zh-CN" b="1" dirty="0"/>
              <a:t>			Q→Sab |ab | b</a:t>
            </a:r>
            <a:endParaRPr lang="en-US" altLang="zh-CN" b="1" dirty="0"/>
          </a:p>
          <a:p>
            <a:pPr eaLnBrk="1" hangingPunct="1">
              <a:spcBef>
                <a:spcPct val="0"/>
              </a:spcBef>
              <a:buNone/>
            </a:pPr>
            <a:r>
              <a:rPr lang="en-US" altLang="zh-CN" b="1" dirty="0"/>
              <a:t>			R→Sa|a</a:t>
            </a:r>
            <a:endParaRPr lang="en-US" altLang="zh-CN" b="1" dirty="0"/>
          </a:p>
          <a:p>
            <a:pPr eaLnBrk="1" hangingPunct="1"/>
            <a:r>
              <a:rPr lang="zh-CN" altLang="en-US" b="1" dirty="0"/>
              <a:t>关于</a:t>
            </a:r>
            <a:r>
              <a:rPr lang="en-US" altLang="zh-CN" b="1" dirty="0"/>
              <a:t>Q</a:t>
            </a:r>
            <a:r>
              <a:rPr lang="zh-CN" altLang="en-US" b="1" dirty="0"/>
              <a:t>和</a:t>
            </a:r>
            <a:r>
              <a:rPr lang="en-US" altLang="zh-CN" b="1" dirty="0"/>
              <a:t>R</a:t>
            </a:r>
            <a:r>
              <a:rPr lang="zh-CN" altLang="en-US" b="1" dirty="0"/>
              <a:t>的规则已是多余的，化简为：</a:t>
            </a:r>
            <a:endParaRPr lang="zh-CN" altLang="en-US" b="1" dirty="0"/>
          </a:p>
          <a:p>
            <a:pPr eaLnBrk="1" hangingPunct="1">
              <a:spcBef>
                <a:spcPct val="0"/>
              </a:spcBef>
              <a:buNone/>
            </a:pPr>
            <a:r>
              <a:rPr lang="zh-CN" altLang="en-US" b="1" dirty="0"/>
              <a:t>		</a:t>
            </a:r>
            <a:r>
              <a:rPr lang="en-US" altLang="zh-CN" b="1" dirty="0"/>
              <a:t>S→abcS</a:t>
            </a:r>
            <a:r>
              <a:rPr lang="en-US" altLang="zh-CN" b="1" dirty="0">
                <a:sym typeface="Symbol" panose="05050102010706020507" pitchFamily="18" charset="2"/>
              </a:rPr>
              <a:t></a:t>
            </a:r>
            <a:r>
              <a:rPr lang="en-US" altLang="zh-CN" b="1" dirty="0"/>
              <a:t> | bcS</a:t>
            </a:r>
            <a:r>
              <a:rPr lang="en-US" altLang="zh-CN" b="1" dirty="0">
                <a:sym typeface="Symbol" panose="05050102010706020507" pitchFamily="18" charset="2"/>
              </a:rPr>
              <a:t></a:t>
            </a:r>
            <a:r>
              <a:rPr lang="en-US" altLang="zh-CN" b="1" dirty="0"/>
              <a:t> | cS</a:t>
            </a:r>
            <a:r>
              <a:rPr lang="en-US" altLang="zh-CN" b="1" dirty="0">
                <a:sym typeface="Symbol" panose="05050102010706020507" pitchFamily="18" charset="2"/>
              </a:rPr>
              <a:t></a:t>
            </a:r>
            <a:endParaRPr lang="en-US" altLang="zh-CN" b="1" dirty="0"/>
          </a:p>
          <a:p>
            <a:pPr eaLnBrk="1" hangingPunct="1">
              <a:spcBef>
                <a:spcPct val="0"/>
              </a:spcBef>
              <a:buNone/>
            </a:pPr>
            <a:r>
              <a:rPr lang="en-US" altLang="zh-CN" b="1" dirty="0"/>
              <a:t>		S</a:t>
            </a:r>
            <a:r>
              <a:rPr lang="en-US" altLang="zh-CN" b="1" dirty="0">
                <a:sym typeface="Symbol" panose="05050102010706020507" pitchFamily="18" charset="2"/>
              </a:rPr>
              <a:t></a:t>
            </a:r>
            <a:r>
              <a:rPr lang="en-US" altLang="zh-CN" b="1" dirty="0"/>
              <a:t>→abcS</a:t>
            </a:r>
            <a:r>
              <a:rPr lang="en-US" altLang="zh-CN" b="1" dirty="0">
                <a:sym typeface="Symbol" panose="05050102010706020507" pitchFamily="18" charset="2"/>
              </a:rPr>
              <a:t></a:t>
            </a:r>
            <a:r>
              <a:rPr lang="en-US" altLang="zh-CN" b="1" dirty="0"/>
              <a:t> | </a:t>
            </a:r>
            <a:r>
              <a:rPr lang="en-US" altLang="zh-CN" b="1" dirty="0">
                <a:sym typeface="Symbol" panose="05050102010706020507" pitchFamily="18" charset="2"/>
              </a:rPr>
              <a:t></a:t>
            </a:r>
            <a:r>
              <a:rPr lang="en-US" altLang="zh-CN" b="1" dirty="0"/>
              <a:t>              (4.4)</a:t>
            </a:r>
            <a:endParaRPr lang="en-US" altLang="zh-CN" b="1"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7026">
                                            <p:txEl>
                                              <p:charRg st="111" end="130"/>
                                            </p:txEl>
                                          </p:spTgt>
                                        </p:tgtEl>
                                        <p:attrNameLst>
                                          <p:attrName>style.visibility</p:attrName>
                                        </p:attrNameLst>
                                      </p:cBhvr>
                                      <p:to>
                                        <p:strVal val="visible"/>
                                      </p:to>
                                    </p:set>
                                    <p:animEffect transition="in" filter="wipe(left)">
                                      <p:cBhvr>
                                        <p:cTn id="7" dur="500"/>
                                        <p:tgtEl>
                                          <p:spTgt spid="257026">
                                            <p:txEl>
                                              <p:charRg st="111" end="13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57026">
                                            <p:txEl>
                                              <p:charRg st="130" end="153"/>
                                            </p:txEl>
                                          </p:spTgt>
                                        </p:tgtEl>
                                        <p:attrNameLst>
                                          <p:attrName>style.visibility</p:attrName>
                                        </p:attrNameLst>
                                      </p:cBhvr>
                                      <p:to>
                                        <p:strVal val="visible"/>
                                      </p:to>
                                    </p:set>
                                    <p:animEffect transition="in" filter="wipe(left)">
                                      <p:cBhvr>
                                        <p:cTn id="12" dur="500"/>
                                        <p:tgtEl>
                                          <p:spTgt spid="257026">
                                            <p:txEl>
                                              <p:charRg st="130" end="15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57026">
                                            <p:txEl>
                                              <p:charRg st="153" end="187"/>
                                            </p:txEl>
                                          </p:spTgt>
                                        </p:tgtEl>
                                        <p:attrNameLst>
                                          <p:attrName>style.visibility</p:attrName>
                                        </p:attrNameLst>
                                      </p:cBhvr>
                                      <p:to>
                                        <p:strVal val="visible"/>
                                      </p:to>
                                    </p:set>
                                    <p:animEffect transition="in" filter="wipe(left)">
                                      <p:cBhvr>
                                        <p:cTn id="17" dur="500"/>
                                        <p:tgtEl>
                                          <p:spTgt spid="257026">
                                            <p:txEl>
                                              <p:charRg st="153" end="18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7026"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115715" name="Rectangle 3"/>
          <p:cNvSpPr>
            <a:spLocks noGrp="1"/>
          </p:cNvSpPr>
          <p:nvPr>
            <p:ph type="body"/>
          </p:nvPr>
        </p:nvSpPr>
        <p:spPr>
          <a:xfrm>
            <a:off x="684213" y="620713"/>
            <a:ext cx="7772400" cy="5638800"/>
          </a:xfrm>
          <a:ln/>
        </p:spPr>
        <p:txBody>
          <a:bodyPr vert="horz" wrap="square" lIns="91440" tIns="45720" rIns="91440" bIns="45720" anchor="t"/>
          <a:p>
            <a:pPr eaLnBrk="1" hangingPunct="1"/>
            <a:r>
              <a:rPr lang="zh-CN" altLang="en-US" b="1" dirty="0"/>
              <a:t>注意，由于对非终结符排序的不同，最后所得的文法在形式上可能不一样。但不难证明，它们都是等价的。</a:t>
            </a:r>
            <a:endParaRPr lang="zh-CN" altLang="en-US" b="1" dirty="0"/>
          </a:p>
          <a:p>
            <a:pPr eaLnBrk="1" hangingPunct="1"/>
            <a:r>
              <a:rPr lang="zh-CN" altLang="en-US" b="1" dirty="0"/>
              <a:t>例如，若对文法</a:t>
            </a:r>
            <a:r>
              <a:rPr lang="en-US" altLang="zh-CN" b="1" dirty="0"/>
              <a:t>(4.3)</a:t>
            </a:r>
            <a:r>
              <a:rPr lang="zh-CN" altLang="en-US" b="1" dirty="0"/>
              <a:t>的非终结符排序选为</a:t>
            </a:r>
            <a:r>
              <a:rPr lang="en-US" altLang="zh-CN" b="1" dirty="0"/>
              <a:t>S</a:t>
            </a:r>
            <a:r>
              <a:rPr lang="zh-CN" altLang="en-US" b="1" dirty="0"/>
              <a:t>、</a:t>
            </a:r>
            <a:r>
              <a:rPr lang="en-US" altLang="zh-CN" b="1" dirty="0"/>
              <a:t>Q</a:t>
            </a:r>
            <a:r>
              <a:rPr lang="zh-CN" altLang="en-US" b="1" dirty="0"/>
              <a:t>、</a:t>
            </a:r>
            <a:r>
              <a:rPr lang="en-US" altLang="zh-CN" b="1" dirty="0"/>
              <a:t>R</a:t>
            </a:r>
            <a:r>
              <a:rPr lang="zh-CN" altLang="en-US" b="1" dirty="0"/>
              <a:t>，那么，最后所得的无左递归文法是：</a:t>
            </a:r>
            <a:endParaRPr lang="zh-CN" altLang="en-US" b="1" dirty="0"/>
          </a:p>
          <a:p>
            <a:pPr eaLnBrk="1" hangingPunct="1">
              <a:spcBef>
                <a:spcPct val="0"/>
              </a:spcBef>
              <a:buNone/>
            </a:pPr>
            <a:r>
              <a:rPr lang="zh-CN" altLang="en-US" b="1" dirty="0"/>
              <a:t>		</a:t>
            </a:r>
            <a:r>
              <a:rPr lang="en-US" altLang="zh-CN" b="1" dirty="0"/>
              <a:t>S→Qc | c</a:t>
            </a:r>
            <a:endParaRPr lang="en-US" altLang="zh-CN" b="1" dirty="0"/>
          </a:p>
          <a:p>
            <a:pPr eaLnBrk="1" hangingPunct="1">
              <a:spcBef>
                <a:spcPct val="0"/>
              </a:spcBef>
              <a:buNone/>
            </a:pPr>
            <a:r>
              <a:rPr lang="en-US" altLang="zh-CN" b="1" dirty="0"/>
              <a:t>		Q→Rb | b</a:t>
            </a:r>
            <a:endParaRPr lang="en-US" altLang="zh-CN" b="1" dirty="0"/>
          </a:p>
          <a:p>
            <a:pPr eaLnBrk="1" hangingPunct="1">
              <a:spcBef>
                <a:spcPct val="0"/>
              </a:spcBef>
              <a:buNone/>
            </a:pPr>
            <a:r>
              <a:rPr lang="en-US" altLang="zh-CN" b="1" dirty="0"/>
              <a:t>		R→bcaR</a:t>
            </a:r>
            <a:r>
              <a:rPr lang="en-US" altLang="zh-CN" b="1" dirty="0">
                <a:sym typeface="Symbol" panose="05050102010706020507" pitchFamily="18" charset="2"/>
              </a:rPr>
              <a:t></a:t>
            </a:r>
            <a:r>
              <a:rPr lang="en-US" altLang="zh-CN" b="1" dirty="0"/>
              <a:t> | caR</a:t>
            </a:r>
            <a:r>
              <a:rPr lang="en-US" altLang="zh-CN" b="1" dirty="0">
                <a:sym typeface="Symbol" panose="05050102010706020507" pitchFamily="18" charset="2"/>
              </a:rPr>
              <a:t></a:t>
            </a:r>
            <a:r>
              <a:rPr lang="en-US" altLang="zh-CN" b="1" dirty="0"/>
              <a:t> |a R</a:t>
            </a:r>
            <a:r>
              <a:rPr lang="en-US" altLang="zh-CN" b="1" dirty="0">
                <a:sym typeface="Symbol" panose="05050102010706020507" pitchFamily="18" charset="2"/>
              </a:rPr>
              <a:t></a:t>
            </a:r>
            <a:r>
              <a:rPr lang="en-US" altLang="zh-CN" b="1" dirty="0"/>
              <a:t>                (4.5)</a:t>
            </a:r>
            <a:endParaRPr lang="en-US" altLang="zh-CN" b="1" dirty="0"/>
          </a:p>
          <a:p>
            <a:pPr eaLnBrk="1" hangingPunct="1">
              <a:spcBef>
                <a:spcPct val="0"/>
              </a:spcBef>
              <a:buNone/>
            </a:pPr>
            <a:r>
              <a:rPr lang="en-US" altLang="zh-CN" b="1" dirty="0"/>
              <a:t>		R</a:t>
            </a:r>
            <a:r>
              <a:rPr lang="en-US" altLang="zh-CN" b="1" dirty="0">
                <a:sym typeface="Symbol" panose="05050102010706020507" pitchFamily="18" charset="2"/>
              </a:rPr>
              <a:t></a:t>
            </a:r>
            <a:r>
              <a:rPr lang="en-US" altLang="zh-CN" b="1" dirty="0"/>
              <a:t>→ bca R</a:t>
            </a:r>
            <a:r>
              <a:rPr lang="en-US" altLang="zh-CN" b="1" dirty="0">
                <a:sym typeface="Symbol" panose="05050102010706020507" pitchFamily="18" charset="2"/>
              </a:rPr>
              <a:t></a:t>
            </a:r>
            <a:r>
              <a:rPr lang="en-US" altLang="zh-CN" b="1" dirty="0"/>
              <a:t> | </a:t>
            </a:r>
            <a:r>
              <a:rPr lang="en-US" altLang="zh-CN" b="1" dirty="0">
                <a:sym typeface="Symbol" panose="05050102010706020507" pitchFamily="18" charset="2"/>
              </a:rPr>
              <a:t></a:t>
            </a:r>
            <a:r>
              <a:rPr lang="en-US" altLang="zh-CN" b="1" dirty="0"/>
              <a:t>			</a:t>
            </a:r>
            <a:endParaRPr lang="en-US" altLang="zh-CN" b="1" dirty="0"/>
          </a:p>
          <a:p>
            <a:pPr eaLnBrk="1" hangingPunct="1"/>
            <a:r>
              <a:rPr lang="zh-CN" altLang="en-US" b="1" dirty="0"/>
              <a:t>文法</a:t>
            </a:r>
            <a:r>
              <a:rPr lang="en-US" altLang="zh-CN" b="1" dirty="0"/>
              <a:t>(4.4)</a:t>
            </a:r>
            <a:r>
              <a:rPr lang="zh-CN" altLang="en-US" b="1" dirty="0"/>
              <a:t>和</a:t>
            </a:r>
            <a:r>
              <a:rPr lang="en-US" altLang="zh-CN" b="1" dirty="0"/>
              <a:t>(4.5)</a:t>
            </a:r>
            <a:r>
              <a:rPr lang="zh-CN" altLang="en-US" b="1" dirty="0"/>
              <a:t>的等价性是显然的。</a:t>
            </a:r>
            <a:endParaRPr lang="zh-CN" altLang="en-US" b="1"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15715">
                                            <p:txEl>
                                              <p:charRg st="0" end="48"/>
                                            </p:txEl>
                                          </p:spTgt>
                                        </p:tgtEl>
                                        <p:attrNameLst>
                                          <p:attrName>style.visibility</p:attrName>
                                        </p:attrNameLst>
                                      </p:cBhvr>
                                      <p:to>
                                        <p:strVal val="visible"/>
                                      </p:to>
                                    </p:set>
                                    <p:animEffect transition="in" filter="wipe(up)">
                                      <p:cBhvr>
                                        <p:cTn id="7" dur="500"/>
                                        <p:tgtEl>
                                          <p:spTgt spid="115715">
                                            <p:txEl>
                                              <p:charRg st="0" end="48"/>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5715">
                                            <p:txEl>
                                              <p:charRg st="48" end="92"/>
                                            </p:txEl>
                                          </p:spTgt>
                                        </p:tgtEl>
                                        <p:attrNameLst>
                                          <p:attrName>style.visibility</p:attrName>
                                        </p:attrNameLst>
                                      </p:cBhvr>
                                      <p:to>
                                        <p:strVal val="visible"/>
                                      </p:to>
                                    </p:set>
                                    <p:animEffect transition="in" filter="wipe(up)">
                                      <p:cBhvr>
                                        <p:cTn id="12" dur="500"/>
                                        <p:tgtEl>
                                          <p:spTgt spid="115715">
                                            <p:txEl>
                                              <p:charRg st="48" end="92"/>
                                            </p:txEl>
                                          </p:spTgt>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15715">
                                            <p:txEl>
                                              <p:charRg st="92" end="103"/>
                                            </p:txEl>
                                          </p:spTgt>
                                        </p:tgtEl>
                                        <p:attrNameLst>
                                          <p:attrName>style.visibility</p:attrName>
                                        </p:attrNameLst>
                                      </p:cBhvr>
                                      <p:to>
                                        <p:strVal val="visible"/>
                                      </p:to>
                                    </p:set>
                                    <p:animEffect transition="in" filter="wipe(left)">
                                      <p:cBhvr>
                                        <p:cTn id="16" dur="500"/>
                                        <p:tgtEl>
                                          <p:spTgt spid="115715">
                                            <p:txEl>
                                              <p:charRg st="92" end="103"/>
                                            </p:txEl>
                                          </p:spTgt>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115715">
                                            <p:txEl>
                                              <p:charRg st="103" end="114"/>
                                            </p:txEl>
                                          </p:spTgt>
                                        </p:tgtEl>
                                        <p:attrNameLst>
                                          <p:attrName>style.visibility</p:attrName>
                                        </p:attrNameLst>
                                      </p:cBhvr>
                                      <p:to>
                                        <p:strVal val="visible"/>
                                      </p:to>
                                    </p:set>
                                    <p:animEffect transition="in" filter="wipe(left)">
                                      <p:cBhvr>
                                        <p:cTn id="20" dur="500"/>
                                        <p:tgtEl>
                                          <p:spTgt spid="115715">
                                            <p:txEl>
                                              <p:charRg st="103" end="114"/>
                                            </p:txEl>
                                          </p:spTgt>
                                        </p:tgtEl>
                                      </p:cBhvr>
                                    </p:animEffect>
                                  </p:childTnLst>
                                </p:cTn>
                              </p:par>
                            </p:childTnLst>
                          </p:cTn>
                        </p:par>
                        <p:par>
                          <p:cTn id="21" fill="hold">
                            <p:stCondLst>
                              <p:cond delay="1500"/>
                            </p:stCondLst>
                            <p:childTnLst>
                              <p:par>
                                <p:cTn id="22" presetID="22" presetClass="entr" presetSubtype="8" fill="hold" grpId="0" nodeType="afterEffect">
                                  <p:stCondLst>
                                    <p:cond delay="0"/>
                                  </p:stCondLst>
                                  <p:childTnLst>
                                    <p:set>
                                      <p:cBhvr>
                                        <p:cTn id="23" dur="1" fill="hold">
                                          <p:stCondLst>
                                            <p:cond delay="0"/>
                                          </p:stCondLst>
                                        </p:cTn>
                                        <p:tgtEl>
                                          <p:spTgt spid="115715">
                                            <p:txEl>
                                              <p:charRg st="114" end="158"/>
                                            </p:txEl>
                                          </p:spTgt>
                                        </p:tgtEl>
                                        <p:attrNameLst>
                                          <p:attrName>style.visibility</p:attrName>
                                        </p:attrNameLst>
                                      </p:cBhvr>
                                      <p:to>
                                        <p:strVal val="visible"/>
                                      </p:to>
                                    </p:set>
                                    <p:animEffect transition="in" filter="wipe(left)">
                                      <p:cBhvr>
                                        <p:cTn id="24" dur="500"/>
                                        <p:tgtEl>
                                          <p:spTgt spid="115715">
                                            <p:txEl>
                                              <p:charRg st="114" end="158"/>
                                            </p:txEl>
                                          </p:spTgt>
                                        </p:tgtEl>
                                      </p:cBhvr>
                                    </p:animEffect>
                                  </p:childTnLst>
                                </p:cTn>
                              </p:par>
                            </p:childTnLst>
                          </p:cTn>
                        </p:par>
                        <p:par>
                          <p:cTn id="25" fill="hold">
                            <p:stCondLst>
                              <p:cond delay="2000"/>
                            </p:stCondLst>
                            <p:childTnLst>
                              <p:par>
                                <p:cTn id="26" presetID="22" presetClass="entr" presetSubtype="8" fill="hold" grpId="0" nodeType="afterEffect">
                                  <p:stCondLst>
                                    <p:cond delay="0"/>
                                  </p:stCondLst>
                                  <p:childTnLst>
                                    <p:set>
                                      <p:cBhvr>
                                        <p:cTn id="27" dur="1" fill="hold">
                                          <p:stCondLst>
                                            <p:cond delay="0"/>
                                          </p:stCondLst>
                                        </p:cTn>
                                        <p:tgtEl>
                                          <p:spTgt spid="115715">
                                            <p:txEl>
                                              <p:charRg st="158" end="178"/>
                                            </p:txEl>
                                          </p:spTgt>
                                        </p:tgtEl>
                                        <p:attrNameLst>
                                          <p:attrName>style.visibility</p:attrName>
                                        </p:attrNameLst>
                                      </p:cBhvr>
                                      <p:to>
                                        <p:strVal val="visible"/>
                                      </p:to>
                                    </p:set>
                                    <p:animEffect transition="in" filter="wipe(left)">
                                      <p:cBhvr>
                                        <p:cTn id="28" dur="500"/>
                                        <p:tgtEl>
                                          <p:spTgt spid="115715">
                                            <p:txEl>
                                              <p:charRg st="158" end="178"/>
                                            </p:txEl>
                                          </p:spTgt>
                                        </p:tgtEl>
                                      </p:cBhvr>
                                    </p:animEffect>
                                  </p:childTnLst>
                                </p:cTn>
                              </p:par>
                            </p:childTnLst>
                          </p:cTn>
                        </p:par>
                        <p:par>
                          <p:cTn id="29" fill="hold">
                            <p:stCondLst>
                              <p:cond delay="2500"/>
                            </p:stCondLst>
                            <p:childTnLst>
                              <p:par>
                                <p:cTn id="30" presetID="22" presetClass="entr" presetSubtype="8" fill="hold" grpId="0" nodeType="afterEffect">
                                  <p:stCondLst>
                                    <p:cond delay="2000"/>
                                  </p:stCondLst>
                                  <p:childTnLst>
                                    <p:set>
                                      <p:cBhvr>
                                        <p:cTn id="31" dur="1" fill="hold">
                                          <p:stCondLst>
                                            <p:cond delay="0"/>
                                          </p:stCondLst>
                                        </p:cTn>
                                        <p:tgtEl>
                                          <p:spTgt spid="115715">
                                            <p:txEl>
                                              <p:charRg st="178" end="201"/>
                                            </p:txEl>
                                          </p:spTgt>
                                        </p:tgtEl>
                                        <p:attrNameLst>
                                          <p:attrName>style.visibility</p:attrName>
                                        </p:attrNameLst>
                                      </p:cBhvr>
                                      <p:to>
                                        <p:strVal val="visible"/>
                                      </p:to>
                                    </p:set>
                                    <p:animEffect transition="in" filter="wipe(left)">
                                      <p:cBhvr>
                                        <p:cTn id="32" dur="500"/>
                                        <p:tgtEl>
                                          <p:spTgt spid="115715">
                                            <p:txEl>
                                              <p:charRg st="178" end="20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5"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32770" name="Rectangle 2"/>
          <p:cNvSpPr>
            <a:spLocks noGrp="1"/>
          </p:cNvSpPr>
          <p:nvPr>
            <p:ph type="title"/>
          </p:nvPr>
        </p:nvSpPr>
        <p:spPr>
          <a:ln/>
        </p:spPr>
        <p:txBody>
          <a:bodyPr vert="horz" wrap="square" lIns="91440" tIns="45720" rIns="91440" bIns="45720" anchor="ctr"/>
          <a:p>
            <a:pPr eaLnBrk="1" hangingPunct="1"/>
            <a:r>
              <a:rPr lang="en-US" altLang="zh-CN" b="1" dirty="0"/>
              <a:t>4.3.2  </a:t>
            </a:r>
            <a:r>
              <a:rPr lang="zh-CN" altLang="en-US" b="1" dirty="0"/>
              <a:t>消除回溯、提左因子</a:t>
            </a:r>
            <a:endParaRPr lang="zh-CN" altLang="en-US" b="1" dirty="0"/>
          </a:p>
        </p:txBody>
      </p:sp>
      <p:sp>
        <p:nvSpPr>
          <p:cNvPr id="116739" name="Rectangle 3"/>
          <p:cNvSpPr>
            <a:spLocks noGrp="1"/>
          </p:cNvSpPr>
          <p:nvPr>
            <p:ph type="body"/>
          </p:nvPr>
        </p:nvSpPr>
        <p:spPr>
          <a:xfrm>
            <a:off x="684213" y="1484313"/>
            <a:ext cx="7696200" cy="3384550"/>
          </a:xfrm>
          <a:ln/>
        </p:spPr>
        <p:txBody>
          <a:bodyPr vert="horz" wrap="square" lIns="91440" tIns="45720" rIns="91440" bIns="45720" anchor="t"/>
          <a:p>
            <a:pPr eaLnBrk="1" hangingPunct="1">
              <a:spcBef>
                <a:spcPts val="1000"/>
              </a:spcBef>
              <a:spcAft>
                <a:spcPts val="1000"/>
              </a:spcAft>
              <a:buChar char="n"/>
            </a:pPr>
            <a:r>
              <a:rPr lang="zh-CN" altLang="en-US" sz="2400" b="1" dirty="0"/>
              <a:t>产生回溯的原因：推导时，若产生式存在多个候选式，选择哪个进行推导存在不确定性。</a:t>
            </a:r>
            <a:endParaRPr lang="zh-CN" altLang="en-US" sz="2400" b="1" dirty="0"/>
          </a:p>
          <a:p>
            <a:pPr eaLnBrk="1" hangingPunct="1">
              <a:spcBef>
                <a:spcPts val="1000"/>
              </a:spcBef>
              <a:spcAft>
                <a:spcPts val="1000"/>
              </a:spcAft>
              <a:buChar char="n"/>
            </a:pPr>
            <a:r>
              <a:rPr lang="zh-CN" altLang="en-US" sz="2400" b="1" dirty="0"/>
              <a:t>为了消除回溯就必须保证：对文法的任何非终结符，当要它去匹配输入串时，能够根据它所面临的输入符号准确地指派它的一个候选去执行任务，并且此候选的工作结果应是确信无疑的。</a:t>
            </a:r>
            <a:endParaRPr lang="zh-CN" altLang="en-US" sz="2400" b="1" dirty="0"/>
          </a:p>
          <a:p>
            <a:pPr eaLnBrk="1" hangingPunct="1">
              <a:spcBef>
                <a:spcPts val="1000"/>
              </a:spcBef>
              <a:spcAft>
                <a:spcPts val="1000"/>
              </a:spcAft>
              <a:buNone/>
            </a:pPr>
            <a:r>
              <a:rPr lang="en-US" altLang="zh-CN" sz="2800" b="1" dirty="0"/>
              <a:t>A→</a:t>
            </a:r>
            <a:r>
              <a:rPr lang="en-US" altLang="zh-CN" sz="2800" b="1" dirty="0">
                <a:sym typeface="Symbol" panose="05050102010706020507" pitchFamily="18" charset="2"/>
              </a:rPr>
              <a:t></a:t>
            </a:r>
            <a:r>
              <a:rPr lang="en-US" altLang="zh-CN" sz="2800" b="1" baseline="-25000" dirty="0"/>
              <a:t> 1 </a:t>
            </a:r>
            <a:r>
              <a:rPr lang="en-US" altLang="zh-CN" sz="2800" b="1" dirty="0"/>
              <a:t>| </a:t>
            </a:r>
            <a:r>
              <a:rPr lang="en-US" altLang="zh-CN" sz="2800" b="1" dirty="0">
                <a:sym typeface="Symbol" panose="05050102010706020507" pitchFamily="18" charset="2"/>
              </a:rPr>
              <a:t></a:t>
            </a:r>
            <a:r>
              <a:rPr lang="en-US" altLang="zh-CN" sz="2800" b="1" baseline="-25000" dirty="0"/>
              <a:t> 2 </a:t>
            </a:r>
            <a:r>
              <a:rPr lang="en-US" altLang="zh-CN" sz="2800" b="1" dirty="0"/>
              <a:t>| … | </a:t>
            </a:r>
            <a:r>
              <a:rPr lang="en-US" altLang="zh-CN" sz="2800" b="1" dirty="0">
                <a:sym typeface="Symbol" panose="05050102010706020507" pitchFamily="18" charset="2"/>
              </a:rPr>
              <a:t></a:t>
            </a:r>
            <a:r>
              <a:rPr lang="en-US" altLang="zh-CN" sz="2800" b="1" baseline="-25000" dirty="0"/>
              <a:t> n</a:t>
            </a:r>
            <a:endParaRPr lang="en-US" altLang="zh-CN" sz="2800" b="1" baseline="-25000" dirty="0"/>
          </a:p>
        </p:txBody>
      </p:sp>
      <p:grpSp>
        <p:nvGrpSpPr>
          <p:cNvPr id="2" name="Group 16"/>
          <p:cNvGrpSpPr/>
          <p:nvPr/>
        </p:nvGrpSpPr>
        <p:grpSpPr>
          <a:xfrm>
            <a:off x="5334000" y="4724400"/>
            <a:ext cx="3200400" cy="1371600"/>
            <a:chOff x="3360" y="2976"/>
            <a:chExt cx="2016" cy="864"/>
          </a:xfrm>
        </p:grpSpPr>
        <p:sp>
          <p:nvSpPr>
            <p:cNvPr id="32773" name="Rectangle 5"/>
            <p:cNvSpPr/>
            <p:nvPr/>
          </p:nvSpPr>
          <p:spPr>
            <a:xfrm>
              <a:off x="4320" y="2976"/>
              <a:ext cx="480" cy="288"/>
            </a:xfrm>
            <a:prstGeom prst="rect">
              <a:avLst/>
            </a:prstGeom>
            <a:noFill/>
            <a:ln w="19050">
              <a:noFill/>
            </a:ln>
          </p:spPr>
          <p:txBody>
            <a:bodyPr wrap="none" anchor="ctr"/>
            <a:p>
              <a:pPr algn="ctr"/>
              <a:r>
                <a:rPr lang="en-US" altLang="zh-CN" sz="2800" b="1" u="none" dirty="0">
                  <a:solidFill>
                    <a:schemeClr val="tx1"/>
                  </a:solidFill>
                  <a:latin typeface="Times New Roman" panose="02020603050405020304" pitchFamily="18" charset="0"/>
                </a:rPr>
                <a:t>S</a:t>
              </a:r>
              <a:endParaRPr lang="en-US" altLang="zh-CN" sz="2400" b="1" u="none" dirty="0">
                <a:solidFill>
                  <a:schemeClr val="tx1"/>
                </a:solidFill>
                <a:latin typeface="Times New Roman" panose="02020603050405020304" pitchFamily="18" charset="0"/>
              </a:endParaRPr>
            </a:p>
          </p:txBody>
        </p:sp>
        <p:sp>
          <p:nvSpPr>
            <p:cNvPr id="32774" name="Rectangle 6"/>
            <p:cNvSpPr/>
            <p:nvPr/>
          </p:nvSpPr>
          <p:spPr>
            <a:xfrm>
              <a:off x="3504" y="2976"/>
              <a:ext cx="480" cy="288"/>
            </a:xfrm>
            <a:prstGeom prst="rect">
              <a:avLst/>
            </a:prstGeom>
            <a:noFill/>
            <a:ln w="19050">
              <a:noFill/>
            </a:ln>
          </p:spPr>
          <p:txBody>
            <a:bodyPr wrap="none" anchor="ctr"/>
            <a:p>
              <a:pPr algn="ctr"/>
              <a:r>
                <a:rPr lang="en-US" altLang="zh-CN" sz="2800" b="1" u="none" dirty="0">
                  <a:solidFill>
                    <a:schemeClr val="tx1"/>
                  </a:solidFill>
                  <a:latin typeface="Times New Roman" panose="02020603050405020304" pitchFamily="18" charset="0"/>
                </a:rPr>
                <a:t>a….</a:t>
              </a:r>
              <a:endParaRPr lang="en-US" altLang="zh-CN" sz="2400" b="1" u="none" dirty="0">
                <a:solidFill>
                  <a:schemeClr val="tx1"/>
                </a:solidFill>
                <a:latin typeface="Times New Roman" panose="02020603050405020304" pitchFamily="18" charset="0"/>
              </a:endParaRPr>
            </a:p>
          </p:txBody>
        </p:sp>
        <p:grpSp>
          <p:nvGrpSpPr>
            <p:cNvPr id="32775" name="Group 7"/>
            <p:cNvGrpSpPr/>
            <p:nvPr/>
          </p:nvGrpSpPr>
          <p:grpSpPr>
            <a:xfrm>
              <a:off x="3360" y="3216"/>
              <a:ext cx="480" cy="624"/>
              <a:chOff x="624" y="768"/>
              <a:chExt cx="480" cy="624"/>
            </a:xfrm>
          </p:grpSpPr>
          <p:sp>
            <p:nvSpPr>
              <p:cNvPr id="32776" name="Line 8"/>
              <p:cNvSpPr/>
              <p:nvPr/>
            </p:nvSpPr>
            <p:spPr>
              <a:xfrm flipV="1">
                <a:off x="864" y="768"/>
                <a:ext cx="1" cy="288"/>
              </a:xfrm>
              <a:prstGeom prst="line">
                <a:avLst/>
              </a:prstGeom>
              <a:ln w="19050" cap="sq" cmpd="sng">
                <a:solidFill>
                  <a:schemeClr val="tx1"/>
                </a:solidFill>
                <a:prstDash val="solid"/>
                <a:round/>
                <a:headEnd type="none" w="sm" len="sm"/>
                <a:tailEnd type="stealth" w="med" len="lg"/>
              </a:ln>
            </p:spPr>
          </p:sp>
          <p:sp>
            <p:nvSpPr>
              <p:cNvPr id="32777" name="Rectangle 9"/>
              <p:cNvSpPr/>
              <p:nvPr/>
            </p:nvSpPr>
            <p:spPr>
              <a:xfrm>
                <a:off x="624" y="1104"/>
                <a:ext cx="480" cy="288"/>
              </a:xfrm>
              <a:prstGeom prst="rect">
                <a:avLst/>
              </a:prstGeom>
              <a:noFill/>
              <a:ln w="19050">
                <a:noFill/>
              </a:ln>
            </p:spPr>
            <p:txBody>
              <a:bodyPr wrap="none" anchor="ctr"/>
              <a:p>
                <a:pPr algn="ctr"/>
                <a:r>
                  <a:rPr lang="en-US" altLang="zh-CN" sz="2800" b="1" u="none" dirty="0">
                    <a:solidFill>
                      <a:schemeClr val="tx1"/>
                    </a:solidFill>
                    <a:latin typeface="Times New Roman" panose="02020603050405020304" pitchFamily="18" charset="0"/>
                  </a:rPr>
                  <a:t>IP</a:t>
                </a:r>
                <a:endParaRPr lang="en-US" altLang="zh-CN" sz="2400" b="1" u="none" dirty="0">
                  <a:solidFill>
                    <a:schemeClr val="tx1"/>
                  </a:solidFill>
                  <a:latin typeface="Times New Roman" panose="02020603050405020304" pitchFamily="18" charset="0"/>
                </a:endParaRPr>
              </a:p>
            </p:txBody>
          </p:sp>
        </p:grpSp>
        <p:sp>
          <p:nvSpPr>
            <p:cNvPr id="32778" name="Line 10"/>
            <p:cNvSpPr/>
            <p:nvPr/>
          </p:nvSpPr>
          <p:spPr>
            <a:xfrm flipH="1">
              <a:off x="4272" y="3216"/>
              <a:ext cx="288" cy="288"/>
            </a:xfrm>
            <a:prstGeom prst="line">
              <a:avLst/>
            </a:prstGeom>
            <a:ln w="19050" cap="sq" cmpd="sng">
              <a:solidFill>
                <a:schemeClr val="tx1"/>
              </a:solidFill>
              <a:prstDash val="solid"/>
              <a:round/>
              <a:headEnd type="none" w="sm" len="sm"/>
              <a:tailEnd type="none" w="med" len="lg"/>
            </a:ln>
          </p:spPr>
        </p:sp>
        <p:sp>
          <p:nvSpPr>
            <p:cNvPr id="32779" name="Line 11"/>
            <p:cNvSpPr/>
            <p:nvPr/>
          </p:nvSpPr>
          <p:spPr>
            <a:xfrm>
              <a:off x="4560" y="3216"/>
              <a:ext cx="624" cy="288"/>
            </a:xfrm>
            <a:prstGeom prst="line">
              <a:avLst/>
            </a:prstGeom>
            <a:ln w="19050" cap="sq" cmpd="sng">
              <a:solidFill>
                <a:schemeClr val="tx1"/>
              </a:solidFill>
              <a:prstDash val="solid"/>
              <a:round/>
              <a:headEnd type="none" w="sm" len="sm"/>
              <a:tailEnd type="none" w="med" len="lg"/>
            </a:ln>
          </p:spPr>
        </p:sp>
        <p:sp>
          <p:nvSpPr>
            <p:cNvPr id="32780" name="Line 12"/>
            <p:cNvSpPr/>
            <p:nvPr/>
          </p:nvSpPr>
          <p:spPr>
            <a:xfrm>
              <a:off x="4560" y="3216"/>
              <a:ext cx="96" cy="288"/>
            </a:xfrm>
            <a:prstGeom prst="line">
              <a:avLst/>
            </a:prstGeom>
            <a:ln w="19050" cap="sq" cmpd="sng">
              <a:solidFill>
                <a:schemeClr val="tx1"/>
              </a:solidFill>
              <a:prstDash val="solid"/>
              <a:round/>
              <a:headEnd type="none" w="sm" len="sm"/>
              <a:tailEnd type="none" w="med" len="lg"/>
            </a:ln>
          </p:spPr>
        </p:sp>
        <p:sp>
          <p:nvSpPr>
            <p:cNvPr id="32781" name="Rectangle 13"/>
            <p:cNvSpPr/>
            <p:nvPr/>
          </p:nvSpPr>
          <p:spPr>
            <a:xfrm>
              <a:off x="4416" y="3504"/>
              <a:ext cx="480" cy="288"/>
            </a:xfrm>
            <a:prstGeom prst="rect">
              <a:avLst/>
            </a:prstGeom>
            <a:noFill/>
            <a:ln w="19050">
              <a:noFill/>
            </a:ln>
          </p:spPr>
          <p:txBody>
            <a:bodyPr wrap="none" anchor="ctr"/>
            <a:p>
              <a:pPr algn="ctr"/>
              <a:r>
                <a:rPr lang="en-US" altLang="zh-CN" sz="2800" b="1" u="none" dirty="0">
                  <a:solidFill>
                    <a:schemeClr val="tx1"/>
                  </a:solidFill>
                  <a:latin typeface="Times New Roman" panose="02020603050405020304" pitchFamily="18" charset="0"/>
                </a:rPr>
                <a:t>A</a:t>
              </a:r>
              <a:endParaRPr lang="en-US" altLang="zh-CN" sz="2400" b="1" u="none" dirty="0">
                <a:solidFill>
                  <a:schemeClr val="tx1"/>
                </a:solidFill>
                <a:latin typeface="Times New Roman" panose="02020603050405020304" pitchFamily="18" charset="0"/>
              </a:endParaRPr>
            </a:p>
          </p:txBody>
        </p:sp>
        <p:sp>
          <p:nvSpPr>
            <p:cNvPr id="32782" name="Rectangle 14"/>
            <p:cNvSpPr/>
            <p:nvPr/>
          </p:nvSpPr>
          <p:spPr>
            <a:xfrm>
              <a:off x="3984" y="3504"/>
              <a:ext cx="480" cy="288"/>
            </a:xfrm>
            <a:prstGeom prst="rect">
              <a:avLst/>
            </a:prstGeom>
            <a:noFill/>
            <a:ln w="19050">
              <a:noFill/>
            </a:ln>
          </p:spPr>
          <p:txBody>
            <a:bodyPr wrap="none" anchor="ctr"/>
            <a:p>
              <a:pPr algn="ctr"/>
              <a:r>
                <a:rPr lang="en-US" altLang="zh-CN" sz="2800" b="1" u="none" dirty="0">
                  <a:solidFill>
                    <a:schemeClr val="tx1"/>
                  </a:solidFill>
                  <a:latin typeface="Times New Roman" panose="02020603050405020304" pitchFamily="18" charset="0"/>
                </a:rPr>
                <a:t>...</a:t>
              </a:r>
              <a:endParaRPr lang="en-US" altLang="zh-CN" sz="2400" b="1" u="none" dirty="0">
                <a:solidFill>
                  <a:schemeClr val="tx1"/>
                </a:solidFill>
                <a:latin typeface="Times New Roman" panose="02020603050405020304" pitchFamily="18" charset="0"/>
              </a:endParaRPr>
            </a:p>
          </p:txBody>
        </p:sp>
        <p:sp>
          <p:nvSpPr>
            <p:cNvPr id="32783" name="Rectangle 15"/>
            <p:cNvSpPr/>
            <p:nvPr/>
          </p:nvSpPr>
          <p:spPr>
            <a:xfrm>
              <a:off x="4896" y="3504"/>
              <a:ext cx="480" cy="288"/>
            </a:xfrm>
            <a:prstGeom prst="rect">
              <a:avLst/>
            </a:prstGeom>
            <a:noFill/>
            <a:ln w="19050">
              <a:noFill/>
            </a:ln>
          </p:spPr>
          <p:txBody>
            <a:bodyPr wrap="none" anchor="ctr"/>
            <a:p>
              <a:pPr algn="ctr"/>
              <a:r>
                <a:rPr lang="en-US" altLang="zh-CN" sz="2800" b="1" u="none" dirty="0">
                  <a:solidFill>
                    <a:schemeClr val="tx1"/>
                  </a:solidFill>
                  <a:latin typeface="Times New Roman" panose="02020603050405020304" pitchFamily="18" charset="0"/>
                </a:rPr>
                <a:t>...</a:t>
              </a:r>
              <a:endParaRPr lang="en-US" altLang="zh-CN" sz="2400" b="1" u="none" dirty="0">
                <a:solidFill>
                  <a:schemeClr val="tx1"/>
                </a:solidFill>
                <a:latin typeface="Times New Roman" panose="02020603050405020304" pitchFamily="18" charset="0"/>
              </a:endParaRPr>
            </a:p>
          </p:txBody>
        </p:sp>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16739">
                                            <p:txEl>
                                              <p:charRg st="0" end="40"/>
                                            </p:txEl>
                                          </p:spTgt>
                                        </p:tgtEl>
                                        <p:attrNameLst>
                                          <p:attrName>style.visibility</p:attrName>
                                        </p:attrNameLst>
                                      </p:cBhvr>
                                      <p:to>
                                        <p:strVal val="visible"/>
                                      </p:to>
                                    </p:set>
                                    <p:animEffect transition="in" filter="wipe(up)">
                                      <p:cBhvr>
                                        <p:cTn id="7" dur="500"/>
                                        <p:tgtEl>
                                          <p:spTgt spid="116739">
                                            <p:txEl>
                                              <p:charRg st="0" end="4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6739">
                                            <p:txEl>
                                              <p:charRg st="40" end="123"/>
                                            </p:txEl>
                                          </p:spTgt>
                                        </p:tgtEl>
                                        <p:attrNameLst>
                                          <p:attrName>style.visibility</p:attrName>
                                        </p:attrNameLst>
                                      </p:cBhvr>
                                      <p:to>
                                        <p:strVal val="visible"/>
                                      </p:to>
                                    </p:set>
                                    <p:animEffect transition="in" filter="wipe(up)">
                                      <p:cBhvr>
                                        <p:cTn id="12" dur="500"/>
                                        <p:tgtEl>
                                          <p:spTgt spid="116739">
                                            <p:txEl>
                                              <p:charRg st="40" end="12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16739">
                                            <p:txEl>
                                              <p:charRg st="123" end="145"/>
                                            </p:txEl>
                                          </p:spTgt>
                                        </p:tgtEl>
                                        <p:attrNameLst>
                                          <p:attrName>style.visibility</p:attrName>
                                        </p:attrNameLst>
                                      </p:cBhvr>
                                      <p:to>
                                        <p:strVal val="visible"/>
                                      </p:to>
                                    </p:set>
                                    <p:animEffect transition="in" filter="wipe(up)">
                                      <p:cBhvr>
                                        <p:cTn id="17" dur="500"/>
                                        <p:tgtEl>
                                          <p:spTgt spid="116739">
                                            <p:txEl>
                                              <p:charRg st="123" end="14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up)">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39"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117763" name="Rectangle 3"/>
          <p:cNvSpPr>
            <a:spLocks noGrp="1"/>
          </p:cNvSpPr>
          <p:nvPr>
            <p:ph type="body"/>
          </p:nvPr>
        </p:nvSpPr>
        <p:spPr>
          <a:xfrm>
            <a:off x="685800" y="457200"/>
            <a:ext cx="8001000" cy="1524000"/>
          </a:xfrm>
          <a:ln/>
        </p:spPr>
        <p:txBody>
          <a:bodyPr vert="horz" wrap="square" lIns="91440" tIns="45720" rIns="91440" bIns="45720" anchor="t"/>
          <a:p>
            <a:pPr eaLnBrk="1" hangingPunct="1">
              <a:lnSpc>
                <a:spcPct val="90000"/>
              </a:lnSpc>
            </a:pPr>
            <a:r>
              <a:rPr lang="zh-CN" altLang="en-US" b="1" dirty="0"/>
              <a:t>令</a:t>
            </a:r>
            <a:r>
              <a:rPr lang="en-US" altLang="zh-CN" b="1" dirty="0"/>
              <a:t>G</a:t>
            </a:r>
            <a:r>
              <a:rPr lang="zh-CN" altLang="en-US" b="1" dirty="0"/>
              <a:t>是一个不含左递归的文法，对</a:t>
            </a:r>
            <a:r>
              <a:rPr lang="en-US" altLang="zh-CN" b="1" dirty="0"/>
              <a:t>G</a:t>
            </a:r>
            <a:r>
              <a:rPr lang="zh-CN" altLang="en-US" b="1" dirty="0"/>
              <a:t>的所有非终结符的每个候选</a:t>
            </a:r>
            <a:r>
              <a:rPr lang="zh-CN" altLang="en-US" b="1" dirty="0">
                <a:sym typeface="Symbol" panose="05050102010706020507" pitchFamily="18" charset="2"/>
              </a:rPr>
              <a:t></a:t>
            </a:r>
            <a:r>
              <a:rPr lang="zh-CN" altLang="en-US" b="1" dirty="0"/>
              <a:t>定义它的终结首符集</a:t>
            </a:r>
            <a:r>
              <a:rPr lang="en-US" altLang="zh-CN" b="1" dirty="0">
                <a:solidFill>
                  <a:srgbClr val="FF0000"/>
                </a:solidFill>
              </a:rPr>
              <a:t>FIRST(</a:t>
            </a:r>
            <a:r>
              <a:rPr lang="en-US" altLang="zh-CN" b="1" dirty="0">
                <a:solidFill>
                  <a:srgbClr val="FF0000"/>
                </a:solidFill>
                <a:sym typeface="Symbol" panose="05050102010706020507" pitchFamily="18" charset="2"/>
              </a:rPr>
              <a:t></a:t>
            </a:r>
            <a:r>
              <a:rPr lang="en-US" altLang="zh-CN" b="1" dirty="0">
                <a:solidFill>
                  <a:srgbClr val="FF0000"/>
                </a:solidFill>
              </a:rPr>
              <a:t>)</a:t>
            </a:r>
            <a:r>
              <a:rPr lang="zh-CN" altLang="en-US" b="1" dirty="0"/>
              <a:t>为：</a:t>
            </a:r>
            <a:endParaRPr lang="zh-CN" altLang="en-US" b="1" dirty="0"/>
          </a:p>
        </p:txBody>
      </p:sp>
      <p:graphicFrame>
        <p:nvGraphicFramePr>
          <p:cNvPr id="117765" name="Object 5"/>
          <p:cNvGraphicFramePr>
            <a:graphicFrameLocks noChangeAspect="1"/>
          </p:cNvGraphicFramePr>
          <p:nvPr/>
        </p:nvGraphicFramePr>
        <p:xfrm>
          <a:off x="2663825" y="1752600"/>
          <a:ext cx="5721350" cy="865188"/>
        </p:xfrm>
        <a:graphic>
          <a:graphicData uri="http://schemas.openxmlformats.org/presentationml/2006/ole">
            <mc:AlternateContent xmlns:mc="http://schemas.openxmlformats.org/markup-compatibility/2006">
              <mc:Choice xmlns:v="urn:schemas-microsoft-com:vml" Requires="v">
                <p:oleObj spid="_x0000_s3078" name="" r:id="rId1" imgW="1692275" imgH="256540" progId="Equation.3">
                  <p:embed/>
                </p:oleObj>
              </mc:Choice>
              <mc:Fallback>
                <p:oleObj name="" r:id="rId1" imgW="1692275" imgH="256540" progId="Equation.3">
                  <p:embed/>
                  <p:pic>
                    <p:nvPicPr>
                      <p:cNvPr id="0" name="图片 3077"/>
                      <p:cNvPicPr/>
                      <p:nvPr/>
                    </p:nvPicPr>
                    <p:blipFill>
                      <a:blip r:embed="rId2">
                        <a:clrChange>
                          <a:clrFrom>
                            <a:srgbClr val="000000"/>
                          </a:clrFrom>
                          <a:clrTo>
                            <a:srgbClr val="000000"/>
                          </a:clrTo>
                        </a:clrChange>
                      </a:blip>
                      <a:stretch>
                        <a:fillRect/>
                      </a:stretch>
                    </p:blipFill>
                    <p:spPr>
                      <a:xfrm>
                        <a:off x="2663825" y="1752600"/>
                        <a:ext cx="5721350" cy="865188"/>
                      </a:xfrm>
                      <a:prstGeom prst="rect">
                        <a:avLst/>
                      </a:prstGeom>
                      <a:noFill/>
                      <a:ln w="38100">
                        <a:noFill/>
                        <a:miter/>
                      </a:ln>
                    </p:spPr>
                  </p:pic>
                </p:oleObj>
              </mc:Fallback>
            </mc:AlternateContent>
          </a:graphicData>
        </a:graphic>
      </p:graphicFrame>
      <p:grpSp>
        <p:nvGrpSpPr>
          <p:cNvPr id="2" name="Group 8"/>
          <p:cNvGrpSpPr/>
          <p:nvPr/>
        </p:nvGrpSpPr>
        <p:grpSpPr>
          <a:xfrm>
            <a:off x="762000" y="2514600"/>
            <a:ext cx="8077200" cy="731838"/>
            <a:chOff x="432" y="1555"/>
            <a:chExt cx="4896" cy="461"/>
          </a:xfrm>
        </p:grpSpPr>
        <p:sp>
          <p:nvSpPr>
            <p:cNvPr id="33797" name="Rectangle 4"/>
            <p:cNvSpPr/>
            <p:nvPr/>
          </p:nvSpPr>
          <p:spPr>
            <a:xfrm>
              <a:off x="432" y="1632"/>
              <a:ext cx="4896" cy="384"/>
            </a:xfrm>
            <a:prstGeom prst="rect">
              <a:avLst/>
            </a:prstGeom>
            <a:noFill/>
            <a:ln w="9525">
              <a:noFill/>
            </a:ln>
          </p:spPr>
          <p:txBody>
            <a:bodyPr anchor="t"/>
            <a:p>
              <a:pPr eaLnBrk="0" hangingPunct="0"/>
              <a:r>
                <a:rPr lang="en-US" altLang="zh-CN" sz="2400" b="1" u="none" dirty="0">
                  <a:solidFill>
                    <a:schemeClr val="tx1"/>
                  </a:solidFill>
                  <a:latin typeface="Times New Roman" panose="02020603050405020304" pitchFamily="18" charset="0"/>
                </a:rPr>
                <a:t>    </a:t>
              </a:r>
              <a:r>
                <a:rPr lang="zh-CN" altLang="en-US" sz="3200" b="1" u="none" dirty="0">
                  <a:solidFill>
                    <a:schemeClr val="tx1"/>
                  </a:solidFill>
                  <a:latin typeface="Times New Roman" panose="02020603050405020304" pitchFamily="18" charset="0"/>
                </a:rPr>
                <a:t>特别是，若           ，则规定</a:t>
              </a:r>
              <a:r>
                <a:rPr lang="zh-CN" altLang="en-US" sz="3200" b="1" u="none" dirty="0">
                  <a:solidFill>
                    <a:schemeClr val="tx1"/>
                  </a:solidFill>
                  <a:latin typeface="Times New Roman" panose="02020603050405020304" pitchFamily="18" charset="0"/>
                  <a:sym typeface="Symbol" panose="05050102010706020507" pitchFamily="18" charset="2"/>
                </a:rPr>
                <a:t></a:t>
              </a:r>
              <a:r>
                <a:rPr lang="en-US" altLang="zh-CN" sz="3200" b="1" u="none" dirty="0">
                  <a:solidFill>
                    <a:schemeClr val="tx1"/>
                  </a:solidFill>
                  <a:latin typeface="Times New Roman" panose="02020603050405020304" pitchFamily="18" charset="0"/>
                </a:rPr>
                <a:t>FIRST(</a:t>
              </a:r>
              <a:r>
                <a:rPr lang="en-US" altLang="zh-CN" sz="3200" b="1" u="none" dirty="0">
                  <a:solidFill>
                    <a:schemeClr val="tx1"/>
                  </a:solidFill>
                  <a:latin typeface="Times New Roman" panose="02020603050405020304" pitchFamily="18" charset="0"/>
                  <a:sym typeface="Symbol" panose="05050102010706020507" pitchFamily="18" charset="2"/>
                </a:rPr>
                <a:t></a:t>
              </a:r>
              <a:r>
                <a:rPr lang="en-US" altLang="zh-CN" sz="3200" b="1" u="none" dirty="0">
                  <a:solidFill>
                    <a:schemeClr val="tx1"/>
                  </a:solidFill>
                  <a:latin typeface="Times New Roman" panose="02020603050405020304" pitchFamily="18" charset="0"/>
                </a:rPr>
                <a:t>)</a:t>
              </a:r>
              <a:r>
                <a:rPr lang="zh-CN" altLang="en-US" sz="3200" b="1" u="none" dirty="0">
                  <a:solidFill>
                    <a:schemeClr val="tx1"/>
                  </a:solidFill>
                  <a:latin typeface="Times New Roman" panose="02020603050405020304" pitchFamily="18" charset="0"/>
                </a:rPr>
                <a:t>。</a:t>
              </a:r>
              <a:endParaRPr lang="zh-CN" altLang="en-US" sz="3200" b="1" u="none" dirty="0">
                <a:solidFill>
                  <a:schemeClr val="tx1"/>
                </a:solidFill>
                <a:latin typeface="Times New Roman" panose="02020603050405020304" pitchFamily="18" charset="0"/>
              </a:endParaRPr>
            </a:p>
            <a:p>
              <a:pPr eaLnBrk="0" hangingPunct="0"/>
              <a:endParaRPr lang="en-US" altLang="zh-CN" sz="2400" b="1" u="none" dirty="0">
                <a:solidFill>
                  <a:schemeClr val="tx1"/>
                </a:solidFill>
                <a:latin typeface="Times New Roman" panose="02020603050405020304" pitchFamily="18" charset="0"/>
              </a:endParaRPr>
            </a:p>
          </p:txBody>
        </p:sp>
        <p:graphicFrame>
          <p:nvGraphicFramePr>
            <p:cNvPr id="33798" name="Object 6"/>
            <p:cNvGraphicFramePr>
              <a:graphicFrameLocks noChangeAspect="1"/>
            </p:cNvGraphicFramePr>
            <p:nvPr/>
          </p:nvGraphicFramePr>
          <p:xfrm>
            <a:off x="2016" y="1555"/>
            <a:ext cx="624" cy="430"/>
          </p:xfrm>
          <a:graphic>
            <a:graphicData uri="http://schemas.openxmlformats.org/presentationml/2006/ole">
              <mc:AlternateContent xmlns:mc="http://schemas.openxmlformats.org/markup-compatibility/2006">
                <mc:Choice xmlns:v="urn:schemas-microsoft-com:vml" Requires="v">
                  <p:oleObj spid="_x0000_s3079" name="" r:id="rId3" imgW="344805" imgH="232410" progId="Equation.3">
                    <p:embed/>
                  </p:oleObj>
                </mc:Choice>
                <mc:Fallback>
                  <p:oleObj name="" r:id="rId3" imgW="344805" imgH="232410" progId="Equation.3">
                    <p:embed/>
                    <p:pic>
                      <p:nvPicPr>
                        <p:cNvPr id="0" name="图片 3078"/>
                        <p:cNvPicPr/>
                        <p:nvPr/>
                      </p:nvPicPr>
                      <p:blipFill>
                        <a:blip r:embed="rId4">
                          <a:clrChange>
                            <a:clrFrom>
                              <a:srgbClr val="000000"/>
                            </a:clrFrom>
                            <a:clrTo>
                              <a:srgbClr val="000000"/>
                            </a:clrTo>
                          </a:clrChange>
                        </a:blip>
                        <a:stretch>
                          <a:fillRect/>
                        </a:stretch>
                      </p:blipFill>
                      <p:spPr>
                        <a:xfrm>
                          <a:off x="2016" y="1555"/>
                          <a:ext cx="624" cy="430"/>
                        </a:xfrm>
                        <a:prstGeom prst="rect">
                          <a:avLst/>
                        </a:prstGeom>
                        <a:noFill/>
                        <a:ln w="38100">
                          <a:noFill/>
                          <a:miter/>
                        </a:ln>
                      </p:spPr>
                    </p:pic>
                  </p:oleObj>
                </mc:Fallback>
              </mc:AlternateContent>
            </a:graphicData>
          </a:graphic>
        </p:graphicFrame>
      </p:grpSp>
      <p:sp>
        <p:nvSpPr>
          <p:cNvPr id="117767" name="Rectangle 7"/>
          <p:cNvSpPr/>
          <p:nvPr/>
        </p:nvSpPr>
        <p:spPr>
          <a:xfrm>
            <a:off x="323850" y="3284538"/>
            <a:ext cx="8820150" cy="3024187"/>
          </a:xfrm>
          <a:prstGeom prst="rect">
            <a:avLst/>
          </a:prstGeom>
          <a:noFill/>
          <a:ln w="9525">
            <a:noFill/>
          </a:ln>
        </p:spPr>
        <p:txBody>
          <a:bodyPr anchor="t"/>
          <a:p>
            <a:pPr marL="198755" indent="-198755" eaLnBrk="0" hangingPunct="0">
              <a:buClr>
                <a:schemeClr val="accent2"/>
              </a:buClr>
              <a:buChar char="•"/>
            </a:pPr>
            <a:r>
              <a:rPr lang="zh-CN" altLang="en-US" sz="3000" b="1" u="none" dirty="0">
                <a:solidFill>
                  <a:schemeClr val="tx1"/>
                </a:solidFill>
                <a:latin typeface="Times New Roman" panose="02020603050405020304" pitchFamily="18" charset="0"/>
              </a:rPr>
              <a:t>如果非终结符</a:t>
            </a:r>
            <a:r>
              <a:rPr lang="en-US" altLang="zh-CN" sz="3000" b="1" u="none" dirty="0">
                <a:solidFill>
                  <a:schemeClr val="tx1"/>
                </a:solidFill>
                <a:latin typeface="Times New Roman" panose="02020603050405020304" pitchFamily="18" charset="0"/>
              </a:rPr>
              <a:t>A</a:t>
            </a:r>
            <a:r>
              <a:rPr lang="zh-CN" altLang="en-US" sz="3000" b="1" u="none" dirty="0">
                <a:solidFill>
                  <a:schemeClr val="tx1"/>
                </a:solidFill>
                <a:latin typeface="Times New Roman" panose="02020603050405020304" pitchFamily="18" charset="0"/>
              </a:rPr>
              <a:t>的所有候选首符集两两不相交，即</a:t>
            </a:r>
            <a:r>
              <a:rPr lang="en-US" altLang="zh-CN" sz="3000" b="1" u="none" dirty="0">
                <a:solidFill>
                  <a:schemeClr val="tx1"/>
                </a:solidFill>
                <a:latin typeface="Times New Roman" panose="02020603050405020304" pitchFamily="18" charset="0"/>
              </a:rPr>
              <a:t>A</a:t>
            </a:r>
            <a:r>
              <a:rPr lang="zh-CN" altLang="en-US" sz="3000" b="1" u="none" dirty="0">
                <a:solidFill>
                  <a:schemeClr val="tx1"/>
                </a:solidFill>
                <a:latin typeface="Times New Roman" panose="02020603050405020304" pitchFamily="18" charset="0"/>
              </a:rPr>
              <a:t>的任何两个不同候选</a:t>
            </a:r>
            <a:r>
              <a:rPr lang="zh-CN" altLang="en-US" sz="3000" b="1" u="none" dirty="0">
                <a:solidFill>
                  <a:schemeClr val="tx1"/>
                </a:solidFill>
                <a:latin typeface="Times New Roman" panose="02020603050405020304" pitchFamily="18" charset="0"/>
                <a:sym typeface="Symbol" panose="05050102010706020507" pitchFamily="18" charset="2"/>
              </a:rPr>
              <a:t></a:t>
            </a:r>
            <a:r>
              <a:rPr lang="zh-CN" altLang="en-US" sz="3000" b="1" u="none" baseline="-25000" dirty="0">
                <a:solidFill>
                  <a:schemeClr val="tx1"/>
                </a:solidFill>
                <a:latin typeface="Times New Roman" panose="02020603050405020304" pitchFamily="18" charset="0"/>
              </a:rPr>
              <a:t> </a:t>
            </a:r>
            <a:r>
              <a:rPr lang="en-US" altLang="zh-CN" sz="3000" b="1" u="none" baseline="-25000" dirty="0">
                <a:solidFill>
                  <a:schemeClr val="tx1"/>
                </a:solidFill>
                <a:latin typeface="Times New Roman" panose="02020603050405020304" pitchFamily="18" charset="0"/>
              </a:rPr>
              <a:t>i</a:t>
            </a:r>
            <a:r>
              <a:rPr lang="zh-CN" altLang="en-US" sz="3000" b="1" u="none" dirty="0">
                <a:solidFill>
                  <a:schemeClr val="tx1"/>
                </a:solidFill>
                <a:latin typeface="Times New Roman" panose="02020603050405020304" pitchFamily="18" charset="0"/>
              </a:rPr>
              <a:t>和</a:t>
            </a:r>
            <a:r>
              <a:rPr lang="zh-CN" altLang="en-US" sz="3000" b="1" u="none" dirty="0">
                <a:solidFill>
                  <a:schemeClr val="tx1"/>
                </a:solidFill>
                <a:latin typeface="Times New Roman" panose="02020603050405020304" pitchFamily="18" charset="0"/>
                <a:sym typeface="Symbol" panose="05050102010706020507" pitchFamily="18" charset="2"/>
              </a:rPr>
              <a:t></a:t>
            </a:r>
            <a:r>
              <a:rPr lang="zh-CN" altLang="en-US" sz="3000" b="1" u="none" baseline="-25000" dirty="0">
                <a:solidFill>
                  <a:schemeClr val="tx1"/>
                </a:solidFill>
                <a:latin typeface="Times New Roman" panose="02020603050405020304" pitchFamily="18" charset="0"/>
              </a:rPr>
              <a:t> </a:t>
            </a:r>
            <a:r>
              <a:rPr lang="en-US" altLang="zh-CN" sz="3000" b="1" u="none" baseline="-25000" dirty="0">
                <a:solidFill>
                  <a:schemeClr val="tx1"/>
                </a:solidFill>
                <a:latin typeface="Times New Roman" panose="02020603050405020304" pitchFamily="18" charset="0"/>
              </a:rPr>
              <a:t>j</a:t>
            </a:r>
            <a:endParaRPr lang="en-US" altLang="zh-CN" sz="3000" b="1" u="none" dirty="0">
              <a:solidFill>
                <a:schemeClr val="tx1"/>
              </a:solidFill>
              <a:latin typeface="Times New Roman" panose="02020603050405020304" pitchFamily="18" charset="0"/>
            </a:endParaRPr>
          </a:p>
          <a:p>
            <a:pPr marL="198755" indent="-198755" algn="ctr" eaLnBrk="0" hangingPunct="0">
              <a:spcAft>
                <a:spcPct val="20000"/>
              </a:spcAft>
            </a:pPr>
            <a:r>
              <a:rPr lang="en-US" altLang="zh-CN" sz="3000" b="1" u="none" dirty="0">
                <a:solidFill>
                  <a:schemeClr val="tx1"/>
                </a:solidFill>
                <a:latin typeface="Times New Roman" panose="02020603050405020304" pitchFamily="18" charset="0"/>
              </a:rPr>
              <a:t>FIRST(</a:t>
            </a:r>
            <a:r>
              <a:rPr lang="en-US" altLang="zh-CN" sz="3000" b="1" u="none" dirty="0">
                <a:solidFill>
                  <a:schemeClr val="tx1"/>
                </a:solidFill>
                <a:latin typeface="Times New Roman" panose="02020603050405020304" pitchFamily="18" charset="0"/>
                <a:sym typeface="Symbol" panose="05050102010706020507" pitchFamily="18" charset="2"/>
              </a:rPr>
              <a:t></a:t>
            </a:r>
            <a:r>
              <a:rPr lang="en-US" altLang="zh-CN" sz="3000" b="1" u="none" baseline="-25000" dirty="0">
                <a:solidFill>
                  <a:schemeClr val="tx1"/>
                </a:solidFill>
                <a:latin typeface="Times New Roman" panose="02020603050405020304" pitchFamily="18" charset="0"/>
              </a:rPr>
              <a:t>i</a:t>
            </a:r>
            <a:r>
              <a:rPr lang="en-US" altLang="zh-CN" sz="3000" b="1" u="none" dirty="0">
                <a:solidFill>
                  <a:schemeClr val="tx1"/>
                </a:solidFill>
                <a:latin typeface="Times New Roman" panose="02020603050405020304" pitchFamily="18" charset="0"/>
              </a:rPr>
              <a:t>)</a:t>
            </a:r>
            <a:r>
              <a:rPr lang="en-US" altLang="zh-CN" sz="3000" b="1" u="none" dirty="0">
                <a:solidFill>
                  <a:schemeClr val="tx1"/>
                </a:solidFill>
                <a:latin typeface="宋体" panose="02010600030101010101" pitchFamily="2" charset="-122"/>
              </a:rPr>
              <a:t>∩</a:t>
            </a:r>
            <a:r>
              <a:rPr lang="en-US" altLang="zh-CN" sz="3000" b="1" u="none" dirty="0">
                <a:solidFill>
                  <a:schemeClr val="tx1"/>
                </a:solidFill>
                <a:latin typeface="Times New Roman" panose="02020603050405020304" pitchFamily="18" charset="0"/>
              </a:rPr>
              <a:t>FIRST(</a:t>
            </a:r>
            <a:r>
              <a:rPr lang="en-US" altLang="zh-CN" sz="3000" b="1" u="none" dirty="0">
                <a:solidFill>
                  <a:schemeClr val="tx1"/>
                </a:solidFill>
                <a:latin typeface="Times New Roman" panose="02020603050405020304" pitchFamily="18" charset="0"/>
                <a:sym typeface="Symbol" panose="05050102010706020507" pitchFamily="18" charset="2"/>
              </a:rPr>
              <a:t></a:t>
            </a:r>
            <a:r>
              <a:rPr lang="en-US" altLang="zh-CN" sz="3000" b="1" u="none" baseline="-25000" dirty="0">
                <a:solidFill>
                  <a:schemeClr val="tx1"/>
                </a:solidFill>
                <a:latin typeface="Times New Roman" panose="02020603050405020304" pitchFamily="18" charset="0"/>
              </a:rPr>
              <a:t> j</a:t>
            </a:r>
            <a:r>
              <a:rPr lang="en-US" altLang="zh-CN" sz="3000" b="1" u="none" dirty="0">
                <a:solidFill>
                  <a:schemeClr val="tx1"/>
                </a:solidFill>
                <a:latin typeface="Times New Roman" panose="02020603050405020304" pitchFamily="18" charset="0"/>
              </a:rPr>
              <a:t>)</a:t>
            </a:r>
            <a:r>
              <a:rPr lang="zh-CN" altLang="en-US" sz="3000" b="1" u="none" dirty="0">
                <a:solidFill>
                  <a:schemeClr val="tx1"/>
                </a:solidFill>
                <a:latin typeface="Times New Roman" panose="02020603050405020304" pitchFamily="18" charset="0"/>
              </a:rPr>
              <a:t>＝</a:t>
            </a:r>
            <a:r>
              <a:rPr lang="zh-CN" altLang="en-US" sz="3000" b="1" u="none" dirty="0">
                <a:solidFill>
                  <a:schemeClr val="tx1"/>
                </a:solidFill>
                <a:latin typeface="Times New Roman" panose="02020603050405020304" pitchFamily="18" charset="0"/>
                <a:sym typeface="Symbol" panose="05050102010706020507" pitchFamily="18" charset="2"/>
              </a:rPr>
              <a:t></a:t>
            </a:r>
            <a:endParaRPr lang="zh-CN" altLang="en-US" sz="3000" b="1" u="none" dirty="0">
              <a:solidFill>
                <a:schemeClr val="tx1"/>
              </a:solidFill>
              <a:latin typeface="Times New Roman" panose="02020603050405020304" pitchFamily="18" charset="0"/>
            </a:endParaRPr>
          </a:p>
          <a:p>
            <a:pPr marL="198755" indent="-198755" eaLnBrk="0" hangingPunct="0"/>
            <a:r>
              <a:rPr lang="zh-CN" altLang="en-US" sz="3000" b="1" u="none" dirty="0">
                <a:solidFill>
                  <a:schemeClr val="tx1"/>
                </a:solidFill>
                <a:latin typeface="Times New Roman" panose="02020603050405020304" pitchFamily="18" charset="0"/>
              </a:rPr>
              <a:t> 当要求</a:t>
            </a:r>
            <a:r>
              <a:rPr lang="en-US" altLang="zh-CN" sz="3000" b="1" u="none" dirty="0">
                <a:solidFill>
                  <a:schemeClr val="tx1"/>
                </a:solidFill>
                <a:latin typeface="Times New Roman" panose="02020603050405020304" pitchFamily="18" charset="0"/>
              </a:rPr>
              <a:t>A</a:t>
            </a:r>
            <a:r>
              <a:rPr lang="zh-CN" altLang="en-US" sz="3000" b="1" u="none" dirty="0">
                <a:solidFill>
                  <a:schemeClr val="tx1"/>
                </a:solidFill>
                <a:latin typeface="Times New Roman" panose="02020603050405020304" pitchFamily="18" charset="0"/>
              </a:rPr>
              <a:t>匹配输入串时，</a:t>
            </a:r>
            <a:r>
              <a:rPr lang="en-US" altLang="zh-CN" sz="3000" b="1" u="none" dirty="0">
                <a:solidFill>
                  <a:schemeClr val="tx1"/>
                </a:solidFill>
                <a:latin typeface="Times New Roman" panose="02020603050405020304" pitchFamily="18" charset="0"/>
              </a:rPr>
              <a:t>A</a:t>
            </a:r>
            <a:r>
              <a:rPr lang="zh-CN" altLang="en-US" sz="3000" b="1" u="none" dirty="0">
                <a:solidFill>
                  <a:schemeClr val="tx1"/>
                </a:solidFill>
                <a:latin typeface="Times New Roman" panose="02020603050405020304" pitchFamily="18" charset="0"/>
              </a:rPr>
              <a:t>就能根据它所面临的第一个输入符号</a:t>
            </a:r>
            <a:r>
              <a:rPr lang="en-US" altLang="zh-CN" sz="3000" b="1" u="none" dirty="0">
                <a:solidFill>
                  <a:schemeClr val="tx1"/>
                </a:solidFill>
                <a:latin typeface="Times New Roman" panose="02020603050405020304" pitchFamily="18" charset="0"/>
              </a:rPr>
              <a:t>a</a:t>
            </a:r>
            <a:r>
              <a:rPr lang="zh-CN" altLang="en-US" sz="3000" b="1" u="none" dirty="0">
                <a:solidFill>
                  <a:schemeClr val="tx1"/>
                </a:solidFill>
                <a:latin typeface="Times New Roman" panose="02020603050405020304" pitchFamily="18" charset="0"/>
              </a:rPr>
              <a:t>，准确地指派某一个候选前去执行任务。这个候选就是那个终结首符集含</a:t>
            </a:r>
            <a:r>
              <a:rPr lang="en-US" altLang="zh-CN" sz="3000" b="1" u="none" dirty="0">
                <a:solidFill>
                  <a:schemeClr val="tx1"/>
                </a:solidFill>
                <a:latin typeface="Times New Roman" panose="02020603050405020304" pitchFamily="18" charset="0"/>
              </a:rPr>
              <a:t>a</a:t>
            </a:r>
            <a:r>
              <a:rPr lang="zh-CN" altLang="en-US" sz="3000" b="1" u="none" dirty="0">
                <a:solidFill>
                  <a:schemeClr val="tx1"/>
                </a:solidFill>
                <a:latin typeface="Times New Roman" panose="02020603050405020304" pitchFamily="18" charset="0"/>
              </a:rPr>
              <a:t>的</a:t>
            </a:r>
            <a:r>
              <a:rPr lang="zh-CN" altLang="en-US" sz="3000" b="1" u="none" dirty="0">
                <a:solidFill>
                  <a:schemeClr val="tx1"/>
                </a:solidFill>
                <a:latin typeface="Times New Roman" panose="02020603050405020304" pitchFamily="18" charset="0"/>
                <a:sym typeface="Symbol" panose="05050102010706020507" pitchFamily="18" charset="2"/>
              </a:rPr>
              <a:t></a:t>
            </a:r>
            <a:r>
              <a:rPr lang="zh-CN" altLang="en-US" sz="3000" b="1" u="none" dirty="0">
                <a:solidFill>
                  <a:schemeClr val="tx1"/>
                </a:solidFill>
                <a:latin typeface="Times New Roman" panose="02020603050405020304" pitchFamily="18" charset="0"/>
              </a:rPr>
              <a:t>。</a:t>
            </a:r>
            <a:endParaRPr lang="zh-CN" altLang="en-US" sz="3000" b="1" u="none" dirty="0">
              <a:solidFill>
                <a:schemeClr val="tx1"/>
              </a:solidFill>
              <a:latin typeface="Times New Roman" panose="02020603050405020304" pitchFamily="18"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17763">
                                            <p:txEl>
                                              <p:charRg st="0" end="49"/>
                                            </p:txEl>
                                          </p:spTgt>
                                        </p:tgtEl>
                                        <p:attrNameLst>
                                          <p:attrName>style.visibility</p:attrName>
                                        </p:attrNameLst>
                                      </p:cBhvr>
                                      <p:to>
                                        <p:strVal val="visible"/>
                                      </p:to>
                                    </p:set>
                                    <p:animEffect transition="in" filter="wipe(up)">
                                      <p:cBhvr>
                                        <p:cTn id="7" dur="500"/>
                                        <p:tgtEl>
                                          <p:spTgt spid="117763">
                                            <p:txEl>
                                              <p:charRg st="0" end="49"/>
                                            </p:txEl>
                                          </p:spTgt>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17765"/>
                                        </p:tgtEl>
                                        <p:attrNameLst>
                                          <p:attrName>style.visibility</p:attrName>
                                        </p:attrNameLst>
                                      </p:cBhvr>
                                      <p:to>
                                        <p:strVal val="visible"/>
                                      </p:to>
                                    </p:set>
                                    <p:animEffect transition="in" filter="wipe(up)">
                                      <p:cBhvr>
                                        <p:cTn id="11" dur="500"/>
                                        <p:tgtEl>
                                          <p:spTgt spid="11776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up)">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117767">
                                            <p:txEl>
                                              <p:charRg st="0" end="40"/>
                                            </p:txEl>
                                          </p:spTgt>
                                        </p:tgtEl>
                                        <p:attrNameLst>
                                          <p:attrName>style.visibility</p:attrName>
                                        </p:attrNameLst>
                                      </p:cBhvr>
                                      <p:to>
                                        <p:strVal val="visible"/>
                                      </p:to>
                                    </p:set>
                                    <p:animEffect transition="in" filter="wipe(up)">
                                      <p:cBhvr>
                                        <p:cTn id="21" dur="500"/>
                                        <p:tgtEl>
                                          <p:spTgt spid="117767">
                                            <p:txEl>
                                              <p:charRg st="0" end="40"/>
                                            </p:txEl>
                                          </p:spTgt>
                                        </p:tgtEl>
                                      </p:cBhvr>
                                    </p:animEffect>
                                  </p:childTnLst>
                                </p:cTn>
                              </p:par>
                            </p:childTnLst>
                          </p:cTn>
                        </p:par>
                        <p:par>
                          <p:cTn id="22" fill="hold">
                            <p:stCondLst>
                              <p:cond delay="500"/>
                            </p:stCondLst>
                            <p:childTnLst>
                              <p:par>
                                <p:cTn id="23" presetID="22" presetClass="entr" presetSubtype="1" fill="hold" grpId="0" nodeType="afterEffect">
                                  <p:stCondLst>
                                    <p:cond delay="0"/>
                                  </p:stCondLst>
                                  <p:childTnLst>
                                    <p:set>
                                      <p:cBhvr>
                                        <p:cTn id="24" dur="1" fill="hold">
                                          <p:stCondLst>
                                            <p:cond delay="0"/>
                                          </p:stCondLst>
                                        </p:cTn>
                                        <p:tgtEl>
                                          <p:spTgt spid="117767">
                                            <p:txEl>
                                              <p:charRg st="40" end="63"/>
                                            </p:txEl>
                                          </p:spTgt>
                                        </p:tgtEl>
                                        <p:attrNameLst>
                                          <p:attrName>style.visibility</p:attrName>
                                        </p:attrNameLst>
                                      </p:cBhvr>
                                      <p:to>
                                        <p:strVal val="visible"/>
                                      </p:to>
                                    </p:set>
                                    <p:animEffect transition="in" filter="wipe(up)">
                                      <p:cBhvr>
                                        <p:cTn id="25" dur="500"/>
                                        <p:tgtEl>
                                          <p:spTgt spid="117767">
                                            <p:txEl>
                                              <p:charRg st="40" end="6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117767">
                                            <p:txEl>
                                              <p:charRg st="63" end="130"/>
                                            </p:txEl>
                                          </p:spTgt>
                                        </p:tgtEl>
                                        <p:attrNameLst>
                                          <p:attrName>style.visibility</p:attrName>
                                        </p:attrNameLst>
                                      </p:cBhvr>
                                      <p:to>
                                        <p:strVal val="visible"/>
                                      </p:to>
                                    </p:set>
                                    <p:animEffect transition="in" filter="wipe(up)">
                                      <p:cBhvr>
                                        <p:cTn id="30" dur="500"/>
                                        <p:tgtEl>
                                          <p:spTgt spid="117767">
                                            <p:txEl>
                                              <p:charRg st="63" end="13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63" grpId="0" build="p"/>
      <p:bldP spid="117767"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118787" name="Rectangle 3"/>
          <p:cNvSpPr>
            <a:spLocks noGrp="1"/>
          </p:cNvSpPr>
          <p:nvPr>
            <p:ph type="body"/>
          </p:nvPr>
        </p:nvSpPr>
        <p:spPr>
          <a:xfrm>
            <a:off x="685800" y="685800"/>
            <a:ext cx="7989888" cy="5410200"/>
          </a:xfrm>
          <a:ln/>
        </p:spPr>
        <p:txBody>
          <a:bodyPr vert="horz" wrap="square" lIns="91440" tIns="45720" rIns="91440" bIns="45720" anchor="t"/>
          <a:p>
            <a:pPr eaLnBrk="1" hangingPunct="1"/>
            <a:r>
              <a:rPr lang="zh-CN" altLang="en-US" b="1" dirty="0"/>
              <a:t>提取公共左因子</a:t>
            </a:r>
            <a:r>
              <a:rPr lang="en-US" altLang="zh-CN" b="1" dirty="0"/>
              <a:t>:</a:t>
            </a:r>
            <a:endParaRPr lang="en-US" altLang="zh-CN" b="1" dirty="0"/>
          </a:p>
          <a:p>
            <a:pPr eaLnBrk="1" hangingPunct="1">
              <a:buNone/>
            </a:pPr>
            <a:r>
              <a:rPr lang="en-US" altLang="zh-CN" b="1" dirty="0"/>
              <a:t>    </a:t>
            </a:r>
            <a:r>
              <a:rPr lang="zh-CN" altLang="en-US" b="1" dirty="0"/>
              <a:t>假定关于</a:t>
            </a:r>
            <a:r>
              <a:rPr lang="en-US" altLang="zh-CN" b="1" dirty="0"/>
              <a:t>A</a:t>
            </a:r>
            <a:r>
              <a:rPr lang="zh-CN" altLang="en-US" b="1" dirty="0"/>
              <a:t>的规则是</a:t>
            </a:r>
            <a:endParaRPr lang="zh-CN" altLang="en-US" b="1" dirty="0"/>
          </a:p>
          <a:p>
            <a:pPr eaLnBrk="1" hangingPunct="1">
              <a:spcBef>
                <a:spcPct val="0"/>
              </a:spcBef>
              <a:buNone/>
            </a:pPr>
            <a:r>
              <a:rPr lang="zh-CN" altLang="en-US" b="1" dirty="0"/>
              <a:t>         </a:t>
            </a:r>
            <a:r>
              <a:rPr lang="en-US" altLang="zh-CN" b="1" dirty="0"/>
              <a:t>A→</a:t>
            </a:r>
            <a:r>
              <a:rPr lang="en-US" altLang="zh-CN" b="1" dirty="0">
                <a:sym typeface="Symbol" panose="05050102010706020507" pitchFamily="18" charset="2"/>
              </a:rPr>
              <a:t></a:t>
            </a:r>
            <a:r>
              <a:rPr lang="en-US" altLang="zh-CN" b="1" baseline="-25000" dirty="0"/>
              <a:t> 1 </a:t>
            </a:r>
            <a:r>
              <a:rPr lang="en-US" altLang="zh-CN" b="1" dirty="0"/>
              <a:t>| </a:t>
            </a:r>
            <a:r>
              <a:rPr lang="en-US" altLang="zh-CN" b="1" dirty="0">
                <a:sym typeface="Symbol" panose="05050102010706020507" pitchFamily="18" charset="2"/>
              </a:rPr>
              <a:t></a:t>
            </a:r>
            <a:r>
              <a:rPr lang="en-US" altLang="zh-CN" b="1" baseline="-25000" dirty="0"/>
              <a:t> 2 </a:t>
            </a:r>
            <a:r>
              <a:rPr lang="en-US" altLang="zh-CN" b="1" dirty="0"/>
              <a:t>| …| </a:t>
            </a:r>
            <a:r>
              <a:rPr lang="en-US" altLang="zh-CN" b="1" dirty="0">
                <a:sym typeface="Symbol" panose="05050102010706020507" pitchFamily="18" charset="2"/>
              </a:rPr>
              <a:t></a:t>
            </a:r>
            <a:r>
              <a:rPr lang="en-US" altLang="zh-CN" b="1" baseline="-25000" dirty="0"/>
              <a:t> n </a:t>
            </a:r>
            <a:r>
              <a:rPr lang="en-US" altLang="zh-CN" b="1" dirty="0"/>
              <a:t>| </a:t>
            </a:r>
            <a:r>
              <a:rPr lang="en-US" altLang="zh-CN" b="1" dirty="0">
                <a:sym typeface="Symbol" panose="05050102010706020507" pitchFamily="18" charset="2"/>
              </a:rPr>
              <a:t></a:t>
            </a:r>
            <a:r>
              <a:rPr lang="en-US" altLang="zh-CN" b="1" baseline="-25000" dirty="0"/>
              <a:t> 1 </a:t>
            </a:r>
            <a:r>
              <a:rPr lang="en-US" altLang="zh-CN" b="1" dirty="0"/>
              <a:t>| </a:t>
            </a:r>
            <a:r>
              <a:rPr lang="en-US" altLang="zh-CN" b="1" dirty="0">
                <a:sym typeface="Symbol" panose="05050102010706020507" pitchFamily="18" charset="2"/>
              </a:rPr>
              <a:t></a:t>
            </a:r>
            <a:r>
              <a:rPr lang="en-US" altLang="zh-CN" b="1" baseline="-25000" dirty="0"/>
              <a:t> 2 </a:t>
            </a:r>
            <a:r>
              <a:rPr lang="en-US" altLang="zh-CN" b="1" dirty="0"/>
              <a:t>| … | </a:t>
            </a:r>
            <a:r>
              <a:rPr lang="en-US" altLang="zh-CN" b="1" dirty="0">
                <a:sym typeface="Symbol" panose="05050102010706020507" pitchFamily="18" charset="2"/>
              </a:rPr>
              <a:t></a:t>
            </a:r>
            <a:r>
              <a:rPr lang="en-US" altLang="zh-CN" b="1" baseline="-25000" dirty="0"/>
              <a:t>m</a:t>
            </a:r>
            <a:r>
              <a:rPr lang="en-US" altLang="zh-CN" b="1" dirty="0"/>
              <a:t>		 (</a:t>
            </a:r>
            <a:r>
              <a:rPr lang="zh-CN" altLang="en-US" b="1" dirty="0"/>
              <a:t>其中，每个</a:t>
            </a:r>
            <a:r>
              <a:rPr lang="zh-CN" altLang="en-US" b="1" dirty="0">
                <a:sym typeface="Symbol" panose="05050102010706020507" pitchFamily="18" charset="2"/>
              </a:rPr>
              <a:t></a:t>
            </a:r>
            <a:r>
              <a:rPr lang="zh-CN" altLang="en-US" b="1" baseline="-25000" dirty="0"/>
              <a:t> </a:t>
            </a:r>
            <a:r>
              <a:rPr lang="zh-CN" altLang="en-US" b="1" dirty="0"/>
              <a:t>不以</a:t>
            </a:r>
            <a:r>
              <a:rPr lang="zh-CN" altLang="en-US" b="1" dirty="0">
                <a:sym typeface="Symbol" panose="05050102010706020507" pitchFamily="18" charset="2"/>
              </a:rPr>
              <a:t></a:t>
            </a:r>
            <a:r>
              <a:rPr lang="zh-CN" altLang="en-US" b="1" dirty="0"/>
              <a:t>开头</a:t>
            </a:r>
            <a:r>
              <a:rPr lang="en-US" altLang="zh-CN" b="1" dirty="0"/>
              <a:t>)</a:t>
            </a:r>
            <a:endParaRPr lang="en-US" altLang="zh-CN" b="1" dirty="0"/>
          </a:p>
          <a:p>
            <a:pPr eaLnBrk="1" hangingPunct="1">
              <a:buNone/>
            </a:pPr>
            <a:r>
              <a:rPr lang="en-US" altLang="zh-CN" b="1" dirty="0"/>
              <a:t>     </a:t>
            </a:r>
            <a:r>
              <a:rPr lang="zh-CN" altLang="en-US" b="1" dirty="0"/>
              <a:t>那么，可以把这些规则改写成</a:t>
            </a:r>
            <a:endParaRPr lang="zh-CN" altLang="en-US" b="1" dirty="0"/>
          </a:p>
          <a:p>
            <a:pPr algn="ctr" eaLnBrk="1" hangingPunct="1">
              <a:spcBef>
                <a:spcPct val="0"/>
              </a:spcBef>
              <a:buNone/>
            </a:pPr>
            <a:r>
              <a:rPr lang="en-US" altLang="zh-CN" b="1" dirty="0"/>
              <a:t>A→</a:t>
            </a:r>
            <a:r>
              <a:rPr lang="en-US" altLang="zh-CN" b="1" dirty="0">
                <a:sym typeface="Symbol" panose="05050102010706020507" pitchFamily="18" charset="2"/>
              </a:rPr>
              <a:t></a:t>
            </a:r>
            <a:r>
              <a:rPr lang="en-US" altLang="zh-CN" b="1" dirty="0"/>
              <a:t>A</a:t>
            </a:r>
            <a:r>
              <a:rPr lang="en-US" altLang="zh-CN" b="1" dirty="0">
                <a:sym typeface="Symbol" panose="05050102010706020507" pitchFamily="18" charset="2"/>
              </a:rPr>
              <a:t></a:t>
            </a:r>
            <a:r>
              <a:rPr lang="en-US" altLang="zh-CN" b="1" dirty="0"/>
              <a:t> | </a:t>
            </a:r>
            <a:r>
              <a:rPr lang="en-US" altLang="zh-CN" b="1" dirty="0">
                <a:sym typeface="Symbol" panose="05050102010706020507" pitchFamily="18" charset="2"/>
              </a:rPr>
              <a:t></a:t>
            </a:r>
            <a:r>
              <a:rPr lang="en-US" altLang="zh-CN" b="1" baseline="-25000" dirty="0"/>
              <a:t> 1 </a:t>
            </a:r>
            <a:r>
              <a:rPr lang="en-US" altLang="zh-CN" b="1" dirty="0"/>
              <a:t>| </a:t>
            </a:r>
            <a:r>
              <a:rPr lang="en-US" altLang="zh-CN" b="1" dirty="0">
                <a:sym typeface="Symbol" panose="05050102010706020507" pitchFamily="18" charset="2"/>
              </a:rPr>
              <a:t></a:t>
            </a:r>
            <a:r>
              <a:rPr lang="en-US" altLang="zh-CN" b="1" baseline="-25000" dirty="0"/>
              <a:t> 2 </a:t>
            </a:r>
            <a:r>
              <a:rPr lang="en-US" altLang="zh-CN" b="1" dirty="0"/>
              <a:t>| … | </a:t>
            </a:r>
            <a:r>
              <a:rPr lang="en-US" altLang="zh-CN" b="1" dirty="0">
                <a:sym typeface="Symbol" panose="05050102010706020507" pitchFamily="18" charset="2"/>
              </a:rPr>
              <a:t></a:t>
            </a:r>
            <a:r>
              <a:rPr lang="en-US" altLang="zh-CN" b="1" baseline="-25000" dirty="0"/>
              <a:t> m</a:t>
            </a:r>
            <a:endParaRPr lang="en-US" altLang="zh-CN" b="1" dirty="0"/>
          </a:p>
          <a:p>
            <a:pPr algn="ctr" eaLnBrk="1" hangingPunct="1">
              <a:spcBef>
                <a:spcPct val="0"/>
              </a:spcBef>
              <a:buNone/>
            </a:pPr>
            <a:r>
              <a:rPr lang="en-US" altLang="zh-CN" b="1" dirty="0"/>
              <a:t>A</a:t>
            </a:r>
            <a:r>
              <a:rPr lang="en-US" altLang="zh-CN" b="1" dirty="0">
                <a:sym typeface="Symbol" panose="05050102010706020507" pitchFamily="18" charset="2"/>
              </a:rPr>
              <a:t></a:t>
            </a:r>
            <a:r>
              <a:rPr lang="en-US" altLang="zh-CN" b="1" dirty="0"/>
              <a:t>→</a:t>
            </a:r>
            <a:r>
              <a:rPr lang="en-US" altLang="zh-CN" b="1" dirty="0">
                <a:sym typeface="Symbol" panose="05050102010706020507" pitchFamily="18" charset="2"/>
              </a:rPr>
              <a:t></a:t>
            </a:r>
            <a:r>
              <a:rPr lang="en-US" altLang="zh-CN" b="1" baseline="-25000" dirty="0"/>
              <a:t> 1 </a:t>
            </a:r>
            <a:r>
              <a:rPr lang="en-US" altLang="zh-CN" b="1" dirty="0"/>
              <a:t>| </a:t>
            </a:r>
            <a:r>
              <a:rPr lang="en-US" altLang="zh-CN" b="1" dirty="0">
                <a:sym typeface="Symbol" panose="05050102010706020507" pitchFamily="18" charset="2"/>
              </a:rPr>
              <a:t></a:t>
            </a:r>
            <a:r>
              <a:rPr lang="en-US" altLang="zh-CN" b="1" baseline="-25000" dirty="0"/>
              <a:t> 2 </a:t>
            </a:r>
            <a:r>
              <a:rPr lang="en-US" altLang="zh-CN" b="1" dirty="0"/>
              <a:t>| … | </a:t>
            </a:r>
            <a:r>
              <a:rPr lang="en-US" altLang="zh-CN" b="1" dirty="0">
                <a:sym typeface="Symbol" panose="05050102010706020507" pitchFamily="18" charset="2"/>
              </a:rPr>
              <a:t></a:t>
            </a:r>
            <a:r>
              <a:rPr lang="en-US" altLang="zh-CN" b="1" baseline="-25000" dirty="0"/>
              <a:t> n</a:t>
            </a:r>
            <a:endParaRPr lang="en-US" altLang="zh-CN" b="1" dirty="0"/>
          </a:p>
          <a:p>
            <a:pPr eaLnBrk="1" hangingPunct="1"/>
            <a:r>
              <a:rPr lang="zh-CN" altLang="en-US" b="1" dirty="0"/>
              <a:t>经过反复提取左因子，就能够把每个非终结符</a:t>
            </a:r>
            <a:r>
              <a:rPr lang="en-US" altLang="zh-CN" b="1" dirty="0"/>
              <a:t>(</a:t>
            </a:r>
            <a:r>
              <a:rPr lang="zh-CN" altLang="en-US" b="1" dirty="0"/>
              <a:t>包括新引进者</a:t>
            </a:r>
            <a:r>
              <a:rPr lang="en-US" altLang="zh-CN" b="1" dirty="0"/>
              <a:t>)</a:t>
            </a:r>
            <a:r>
              <a:rPr lang="zh-CN" altLang="en-US" b="1" dirty="0"/>
              <a:t>的所有候选首符集变成为两两不相交。</a:t>
            </a:r>
            <a:endParaRPr lang="zh-CN" altLang="en-US" b="1"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18787">
                                            <p:txEl>
                                              <p:charRg st="0" end="9"/>
                                            </p:txEl>
                                          </p:spTgt>
                                        </p:tgtEl>
                                        <p:attrNameLst>
                                          <p:attrName>style.visibility</p:attrName>
                                        </p:attrNameLst>
                                      </p:cBhvr>
                                      <p:to>
                                        <p:strVal val="visible"/>
                                      </p:to>
                                    </p:set>
                                    <p:animEffect transition="in" filter="wipe(up)">
                                      <p:cBhvr>
                                        <p:cTn id="7" dur="500"/>
                                        <p:tgtEl>
                                          <p:spTgt spid="118787">
                                            <p:txEl>
                                              <p:charRg st="0" end="9"/>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8787">
                                            <p:txEl>
                                              <p:charRg st="9" end="23"/>
                                            </p:txEl>
                                          </p:spTgt>
                                        </p:tgtEl>
                                        <p:attrNameLst>
                                          <p:attrName>style.visibility</p:attrName>
                                        </p:attrNameLst>
                                      </p:cBhvr>
                                      <p:to>
                                        <p:strVal val="visible"/>
                                      </p:to>
                                    </p:set>
                                    <p:animEffect transition="in" filter="wipe(up)">
                                      <p:cBhvr>
                                        <p:cTn id="12" dur="500"/>
                                        <p:tgtEl>
                                          <p:spTgt spid="118787">
                                            <p:txEl>
                                              <p:charRg st="9" end="23"/>
                                            </p:txEl>
                                          </p:spTgt>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118787">
                                            <p:txEl>
                                              <p:charRg st="23" end="94"/>
                                            </p:txEl>
                                          </p:spTgt>
                                        </p:tgtEl>
                                        <p:attrNameLst>
                                          <p:attrName>style.visibility</p:attrName>
                                        </p:attrNameLst>
                                      </p:cBhvr>
                                      <p:to>
                                        <p:strVal val="visible"/>
                                      </p:to>
                                    </p:set>
                                    <p:animEffect transition="in" filter="wipe(up)">
                                      <p:cBhvr>
                                        <p:cTn id="16" dur="500"/>
                                        <p:tgtEl>
                                          <p:spTgt spid="118787">
                                            <p:txEl>
                                              <p:charRg st="23" end="9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118787">
                                            <p:txEl>
                                              <p:charRg st="94" end="113"/>
                                            </p:txEl>
                                          </p:spTgt>
                                        </p:tgtEl>
                                        <p:attrNameLst>
                                          <p:attrName>style.visibility</p:attrName>
                                        </p:attrNameLst>
                                      </p:cBhvr>
                                      <p:to>
                                        <p:strVal val="visible"/>
                                      </p:to>
                                    </p:set>
                                    <p:animEffect transition="in" filter="wipe(up)">
                                      <p:cBhvr>
                                        <p:cTn id="21" dur="500"/>
                                        <p:tgtEl>
                                          <p:spTgt spid="118787">
                                            <p:txEl>
                                              <p:charRg st="94" end="11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118787">
                                            <p:txEl>
                                              <p:charRg st="113" end="141"/>
                                            </p:txEl>
                                          </p:spTgt>
                                        </p:tgtEl>
                                        <p:attrNameLst>
                                          <p:attrName>style.visibility</p:attrName>
                                        </p:attrNameLst>
                                      </p:cBhvr>
                                      <p:to>
                                        <p:strVal val="visible"/>
                                      </p:to>
                                    </p:set>
                                    <p:animEffect transition="in" filter="wipe(up)">
                                      <p:cBhvr>
                                        <p:cTn id="26" dur="500"/>
                                        <p:tgtEl>
                                          <p:spTgt spid="118787">
                                            <p:txEl>
                                              <p:charRg st="113" end="14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118787">
                                            <p:txEl>
                                              <p:charRg st="141" end="164"/>
                                            </p:txEl>
                                          </p:spTgt>
                                        </p:tgtEl>
                                        <p:attrNameLst>
                                          <p:attrName>style.visibility</p:attrName>
                                        </p:attrNameLst>
                                      </p:cBhvr>
                                      <p:to>
                                        <p:strVal val="visible"/>
                                      </p:to>
                                    </p:set>
                                    <p:animEffect transition="in" filter="wipe(up)">
                                      <p:cBhvr>
                                        <p:cTn id="31" dur="500"/>
                                        <p:tgtEl>
                                          <p:spTgt spid="118787">
                                            <p:txEl>
                                              <p:charRg st="141" end="164"/>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118787">
                                            <p:txEl>
                                              <p:charRg st="164" end="210"/>
                                            </p:txEl>
                                          </p:spTgt>
                                        </p:tgtEl>
                                        <p:attrNameLst>
                                          <p:attrName>style.visibility</p:attrName>
                                        </p:attrNameLst>
                                      </p:cBhvr>
                                      <p:to>
                                        <p:strVal val="visible"/>
                                      </p:to>
                                    </p:set>
                                    <p:animEffect transition="in" filter="wipe(up)">
                                      <p:cBhvr>
                                        <p:cTn id="36" dur="500"/>
                                        <p:tgtEl>
                                          <p:spTgt spid="118787">
                                            <p:txEl>
                                              <p:charRg st="164" end="2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7"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119813" name="Rectangle 5"/>
          <p:cNvSpPr>
            <a:spLocks noGrp="1"/>
          </p:cNvSpPr>
          <p:nvPr>
            <p:ph type="body"/>
          </p:nvPr>
        </p:nvSpPr>
        <p:spPr>
          <a:xfrm>
            <a:off x="457200" y="1981200"/>
            <a:ext cx="8686800" cy="3248025"/>
          </a:xfrm>
          <a:ln/>
        </p:spPr>
        <p:txBody>
          <a:bodyPr vert="horz" wrap="square" lIns="91440" tIns="45720" rIns="91440" bIns="45720" anchor="t"/>
          <a:p>
            <a:pPr eaLnBrk="1" hangingPunct="1">
              <a:lnSpc>
                <a:spcPct val="90000"/>
              </a:lnSpc>
              <a:spcBef>
                <a:spcPct val="0"/>
              </a:spcBef>
            </a:pPr>
            <a:r>
              <a:rPr lang="en-US" altLang="zh-CN" b="1" dirty="0"/>
              <a:t> E→TE</a:t>
            </a:r>
            <a:r>
              <a:rPr lang="en-US" altLang="zh-CN" b="1" dirty="0">
                <a:sym typeface="Symbol" panose="05050102010706020507" pitchFamily="18" charset="2"/>
              </a:rPr>
              <a:t></a:t>
            </a:r>
            <a:endParaRPr lang="en-US" altLang="zh-CN" b="1" dirty="0"/>
          </a:p>
          <a:p>
            <a:pPr eaLnBrk="1" hangingPunct="1">
              <a:lnSpc>
                <a:spcPct val="90000"/>
              </a:lnSpc>
              <a:spcBef>
                <a:spcPct val="0"/>
              </a:spcBef>
              <a:buNone/>
            </a:pPr>
            <a:r>
              <a:rPr lang="en-US" altLang="zh-CN" b="1" dirty="0"/>
              <a:t>    E</a:t>
            </a:r>
            <a:r>
              <a:rPr lang="en-US" altLang="zh-CN" b="1" dirty="0">
                <a:sym typeface="Symbol" panose="05050102010706020507" pitchFamily="18" charset="2"/>
              </a:rPr>
              <a:t></a:t>
            </a:r>
            <a:r>
              <a:rPr lang="en-US" altLang="zh-CN" b="1" dirty="0"/>
              <a:t>→+TE</a:t>
            </a:r>
            <a:r>
              <a:rPr lang="en-US" altLang="zh-CN" b="1" dirty="0">
                <a:sym typeface="Symbol" panose="05050102010706020507" pitchFamily="18" charset="2"/>
              </a:rPr>
              <a:t></a:t>
            </a:r>
            <a:r>
              <a:rPr lang="en-US" altLang="zh-CN" b="1" dirty="0"/>
              <a:t> | </a:t>
            </a:r>
            <a:r>
              <a:rPr lang="en-US" altLang="zh-CN" b="1" dirty="0">
                <a:sym typeface="Symbol" panose="05050102010706020507" pitchFamily="18" charset="2"/>
              </a:rPr>
              <a:t></a:t>
            </a:r>
            <a:endParaRPr lang="en-US" altLang="zh-CN" b="1" dirty="0"/>
          </a:p>
          <a:p>
            <a:pPr eaLnBrk="1" hangingPunct="1">
              <a:lnSpc>
                <a:spcPct val="90000"/>
              </a:lnSpc>
              <a:spcBef>
                <a:spcPct val="0"/>
              </a:spcBef>
              <a:buNone/>
            </a:pPr>
            <a:r>
              <a:rPr lang="en-US" altLang="zh-CN" b="1" dirty="0"/>
              <a:t>    T→FT</a:t>
            </a:r>
            <a:r>
              <a:rPr lang="en-US" altLang="zh-CN" b="1" dirty="0">
                <a:sym typeface="Symbol" panose="05050102010706020507" pitchFamily="18" charset="2"/>
              </a:rPr>
              <a:t></a:t>
            </a:r>
            <a:endParaRPr lang="en-US" altLang="zh-CN" b="1" dirty="0"/>
          </a:p>
          <a:p>
            <a:pPr eaLnBrk="1" hangingPunct="1">
              <a:lnSpc>
                <a:spcPct val="90000"/>
              </a:lnSpc>
              <a:spcBef>
                <a:spcPct val="0"/>
              </a:spcBef>
              <a:buNone/>
            </a:pPr>
            <a:r>
              <a:rPr lang="en-US" altLang="zh-CN" b="1" dirty="0"/>
              <a:t>    T</a:t>
            </a:r>
            <a:r>
              <a:rPr lang="en-US" altLang="zh-CN" b="1" dirty="0">
                <a:sym typeface="Symbol" panose="05050102010706020507" pitchFamily="18" charset="2"/>
              </a:rPr>
              <a:t></a:t>
            </a:r>
            <a:r>
              <a:rPr lang="en-US" altLang="zh-CN" b="1" dirty="0"/>
              <a:t>→*FT</a:t>
            </a:r>
            <a:r>
              <a:rPr lang="en-US" altLang="zh-CN" b="1" dirty="0">
                <a:sym typeface="Symbol" panose="05050102010706020507" pitchFamily="18" charset="2"/>
              </a:rPr>
              <a:t></a:t>
            </a:r>
            <a:r>
              <a:rPr lang="en-US" altLang="zh-CN" b="1" dirty="0"/>
              <a:t> | </a:t>
            </a:r>
            <a:r>
              <a:rPr lang="en-US" altLang="zh-CN" b="1" dirty="0">
                <a:sym typeface="Symbol" panose="05050102010706020507" pitchFamily="18" charset="2"/>
              </a:rPr>
              <a:t></a:t>
            </a:r>
            <a:endParaRPr lang="en-US" altLang="zh-CN" b="1" dirty="0"/>
          </a:p>
          <a:p>
            <a:pPr eaLnBrk="1" hangingPunct="1">
              <a:lnSpc>
                <a:spcPct val="90000"/>
              </a:lnSpc>
              <a:spcBef>
                <a:spcPct val="0"/>
              </a:spcBef>
              <a:buNone/>
            </a:pPr>
            <a:r>
              <a:rPr lang="en-US" altLang="zh-CN" b="1" dirty="0"/>
              <a:t>    F→(E) | i</a:t>
            </a:r>
            <a:endParaRPr lang="en-US" altLang="zh-CN" b="1" dirty="0"/>
          </a:p>
          <a:p>
            <a:pPr eaLnBrk="1" hangingPunct="1">
              <a:lnSpc>
                <a:spcPct val="90000"/>
              </a:lnSpc>
              <a:spcBef>
                <a:spcPct val="0"/>
              </a:spcBef>
              <a:buNone/>
            </a:pPr>
            <a:endParaRPr lang="en-US" altLang="zh-CN" b="1" dirty="0"/>
          </a:p>
          <a:p>
            <a:pPr eaLnBrk="1" hangingPunct="1">
              <a:lnSpc>
                <a:spcPct val="90000"/>
              </a:lnSpc>
              <a:spcBef>
                <a:spcPct val="0"/>
              </a:spcBef>
            </a:pPr>
            <a:r>
              <a:rPr lang="en-US" altLang="zh-CN" b="1" dirty="0"/>
              <a:t> i   +   i</a:t>
            </a:r>
            <a:endParaRPr lang="en-US" altLang="zh-CN" b="1" dirty="0"/>
          </a:p>
          <a:p>
            <a:pPr eaLnBrk="1" hangingPunct="1">
              <a:lnSpc>
                <a:spcPct val="90000"/>
              </a:lnSpc>
            </a:pPr>
            <a:endParaRPr lang="en-US" altLang="zh-CN" b="1" dirty="0"/>
          </a:p>
        </p:txBody>
      </p:sp>
      <p:sp>
        <p:nvSpPr>
          <p:cNvPr id="35843" name="Rectangle 11"/>
          <p:cNvSpPr>
            <a:spLocks noGrp="1"/>
          </p:cNvSpPr>
          <p:nvPr>
            <p:ph type="title"/>
          </p:nvPr>
        </p:nvSpPr>
        <p:spPr>
          <a:ln/>
        </p:spPr>
        <p:txBody>
          <a:bodyPr vert="horz" wrap="square" lIns="91440" tIns="45720" rIns="91440" bIns="45720" anchor="ctr"/>
          <a:p>
            <a:pPr eaLnBrk="1" hangingPunct="1"/>
            <a:r>
              <a:rPr lang="en-US" altLang="zh-CN" b="1" dirty="0"/>
              <a:t>4.3.3  LL(1)</a:t>
            </a:r>
            <a:r>
              <a:rPr lang="zh-CN" altLang="en-US" b="1" dirty="0"/>
              <a:t>分析条件</a:t>
            </a:r>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19813">
                                            <p:txEl>
                                              <p:charRg st="0" end="7"/>
                                            </p:txEl>
                                          </p:spTgt>
                                        </p:tgtEl>
                                        <p:attrNameLst>
                                          <p:attrName>style.visibility</p:attrName>
                                        </p:attrNameLst>
                                      </p:cBhvr>
                                      <p:to>
                                        <p:strVal val="visible"/>
                                      </p:to>
                                    </p:set>
                                    <p:animEffect transition="in" filter="wipe(up)">
                                      <p:cBhvr>
                                        <p:cTn id="7" dur="500"/>
                                        <p:tgtEl>
                                          <p:spTgt spid="119813">
                                            <p:txEl>
                                              <p:charRg st="0" end="7"/>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9813">
                                            <p:txEl>
                                              <p:charRg st="7" end="23"/>
                                            </p:txEl>
                                          </p:spTgt>
                                        </p:tgtEl>
                                        <p:attrNameLst>
                                          <p:attrName>style.visibility</p:attrName>
                                        </p:attrNameLst>
                                      </p:cBhvr>
                                      <p:to>
                                        <p:strVal val="visible"/>
                                      </p:to>
                                    </p:set>
                                    <p:animEffect transition="in" filter="wipe(up)">
                                      <p:cBhvr>
                                        <p:cTn id="12" dur="500"/>
                                        <p:tgtEl>
                                          <p:spTgt spid="119813">
                                            <p:txEl>
                                              <p:charRg st="7" end="2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19813">
                                            <p:txEl>
                                              <p:charRg st="23" end="33"/>
                                            </p:txEl>
                                          </p:spTgt>
                                        </p:tgtEl>
                                        <p:attrNameLst>
                                          <p:attrName>style.visibility</p:attrName>
                                        </p:attrNameLst>
                                      </p:cBhvr>
                                      <p:to>
                                        <p:strVal val="visible"/>
                                      </p:to>
                                    </p:set>
                                    <p:animEffect transition="in" filter="wipe(up)">
                                      <p:cBhvr>
                                        <p:cTn id="17" dur="500"/>
                                        <p:tgtEl>
                                          <p:spTgt spid="119813">
                                            <p:txEl>
                                              <p:charRg st="23" end="3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19813">
                                            <p:txEl>
                                              <p:charRg st="33" end="49"/>
                                            </p:txEl>
                                          </p:spTgt>
                                        </p:tgtEl>
                                        <p:attrNameLst>
                                          <p:attrName>style.visibility</p:attrName>
                                        </p:attrNameLst>
                                      </p:cBhvr>
                                      <p:to>
                                        <p:strVal val="visible"/>
                                      </p:to>
                                    </p:set>
                                    <p:animEffect transition="in" filter="wipe(up)">
                                      <p:cBhvr>
                                        <p:cTn id="22" dur="500"/>
                                        <p:tgtEl>
                                          <p:spTgt spid="119813">
                                            <p:txEl>
                                              <p:charRg st="33" end="49"/>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19813">
                                            <p:txEl>
                                              <p:charRg st="49" end="63"/>
                                            </p:txEl>
                                          </p:spTgt>
                                        </p:tgtEl>
                                        <p:attrNameLst>
                                          <p:attrName>style.visibility</p:attrName>
                                        </p:attrNameLst>
                                      </p:cBhvr>
                                      <p:to>
                                        <p:strVal val="visible"/>
                                      </p:to>
                                    </p:set>
                                    <p:animEffect transition="in" filter="wipe(up)">
                                      <p:cBhvr>
                                        <p:cTn id="27" dur="500"/>
                                        <p:tgtEl>
                                          <p:spTgt spid="119813">
                                            <p:txEl>
                                              <p:charRg st="49" end="6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19813">
                                            <p:txEl>
                                              <p:charRg st="64" end="75"/>
                                            </p:txEl>
                                          </p:spTgt>
                                        </p:tgtEl>
                                        <p:attrNameLst>
                                          <p:attrName>style.visibility</p:attrName>
                                        </p:attrNameLst>
                                      </p:cBhvr>
                                      <p:to>
                                        <p:strVal val="visible"/>
                                      </p:to>
                                    </p:set>
                                    <p:animEffect transition="in" filter="wipe(up)">
                                      <p:cBhvr>
                                        <p:cTn id="32" dur="500"/>
                                        <p:tgtEl>
                                          <p:spTgt spid="119813">
                                            <p:txEl>
                                              <p:charRg st="64" end="7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36866" name="Text Box 2"/>
          <p:cNvSpPr txBox="1"/>
          <p:nvPr/>
        </p:nvSpPr>
        <p:spPr>
          <a:xfrm>
            <a:off x="457200" y="2152650"/>
            <a:ext cx="1912938" cy="641350"/>
          </a:xfrm>
          <a:prstGeom prst="rect">
            <a:avLst/>
          </a:prstGeom>
          <a:noFill/>
          <a:ln w="12700">
            <a:noFill/>
          </a:ln>
        </p:spPr>
        <p:txBody>
          <a:bodyPr anchor="t">
            <a:spAutoFit/>
          </a:bodyPr>
          <a:p>
            <a:pPr algn="ctr"/>
            <a:r>
              <a:rPr lang="en-US" altLang="zh-CN" sz="3600" b="1" u="none" dirty="0">
                <a:solidFill>
                  <a:schemeClr val="tx1"/>
                </a:solidFill>
                <a:latin typeface="Times New Roman" panose="02020603050405020304" pitchFamily="18" charset="0"/>
              </a:rPr>
              <a:t>i   +   i </a:t>
            </a:r>
            <a:endParaRPr lang="en-US" altLang="zh-CN" sz="3600" b="1" u="none" dirty="0">
              <a:solidFill>
                <a:schemeClr val="tx1"/>
              </a:solidFill>
              <a:latin typeface="Times New Roman" panose="02020603050405020304" pitchFamily="18" charset="0"/>
            </a:endParaRPr>
          </a:p>
        </p:txBody>
      </p:sp>
      <p:sp>
        <p:nvSpPr>
          <p:cNvPr id="36867" name="Line 3"/>
          <p:cNvSpPr/>
          <p:nvPr/>
        </p:nvSpPr>
        <p:spPr>
          <a:xfrm flipV="1">
            <a:off x="877888" y="2819400"/>
            <a:ext cx="0" cy="533400"/>
          </a:xfrm>
          <a:prstGeom prst="line">
            <a:avLst/>
          </a:prstGeom>
          <a:ln w="19050" cap="flat" cmpd="sng">
            <a:solidFill>
              <a:schemeClr val="tx1"/>
            </a:solidFill>
            <a:prstDash val="solid"/>
            <a:round/>
            <a:headEnd type="none" w="med" len="med"/>
            <a:tailEnd type="stealth" w="lg" len="lg"/>
          </a:ln>
        </p:spPr>
      </p:sp>
      <p:sp>
        <p:nvSpPr>
          <p:cNvPr id="36868" name="Text Box 4"/>
          <p:cNvSpPr txBox="1"/>
          <p:nvPr/>
        </p:nvSpPr>
        <p:spPr>
          <a:xfrm>
            <a:off x="609600" y="3495675"/>
            <a:ext cx="539750" cy="519113"/>
          </a:xfrm>
          <a:prstGeom prst="rect">
            <a:avLst/>
          </a:prstGeom>
          <a:noFill/>
          <a:ln w="12700">
            <a:noFill/>
          </a:ln>
        </p:spPr>
        <p:txBody>
          <a:bodyPr wrap="none" anchor="t">
            <a:spAutoFit/>
          </a:bodyPr>
          <a:p>
            <a:pPr algn="ctr"/>
            <a:r>
              <a:rPr lang="en-US" altLang="zh-CN" sz="2800" b="1" u="none" dirty="0">
                <a:solidFill>
                  <a:schemeClr val="tx1"/>
                </a:solidFill>
                <a:latin typeface="Times New Roman" panose="02020603050405020304" pitchFamily="18" charset="0"/>
              </a:rPr>
              <a:t>IP</a:t>
            </a:r>
            <a:endParaRPr lang="en-US" altLang="zh-CN" sz="2800" b="1" u="none" dirty="0">
              <a:solidFill>
                <a:schemeClr val="tx1"/>
              </a:solidFill>
              <a:latin typeface="Times New Roman" panose="02020603050405020304" pitchFamily="18" charset="0"/>
            </a:endParaRPr>
          </a:p>
        </p:txBody>
      </p:sp>
      <p:sp>
        <p:nvSpPr>
          <p:cNvPr id="36869" name="Text Box 5"/>
          <p:cNvSpPr txBox="1"/>
          <p:nvPr/>
        </p:nvSpPr>
        <p:spPr>
          <a:xfrm>
            <a:off x="5030788" y="228600"/>
            <a:ext cx="455612" cy="579438"/>
          </a:xfrm>
          <a:prstGeom prst="rect">
            <a:avLst/>
          </a:prstGeom>
          <a:noFill/>
          <a:ln w="12700">
            <a:noFill/>
          </a:ln>
        </p:spPr>
        <p:txBody>
          <a:bodyPr wrap="none" anchor="t">
            <a:spAutoFit/>
          </a:bodyPr>
          <a:p>
            <a:pPr algn="ctr"/>
            <a:r>
              <a:rPr lang="en-US" altLang="zh-CN" sz="3200" b="1" u="none" dirty="0">
                <a:solidFill>
                  <a:srgbClr val="FF0000"/>
                </a:solidFill>
                <a:latin typeface="Times New Roman" panose="02020603050405020304" pitchFamily="18" charset="0"/>
              </a:rPr>
              <a:t>E</a:t>
            </a:r>
            <a:endParaRPr lang="en-US" altLang="zh-CN" sz="3200" b="1" u="none" dirty="0">
              <a:solidFill>
                <a:srgbClr val="FF0000"/>
              </a:solidFill>
              <a:latin typeface="Times New Roman" panose="02020603050405020304" pitchFamily="18" charset="0"/>
            </a:endParaRPr>
          </a:p>
        </p:txBody>
      </p:sp>
      <p:sp>
        <p:nvSpPr>
          <p:cNvPr id="36870" name="Rectangle 25"/>
          <p:cNvSpPr/>
          <p:nvPr/>
        </p:nvSpPr>
        <p:spPr>
          <a:xfrm>
            <a:off x="0" y="4149725"/>
            <a:ext cx="2700338" cy="2349500"/>
          </a:xfrm>
          <a:prstGeom prst="rect">
            <a:avLst/>
          </a:prstGeom>
          <a:solidFill>
            <a:srgbClr val="FFFF99"/>
          </a:solidFill>
          <a:ln w="12700" cap="flat" cmpd="sng">
            <a:solidFill>
              <a:srgbClr val="FF0000"/>
            </a:solidFill>
            <a:prstDash val="solid"/>
            <a:miter/>
            <a:headEnd type="none" w="med" len="med"/>
            <a:tailEnd type="none" w="lg" len="lg"/>
          </a:ln>
        </p:spPr>
        <p:txBody>
          <a:bodyPr wrap="none" anchor="ctr"/>
          <a:p>
            <a:pPr>
              <a:lnSpc>
                <a:spcPct val="90000"/>
              </a:lnSpc>
              <a:buClr>
                <a:schemeClr val="bg2"/>
              </a:buClr>
              <a:buSzPct val="75000"/>
              <a:buFont typeface="Wingdings" panose="05000000000000000000" pitchFamily="2" charset="2"/>
              <a:buChar char="n"/>
            </a:pPr>
            <a:r>
              <a:rPr lang="en-US" altLang="zh-CN" sz="2800" b="1" u="none" dirty="0">
                <a:solidFill>
                  <a:schemeClr val="tx1"/>
                </a:solidFill>
                <a:latin typeface="Arial" panose="020B0604020202020204" pitchFamily="34" charset="0"/>
              </a:rPr>
              <a:t>G(E):</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E→TE</a:t>
            </a:r>
            <a:r>
              <a:rPr lang="en-US" altLang="zh-CN" sz="2800" b="1" u="none" dirty="0">
                <a:solidFill>
                  <a:schemeClr val="tx1"/>
                </a:solidFill>
                <a:latin typeface="Arial" panose="020B0604020202020204" pitchFamily="34" charset="0"/>
                <a:sym typeface="Symbol" panose="05050102010706020507" pitchFamily="18" charset="2"/>
              </a:rPr>
              <a:t></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E</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→+TE</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 | </a:t>
            </a:r>
            <a:r>
              <a:rPr lang="en-US" altLang="zh-CN" sz="2800" b="1" u="none" dirty="0">
                <a:solidFill>
                  <a:schemeClr val="tx1"/>
                </a:solidFill>
                <a:latin typeface="Arial" panose="020B0604020202020204" pitchFamily="34" charset="0"/>
                <a:sym typeface="Symbol" panose="05050102010706020507" pitchFamily="18" charset="2"/>
              </a:rPr>
              <a:t></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T→FT</a:t>
            </a:r>
            <a:r>
              <a:rPr lang="en-US" altLang="zh-CN" sz="2800" b="1" u="none" dirty="0">
                <a:solidFill>
                  <a:schemeClr val="tx1"/>
                </a:solidFill>
                <a:latin typeface="Arial" panose="020B0604020202020204" pitchFamily="34" charset="0"/>
                <a:sym typeface="Symbol" panose="05050102010706020507" pitchFamily="18" charset="2"/>
              </a:rPr>
              <a:t></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T</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→*FT</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 | </a:t>
            </a:r>
            <a:r>
              <a:rPr lang="en-US" altLang="zh-CN" sz="2800" b="1" u="none" dirty="0">
                <a:solidFill>
                  <a:schemeClr val="tx1"/>
                </a:solidFill>
                <a:latin typeface="Arial" panose="020B0604020202020204" pitchFamily="34" charset="0"/>
                <a:sym typeface="Symbol" panose="05050102010706020507" pitchFamily="18" charset="2"/>
              </a:rPr>
              <a:t></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F→(E) | i</a:t>
            </a:r>
            <a:endParaRPr lang="en-GB" altLang="zh-CN" sz="1600" u="none" dirty="0">
              <a:solidFill>
                <a:schemeClr val="tx1"/>
              </a:solidFill>
              <a:latin typeface="Arial" panose="020B0604020202020204" pitchFamily="34" charset="0"/>
            </a:endParaRPr>
          </a:p>
        </p:txBody>
      </p:sp>
    </p:spTree>
  </p:cSld>
  <p:clrMapOvr>
    <a:masterClrMapping/>
  </p:clrMapOvr>
  <p:transition spd="med">
    <p:zo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37890" name="Text Box 2"/>
          <p:cNvSpPr txBox="1"/>
          <p:nvPr/>
        </p:nvSpPr>
        <p:spPr>
          <a:xfrm>
            <a:off x="457200" y="2152650"/>
            <a:ext cx="1912938" cy="641350"/>
          </a:xfrm>
          <a:prstGeom prst="rect">
            <a:avLst/>
          </a:prstGeom>
          <a:noFill/>
          <a:ln w="12700">
            <a:noFill/>
          </a:ln>
        </p:spPr>
        <p:txBody>
          <a:bodyPr anchor="t">
            <a:spAutoFit/>
          </a:bodyPr>
          <a:p>
            <a:pPr algn="ctr"/>
            <a:r>
              <a:rPr lang="en-US" altLang="zh-CN" sz="3600" b="1" u="none" dirty="0">
                <a:solidFill>
                  <a:schemeClr val="tx1"/>
                </a:solidFill>
                <a:latin typeface="Times New Roman" panose="02020603050405020304" pitchFamily="18" charset="0"/>
              </a:rPr>
              <a:t>i   +   i </a:t>
            </a:r>
            <a:endParaRPr lang="en-US" altLang="zh-CN" sz="3600" b="1" u="none" dirty="0">
              <a:solidFill>
                <a:schemeClr val="tx1"/>
              </a:solidFill>
              <a:latin typeface="Times New Roman" panose="02020603050405020304" pitchFamily="18" charset="0"/>
            </a:endParaRPr>
          </a:p>
        </p:txBody>
      </p:sp>
      <p:sp>
        <p:nvSpPr>
          <p:cNvPr id="37891" name="Line 3"/>
          <p:cNvSpPr/>
          <p:nvPr/>
        </p:nvSpPr>
        <p:spPr>
          <a:xfrm flipV="1">
            <a:off x="877888" y="2819400"/>
            <a:ext cx="0" cy="533400"/>
          </a:xfrm>
          <a:prstGeom prst="line">
            <a:avLst/>
          </a:prstGeom>
          <a:ln w="19050" cap="flat" cmpd="sng">
            <a:solidFill>
              <a:schemeClr val="tx1"/>
            </a:solidFill>
            <a:prstDash val="solid"/>
            <a:round/>
            <a:headEnd type="none" w="med" len="med"/>
            <a:tailEnd type="stealth" w="lg" len="lg"/>
          </a:ln>
        </p:spPr>
      </p:sp>
      <p:sp>
        <p:nvSpPr>
          <p:cNvPr id="37892" name="Text Box 4"/>
          <p:cNvSpPr txBox="1"/>
          <p:nvPr/>
        </p:nvSpPr>
        <p:spPr>
          <a:xfrm>
            <a:off x="609600" y="3495675"/>
            <a:ext cx="539750" cy="519113"/>
          </a:xfrm>
          <a:prstGeom prst="rect">
            <a:avLst/>
          </a:prstGeom>
          <a:noFill/>
          <a:ln w="12700">
            <a:noFill/>
          </a:ln>
        </p:spPr>
        <p:txBody>
          <a:bodyPr wrap="none" anchor="t">
            <a:spAutoFit/>
          </a:bodyPr>
          <a:p>
            <a:pPr algn="ctr"/>
            <a:r>
              <a:rPr lang="en-US" altLang="zh-CN" sz="2800" b="1" u="none" dirty="0">
                <a:solidFill>
                  <a:schemeClr val="tx1"/>
                </a:solidFill>
                <a:latin typeface="Times New Roman" panose="02020603050405020304" pitchFamily="18" charset="0"/>
              </a:rPr>
              <a:t>IP</a:t>
            </a:r>
            <a:endParaRPr lang="en-US" altLang="zh-CN" sz="2800" b="1" u="none" dirty="0">
              <a:solidFill>
                <a:schemeClr val="tx1"/>
              </a:solidFill>
              <a:latin typeface="Times New Roman" panose="02020603050405020304" pitchFamily="18" charset="0"/>
            </a:endParaRPr>
          </a:p>
        </p:txBody>
      </p:sp>
      <p:sp>
        <p:nvSpPr>
          <p:cNvPr id="37893" name="Text Box 5"/>
          <p:cNvSpPr txBox="1"/>
          <p:nvPr/>
        </p:nvSpPr>
        <p:spPr>
          <a:xfrm>
            <a:off x="5030788" y="228600"/>
            <a:ext cx="455612" cy="579438"/>
          </a:xfrm>
          <a:prstGeom prst="rect">
            <a:avLst/>
          </a:prstGeom>
          <a:noFill/>
          <a:ln w="12700">
            <a:noFill/>
          </a:ln>
        </p:spPr>
        <p:txBody>
          <a:bodyPr wrap="none" anchor="t">
            <a:spAutoFit/>
          </a:bodyPr>
          <a:p>
            <a:pPr algn="ctr"/>
            <a:r>
              <a:rPr lang="en-US" altLang="zh-CN" sz="3200" b="1" u="none" dirty="0">
                <a:solidFill>
                  <a:schemeClr val="tx1"/>
                </a:solidFill>
                <a:latin typeface="Times New Roman" panose="02020603050405020304" pitchFamily="18" charset="0"/>
              </a:rPr>
              <a:t>E</a:t>
            </a:r>
            <a:endParaRPr lang="en-US" altLang="zh-CN" sz="3200" b="1" u="none" dirty="0">
              <a:solidFill>
                <a:schemeClr val="tx1"/>
              </a:solidFill>
              <a:latin typeface="Times New Roman" panose="02020603050405020304" pitchFamily="18" charset="0"/>
            </a:endParaRPr>
          </a:p>
        </p:txBody>
      </p:sp>
      <p:sp>
        <p:nvSpPr>
          <p:cNvPr id="37894" name="Line 6"/>
          <p:cNvSpPr/>
          <p:nvPr/>
        </p:nvSpPr>
        <p:spPr>
          <a:xfrm flipH="1">
            <a:off x="4038600" y="731838"/>
            <a:ext cx="1143000" cy="685800"/>
          </a:xfrm>
          <a:prstGeom prst="line">
            <a:avLst/>
          </a:prstGeom>
          <a:ln w="19050" cap="flat" cmpd="sng">
            <a:solidFill>
              <a:schemeClr val="tx1"/>
            </a:solidFill>
            <a:prstDash val="solid"/>
            <a:round/>
            <a:headEnd type="none" w="med" len="med"/>
            <a:tailEnd type="none" w="lg" len="lg"/>
          </a:ln>
        </p:spPr>
      </p:sp>
      <p:sp>
        <p:nvSpPr>
          <p:cNvPr id="37895" name="Line 7"/>
          <p:cNvSpPr/>
          <p:nvPr/>
        </p:nvSpPr>
        <p:spPr>
          <a:xfrm>
            <a:off x="5334000" y="731838"/>
            <a:ext cx="1295400" cy="685800"/>
          </a:xfrm>
          <a:prstGeom prst="line">
            <a:avLst/>
          </a:prstGeom>
          <a:ln w="19050" cap="flat" cmpd="sng">
            <a:solidFill>
              <a:schemeClr val="tx1"/>
            </a:solidFill>
            <a:prstDash val="solid"/>
            <a:round/>
            <a:headEnd type="none" w="med" len="med"/>
            <a:tailEnd type="none" w="lg" len="lg"/>
          </a:ln>
        </p:spPr>
      </p:sp>
      <p:sp>
        <p:nvSpPr>
          <p:cNvPr id="37896" name="Text Box 8"/>
          <p:cNvSpPr txBox="1"/>
          <p:nvPr/>
        </p:nvSpPr>
        <p:spPr>
          <a:xfrm>
            <a:off x="3810000" y="1417638"/>
            <a:ext cx="455613" cy="579437"/>
          </a:xfrm>
          <a:prstGeom prst="rect">
            <a:avLst/>
          </a:prstGeom>
          <a:noFill/>
          <a:ln w="12700">
            <a:noFill/>
          </a:ln>
        </p:spPr>
        <p:txBody>
          <a:bodyPr wrap="none" anchor="t">
            <a:spAutoFit/>
          </a:bodyPr>
          <a:p>
            <a:pPr algn="ctr"/>
            <a:r>
              <a:rPr lang="en-US" altLang="zh-CN" sz="3200" b="1" u="none" dirty="0">
                <a:solidFill>
                  <a:srgbClr val="FF0000"/>
                </a:solidFill>
                <a:latin typeface="Times New Roman" panose="02020603050405020304" pitchFamily="18" charset="0"/>
              </a:rPr>
              <a:t>T</a:t>
            </a:r>
            <a:endParaRPr lang="en-US" altLang="zh-CN" sz="3200" b="1" u="none" dirty="0">
              <a:solidFill>
                <a:srgbClr val="FF0000"/>
              </a:solidFill>
              <a:latin typeface="Times New Roman" panose="02020603050405020304" pitchFamily="18" charset="0"/>
            </a:endParaRPr>
          </a:p>
        </p:txBody>
      </p:sp>
      <p:sp>
        <p:nvSpPr>
          <p:cNvPr id="37897" name="Text Box 9"/>
          <p:cNvSpPr txBox="1"/>
          <p:nvPr/>
        </p:nvSpPr>
        <p:spPr>
          <a:xfrm>
            <a:off x="6257925" y="1417638"/>
            <a:ext cx="590550" cy="579437"/>
          </a:xfrm>
          <a:prstGeom prst="rect">
            <a:avLst/>
          </a:prstGeom>
          <a:noFill/>
          <a:ln w="12700">
            <a:noFill/>
          </a:ln>
        </p:spPr>
        <p:txBody>
          <a:bodyPr wrap="none" anchor="t">
            <a:spAutoFit/>
          </a:bodyPr>
          <a:p>
            <a:pPr algn="ctr"/>
            <a:r>
              <a:rPr lang="en-US" altLang="zh-CN" sz="3200" b="1" u="none" dirty="0">
                <a:solidFill>
                  <a:schemeClr val="tx1"/>
                </a:solidFill>
                <a:latin typeface="Times New Roman" panose="02020603050405020304" pitchFamily="18" charset="0"/>
              </a:rPr>
              <a:t>E’</a:t>
            </a:r>
            <a:endParaRPr lang="en-US" altLang="zh-CN" sz="3200" b="1" u="none" dirty="0">
              <a:solidFill>
                <a:schemeClr val="tx1"/>
              </a:solidFill>
              <a:latin typeface="Times New Roman" panose="02020603050405020304" pitchFamily="18" charset="0"/>
            </a:endParaRPr>
          </a:p>
        </p:txBody>
      </p:sp>
      <p:sp>
        <p:nvSpPr>
          <p:cNvPr id="37898" name="Rectangle 11"/>
          <p:cNvSpPr/>
          <p:nvPr/>
        </p:nvSpPr>
        <p:spPr>
          <a:xfrm>
            <a:off x="0" y="4149725"/>
            <a:ext cx="2700338" cy="2349500"/>
          </a:xfrm>
          <a:prstGeom prst="rect">
            <a:avLst/>
          </a:prstGeom>
          <a:solidFill>
            <a:srgbClr val="FFFF99"/>
          </a:solidFill>
          <a:ln w="12700" cap="flat" cmpd="sng">
            <a:solidFill>
              <a:srgbClr val="FF0000"/>
            </a:solidFill>
            <a:prstDash val="solid"/>
            <a:miter/>
            <a:headEnd type="none" w="med" len="med"/>
            <a:tailEnd type="none" w="lg" len="lg"/>
          </a:ln>
        </p:spPr>
        <p:txBody>
          <a:bodyPr wrap="none" anchor="ctr"/>
          <a:p>
            <a:pPr>
              <a:lnSpc>
                <a:spcPct val="90000"/>
              </a:lnSpc>
              <a:buClr>
                <a:schemeClr val="bg2"/>
              </a:buClr>
              <a:buSzPct val="75000"/>
              <a:buFont typeface="Wingdings" panose="05000000000000000000" pitchFamily="2" charset="2"/>
              <a:buChar char="n"/>
            </a:pPr>
            <a:r>
              <a:rPr lang="en-US" altLang="zh-CN" sz="2800" b="1" u="none" dirty="0">
                <a:solidFill>
                  <a:schemeClr val="tx1"/>
                </a:solidFill>
                <a:latin typeface="Arial" panose="020B0604020202020204" pitchFamily="34" charset="0"/>
              </a:rPr>
              <a:t>G(E):</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E→TE</a:t>
            </a:r>
            <a:r>
              <a:rPr lang="en-US" altLang="zh-CN" sz="2800" b="1" u="none" dirty="0">
                <a:solidFill>
                  <a:schemeClr val="tx1"/>
                </a:solidFill>
                <a:latin typeface="Arial" panose="020B0604020202020204" pitchFamily="34" charset="0"/>
                <a:sym typeface="Symbol" panose="05050102010706020507" pitchFamily="18" charset="2"/>
              </a:rPr>
              <a:t></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E</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→+TE</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 | </a:t>
            </a:r>
            <a:r>
              <a:rPr lang="en-US" altLang="zh-CN" sz="2800" b="1" u="none" dirty="0">
                <a:solidFill>
                  <a:schemeClr val="tx1"/>
                </a:solidFill>
                <a:latin typeface="Arial" panose="020B0604020202020204" pitchFamily="34" charset="0"/>
                <a:sym typeface="Symbol" panose="05050102010706020507" pitchFamily="18" charset="2"/>
              </a:rPr>
              <a:t></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T→FT</a:t>
            </a:r>
            <a:r>
              <a:rPr lang="en-US" altLang="zh-CN" sz="2800" b="1" u="none" dirty="0">
                <a:solidFill>
                  <a:schemeClr val="tx1"/>
                </a:solidFill>
                <a:latin typeface="Arial" panose="020B0604020202020204" pitchFamily="34" charset="0"/>
                <a:sym typeface="Symbol" panose="05050102010706020507" pitchFamily="18" charset="2"/>
              </a:rPr>
              <a:t></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T</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→*FT</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 | </a:t>
            </a:r>
            <a:r>
              <a:rPr lang="en-US" altLang="zh-CN" sz="2800" b="1" u="none" dirty="0">
                <a:solidFill>
                  <a:schemeClr val="tx1"/>
                </a:solidFill>
                <a:latin typeface="Arial" panose="020B0604020202020204" pitchFamily="34" charset="0"/>
                <a:sym typeface="Symbol" panose="05050102010706020507" pitchFamily="18" charset="2"/>
              </a:rPr>
              <a:t></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F→(E) | i</a:t>
            </a:r>
            <a:endParaRPr lang="en-GB" altLang="zh-CN" sz="1600" u="none" dirty="0">
              <a:solidFill>
                <a:schemeClr val="tx1"/>
              </a:solidFill>
              <a:latin typeface="Arial" panose="020B0604020202020204" pitchFamily="34" charset="0"/>
            </a:endParaRPr>
          </a:p>
        </p:txBody>
      </p:sp>
    </p:spTree>
  </p:cSld>
  <p:clrMapOvr>
    <a:masterClrMapping/>
  </p:clrMapOvr>
  <p:transition spd="med">
    <p:zo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38914" name="Text Box 2"/>
          <p:cNvSpPr txBox="1"/>
          <p:nvPr/>
        </p:nvSpPr>
        <p:spPr>
          <a:xfrm>
            <a:off x="457200" y="2152650"/>
            <a:ext cx="1912938" cy="641350"/>
          </a:xfrm>
          <a:prstGeom prst="rect">
            <a:avLst/>
          </a:prstGeom>
          <a:noFill/>
          <a:ln w="12700">
            <a:noFill/>
          </a:ln>
        </p:spPr>
        <p:txBody>
          <a:bodyPr anchor="t">
            <a:spAutoFit/>
          </a:bodyPr>
          <a:p>
            <a:pPr algn="ctr"/>
            <a:r>
              <a:rPr lang="en-US" altLang="zh-CN" sz="3600" b="1" u="none" dirty="0">
                <a:solidFill>
                  <a:schemeClr val="tx1"/>
                </a:solidFill>
                <a:latin typeface="Times New Roman" panose="02020603050405020304" pitchFamily="18" charset="0"/>
              </a:rPr>
              <a:t>i   +   i </a:t>
            </a:r>
            <a:endParaRPr lang="en-US" altLang="zh-CN" sz="3600" b="1" u="none" dirty="0">
              <a:solidFill>
                <a:schemeClr val="tx1"/>
              </a:solidFill>
              <a:latin typeface="Times New Roman" panose="02020603050405020304" pitchFamily="18" charset="0"/>
            </a:endParaRPr>
          </a:p>
        </p:txBody>
      </p:sp>
      <p:sp>
        <p:nvSpPr>
          <p:cNvPr id="38915" name="Line 3"/>
          <p:cNvSpPr/>
          <p:nvPr/>
        </p:nvSpPr>
        <p:spPr>
          <a:xfrm flipV="1">
            <a:off x="877888" y="2819400"/>
            <a:ext cx="0" cy="533400"/>
          </a:xfrm>
          <a:prstGeom prst="line">
            <a:avLst/>
          </a:prstGeom>
          <a:ln w="19050" cap="flat" cmpd="sng">
            <a:solidFill>
              <a:schemeClr val="tx1"/>
            </a:solidFill>
            <a:prstDash val="solid"/>
            <a:round/>
            <a:headEnd type="none" w="med" len="med"/>
            <a:tailEnd type="stealth" w="lg" len="lg"/>
          </a:ln>
        </p:spPr>
      </p:sp>
      <p:sp>
        <p:nvSpPr>
          <p:cNvPr id="38916" name="Text Box 4"/>
          <p:cNvSpPr txBox="1"/>
          <p:nvPr/>
        </p:nvSpPr>
        <p:spPr>
          <a:xfrm>
            <a:off x="609600" y="3495675"/>
            <a:ext cx="539750" cy="519113"/>
          </a:xfrm>
          <a:prstGeom prst="rect">
            <a:avLst/>
          </a:prstGeom>
          <a:noFill/>
          <a:ln w="12700">
            <a:noFill/>
          </a:ln>
        </p:spPr>
        <p:txBody>
          <a:bodyPr wrap="none" anchor="t">
            <a:spAutoFit/>
          </a:bodyPr>
          <a:p>
            <a:pPr algn="ctr"/>
            <a:r>
              <a:rPr lang="en-US" altLang="zh-CN" sz="2800" b="1" u="none" dirty="0">
                <a:solidFill>
                  <a:schemeClr val="tx1"/>
                </a:solidFill>
                <a:latin typeface="Times New Roman" panose="02020603050405020304" pitchFamily="18" charset="0"/>
              </a:rPr>
              <a:t>IP</a:t>
            </a:r>
            <a:endParaRPr lang="en-US" altLang="zh-CN" sz="2800" b="1" u="none" dirty="0">
              <a:solidFill>
                <a:schemeClr val="tx1"/>
              </a:solidFill>
              <a:latin typeface="Times New Roman" panose="02020603050405020304" pitchFamily="18" charset="0"/>
            </a:endParaRPr>
          </a:p>
        </p:txBody>
      </p:sp>
      <p:sp>
        <p:nvSpPr>
          <p:cNvPr id="38917" name="Text Box 5"/>
          <p:cNvSpPr txBox="1"/>
          <p:nvPr/>
        </p:nvSpPr>
        <p:spPr>
          <a:xfrm>
            <a:off x="5030788" y="228600"/>
            <a:ext cx="455612" cy="579438"/>
          </a:xfrm>
          <a:prstGeom prst="rect">
            <a:avLst/>
          </a:prstGeom>
          <a:noFill/>
          <a:ln w="12700">
            <a:noFill/>
          </a:ln>
        </p:spPr>
        <p:txBody>
          <a:bodyPr wrap="none" anchor="t">
            <a:spAutoFit/>
          </a:bodyPr>
          <a:p>
            <a:pPr algn="ctr"/>
            <a:r>
              <a:rPr lang="en-US" altLang="zh-CN" sz="3200" b="1" u="none" dirty="0">
                <a:solidFill>
                  <a:schemeClr val="tx1"/>
                </a:solidFill>
                <a:latin typeface="Times New Roman" panose="02020603050405020304" pitchFamily="18" charset="0"/>
              </a:rPr>
              <a:t>E</a:t>
            </a:r>
            <a:endParaRPr lang="en-US" altLang="zh-CN" sz="3200" b="1" u="none" dirty="0">
              <a:solidFill>
                <a:schemeClr val="tx1"/>
              </a:solidFill>
              <a:latin typeface="Times New Roman" panose="02020603050405020304" pitchFamily="18" charset="0"/>
            </a:endParaRPr>
          </a:p>
        </p:txBody>
      </p:sp>
      <p:sp>
        <p:nvSpPr>
          <p:cNvPr id="38918" name="Line 6"/>
          <p:cNvSpPr/>
          <p:nvPr/>
        </p:nvSpPr>
        <p:spPr>
          <a:xfrm flipH="1">
            <a:off x="4038600" y="731838"/>
            <a:ext cx="1143000" cy="685800"/>
          </a:xfrm>
          <a:prstGeom prst="line">
            <a:avLst/>
          </a:prstGeom>
          <a:ln w="19050" cap="flat" cmpd="sng">
            <a:solidFill>
              <a:schemeClr val="tx1"/>
            </a:solidFill>
            <a:prstDash val="solid"/>
            <a:round/>
            <a:headEnd type="none" w="med" len="med"/>
            <a:tailEnd type="none" w="lg" len="lg"/>
          </a:ln>
        </p:spPr>
      </p:sp>
      <p:sp>
        <p:nvSpPr>
          <p:cNvPr id="38919" name="Line 7"/>
          <p:cNvSpPr/>
          <p:nvPr/>
        </p:nvSpPr>
        <p:spPr>
          <a:xfrm>
            <a:off x="5334000" y="731838"/>
            <a:ext cx="1295400" cy="685800"/>
          </a:xfrm>
          <a:prstGeom prst="line">
            <a:avLst/>
          </a:prstGeom>
          <a:ln w="19050" cap="flat" cmpd="sng">
            <a:solidFill>
              <a:schemeClr val="tx1"/>
            </a:solidFill>
            <a:prstDash val="solid"/>
            <a:round/>
            <a:headEnd type="none" w="med" len="med"/>
            <a:tailEnd type="none" w="lg" len="lg"/>
          </a:ln>
        </p:spPr>
      </p:sp>
      <p:sp>
        <p:nvSpPr>
          <p:cNvPr id="38920" name="Text Box 8"/>
          <p:cNvSpPr txBox="1"/>
          <p:nvPr/>
        </p:nvSpPr>
        <p:spPr>
          <a:xfrm>
            <a:off x="3810000" y="1417638"/>
            <a:ext cx="455613" cy="579437"/>
          </a:xfrm>
          <a:prstGeom prst="rect">
            <a:avLst/>
          </a:prstGeom>
          <a:noFill/>
          <a:ln w="12700">
            <a:noFill/>
          </a:ln>
        </p:spPr>
        <p:txBody>
          <a:bodyPr wrap="none" anchor="t">
            <a:spAutoFit/>
          </a:bodyPr>
          <a:p>
            <a:pPr algn="ctr"/>
            <a:r>
              <a:rPr lang="en-US" altLang="zh-CN" sz="3200" b="1" u="none" dirty="0">
                <a:solidFill>
                  <a:schemeClr val="tx1"/>
                </a:solidFill>
                <a:latin typeface="Times New Roman" panose="02020603050405020304" pitchFamily="18" charset="0"/>
              </a:rPr>
              <a:t>T</a:t>
            </a:r>
            <a:endParaRPr lang="en-US" altLang="zh-CN" sz="3200" b="1" u="none" dirty="0">
              <a:solidFill>
                <a:schemeClr val="tx1"/>
              </a:solidFill>
              <a:latin typeface="Times New Roman" panose="02020603050405020304" pitchFamily="18" charset="0"/>
            </a:endParaRPr>
          </a:p>
        </p:txBody>
      </p:sp>
      <p:sp>
        <p:nvSpPr>
          <p:cNvPr id="38921" name="Text Box 9"/>
          <p:cNvSpPr txBox="1"/>
          <p:nvPr/>
        </p:nvSpPr>
        <p:spPr>
          <a:xfrm>
            <a:off x="6257925" y="1417638"/>
            <a:ext cx="590550" cy="579437"/>
          </a:xfrm>
          <a:prstGeom prst="rect">
            <a:avLst/>
          </a:prstGeom>
          <a:noFill/>
          <a:ln w="12700">
            <a:noFill/>
          </a:ln>
        </p:spPr>
        <p:txBody>
          <a:bodyPr wrap="none" anchor="t">
            <a:spAutoFit/>
          </a:bodyPr>
          <a:p>
            <a:pPr algn="ctr"/>
            <a:r>
              <a:rPr lang="en-US" altLang="zh-CN" sz="3200" b="1" u="none" dirty="0">
                <a:solidFill>
                  <a:schemeClr val="tx1"/>
                </a:solidFill>
                <a:latin typeface="Times New Roman" panose="02020603050405020304" pitchFamily="18" charset="0"/>
              </a:rPr>
              <a:t>E’</a:t>
            </a:r>
            <a:endParaRPr lang="en-US" altLang="zh-CN" sz="3200" b="1" u="none" dirty="0">
              <a:solidFill>
                <a:schemeClr val="tx1"/>
              </a:solidFill>
              <a:latin typeface="Times New Roman" panose="02020603050405020304" pitchFamily="18" charset="0"/>
            </a:endParaRPr>
          </a:p>
        </p:txBody>
      </p:sp>
      <p:sp>
        <p:nvSpPr>
          <p:cNvPr id="38922" name="Line 10"/>
          <p:cNvSpPr/>
          <p:nvPr/>
        </p:nvSpPr>
        <p:spPr>
          <a:xfrm flipH="1">
            <a:off x="3200400" y="1874838"/>
            <a:ext cx="762000" cy="762000"/>
          </a:xfrm>
          <a:prstGeom prst="line">
            <a:avLst/>
          </a:prstGeom>
          <a:ln w="19050" cap="flat" cmpd="sng">
            <a:solidFill>
              <a:schemeClr val="tx1"/>
            </a:solidFill>
            <a:prstDash val="solid"/>
            <a:round/>
            <a:headEnd type="none" w="med" len="med"/>
            <a:tailEnd type="none" w="lg" len="lg"/>
          </a:ln>
        </p:spPr>
      </p:sp>
      <p:sp>
        <p:nvSpPr>
          <p:cNvPr id="38923" name="Line 11"/>
          <p:cNvSpPr/>
          <p:nvPr/>
        </p:nvSpPr>
        <p:spPr>
          <a:xfrm>
            <a:off x="4038600" y="1874838"/>
            <a:ext cx="685800" cy="762000"/>
          </a:xfrm>
          <a:prstGeom prst="line">
            <a:avLst/>
          </a:prstGeom>
          <a:ln w="19050" cap="flat" cmpd="sng">
            <a:solidFill>
              <a:schemeClr val="tx1"/>
            </a:solidFill>
            <a:prstDash val="solid"/>
            <a:round/>
            <a:headEnd type="none" w="med" len="med"/>
            <a:tailEnd type="none" w="lg" len="lg"/>
          </a:ln>
        </p:spPr>
      </p:sp>
      <p:sp>
        <p:nvSpPr>
          <p:cNvPr id="38924" name="Text Box 12"/>
          <p:cNvSpPr txBox="1"/>
          <p:nvPr/>
        </p:nvSpPr>
        <p:spPr>
          <a:xfrm>
            <a:off x="2921000" y="2667000"/>
            <a:ext cx="431800" cy="579438"/>
          </a:xfrm>
          <a:prstGeom prst="rect">
            <a:avLst/>
          </a:prstGeom>
          <a:noFill/>
          <a:ln w="19050">
            <a:noFill/>
          </a:ln>
        </p:spPr>
        <p:txBody>
          <a:bodyPr wrap="none" anchor="t">
            <a:spAutoFit/>
          </a:bodyPr>
          <a:p>
            <a:pPr algn="ctr"/>
            <a:r>
              <a:rPr lang="en-US" altLang="zh-CN" sz="3200" b="1" u="none" dirty="0">
                <a:solidFill>
                  <a:srgbClr val="FF0000"/>
                </a:solidFill>
                <a:latin typeface="Times New Roman" panose="02020603050405020304" pitchFamily="18" charset="0"/>
              </a:rPr>
              <a:t>F</a:t>
            </a:r>
            <a:endParaRPr lang="en-US" altLang="zh-CN" sz="3200" b="1" u="none" dirty="0">
              <a:solidFill>
                <a:srgbClr val="FF0000"/>
              </a:solidFill>
              <a:latin typeface="Times New Roman" panose="02020603050405020304" pitchFamily="18" charset="0"/>
            </a:endParaRPr>
          </a:p>
        </p:txBody>
      </p:sp>
      <p:sp>
        <p:nvSpPr>
          <p:cNvPr id="38925" name="Text Box 13"/>
          <p:cNvSpPr txBox="1"/>
          <p:nvPr/>
        </p:nvSpPr>
        <p:spPr>
          <a:xfrm>
            <a:off x="4495800" y="2667000"/>
            <a:ext cx="590550" cy="579438"/>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T’</a:t>
            </a:r>
            <a:endParaRPr lang="en-US" altLang="zh-CN" sz="3200" b="1" u="none" dirty="0">
              <a:solidFill>
                <a:schemeClr val="tx1"/>
              </a:solidFill>
              <a:latin typeface="Times New Roman" panose="02020603050405020304" pitchFamily="18" charset="0"/>
            </a:endParaRPr>
          </a:p>
        </p:txBody>
      </p:sp>
      <p:sp>
        <p:nvSpPr>
          <p:cNvPr id="38926" name="Rectangle 15"/>
          <p:cNvSpPr/>
          <p:nvPr/>
        </p:nvSpPr>
        <p:spPr>
          <a:xfrm>
            <a:off x="0" y="4149725"/>
            <a:ext cx="2700338" cy="2349500"/>
          </a:xfrm>
          <a:prstGeom prst="rect">
            <a:avLst/>
          </a:prstGeom>
          <a:solidFill>
            <a:srgbClr val="FFFF99"/>
          </a:solidFill>
          <a:ln w="12700" cap="flat" cmpd="sng">
            <a:solidFill>
              <a:srgbClr val="FF0000"/>
            </a:solidFill>
            <a:prstDash val="solid"/>
            <a:miter/>
            <a:headEnd type="none" w="med" len="med"/>
            <a:tailEnd type="none" w="lg" len="lg"/>
          </a:ln>
        </p:spPr>
        <p:txBody>
          <a:bodyPr wrap="none" anchor="ctr"/>
          <a:p>
            <a:pPr>
              <a:lnSpc>
                <a:spcPct val="90000"/>
              </a:lnSpc>
              <a:buClr>
                <a:schemeClr val="bg2"/>
              </a:buClr>
              <a:buSzPct val="75000"/>
              <a:buFont typeface="Wingdings" panose="05000000000000000000" pitchFamily="2" charset="2"/>
              <a:buChar char="n"/>
            </a:pPr>
            <a:r>
              <a:rPr lang="en-US" altLang="zh-CN" sz="2800" b="1" u="none" dirty="0">
                <a:solidFill>
                  <a:schemeClr val="tx1"/>
                </a:solidFill>
                <a:latin typeface="Arial" panose="020B0604020202020204" pitchFamily="34" charset="0"/>
              </a:rPr>
              <a:t>G(E):</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E→TE</a:t>
            </a:r>
            <a:r>
              <a:rPr lang="en-US" altLang="zh-CN" sz="2800" b="1" u="none" dirty="0">
                <a:solidFill>
                  <a:schemeClr val="tx1"/>
                </a:solidFill>
                <a:latin typeface="Arial" panose="020B0604020202020204" pitchFamily="34" charset="0"/>
                <a:sym typeface="Symbol" panose="05050102010706020507" pitchFamily="18" charset="2"/>
              </a:rPr>
              <a:t></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E</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→+TE</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 | </a:t>
            </a:r>
            <a:r>
              <a:rPr lang="en-US" altLang="zh-CN" sz="2800" b="1" u="none" dirty="0">
                <a:solidFill>
                  <a:schemeClr val="tx1"/>
                </a:solidFill>
                <a:latin typeface="Arial" panose="020B0604020202020204" pitchFamily="34" charset="0"/>
                <a:sym typeface="Symbol" panose="05050102010706020507" pitchFamily="18" charset="2"/>
              </a:rPr>
              <a:t></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T→FT</a:t>
            </a:r>
            <a:r>
              <a:rPr lang="en-US" altLang="zh-CN" sz="2800" b="1" u="none" dirty="0">
                <a:solidFill>
                  <a:schemeClr val="tx1"/>
                </a:solidFill>
                <a:latin typeface="Arial" panose="020B0604020202020204" pitchFamily="34" charset="0"/>
                <a:sym typeface="Symbol" panose="05050102010706020507" pitchFamily="18" charset="2"/>
              </a:rPr>
              <a:t></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T</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→*FT</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 | </a:t>
            </a:r>
            <a:r>
              <a:rPr lang="en-US" altLang="zh-CN" sz="2800" b="1" u="none" dirty="0">
                <a:solidFill>
                  <a:schemeClr val="tx1"/>
                </a:solidFill>
                <a:latin typeface="Arial" panose="020B0604020202020204" pitchFamily="34" charset="0"/>
                <a:sym typeface="Symbol" panose="05050102010706020507" pitchFamily="18" charset="2"/>
              </a:rPr>
              <a:t></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F→(E) | i</a:t>
            </a:r>
            <a:endParaRPr lang="en-GB" altLang="zh-CN" sz="1600" u="none" dirty="0">
              <a:solidFill>
                <a:schemeClr val="tx1"/>
              </a:solidFill>
              <a:latin typeface="Arial" panose="020B0604020202020204" pitchFamily="34" charset="0"/>
            </a:endParaRPr>
          </a:p>
        </p:txBody>
      </p:sp>
    </p:spTree>
  </p:cSld>
  <p:clrMapOvr>
    <a:masterClrMapping/>
  </p:clrMapOvr>
  <p:transition spd="med">
    <p:zo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39938" name="Text Box 1026"/>
          <p:cNvSpPr txBox="1"/>
          <p:nvPr/>
        </p:nvSpPr>
        <p:spPr>
          <a:xfrm>
            <a:off x="457200" y="2152650"/>
            <a:ext cx="1912938" cy="641350"/>
          </a:xfrm>
          <a:prstGeom prst="rect">
            <a:avLst/>
          </a:prstGeom>
          <a:noFill/>
          <a:ln w="12700">
            <a:noFill/>
          </a:ln>
        </p:spPr>
        <p:txBody>
          <a:bodyPr anchor="t">
            <a:spAutoFit/>
          </a:bodyPr>
          <a:p>
            <a:pPr algn="ctr"/>
            <a:r>
              <a:rPr lang="en-US" altLang="zh-CN" sz="3600" b="1" u="none" dirty="0">
                <a:solidFill>
                  <a:schemeClr val="tx1"/>
                </a:solidFill>
                <a:latin typeface="Times New Roman" panose="02020603050405020304" pitchFamily="18" charset="0"/>
              </a:rPr>
              <a:t>i   +   i </a:t>
            </a:r>
            <a:endParaRPr lang="en-US" altLang="zh-CN" sz="3600" b="1" u="none" dirty="0">
              <a:solidFill>
                <a:schemeClr val="tx1"/>
              </a:solidFill>
              <a:latin typeface="Times New Roman" panose="02020603050405020304" pitchFamily="18" charset="0"/>
            </a:endParaRPr>
          </a:p>
        </p:txBody>
      </p:sp>
      <p:sp>
        <p:nvSpPr>
          <p:cNvPr id="39939" name="Line 1027"/>
          <p:cNvSpPr/>
          <p:nvPr/>
        </p:nvSpPr>
        <p:spPr>
          <a:xfrm flipV="1">
            <a:off x="877888" y="2819400"/>
            <a:ext cx="0" cy="533400"/>
          </a:xfrm>
          <a:prstGeom prst="line">
            <a:avLst/>
          </a:prstGeom>
          <a:ln w="19050" cap="flat" cmpd="sng">
            <a:solidFill>
              <a:schemeClr val="tx1"/>
            </a:solidFill>
            <a:prstDash val="solid"/>
            <a:round/>
            <a:headEnd type="none" w="med" len="med"/>
            <a:tailEnd type="stealth" w="lg" len="lg"/>
          </a:ln>
        </p:spPr>
      </p:sp>
      <p:sp>
        <p:nvSpPr>
          <p:cNvPr id="39940" name="Text Box 1028"/>
          <p:cNvSpPr txBox="1"/>
          <p:nvPr/>
        </p:nvSpPr>
        <p:spPr>
          <a:xfrm>
            <a:off x="609600" y="3495675"/>
            <a:ext cx="539750" cy="519113"/>
          </a:xfrm>
          <a:prstGeom prst="rect">
            <a:avLst/>
          </a:prstGeom>
          <a:noFill/>
          <a:ln w="12700">
            <a:noFill/>
          </a:ln>
        </p:spPr>
        <p:txBody>
          <a:bodyPr wrap="none" anchor="t">
            <a:spAutoFit/>
          </a:bodyPr>
          <a:p>
            <a:pPr algn="ctr"/>
            <a:r>
              <a:rPr lang="en-US" altLang="zh-CN" sz="2800" b="1" u="none" dirty="0">
                <a:solidFill>
                  <a:schemeClr val="tx1"/>
                </a:solidFill>
                <a:latin typeface="Times New Roman" panose="02020603050405020304" pitchFamily="18" charset="0"/>
              </a:rPr>
              <a:t>IP</a:t>
            </a:r>
            <a:endParaRPr lang="en-US" altLang="zh-CN" sz="2800" b="1" u="none" dirty="0">
              <a:solidFill>
                <a:schemeClr val="tx1"/>
              </a:solidFill>
              <a:latin typeface="Times New Roman" panose="02020603050405020304" pitchFamily="18" charset="0"/>
            </a:endParaRPr>
          </a:p>
        </p:txBody>
      </p:sp>
      <p:sp>
        <p:nvSpPr>
          <p:cNvPr id="39941" name="Text Box 1029"/>
          <p:cNvSpPr txBox="1"/>
          <p:nvPr/>
        </p:nvSpPr>
        <p:spPr>
          <a:xfrm>
            <a:off x="5030788" y="228600"/>
            <a:ext cx="455612" cy="579438"/>
          </a:xfrm>
          <a:prstGeom prst="rect">
            <a:avLst/>
          </a:prstGeom>
          <a:noFill/>
          <a:ln w="12700">
            <a:noFill/>
          </a:ln>
        </p:spPr>
        <p:txBody>
          <a:bodyPr wrap="none" anchor="t">
            <a:spAutoFit/>
          </a:bodyPr>
          <a:p>
            <a:pPr algn="ctr"/>
            <a:r>
              <a:rPr lang="en-US" altLang="zh-CN" sz="3200" b="1" u="none" dirty="0">
                <a:solidFill>
                  <a:schemeClr val="tx1"/>
                </a:solidFill>
                <a:latin typeface="Times New Roman" panose="02020603050405020304" pitchFamily="18" charset="0"/>
              </a:rPr>
              <a:t>E</a:t>
            </a:r>
            <a:endParaRPr lang="en-US" altLang="zh-CN" sz="3200" b="1" u="none" dirty="0">
              <a:solidFill>
                <a:schemeClr val="tx1"/>
              </a:solidFill>
              <a:latin typeface="Times New Roman" panose="02020603050405020304" pitchFamily="18" charset="0"/>
            </a:endParaRPr>
          </a:p>
        </p:txBody>
      </p:sp>
      <p:sp>
        <p:nvSpPr>
          <p:cNvPr id="39942" name="Line 1030"/>
          <p:cNvSpPr/>
          <p:nvPr/>
        </p:nvSpPr>
        <p:spPr>
          <a:xfrm flipH="1">
            <a:off x="4038600" y="731838"/>
            <a:ext cx="1143000" cy="685800"/>
          </a:xfrm>
          <a:prstGeom prst="line">
            <a:avLst/>
          </a:prstGeom>
          <a:ln w="19050" cap="flat" cmpd="sng">
            <a:solidFill>
              <a:schemeClr val="tx1"/>
            </a:solidFill>
            <a:prstDash val="solid"/>
            <a:round/>
            <a:headEnd type="none" w="med" len="med"/>
            <a:tailEnd type="none" w="lg" len="lg"/>
          </a:ln>
        </p:spPr>
      </p:sp>
      <p:sp>
        <p:nvSpPr>
          <p:cNvPr id="39943" name="Line 1031"/>
          <p:cNvSpPr/>
          <p:nvPr/>
        </p:nvSpPr>
        <p:spPr>
          <a:xfrm>
            <a:off x="5334000" y="731838"/>
            <a:ext cx="1295400" cy="685800"/>
          </a:xfrm>
          <a:prstGeom prst="line">
            <a:avLst/>
          </a:prstGeom>
          <a:ln w="19050" cap="flat" cmpd="sng">
            <a:solidFill>
              <a:schemeClr val="tx1"/>
            </a:solidFill>
            <a:prstDash val="solid"/>
            <a:round/>
            <a:headEnd type="none" w="med" len="med"/>
            <a:tailEnd type="none" w="lg" len="lg"/>
          </a:ln>
        </p:spPr>
      </p:sp>
      <p:sp>
        <p:nvSpPr>
          <p:cNvPr id="39944" name="Text Box 1032"/>
          <p:cNvSpPr txBox="1"/>
          <p:nvPr/>
        </p:nvSpPr>
        <p:spPr>
          <a:xfrm>
            <a:off x="3810000" y="1417638"/>
            <a:ext cx="455613" cy="579437"/>
          </a:xfrm>
          <a:prstGeom prst="rect">
            <a:avLst/>
          </a:prstGeom>
          <a:noFill/>
          <a:ln w="12700">
            <a:noFill/>
          </a:ln>
        </p:spPr>
        <p:txBody>
          <a:bodyPr wrap="none" anchor="t">
            <a:spAutoFit/>
          </a:bodyPr>
          <a:p>
            <a:pPr algn="ctr"/>
            <a:r>
              <a:rPr lang="en-US" altLang="zh-CN" sz="3200" b="1" u="none" dirty="0">
                <a:solidFill>
                  <a:schemeClr val="tx1"/>
                </a:solidFill>
                <a:latin typeface="Times New Roman" panose="02020603050405020304" pitchFamily="18" charset="0"/>
              </a:rPr>
              <a:t>T</a:t>
            </a:r>
            <a:endParaRPr lang="en-US" altLang="zh-CN" sz="3200" b="1" u="none" dirty="0">
              <a:solidFill>
                <a:schemeClr val="tx1"/>
              </a:solidFill>
              <a:latin typeface="Times New Roman" panose="02020603050405020304" pitchFamily="18" charset="0"/>
            </a:endParaRPr>
          </a:p>
        </p:txBody>
      </p:sp>
      <p:sp>
        <p:nvSpPr>
          <p:cNvPr id="39945" name="Text Box 1033"/>
          <p:cNvSpPr txBox="1"/>
          <p:nvPr/>
        </p:nvSpPr>
        <p:spPr>
          <a:xfrm>
            <a:off x="6257925" y="1417638"/>
            <a:ext cx="590550" cy="579437"/>
          </a:xfrm>
          <a:prstGeom prst="rect">
            <a:avLst/>
          </a:prstGeom>
          <a:noFill/>
          <a:ln w="12700">
            <a:noFill/>
          </a:ln>
        </p:spPr>
        <p:txBody>
          <a:bodyPr wrap="none" anchor="t">
            <a:spAutoFit/>
          </a:bodyPr>
          <a:p>
            <a:pPr algn="ctr"/>
            <a:r>
              <a:rPr lang="en-US" altLang="zh-CN" sz="3200" b="1" u="none" dirty="0">
                <a:solidFill>
                  <a:schemeClr val="tx1"/>
                </a:solidFill>
                <a:latin typeface="Times New Roman" panose="02020603050405020304" pitchFamily="18" charset="0"/>
              </a:rPr>
              <a:t>E’</a:t>
            </a:r>
            <a:endParaRPr lang="en-US" altLang="zh-CN" sz="3200" b="1" u="none" dirty="0">
              <a:solidFill>
                <a:schemeClr val="tx1"/>
              </a:solidFill>
              <a:latin typeface="Times New Roman" panose="02020603050405020304" pitchFamily="18" charset="0"/>
            </a:endParaRPr>
          </a:p>
        </p:txBody>
      </p:sp>
      <p:sp>
        <p:nvSpPr>
          <p:cNvPr id="39946" name="Line 1034"/>
          <p:cNvSpPr/>
          <p:nvPr/>
        </p:nvSpPr>
        <p:spPr>
          <a:xfrm flipH="1">
            <a:off x="3200400" y="1874838"/>
            <a:ext cx="762000" cy="762000"/>
          </a:xfrm>
          <a:prstGeom prst="line">
            <a:avLst/>
          </a:prstGeom>
          <a:ln w="19050" cap="flat" cmpd="sng">
            <a:solidFill>
              <a:schemeClr val="tx1"/>
            </a:solidFill>
            <a:prstDash val="solid"/>
            <a:round/>
            <a:headEnd type="none" w="med" len="med"/>
            <a:tailEnd type="none" w="lg" len="lg"/>
          </a:ln>
        </p:spPr>
      </p:sp>
      <p:sp>
        <p:nvSpPr>
          <p:cNvPr id="39947" name="Line 1035"/>
          <p:cNvSpPr/>
          <p:nvPr/>
        </p:nvSpPr>
        <p:spPr>
          <a:xfrm>
            <a:off x="4038600" y="1874838"/>
            <a:ext cx="685800" cy="762000"/>
          </a:xfrm>
          <a:prstGeom prst="line">
            <a:avLst/>
          </a:prstGeom>
          <a:ln w="19050" cap="flat" cmpd="sng">
            <a:solidFill>
              <a:schemeClr val="tx1"/>
            </a:solidFill>
            <a:prstDash val="solid"/>
            <a:round/>
            <a:headEnd type="none" w="med" len="med"/>
            <a:tailEnd type="none" w="lg" len="lg"/>
          </a:ln>
        </p:spPr>
      </p:sp>
      <p:sp>
        <p:nvSpPr>
          <p:cNvPr id="39948" name="Text Box 1036"/>
          <p:cNvSpPr txBox="1"/>
          <p:nvPr/>
        </p:nvSpPr>
        <p:spPr>
          <a:xfrm>
            <a:off x="2921000" y="2667000"/>
            <a:ext cx="431800" cy="579438"/>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F</a:t>
            </a:r>
            <a:endParaRPr lang="en-US" altLang="zh-CN" sz="3200" b="1" u="none" dirty="0">
              <a:solidFill>
                <a:schemeClr val="tx1"/>
              </a:solidFill>
              <a:latin typeface="Times New Roman" panose="02020603050405020304" pitchFamily="18" charset="0"/>
            </a:endParaRPr>
          </a:p>
        </p:txBody>
      </p:sp>
      <p:sp>
        <p:nvSpPr>
          <p:cNvPr id="39949" name="Text Box 1037"/>
          <p:cNvSpPr txBox="1"/>
          <p:nvPr/>
        </p:nvSpPr>
        <p:spPr>
          <a:xfrm>
            <a:off x="4495800" y="2667000"/>
            <a:ext cx="590550" cy="579438"/>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T’</a:t>
            </a:r>
            <a:endParaRPr lang="en-US" altLang="zh-CN" sz="3200" b="1" u="none" dirty="0">
              <a:solidFill>
                <a:schemeClr val="tx1"/>
              </a:solidFill>
              <a:latin typeface="Times New Roman" panose="02020603050405020304" pitchFamily="18" charset="0"/>
            </a:endParaRPr>
          </a:p>
        </p:txBody>
      </p:sp>
      <p:sp>
        <p:nvSpPr>
          <p:cNvPr id="39950" name="Line 1038"/>
          <p:cNvSpPr/>
          <p:nvPr/>
        </p:nvSpPr>
        <p:spPr>
          <a:xfrm>
            <a:off x="3135313" y="3170238"/>
            <a:ext cx="0" cy="838200"/>
          </a:xfrm>
          <a:prstGeom prst="line">
            <a:avLst/>
          </a:prstGeom>
          <a:ln w="19050" cap="flat" cmpd="sng">
            <a:solidFill>
              <a:schemeClr val="tx1"/>
            </a:solidFill>
            <a:prstDash val="solid"/>
            <a:round/>
            <a:headEnd type="none" w="med" len="med"/>
            <a:tailEnd type="none" w="lg" len="lg"/>
          </a:ln>
        </p:spPr>
      </p:sp>
      <p:sp>
        <p:nvSpPr>
          <p:cNvPr id="39951" name="Text Box 1039"/>
          <p:cNvSpPr txBox="1"/>
          <p:nvPr/>
        </p:nvSpPr>
        <p:spPr>
          <a:xfrm>
            <a:off x="2982913" y="4008438"/>
            <a:ext cx="296862" cy="579437"/>
          </a:xfrm>
          <a:prstGeom prst="rect">
            <a:avLst/>
          </a:prstGeom>
          <a:noFill/>
          <a:ln w="19050">
            <a:noFill/>
          </a:ln>
        </p:spPr>
        <p:txBody>
          <a:bodyPr wrap="none" anchor="t">
            <a:spAutoFit/>
          </a:bodyPr>
          <a:p>
            <a:pPr algn="ctr"/>
            <a:r>
              <a:rPr lang="en-US" altLang="zh-CN" sz="3200" b="1" u="none" dirty="0">
                <a:solidFill>
                  <a:srgbClr val="FF0000"/>
                </a:solidFill>
                <a:latin typeface="Times New Roman" panose="02020603050405020304" pitchFamily="18" charset="0"/>
              </a:rPr>
              <a:t>i</a:t>
            </a:r>
            <a:endParaRPr lang="en-US" altLang="zh-CN" sz="3200" b="1" u="none" dirty="0">
              <a:solidFill>
                <a:srgbClr val="FF0000"/>
              </a:solidFill>
              <a:latin typeface="Times New Roman" panose="02020603050405020304" pitchFamily="18" charset="0"/>
            </a:endParaRPr>
          </a:p>
        </p:txBody>
      </p:sp>
      <p:sp>
        <p:nvSpPr>
          <p:cNvPr id="39952" name="Rectangle 1041"/>
          <p:cNvSpPr/>
          <p:nvPr/>
        </p:nvSpPr>
        <p:spPr>
          <a:xfrm>
            <a:off x="0" y="4149725"/>
            <a:ext cx="2700338" cy="2349500"/>
          </a:xfrm>
          <a:prstGeom prst="rect">
            <a:avLst/>
          </a:prstGeom>
          <a:solidFill>
            <a:srgbClr val="FFFF99"/>
          </a:solidFill>
          <a:ln w="12700" cap="flat" cmpd="sng">
            <a:solidFill>
              <a:srgbClr val="FF0000"/>
            </a:solidFill>
            <a:prstDash val="solid"/>
            <a:miter/>
            <a:headEnd type="none" w="med" len="med"/>
            <a:tailEnd type="none" w="lg" len="lg"/>
          </a:ln>
        </p:spPr>
        <p:txBody>
          <a:bodyPr wrap="none" anchor="ctr"/>
          <a:p>
            <a:pPr>
              <a:lnSpc>
                <a:spcPct val="90000"/>
              </a:lnSpc>
              <a:buClr>
                <a:schemeClr val="bg2"/>
              </a:buClr>
              <a:buSzPct val="75000"/>
              <a:buFont typeface="Wingdings" panose="05000000000000000000" pitchFamily="2" charset="2"/>
              <a:buChar char="n"/>
            </a:pPr>
            <a:r>
              <a:rPr lang="en-US" altLang="zh-CN" sz="2800" b="1" u="none" dirty="0">
                <a:solidFill>
                  <a:schemeClr val="tx1"/>
                </a:solidFill>
                <a:latin typeface="Arial" panose="020B0604020202020204" pitchFamily="34" charset="0"/>
              </a:rPr>
              <a:t>G(E):</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E→TE</a:t>
            </a:r>
            <a:r>
              <a:rPr lang="en-US" altLang="zh-CN" sz="2800" b="1" u="none" dirty="0">
                <a:solidFill>
                  <a:schemeClr val="tx1"/>
                </a:solidFill>
                <a:latin typeface="Arial" panose="020B0604020202020204" pitchFamily="34" charset="0"/>
                <a:sym typeface="Symbol" panose="05050102010706020507" pitchFamily="18" charset="2"/>
              </a:rPr>
              <a:t></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E</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→+TE</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 | </a:t>
            </a:r>
            <a:r>
              <a:rPr lang="en-US" altLang="zh-CN" sz="2800" b="1" u="none" dirty="0">
                <a:solidFill>
                  <a:schemeClr val="tx1"/>
                </a:solidFill>
                <a:latin typeface="Arial" panose="020B0604020202020204" pitchFamily="34" charset="0"/>
                <a:sym typeface="Symbol" panose="05050102010706020507" pitchFamily="18" charset="2"/>
              </a:rPr>
              <a:t></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T→FT</a:t>
            </a:r>
            <a:r>
              <a:rPr lang="en-US" altLang="zh-CN" sz="2800" b="1" u="none" dirty="0">
                <a:solidFill>
                  <a:schemeClr val="tx1"/>
                </a:solidFill>
                <a:latin typeface="Arial" panose="020B0604020202020204" pitchFamily="34" charset="0"/>
                <a:sym typeface="Symbol" panose="05050102010706020507" pitchFamily="18" charset="2"/>
              </a:rPr>
              <a:t></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T</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→*FT</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 | </a:t>
            </a:r>
            <a:r>
              <a:rPr lang="en-US" altLang="zh-CN" sz="2800" b="1" u="none" dirty="0">
                <a:solidFill>
                  <a:schemeClr val="tx1"/>
                </a:solidFill>
                <a:latin typeface="Arial" panose="020B0604020202020204" pitchFamily="34" charset="0"/>
                <a:sym typeface="Symbol" panose="05050102010706020507" pitchFamily="18" charset="2"/>
              </a:rPr>
              <a:t></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F→(E) | i</a:t>
            </a:r>
            <a:endParaRPr lang="en-GB" altLang="zh-CN" sz="1600" u="none" dirty="0">
              <a:solidFill>
                <a:schemeClr val="tx1"/>
              </a:solidFill>
              <a:latin typeface="Arial" panose="020B0604020202020204" pitchFamily="34" charset="0"/>
            </a:endParaRPr>
          </a:p>
        </p:txBody>
      </p:sp>
    </p:spTree>
  </p:cSld>
  <p:clrMapOvr>
    <a:masterClrMapping/>
  </p:clrMapOvr>
  <p:transition spd="med">
    <p:zo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40962" name="Text Box 2"/>
          <p:cNvSpPr txBox="1"/>
          <p:nvPr/>
        </p:nvSpPr>
        <p:spPr>
          <a:xfrm>
            <a:off x="457200" y="2152650"/>
            <a:ext cx="1912938" cy="641350"/>
          </a:xfrm>
          <a:prstGeom prst="rect">
            <a:avLst/>
          </a:prstGeom>
          <a:noFill/>
          <a:ln w="12700">
            <a:noFill/>
          </a:ln>
        </p:spPr>
        <p:txBody>
          <a:bodyPr anchor="t">
            <a:spAutoFit/>
          </a:bodyPr>
          <a:p>
            <a:pPr algn="ctr"/>
            <a:r>
              <a:rPr lang="en-US" altLang="zh-CN" sz="3600" b="1" u="none" dirty="0">
                <a:solidFill>
                  <a:schemeClr val="tx1"/>
                </a:solidFill>
                <a:latin typeface="Times New Roman" panose="02020603050405020304" pitchFamily="18" charset="0"/>
              </a:rPr>
              <a:t>i   +   i </a:t>
            </a:r>
            <a:endParaRPr lang="en-US" altLang="zh-CN" sz="3600" b="1" u="none" dirty="0">
              <a:solidFill>
                <a:schemeClr val="tx1"/>
              </a:solidFill>
              <a:latin typeface="Times New Roman" panose="02020603050405020304" pitchFamily="18" charset="0"/>
            </a:endParaRPr>
          </a:p>
        </p:txBody>
      </p:sp>
      <p:sp>
        <p:nvSpPr>
          <p:cNvPr id="40963" name="Line 3"/>
          <p:cNvSpPr/>
          <p:nvPr/>
        </p:nvSpPr>
        <p:spPr>
          <a:xfrm flipV="1">
            <a:off x="1411288" y="2819400"/>
            <a:ext cx="0" cy="533400"/>
          </a:xfrm>
          <a:prstGeom prst="line">
            <a:avLst/>
          </a:prstGeom>
          <a:ln w="19050" cap="flat" cmpd="sng">
            <a:solidFill>
              <a:schemeClr val="tx1"/>
            </a:solidFill>
            <a:prstDash val="solid"/>
            <a:round/>
            <a:headEnd type="none" w="med" len="med"/>
            <a:tailEnd type="stealth" w="lg" len="lg"/>
          </a:ln>
        </p:spPr>
      </p:sp>
      <p:sp>
        <p:nvSpPr>
          <p:cNvPr id="40964" name="Text Box 4"/>
          <p:cNvSpPr txBox="1"/>
          <p:nvPr/>
        </p:nvSpPr>
        <p:spPr>
          <a:xfrm>
            <a:off x="1143000" y="3495675"/>
            <a:ext cx="539750" cy="519113"/>
          </a:xfrm>
          <a:prstGeom prst="rect">
            <a:avLst/>
          </a:prstGeom>
          <a:noFill/>
          <a:ln w="12700">
            <a:noFill/>
          </a:ln>
        </p:spPr>
        <p:txBody>
          <a:bodyPr wrap="none" anchor="t">
            <a:spAutoFit/>
          </a:bodyPr>
          <a:p>
            <a:pPr algn="ctr"/>
            <a:r>
              <a:rPr lang="en-US" altLang="zh-CN" sz="2800" b="1" u="none" dirty="0">
                <a:solidFill>
                  <a:schemeClr val="tx1"/>
                </a:solidFill>
                <a:latin typeface="Times New Roman" panose="02020603050405020304" pitchFamily="18" charset="0"/>
              </a:rPr>
              <a:t>IP</a:t>
            </a:r>
            <a:endParaRPr lang="en-US" altLang="zh-CN" sz="2800" b="1" u="none" dirty="0">
              <a:solidFill>
                <a:schemeClr val="tx1"/>
              </a:solidFill>
              <a:latin typeface="Times New Roman" panose="02020603050405020304" pitchFamily="18" charset="0"/>
            </a:endParaRPr>
          </a:p>
        </p:txBody>
      </p:sp>
      <p:sp>
        <p:nvSpPr>
          <p:cNvPr id="40965" name="Text Box 5"/>
          <p:cNvSpPr txBox="1"/>
          <p:nvPr/>
        </p:nvSpPr>
        <p:spPr>
          <a:xfrm>
            <a:off x="5030788" y="228600"/>
            <a:ext cx="455612" cy="579438"/>
          </a:xfrm>
          <a:prstGeom prst="rect">
            <a:avLst/>
          </a:prstGeom>
          <a:noFill/>
          <a:ln w="12700">
            <a:noFill/>
          </a:ln>
        </p:spPr>
        <p:txBody>
          <a:bodyPr wrap="none" anchor="t">
            <a:spAutoFit/>
          </a:bodyPr>
          <a:p>
            <a:pPr algn="ctr"/>
            <a:r>
              <a:rPr lang="en-US" altLang="zh-CN" sz="3200" b="1" u="none" dirty="0">
                <a:solidFill>
                  <a:schemeClr val="tx1"/>
                </a:solidFill>
                <a:latin typeface="Times New Roman" panose="02020603050405020304" pitchFamily="18" charset="0"/>
              </a:rPr>
              <a:t>E</a:t>
            </a:r>
            <a:endParaRPr lang="en-US" altLang="zh-CN" sz="3200" b="1" u="none" dirty="0">
              <a:solidFill>
                <a:schemeClr val="tx1"/>
              </a:solidFill>
              <a:latin typeface="Times New Roman" panose="02020603050405020304" pitchFamily="18" charset="0"/>
            </a:endParaRPr>
          </a:p>
        </p:txBody>
      </p:sp>
      <p:sp>
        <p:nvSpPr>
          <p:cNvPr id="40966" name="Line 6"/>
          <p:cNvSpPr/>
          <p:nvPr/>
        </p:nvSpPr>
        <p:spPr>
          <a:xfrm flipH="1">
            <a:off x="4038600" y="731838"/>
            <a:ext cx="1143000" cy="685800"/>
          </a:xfrm>
          <a:prstGeom prst="line">
            <a:avLst/>
          </a:prstGeom>
          <a:ln w="19050" cap="flat" cmpd="sng">
            <a:solidFill>
              <a:schemeClr val="tx1"/>
            </a:solidFill>
            <a:prstDash val="solid"/>
            <a:round/>
            <a:headEnd type="none" w="med" len="med"/>
            <a:tailEnd type="none" w="lg" len="lg"/>
          </a:ln>
        </p:spPr>
      </p:sp>
      <p:sp>
        <p:nvSpPr>
          <p:cNvPr id="40967" name="Line 7"/>
          <p:cNvSpPr/>
          <p:nvPr/>
        </p:nvSpPr>
        <p:spPr>
          <a:xfrm>
            <a:off x="5334000" y="731838"/>
            <a:ext cx="1295400" cy="685800"/>
          </a:xfrm>
          <a:prstGeom prst="line">
            <a:avLst/>
          </a:prstGeom>
          <a:ln w="19050" cap="flat" cmpd="sng">
            <a:solidFill>
              <a:schemeClr val="tx1"/>
            </a:solidFill>
            <a:prstDash val="solid"/>
            <a:round/>
            <a:headEnd type="none" w="med" len="med"/>
            <a:tailEnd type="none" w="lg" len="lg"/>
          </a:ln>
        </p:spPr>
      </p:sp>
      <p:sp>
        <p:nvSpPr>
          <p:cNvPr id="40968" name="Text Box 8"/>
          <p:cNvSpPr txBox="1"/>
          <p:nvPr/>
        </p:nvSpPr>
        <p:spPr>
          <a:xfrm>
            <a:off x="3810000" y="1417638"/>
            <a:ext cx="455613" cy="579437"/>
          </a:xfrm>
          <a:prstGeom prst="rect">
            <a:avLst/>
          </a:prstGeom>
          <a:noFill/>
          <a:ln w="12700">
            <a:noFill/>
          </a:ln>
        </p:spPr>
        <p:txBody>
          <a:bodyPr wrap="none" anchor="t">
            <a:spAutoFit/>
          </a:bodyPr>
          <a:p>
            <a:pPr algn="ctr"/>
            <a:r>
              <a:rPr lang="en-US" altLang="zh-CN" sz="3200" b="1" u="none" dirty="0">
                <a:solidFill>
                  <a:schemeClr val="tx1"/>
                </a:solidFill>
                <a:latin typeface="Times New Roman" panose="02020603050405020304" pitchFamily="18" charset="0"/>
              </a:rPr>
              <a:t>T</a:t>
            </a:r>
            <a:endParaRPr lang="en-US" altLang="zh-CN" sz="3200" b="1" u="none" dirty="0">
              <a:solidFill>
                <a:schemeClr val="tx1"/>
              </a:solidFill>
              <a:latin typeface="Times New Roman" panose="02020603050405020304" pitchFamily="18" charset="0"/>
            </a:endParaRPr>
          </a:p>
        </p:txBody>
      </p:sp>
      <p:sp>
        <p:nvSpPr>
          <p:cNvPr id="40969" name="Text Box 9"/>
          <p:cNvSpPr txBox="1"/>
          <p:nvPr/>
        </p:nvSpPr>
        <p:spPr>
          <a:xfrm>
            <a:off x="6257925" y="1417638"/>
            <a:ext cx="590550" cy="579437"/>
          </a:xfrm>
          <a:prstGeom prst="rect">
            <a:avLst/>
          </a:prstGeom>
          <a:noFill/>
          <a:ln w="12700">
            <a:noFill/>
          </a:ln>
        </p:spPr>
        <p:txBody>
          <a:bodyPr wrap="none" anchor="t">
            <a:spAutoFit/>
          </a:bodyPr>
          <a:p>
            <a:pPr algn="ctr"/>
            <a:r>
              <a:rPr lang="en-US" altLang="zh-CN" sz="3200" b="1" u="none" dirty="0">
                <a:solidFill>
                  <a:schemeClr val="tx1"/>
                </a:solidFill>
                <a:latin typeface="Times New Roman" panose="02020603050405020304" pitchFamily="18" charset="0"/>
              </a:rPr>
              <a:t>E’</a:t>
            </a:r>
            <a:endParaRPr lang="en-US" altLang="zh-CN" sz="3200" b="1" u="none" dirty="0">
              <a:solidFill>
                <a:schemeClr val="tx1"/>
              </a:solidFill>
              <a:latin typeface="Times New Roman" panose="02020603050405020304" pitchFamily="18" charset="0"/>
            </a:endParaRPr>
          </a:p>
        </p:txBody>
      </p:sp>
      <p:sp>
        <p:nvSpPr>
          <p:cNvPr id="40970" name="Line 10"/>
          <p:cNvSpPr/>
          <p:nvPr/>
        </p:nvSpPr>
        <p:spPr>
          <a:xfrm flipH="1">
            <a:off x="3200400" y="1874838"/>
            <a:ext cx="762000" cy="762000"/>
          </a:xfrm>
          <a:prstGeom prst="line">
            <a:avLst/>
          </a:prstGeom>
          <a:ln w="19050" cap="flat" cmpd="sng">
            <a:solidFill>
              <a:schemeClr val="tx1"/>
            </a:solidFill>
            <a:prstDash val="solid"/>
            <a:round/>
            <a:headEnd type="none" w="med" len="med"/>
            <a:tailEnd type="none" w="lg" len="lg"/>
          </a:ln>
        </p:spPr>
      </p:sp>
      <p:sp>
        <p:nvSpPr>
          <p:cNvPr id="40971" name="Line 11"/>
          <p:cNvSpPr/>
          <p:nvPr/>
        </p:nvSpPr>
        <p:spPr>
          <a:xfrm>
            <a:off x="4038600" y="1874838"/>
            <a:ext cx="685800" cy="762000"/>
          </a:xfrm>
          <a:prstGeom prst="line">
            <a:avLst/>
          </a:prstGeom>
          <a:ln w="19050" cap="flat" cmpd="sng">
            <a:solidFill>
              <a:schemeClr val="tx1"/>
            </a:solidFill>
            <a:prstDash val="solid"/>
            <a:round/>
            <a:headEnd type="none" w="med" len="med"/>
            <a:tailEnd type="none" w="lg" len="lg"/>
          </a:ln>
        </p:spPr>
      </p:sp>
      <p:sp>
        <p:nvSpPr>
          <p:cNvPr id="40972" name="Text Box 12"/>
          <p:cNvSpPr txBox="1"/>
          <p:nvPr/>
        </p:nvSpPr>
        <p:spPr>
          <a:xfrm>
            <a:off x="2921000" y="2667000"/>
            <a:ext cx="431800" cy="579438"/>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F</a:t>
            </a:r>
            <a:endParaRPr lang="en-US" altLang="zh-CN" sz="3200" b="1" u="none" dirty="0">
              <a:solidFill>
                <a:schemeClr val="tx1"/>
              </a:solidFill>
              <a:latin typeface="Times New Roman" panose="02020603050405020304" pitchFamily="18" charset="0"/>
            </a:endParaRPr>
          </a:p>
        </p:txBody>
      </p:sp>
      <p:sp>
        <p:nvSpPr>
          <p:cNvPr id="40973" name="Text Box 13"/>
          <p:cNvSpPr txBox="1"/>
          <p:nvPr/>
        </p:nvSpPr>
        <p:spPr>
          <a:xfrm>
            <a:off x="4495800" y="2667000"/>
            <a:ext cx="590550" cy="579438"/>
          </a:xfrm>
          <a:prstGeom prst="rect">
            <a:avLst/>
          </a:prstGeom>
          <a:noFill/>
          <a:ln w="19050">
            <a:noFill/>
          </a:ln>
        </p:spPr>
        <p:txBody>
          <a:bodyPr wrap="none" anchor="t">
            <a:spAutoFit/>
          </a:bodyPr>
          <a:p>
            <a:pPr algn="ctr"/>
            <a:r>
              <a:rPr lang="en-US" altLang="zh-CN" sz="3200" b="1" u="none" dirty="0">
                <a:solidFill>
                  <a:srgbClr val="FF0000"/>
                </a:solidFill>
                <a:latin typeface="Times New Roman" panose="02020603050405020304" pitchFamily="18" charset="0"/>
              </a:rPr>
              <a:t>T’</a:t>
            </a:r>
            <a:endParaRPr lang="en-US" altLang="zh-CN" sz="3200" b="1" u="none" dirty="0">
              <a:solidFill>
                <a:srgbClr val="FF0000"/>
              </a:solidFill>
              <a:latin typeface="Times New Roman" panose="02020603050405020304" pitchFamily="18" charset="0"/>
            </a:endParaRPr>
          </a:p>
        </p:txBody>
      </p:sp>
      <p:sp>
        <p:nvSpPr>
          <p:cNvPr id="40974" name="Line 14"/>
          <p:cNvSpPr/>
          <p:nvPr/>
        </p:nvSpPr>
        <p:spPr>
          <a:xfrm>
            <a:off x="3135313" y="3170238"/>
            <a:ext cx="0" cy="838200"/>
          </a:xfrm>
          <a:prstGeom prst="line">
            <a:avLst/>
          </a:prstGeom>
          <a:ln w="19050" cap="flat" cmpd="sng">
            <a:solidFill>
              <a:schemeClr val="tx1"/>
            </a:solidFill>
            <a:prstDash val="solid"/>
            <a:round/>
            <a:headEnd type="none" w="med" len="med"/>
            <a:tailEnd type="none" w="lg" len="lg"/>
          </a:ln>
        </p:spPr>
      </p:sp>
      <p:sp>
        <p:nvSpPr>
          <p:cNvPr id="40975" name="Text Box 15"/>
          <p:cNvSpPr txBox="1"/>
          <p:nvPr/>
        </p:nvSpPr>
        <p:spPr>
          <a:xfrm>
            <a:off x="2982913" y="4008438"/>
            <a:ext cx="296862" cy="579437"/>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i</a:t>
            </a:r>
            <a:endParaRPr lang="en-US" altLang="zh-CN" sz="3200" b="1" u="none" dirty="0">
              <a:solidFill>
                <a:schemeClr val="tx1"/>
              </a:solidFill>
              <a:latin typeface="Times New Roman" panose="02020603050405020304" pitchFamily="18" charset="0"/>
            </a:endParaRPr>
          </a:p>
        </p:txBody>
      </p:sp>
      <p:sp>
        <p:nvSpPr>
          <p:cNvPr id="40976" name="Rectangle 17"/>
          <p:cNvSpPr/>
          <p:nvPr/>
        </p:nvSpPr>
        <p:spPr>
          <a:xfrm>
            <a:off x="0" y="4149725"/>
            <a:ext cx="2700338" cy="2349500"/>
          </a:xfrm>
          <a:prstGeom prst="rect">
            <a:avLst/>
          </a:prstGeom>
          <a:solidFill>
            <a:srgbClr val="FFFF99"/>
          </a:solidFill>
          <a:ln w="12700" cap="flat" cmpd="sng">
            <a:solidFill>
              <a:srgbClr val="FF0000"/>
            </a:solidFill>
            <a:prstDash val="solid"/>
            <a:miter/>
            <a:headEnd type="none" w="med" len="med"/>
            <a:tailEnd type="none" w="lg" len="lg"/>
          </a:ln>
        </p:spPr>
        <p:txBody>
          <a:bodyPr wrap="none" anchor="ctr"/>
          <a:p>
            <a:pPr>
              <a:lnSpc>
                <a:spcPct val="90000"/>
              </a:lnSpc>
              <a:buClr>
                <a:schemeClr val="bg2"/>
              </a:buClr>
              <a:buSzPct val="75000"/>
              <a:buFont typeface="Wingdings" panose="05000000000000000000" pitchFamily="2" charset="2"/>
              <a:buChar char="n"/>
            </a:pPr>
            <a:r>
              <a:rPr lang="en-US" altLang="zh-CN" sz="2800" b="1" u="none" dirty="0">
                <a:solidFill>
                  <a:schemeClr val="tx1"/>
                </a:solidFill>
                <a:latin typeface="Arial" panose="020B0604020202020204" pitchFamily="34" charset="0"/>
              </a:rPr>
              <a:t>G(E):</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E→TE</a:t>
            </a:r>
            <a:r>
              <a:rPr lang="en-US" altLang="zh-CN" sz="2800" b="1" u="none" dirty="0">
                <a:solidFill>
                  <a:schemeClr val="tx1"/>
                </a:solidFill>
                <a:latin typeface="Arial" panose="020B0604020202020204" pitchFamily="34" charset="0"/>
                <a:sym typeface="Symbol" panose="05050102010706020507" pitchFamily="18" charset="2"/>
              </a:rPr>
              <a:t></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E</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→+TE</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 | </a:t>
            </a:r>
            <a:r>
              <a:rPr lang="en-US" altLang="zh-CN" sz="2800" b="1" u="none" dirty="0">
                <a:solidFill>
                  <a:schemeClr val="tx1"/>
                </a:solidFill>
                <a:latin typeface="Arial" panose="020B0604020202020204" pitchFamily="34" charset="0"/>
                <a:sym typeface="Symbol" panose="05050102010706020507" pitchFamily="18" charset="2"/>
              </a:rPr>
              <a:t></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T→FT</a:t>
            </a:r>
            <a:r>
              <a:rPr lang="en-US" altLang="zh-CN" sz="2800" b="1" u="none" dirty="0">
                <a:solidFill>
                  <a:schemeClr val="tx1"/>
                </a:solidFill>
                <a:latin typeface="Arial" panose="020B0604020202020204" pitchFamily="34" charset="0"/>
                <a:sym typeface="Symbol" panose="05050102010706020507" pitchFamily="18" charset="2"/>
              </a:rPr>
              <a:t></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T</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→*FT</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 | </a:t>
            </a:r>
            <a:r>
              <a:rPr lang="en-US" altLang="zh-CN" sz="2800" b="1" u="none" dirty="0">
                <a:solidFill>
                  <a:schemeClr val="tx1"/>
                </a:solidFill>
                <a:latin typeface="Arial" panose="020B0604020202020204" pitchFamily="34" charset="0"/>
                <a:sym typeface="Symbol" panose="05050102010706020507" pitchFamily="18" charset="2"/>
              </a:rPr>
              <a:t></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F→(E) | i</a:t>
            </a:r>
            <a:endParaRPr lang="en-GB" altLang="zh-CN" sz="1600" u="none" dirty="0">
              <a:solidFill>
                <a:schemeClr val="tx1"/>
              </a:solidFill>
              <a:latin typeface="Arial" panose="020B0604020202020204" pitchFamily="34" charset="0"/>
            </a:endParaRPr>
          </a:p>
        </p:txBody>
      </p:sp>
    </p:spTree>
  </p:cSld>
  <p:clrMapOvr>
    <a:masterClrMapping/>
  </p:clrMapOvr>
  <p:transition spd="med">
    <p:zo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41986" name="Text Box 2"/>
          <p:cNvSpPr txBox="1"/>
          <p:nvPr/>
        </p:nvSpPr>
        <p:spPr>
          <a:xfrm>
            <a:off x="457200" y="2152650"/>
            <a:ext cx="1912938" cy="641350"/>
          </a:xfrm>
          <a:prstGeom prst="rect">
            <a:avLst/>
          </a:prstGeom>
          <a:noFill/>
          <a:ln w="12700">
            <a:noFill/>
          </a:ln>
        </p:spPr>
        <p:txBody>
          <a:bodyPr anchor="t">
            <a:spAutoFit/>
          </a:bodyPr>
          <a:p>
            <a:pPr algn="ctr"/>
            <a:r>
              <a:rPr lang="en-US" altLang="zh-CN" sz="3600" b="1" u="none" dirty="0">
                <a:solidFill>
                  <a:schemeClr val="tx1"/>
                </a:solidFill>
                <a:latin typeface="Times New Roman" panose="02020603050405020304" pitchFamily="18" charset="0"/>
              </a:rPr>
              <a:t>i   +   i </a:t>
            </a:r>
            <a:endParaRPr lang="en-US" altLang="zh-CN" sz="3600" b="1" u="none" dirty="0">
              <a:solidFill>
                <a:schemeClr val="tx1"/>
              </a:solidFill>
              <a:latin typeface="Times New Roman" panose="02020603050405020304" pitchFamily="18" charset="0"/>
            </a:endParaRPr>
          </a:p>
        </p:txBody>
      </p:sp>
      <p:sp>
        <p:nvSpPr>
          <p:cNvPr id="41987" name="Line 3"/>
          <p:cNvSpPr/>
          <p:nvPr/>
        </p:nvSpPr>
        <p:spPr>
          <a:xfrm flipV="1">
            <a:off x="1411288" y="2819400"/>
            <a:ext cx="0" cy="533400"/>
          </a:xfrm>
          <a:prstGeom prst="line">
            <a:avLst/>
          </a:prstGeom>
          <a:ln w="19050" cap="flat" cmpd="sng">
            <a:solidFill>
              <a:schemeClr val="tx1"/>
            </a:solidFill>
            <a:prstDash val="solid"/>
            <a:round/>
            <a:headEnd type="none" w="med" len="med"/>
            <a:tailEnd type="stealth" w="lg" len="lg"/>
          </a:ln>
        </p:spPr>
      </p:sp>
      <p:sp>
        <p:nvSpPr>
          <p:cNvPr id="41988" name="Text Box 4"/>
          <p:cNvSpPr txBox="1"/>
          <p:nvPr/>
        </p:nvSpPr>
        <p:spPr>
          <a:xfrm>
            <a:off x="1143000" y="3495675"/>
            <a:ext cx="539750" cy="519113"/>
          </a:xfrm>
          <a:prstGeom prst="rect">
            <a:avLst/>
          </a:prstGeom>
          <a:noFill/>
          <a:ln w="12700">
            <a:noFill/>
          </a:ln>
        </p:spPr>
        <p:txBody>
          <a:bodyPr wrap="none" anchor="t">
            <a:spAutoFit/>
          </a:bodyPr>
          <a:p>
            <a:pPr algn="ctr"/>
            <a:r>
              <a:rPr lang="en-US" altLang="zh-CN" sz="2800" b="1" u="none" dirty="0">
                <a:solidFill>
                  <a:schemeClr val="tx1"/>
                </a:solidFill>
                <a:latin typeface="Times New Roman" panose="02020603050405020304" pitchFamily="18" charset="0"/>
              </a:rPr>
              <a:t>IP</a:t>
            </a:r>
            <a:endParaRPr lang="en-US" altLang="zh-CN" sz="2800" b="1" u="none" dirty="0">
              <a:solidFill>
                <a:schemeClr val="tx1"/>
              </a:solidFill>
              <a:latin typeface="Times New Roman" panose="02020603050405020304" pitchFamily="18" charset="0"/>
            </a:endParaRPr>
          </a:p>
        </p:txBody>
      </p:sp>
      <p:sp>
        <p:nvSpPr>
          <p:cNvPr id="41989" name="Text Box 5"/>
          <p:cNvSpPr txBox="1"/>
          <p:nvPr/>
        </p:nvSpPr>
        <p:spPr>
          <a:xfrm>
            <a:off x="5030788" y="228600"/>
            <a:ext cx="455612" cy="579438"/>
          </a:xfrm>
          <a:prstGeom prst="rect">
            <a:avLst/>
          </a:prstGeom>
          <a:noFill/>
          <a:ln w="12700">
            <a:noFill/>
          </a:ln>
        </p:spPr>
        <p:txBody>
          <a:bodyPr wrap="none" anchor="t">
            <a:spAutoFit/>
          </a:bodyPr>
          <a:p>
            <a:pPr algn="ctr"/>
            <a:r>
              <a:rPr lang="en-US" altLang="zh-CN" sz="3200" b="1" u="none" dirty="0">
                <a:solidFill>
                  <a:schemeClr val="tx1"/>
                </a:solidFill>
                <a:latin typeface="Times New Roman" panose="02020603050405020304" pitchFamily="18" charset="0"/>
              </a:rPr>
              <a:t>E</a:t>
            </a:r>
            <a:endParaRPr lang="en-US" altLang="zh-CN" sz="3200" b="1" u="none" dirty="0">
              <a:solidFill>
                <a:schemeClr val="tx1"/>
              </a:solidFill>
              <a:latin typeface="Times New Roman" panose="02020603050405020304" pitchFamily="18" charset="0"/>
            </a:endParaRPr>
          </a:p>
        </p:txBody>
      </p:sp>
      <p:sp>
        <p:nvSpPr>
          <p:cNvPr id="41990" name="Line 6"/>
          <p:cNvSpPr/>
          <p:nvPr/>
        </p:nvSpPr>
        <p:spPr>
          <a:xfrm flipH="1">
            <a:off x="4038600" y="731838"/>
            <a:ext cx="1143000" cy="685800"/>
          </a:xfrm>
          <a:prstGeom prst="line">
            <a:avLst/>
          </a:prstGeom>
          <a:ln w="19050" cap="flat" cmpd="sng">
            <a:solidFill>
              <a:schemeClr val="tx1"/>
            </a:solidFill>
            <a:prstDash val="solid"/>
            <a:round/>
            <a:headEnd type="none" w="med" len="med"/>
            <a:tailEnd type="none" w="lg" len="lg"/>
          </a:ln>
        </p:spPr>
      </p:sp>
      <p:sp>
        <p:nvSpPr>
          <p:cNvPr id="41991" name="Line 7"/>
          <p:cNvSpPr/>
          <p:nvPr/>
        </p:nvSpPr>
        <p:spPr>
          <a:xfrm>
            <a:off x="5334000" y="731838"/>
            <a:ext cx="1295400" cy="685800"/>
          </a:xfrm>
          <a:prstGeom prst="line">
            <a:avLst/>
          </a:prstGeom>
          <a:ln w="19050" cap="flat" cmpd="sng">
            <a:solidFill>
              <a:schemeClr val="tx1"/>
            </a:solidFill>
            <a:prstDash val="solid"/>
            <a:round/>
            <a:headEnd type="none" w="med" len="med"/>
            <a:tailEnd type="none" w="lg" len="lg"/>
          </a:ln>
        </p:spPr>
      </p:sp>
      <p:sp>
        <p:nvSpPr>
          <p:cNvPr id="41992" name="Text Box 8"/>
          <p:cNvSpPr txBox="1"/>
          <p:nvPr/>
        </p:nvSpPr>
        <p:spPr>
          <a:xfrm>
            <a:off x="3810000" y="1417638"/>
            <a:ext cx="455613" cy="579437"/>
          </a:xfrm>
          <a:prstGeom prst="rect">
            <a:avLst/>
          </a:prstGeom>
          <a:noFill/>
          <a:ln w="12700">
            <a:noFill/>
          </a:ln>
        </p:spPr>
        <p:txBody>
          <a:bodyPr wrap="none" anchor="t">
            <a:spAutoFit/>
          </a:bodyPr>
          <a:p>
            <a:pPr algn="ctr"/>
            <a:r>
              <a:rPr lang="en-US" altLang="zh-CN" sz="3200" b="1" u="none" dirty="0">
                <a:solidFill>
                  <a:schemeClr val="tx1"/>
                </a:solidFill>
                <a:latin typeface="Times New Roman" panose="02020603050405020304" pitchFamily="18" charset="0"/>
              </a:rPr>
              <a:t>T</a:t>
            </a:r>
            <a:endParaRPr lang="en-US" altLang="zh-CN" sz="3200" b="1" u="none" dirty="0">
              <a:solidFill>
                <a:schemeClr val="tx1"/>
              </a:solidFill>
              <a:latin typeface="Times New Roman" panose="02020603050405020304" pitchFamily="18" charset="0"/>
            </a:endParaRPr>
          </a:p>
        </p:txBody>
      </p:sp>
      <p:sp>
        <p:nvSpPr>
          <p:cNvPr id="41993" name="Text Box 9"/>
          <p:cNvSpPr txBox="1"/>
          <p:nvPr/>
        </p:nvSpPr>
        <p:spPr>
          <a:xfrm>
            <a:off x="6257925" y="1417638"/>
            <a:ext cx="590550" cy="579437"/>
          </a:xfrm>
          <a:prstGeom prst="rect">
            <a:avLst/>
          </a:prstGeom>
          <a:noFill/>
          <a:ln w="12700">
            <a:noFill/>
          </a:ln>
        </p:spPr>
        <p:txBody>
          <a:bodyPr wrap="none" anchor="t">
            <a:spAutoFit/>
          </a:bodyPr>
          <a:p>
            <a:pPr algn="ctr"/>
            <a:r>
              <a:rPr lang="en-US" altLang="zh-CN" sz="3200" b="1" u="none" dirty="0">
                <a:solidFill>
                  <a:srgbClr val="FF0000"/>
                </a:solidFill>
                <a:latin typeface="Times New Roman" panose="02020603050405020304" pitchFamily="18" charset="0"/>
              </a:rPr>
              <a:t>E’</a:t>
            </a:r>
            <a:endParaRPr lang="en-US" altLang="zh-CN" sz="3200" b="1" u="none" dirty="0">
              <a:solidFill>
                <a:srgbClr val="FF0000"/>
              </a:solidFill>
              <a:latin typeface="Times New Roman" panose="02020603050405020304" pitchFamily="18" charset="0"/>
            </a:endParaRPr>
          </a:p>
        </p:txBody>
      </p:sp>
      <p:sp>
        <p:nvSpPr>
          <p:cNvPr id="41994" name="Line 10"/>
          <p:cNvSpPr/>
          <p:nvPr/>
        </p:nvSpPr>
        <p:spPr>
          <a:xfrm flipH="1">
            <a:off x="3200400" y="1874838"/>
            <a:ext cx="762000" cy="762000"/>
          </a:xfrm>
          <a:prstGeom prst="line">
            <a:avLst/>
          </a:prstGeom>
          <a:ln w="19050" cap="flat" cmpd="sng">
            <a:solidFill>
              <a:schemeClr val="tx1"/>
            </a:solidFill>
            <a:prstDash val="solid"/>
            <a:round/>
            <a:headEnd type="none" w="med" len="med"/>
            <a:tailEnd type="none" w="lg" len="lg"/>
          </a:ln>
        </p:spPr>
      </p:sp>
      <p:sp>
        <p:nvSpPr>
          <p:cNvPr id="41995" name="Line 11"/>
          <p:cNvSpPr/>
          <p:nvPr/>
        </p:nvSpPr>
        <p:spPr>
          <a:xfrm>
            <a:off x="4038600" y="1874838"/>
            <a:ext cx="685800" cy="762000"/>
          </a:xfrm>
          <a:prstGeom prst="line">
            <a:avLst/>
          </a:prstGeom>
          <a:ln w="19050" cap="flat" cmpd="sng">
            <a:solidFill>
              <a:schemeClr val="tx1"/>
            </a:solidFill>
            <a:prstDash val="solid"/>
            <a:round/>
            <a:headEnd type="none" w="med" len="med"/>
            <a:tailEnd type="none" w="lg" len="lg"/>
          </a:ln>
        </p:spPr>
      </p:sp>
      <p:sp>
        <p:nvSpPr>
          <p:cNvPr id="41996" name="Text Box 12"/>
          <p:cNvSpPr txBox="1"/>
          <p:nvPr/>
        </p:nvSpPr>
        <p:spPr>
          <a:xfrm>
            <a:off x="2921000" y="2667000"/>
            <a:ext cx="431800" cy="579438"/>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F</a:t>
            </a:r>
            <a:endParaRPr lang="en-US" altLang="zh-CN" sz="3200" b="1" u="none" dirty="0">
              <a:solidFill>
                <a:schemeClr val="tx1"/>
              </a:solidFill>
              <a:latin typeface="Times New Roman" panose="02020603050405020304" pitchFamily="18" charset="0"/>
            </a:endParaRPr>
          </a:p>
        </p:txBody>
      </p:sp>
      <p:sp>
        <p:nvSpPr>
          <p:cNvPr id="41997" name="Text Box 13"/>
          <p:cNvSpPr txBox="1"/>
          <p:nvPr/>
        </p:nvSpPr>
        <p:spPr>
          <a:xfrm>
            <a:off x="4495800" y="2667000"/>
            <a:ext cx="590550" cy="579438"/>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T’</a:t>
            </a:r>
            <a:endParaRPr lang="en-US" altLang="zh-CN" sz="3200" b="1" u="none" dirty="0">
              <a:solidFill>
                <a:schemeClr val="tx1"/>
              </a:solidFill>
              <a:latin typeface="Times New Roman" panose="02020603050405020304" pitchFamily="18" charset="0"/>
            </a:endParaRPr>
          </a:p>
        </p:txBody>
      </p:sp>
      <p:sp>
        <p:nvSpPr>
          <p:cNvPr id="41998" name="Line 14"/>
          <p:cNvSpPr/>
          <p:nvPr/>
        </p:nvSpPr>
        <p:spPr>
          <a:xfrm>
            <a:off x="3135313" y="3170238"/>
            <a:ext cx="0" cy="838200"/>
          </a:xfrm>
          <a:prstGeom prst="line">
            <a:avLst/>
          </a:prstGeom>
          <a:ln w="19050" cap="flat" cmpd="sng">
            <a:solidFill>
              <a:schemeClr val="tx1"/>
            </a:solidFill>
            <a:prstDash val="solid"/>
            <a:round/>
            <a:headEnd type="none" w="med" len="med"/>
            <a:tailEnd type="none" w="lg" len="lg"/>
          </a:ln>
        </p:spPr>
      </p:sp>
      <p:sp>
        <p:nvSpPr>
          <p:cNvPr id="41999" name="Text Box 15"/>
          <p:cNvSpPr txBox="1"/>
          <p:nvPr/>
        </p:nvSpPr>
        <p:spPr>
          <a:xfrm>
            <a:off x="2982913" y="4008438"/>
            <a:ext cx="296862" cy="579437"/>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i</a:t>
            </a:r>
            <a:endParaRPr lang="en-US" altLang="zh-CN" sz="3200" b="1" u="none" dirty="0">
              <a:solidFill>
                <a:schemeClr val="tx1"/>
              </a:solidFill>
              <a:latin typeface="Times New Roman" panose="02020603050405020304" pitchFamily="18" charset="0"/>
            </a:endParaRPr>
          </a:p>
        </p:txBody>
      </p:sp>
      <p:sp>
        <p:nvSpPr>
          <p:cNvPr id="42000" name="Line 16"/>
          <p:cNvSpPr/>
          <p:nvPr/>
        </p:nvSpPr>
        <p:spPr>
          <a:xfrm>
            <a:off x="4714875" y="3246438"/>
            <a:ext cx="0" cy="838200"/>
          </a:xfrm>
          <a:prstGeom prst="line">
            <a:avLst/>
          </a:prstGeom>
          <a:ln w="19050" cap="flat" cmpd="sng">
            <a:solidFill>
              <a:schemeClr val="tx1"/>
            </a:solidFill>
            <a:prstDash val="solid"/>
            <a:round/>
            <a:headEnd type="none" w="med" len="med"/>
            <a:tailEnd type="none" w="lg" len="lg"/>
          </a:ln>
        </p:spPr>
      </p:sp>
      <p:sp>
        <p:nvSpPr>
          <p:cNvPr id="42001" name="Text Box 17"/>
          <p:cNvSpPr txBox="1"/>
          <p:nvPr/>
        </p:nvSpPr>
        <p:spPr>
          <a:xfrm>
            <a:off x="4529138" y="4076700"/>
            <a:ext cx="363537" cy="579438"/>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sym typeface="Symbol" panose="05050102010706020507" pitchFamily="18" charset="2"/>
              </a:rPr>
              <a:t></a:t>
            </a:r>
            <a:endParaRPr lang="en-US" altLang="zh-CN" sz="3200" b="1" u="none" dirty="0">
              <a:solidFill>
                <a:schemeClr val="tx1"/>
              </a:solidFill>
              <a:latin typeface="Times New Roman" panose="02020603050405020304" pitchFamily="18" charset="0"/>
            </a:endParaRPr>
          </a:p>
        </p:txBody>
      </p:sp>
      <p:sp>
        <p:nvSpPr>
          <p:cNvPr id="42002" name="Rectangle 19"/>
          <p:cNvSpPr/>
          <p:nvPr/>
        </p:nvSpPr>
        <p:spPr>
          <a:xfrm>
            <a:off x="0" y="4149725"/>
            <a:ext cx="2700338" cy="2349500"/>
          </a:xfrm>
          <a:prstGeom prst="rect">
            <a:avLst/>
          </a:prstGeom>
          <a:solidFill>
            <a:srgbClr val="FFFF99"/>
          </a:solidFill>
          <a:ln w="12700" cap="flat" cmpd="sng">
            <a:solidFill>
              <a:srgbClr val="FF0000"/>
            </a:solidFill>
            <a:prstDash val="solid"/>
            <a:miter/>
            <a:headEnd type="none" w="med" len="med"/>
            <a:tailEnd type="none" w="lg" len="lg"/>
          </a:ln>
        </p:spPr>
        <p:txBody>
          <a:bodyPr wrap="none" anchor="ctr"/>
          <a:p>
            <a:pPr>
              <a:lnSpc>
                <a:spcPct val="90000"/>
              </a:lnSpc>
              <a:buClr>
                <a:schemeClr val="bg2"/>
              </a:buClr>
              <a:buSzPct val="75000"/>
              <a:buFont typeface="Wingdings" panose="05000000000000000000" pitchFamily="2" charset="2"/>
              <a:buChar char="n"/>
            </a:pPr>
            <a:r>
              <a:rPr lang="en-US" altLang="zh-CN" sz="2800" b="1" u="none" dirty="0">
                <a:solidFill>
                  <a:schemeClr val="tx1"/>
                </a:solidFill>
                <a:latin typeface="Arial" panose="020B0604020202020204" pitchFamily="34" charset="0"/>
              </a:rPr>
              <a:t>G(E):</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E→TE</a:t>
            </a:r>
            <a:r>
              <a:rPr lang="en-US" altLang="zh-CN" sz="2800" b="1" u="none" dirty="0">
                <a:solidFill>
                  <a:schemeClr val="tx1"/>
                </a:solidFill>
                <a:latin typeface="Arial" panose="020B0604020202020204" pitchFamily="34" charset="0"/>
                <a:sym typeface="Symbol" panose="05050102010706020507" pitchFamily="18" charset="2"/>
              </a:rPr>
              <a:t></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E</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→+TE</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 | </a:t>
            </a:r>
            <a:r>
              <a:rPr lang="en-US" altLang="zh-CN" sz="2800" b="1" u="none" dirty="0">
                <a:solidFill>
                  <a:schemeClr val="tx1"/>
                </a:solidFill>
                <a:latin typeface="Arial" panose="020B0604020202020204" pitchFamily="34" charset="0"/>
                <a:sym typeface="Symbol" panose="05050102010706020507" pitchFamily="18" charset="2"/>
              </a:rPr>
              <a:t></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T→FT</a:t>
            </a:r>
            <a:r>
              <a:rPr lang="en-US" altLang="zh-CN" sz="2800" b="1" u="none" dirty="0">
                <a:solidFill>
                  <a:schemeClr val="tx1"/>
                </a:solidFill>
                <a:latin typeface="Arial" panose="020B0604020202020204" pitchFamily="34" charset="0"/>
                <a:sym typeface="Symbol" panose="05050102010706020507" pitchFamily="18" charset="2"/>
              </a:rPr>
              <a:t></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T</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→*FT</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 | </a:t>
            </a:r>
            <a:r>
              <a:rPr lang="en-US" altLang="zh-CN" sz="2800" b="1" u="none" dirty="0">
                <a:solidFill>
                  <a:schemeClr val="tx1"/>
                </a:solidFill>
                <a:latin typeface="Arial" panose="020B0604020202020204" pitchFamily="34" charset="0"/>
                <a:sym typeface="Symbol" panose="05050102010706020507" pitchFamily="18" charset="2"/>
              </a:rPr>
              <a:t></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F→(E) | i</a:t>
            </a:r>
            <a:endParaRPr lang="en-GB" altLang="zh-CN" sz="1600" u="none" dirty="0">
              <a:solidFill>
                <a:schemeClr val="tx1"/>
              </a:solidFill>
              <a:latin typeface="Arial" panose="020B0604020202020204" pitchFamily="34" charset="0"/>
            </a:endParaRPr>
          </a:p>
        </p:txBody>
      </p:sp>
    </p:spTree>
  </p:cSld>
  <p:clrMapOvr>
    <a:masterClrMapping/>
  </p:clrMapOvr>
  <p:transition spd="med">
    <p:zo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43010" name="Text Box 2"/>
          <p:cNvSpPr txBox="1"/>
          <p:nvPr/>
        </p:nvSpPr>
        <p:spPr>
          <a:xfrm>
            <a:off x="457200" y="2152650"/>
            <a:ext cx="1912938" cy="641350"/>
          </a:xfrm>
          <a:prstGeom prst="rect">
            <a:avLst/>
          </a:prstGeom>
          <a:noFill/>
          <a:ln w="12700">
            <a:noFill/>
          </a:ln>
        </p:spPr>
        <p:txBody>
          <a:bodyPr anchor="t">
            <a:spAutoFit/>
          </a:bodyPr>
          <a:p>
            <a:pPr algn="ctr"/>
            <a:r>
              <a:rPr lang="en-US" altLang="zh-CN" sz="3600" b="1" u="none" dirty="0">
                <a:solidFill>
                  <a:schemeClr val="tx1"/>
                </a:solidFill>
                <a:latin typeface="Times New Roman" panose="02020603050405020304" pitchFamily="18" charset="0"/>
              </a:rPr>
              <a:t>i   +   i </a:t>
            </a:r>
            <a:endParaRPr lang="en-US" altLang="zh-CN" sz="3600" b="1" u="none" dirty="0">
              <a:solidFill>
                <a:schemeClr val="tx1"/>
              </a:solidFill>
              <a:latin typeface="Times New Roman" panose="02020603050405020304" pitchFamily="18" charset="0"/>
            </a:endParaRPr>
          </a:p>
        </p:txBody>
      </p:sp>
      <p:sp>
        <p:nvSpPr>
          <p:cNvPr id="43011" name="Line 3"/>
          <p:cNvSpPr/>
          <p:nvPr/>
        </p:nvSpPr>
        <p:spPr>
          <a:xfrm flipV="1">
            <a:off x="1411288" y="2819400"/>
            <a:ext cx="0" cy="533400"/>
          </a:xfrm>
          <a:prstGeom prst="line">
            <a:avLst/>
          </a:prstGeom>
          <a:ln w="19050" cap="flat" cmpd="sng">
            <a:solidFill>
              <a:schemeClr val="tx1"/>
            </a:solidFill>
            <a:prstDash val="solid"/>
            <a:round/>
            <a:headEnd type="none" w="med" len="med"/>
            <a:tailEnd type="stealth" w="lg" len="lg"/>
          </a:ln>
        </p:spPr>
      </p:sp>
      <p:sp>
        <p:nvSpPr>
          <p:cNvPr id="43012" name="Text Box 4"/>
          <p:cNvSpPr txBox="1"/>
          <p:nvPr/>
        </p:nvSpPr>
        <p:spPr>
          <a:xfrm>
            <a:off x="1143000" y="3495675"/>
            <a:ext cx="539750" cy="519113"/>
          </a:xfrm>
          <a:prstGeom prst="rect">
            <a:avLst/>
          </a:prstGeom>
          <a:noFill/>
          <a:ln w="12700">
            <a:noFill/>
          </a:ln>
        </p:spPr>
        <p:txBody>
          <a:bodyPr wrap="none" anchor="t">
            <a:spAutoFit/>
          </a:bodyPr>
          <a:p>
            <a:pPr algn="ctr"/>
            <a:r>
              <a:rPr lang="en-US" altLang="zh-CN" sz="2800" b="1" u="none" dirty="0">
                <a:solidFill>
                  <a:schemeClr val="tx1"/>
                </a:solidFill>
                <a:latin typeface="Times New Roman" panose="02020603050405020304" pitchFamily="18" charset="0"/>
              </a:rPr>
              <a:t>IP</a:t>
            </a:r>
            <a:endParaRPr lang="en-US" altLang="zh-CN" sz="2800" b="1" u="none" dirty="0">
              <a:solidFill>
                <a:schemeClr val="tx1"/>
              </a:solidFill>
              <a:latin typeface="Times New Roman" panose="02020603050405020304" pitchFamily="18" charset="0"/>
            </a:endParaRPr>
          </a:p>
        </p:txBody>
      </p:sp>
      <p:sp>
        <p:nvSpPr>
          <p:cNvPr id="43013" name="Text Box 5"/>
          <p:cNvSpPr txBox="1"/>
          <p:nvPr/>
        </p:nvSpPr>
        <p:spPr>
          <a:xfrm>
            <a:off x="5030788" y="228600"/>
            <a:ext cx="455612" cy="579438"/>
          </a:xfrm>
          <a:prstGeom prst="rect">
            <a:avLst/>
          </a:prstGeom>
          <a:noFill/>
          <a:ln w="12700">
            <a:noFill/>
          </a:ln>
        </p:spPr>
        <p:txBody>
          <a:bodyPr wrap="none" anchor="t">
            <a:spAutoFit/>
          </a:bodyPr>
          <a:p>
            <a:pPr algn="ctr"/>
            <a:r>
              <a:rPr lang="en-US" altLang="zh-CN" sz="3200" b="1" u="none" dirty="0">
                <a:solidFill>
                  <a:schemeClr val="tx1"/>
                </a:solidFill>
                <a:latin typeface="Times New Roman" panose="02020603050405020304" pitchFamily="18" charset="0"/>
              </a:rPr>
              <a:t>E</a:t>
            </a:r>
            <a:endParaRPr lang="en-US" altLang="zh-CN" sz="3200" b="1" u="none" dirty="0">
              <a:solidFill>
                <a:schemeClr val="tx1"/>
              </a:solidFill>
              <a:latin typeface="Times New Roman" panose="02020603050405020304" pitchFamily="18" charset="0"/>
            </a:endParaRPr>
          </a:p>
        </p:txBody>
      </p:sp>
      <p:sp>
        <p:nvSpPr>
          <p:cNvPr id="43014" name="Line 6"/>
          <p:cNvSpPr/>
          <p:nvPr/>
        </p:nvSpPr>
        <p:spPr>
          <a:xfrm flipH="1">
            <a:off x="4038600" y="731838"/>
            <a:ext cx="1143000" cy="685800"/>
          </a:xfrm>
          <a:prstGeom prst="line">
            <a:avLst/>
          </a:prstGeom>
          <a:ln w="19050" cap="flat" cmpd="sng">
            <a:solidFill>
              <a:schemeClr val="tx1"/>
            </a:solidFill>
            <a:prstDash val="solid"/>
            <a:round/>
            <a:headEnd type="none" w="med" len="med"/>
            <a:tailEnd type="none" w="lg" len="lg"/>
          </a:ln>
        </p:spPr>
      </p:sp>
      <p:sp>
        <p:nvSpPr>
          <p:cNvPr id="43015" name="Line 7"/>
          <p:cNvSpPr/>
          <p:nvPr/>
        </p:nvSpPr>
        <p:spPr>
          <a:xfrm>
            <a:off x="5334000" y="731838"/>
            <a:ext cx="1295400" cy="685800"/>
          </a:xfrm>
          <a:prstGeom prst="line">
            <a:avLst/>
          </a:prstGeom>
          <a:ln w="19050" cap="flat" cmpd="sng">
            <a:solidFill>
              <a:schemeClr val="tx1"/>
            </a:solidFill>
            <a:prstDash val="solid"/>
            <a:round/>
            <a:headEnd type="none" w="med" len="med"/>
            <a:tailEnd type="none" w="lg" len="lg"/>
          </a:ln>
        </p:spPr>
      </p:sp>
      <p:sp>
        <p:nvSpPr>
          <p:cNvPr id="43016" name="Text Box 8"/>
          <p:cNvSpPr txBox="1"/>
          <p:nvPr/>
        </p:nvSpPr>
        <p:spPr>
          <a:xfrm>
            <a:off x="3810000" y="1417638"/>
            <a:ext cx="455613" cy="579437"/>
          </a:xfrm>
          <a:prstGeom prst="rect">
            <a:avLst/>
          </a:prstGeom>
          <a:noFill/>
          <a:ln w="12700">
            <a:noFill/>
          </a:ln>
        </p:spPr>
        <p:txBody>
          <a:bodyPr wrap="none" anchor="t">
            <a:spAutoFit/>
          </a:bodyPr>
          <a:p>
            <a:pPr algn="ctr"/>
            <a:r>
              <a:rPr lang="en-US" altLang="zh-CN" sz="3200" b="1" u="none" dirty="0">
                <a:solidFill>
                  <a:schemeClr val="tx1"/>
                </a:solidFill>
                <a:latin typeface="Times New Roman" panose="02020603050405020304" pitchFamily="18" charset="0"/>
              </a:rPr>
              <a:t>T</a:t>
            </a:r>
            <a:endParaRPr lang="en-US" altLang="zh-CN" sz="3200" b="1" u="none" dirty="0">
              <a:solidFill>
                <a:schemeClr val="tx1"/>
              </a:solidFill>
              <a:latin typeface="Times New Roman" panose="02020603050405020304" pitchFamily="18" charset="0"/>
            </a:endParaRPr>
          </a:p>
        </p:txBody>
      </p:sp>
      <p:sp>
        <p:nvSpPr>
          <p:cNvPr id="43017" name="Text Box 9"/>
          <p:cNvSpPr txBox="1"/>
          <p:nvPr/>
        </p:nvSpPr>
        <p:spPr>
          <a:xfrm>
            <a:off x="6257925" y="1417638"/>
            <a:ext cx="590550" cy="579437"/>
          </a:xfrm>
          <a:prstGeom prst="rect">
            <a:avLst/>
          </a:prstGeom>
          <a:noFill/>
          <a:ln w="12700">
            <a:noFill/>
          </a:ln>
        </p:spPr>
        <p:txBody>
          <a:bodyPr wrap="none" anchor="t">
            <a:spAutoFit/>
          </a:bodyPr>
          <a:p>
            <a:pPr algn="ctr"/>
            <a:r>
              <a:rPr lang="en-US" altLang="zh-CN" sz="3200" b="1" u="none" dirty="0">
                <a:solidFill>
                  <a:schemeClr val="tx1"/>
                </a:solidFill>
                <a:latin typeface="Times New Roman" panose="02020603050405020304" pitchFamily="18" charset="0"/>
              </a:rPr>
              <a:t>E’</a:t>
            </a:r>
            <a:endParaRPr lang="en-US" altLang="zh-CN" sz="3200" b="1" u="none" dirty="0">
              <a:solidFill>
                <a:schemeClr val="tx1"/>
              </a:solidFill>
              <a:latin typeface="Times New Roman" panose="02020603050405020304" pitchFamily="18" charset="0"/>
            </a:endParaRPr>
          </a:p>
        </p:txBody>
      </p:sp>
      <p:sp>
        <p:nvSpPr>
          <p:cNvPr id="43018" name="Line 10"/>
          <p:cNvSpPr/>
          <p:nvPr/>
        </p:nvSpPr>
        <p:spPr>
          <a:xfrm flipH="1">
            <a:off x="3200400" y="1874838"/>
            <a:ext cx="762000" cy="762000"/>
          </a:xfrm>
          <a:prstGeom prst="line">
            <a:avLst/>
          </a:prstGeom>
          <a:ln w="19050" cap="flat" cmpd="sng">
            <a:solidFill>
              <a:schemeClr val="tx1"/>
            </a:solidFill>
            <a:prstDash val="solid"/>
            <a:round/>
            <a:headEnd type="none" w="med" len="med"/>
            <a:tailEnd type="none" w="lg" len="lg"/>
          </a:ln>
        </p:spPr>
      </p:sp>
      <p:sp>
        <p:nvSpPr>
          <p:cNvPr id="43019" name="Line 11"/>
          <p:cNvSpPr/>
          <p:nvPr/>
        </p:nvSpPr>
        <p:spPr>
          <a:xfrm>
            <a:off x="4038600" y="1874838"/>
            <a:ext cx="685800" cy="762000"/>
          </a:xfrm>
          <a:prstGeom prst="line">
            <a:avLst/>
          </a:prstGeom>
          <a:ln w="19050" cap="flat" cmpd="sng">
            <a:solidFill>
              <a:schemeClr val="tx1"/>
            </a:solidFill>
            <a:prstDash val="solid"/>
            <a:round/>
            <a:headEnd type="none" w="med" len="med"/>
            <a:tailEnd type="none" w="lg" len="lg"/>
          </a:ln>
        </p:spPr>
      </p:sp>
      <p:sp>
        <p:nvSpPr>
          <p:cNvPr id="43020" name="Text Box 12"/>
          <p:cNvSpPr txBox="1"/>
          <p:nvPr/>
        </p:nvSpPr>
        <p:spPr>
          <a:xfrm>
            <a:off x="2921000" y="2667000"/>
            <a:ext cx="431800" cy="579438"/>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F</a:t>
            </a:r>
            <a:endParaRPr lang="en-US" altLang="zh-CN" sz="3200" b="1" u="none" dirty="0">
              <a:solidFill>
                <a:schemeClr val="tx1"/>
              </a:solidFill>
              <a:latin typeface="Times New Roman" panose="02020603050405020304" pitchFamily="18" charset="0"/>
            </a:endParaRPr>
          </a:p>
        </p:txBody>
      </p:sp>
      <p:sp>
        <p:nvSpPr>
          <p:cNvPr id="43021" name="Text Box 13"/>
          <p:cNvSpPr txBox="1"/>
          <p:nvPr/>
        </p:nvSpPr>
        <p:spPr>
          <a:xfrm>
            <a:off x="4495800" y="2667000"/>
            <a:ext cx="590550" cy="579438"/>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T’</a:t>
            </a:r>
            <a:endParaRPr lang="en-US" altLang="zh-CN" sz="3200" b="1" u="none" dirty="0">
              <a:solidFill>
                <a:schemeClr val="tx1"/>
              </a:solidFill>
              <a:latin typeface="Times New Roman" panose="02020603050405020304" pitchFamily="18" charset="0"/>
            </a:endParaRPr>
          </a:p>
        </p:txBody>
      </p:sp>
      <p:sp>
        <p:nvSpPr>
          <p:cNvPr id="43022" name="Line 14"/>
          <p:cNvSpPr/>
          <p:nvPr/>
        </p:nvSpPr>
        <p:spPr>
          <a:xfrm>
            <a:off x="3135313" y="3170238"/>
            <a:ext cx="0" cy="838200"/>
          </a:xfrm>
          <a:prstGeom prst="line">
            <a:avLst/>
          </a:prstGeom>
          <a:ln w="19050" cap="flat" cmpd="sng">
            <a:solidFill>
              <a:schemeClr val="tx1"/>
            </a:solidFill>
            <a:prstDash val="solid"/>
            <a:round/>
            <a:headEnd type="none" w="med" len="med"/>
            <a:tailEnd type="none" w="lg" len="lg"/>
          </a:ln>
        </p:spPr>
      </p:sp>
      <p:sp>
        <p:nvSpPr>
          <p:cNvPr id="43023" name="Text Box 15"/>
          <p:cNvSpPr txBox="1"/>
          <p:nvPr/>
        </p:nvSpPr>
        <p:spPr>
          <a:xfrm>
            <a:off x="2982913" y="4008438"/>
            <a:ext cx="296862" cy="579437"/>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i</a:t>
            </a:r>
            <a:endParaRPr lang="en-US" altLang="zh-CN" sz="3200" b="1" u="none" dirty="0">
              <a:solidFill>
                <a:schemeClr val="tx1"/>
              </a:solidFill>
              <a:latin typeface="Times New Roman" panose="02020603050405020304" pitchFamily="18" charset="0"/>
            </a:endParaRPr>
          </a:p>
        </p:txBody>
      </p:sp>
      <p:sp>
        <p:nvSpPr>
          <p:cNvPr id="43024" name="Line 16"/>
          <p:cNvSpPr/>
          <p:nvPr/>
        </p:nvSpPr>
        <p:spPr>
          <a:xfrm>
            <a:off x="4714875" y="3246438"/>
            <a:ext cx="0" cy="838200"/>
          </a:xfrm>
          <a:prstGeom prst="line">
            <a:avLst/>
          </a:prstGeom>
          <a:ln w="19050" cap="flat" cmpd="sng">
            <a:solidFill>
              <a:schemeClr val="tx1"/>
            </a:solidFill>
            <a:prstDash val="solid"/>
            <a:round/>
            <a:headEnd type="none" w="med" len="med"/>
            <a:tailEnd type="none" w="lg" len="lg"/>
          </a:ln>
        </p:spPr>
      </p:sp>
      <p:sp>
        <p:nvSpPr>
          <p:cNvPr id="43025" name="Text Box 17"/>
          <p:cNvSpPr txBox="1"/>
          <p:nvPr/>
        </p:nvSpPr>
        <p:spPr>
          <a:xfrm>
            <a:off x="4529138" y="4076700"/>
            <a:ext cx="363537" cy="579438"/>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sym typeface="Symbol" panose="05050102010706020507" pitchFamily="18" charset="2"/>
              </a:rPr>
              <a:t></a:t>
            </a:r>
            <a:endParaRPr lang="en-US" altLang="zh-CN" sz="3200" b="1" u="none" dirty="0">
              <a:solidFill>
                <a:schemeClr val="tx1"/>
              </a:solidFill>
              <a:latin typeface="Times New Roman" panose="02020603050405020304" pitchFamily="18" charset="0"/>
            </a:endParaRPr>
          </a:p>
        </p:txBody>
      </p:sp>
      <p:sp>
        <p:nvSpPr>
          <p:cNvPr id="43026" name="Line 18"/>
          <p:cNvSpPr/>
          <p:nvPr/>
        </p:nvSpPr>
        <p:spPr>
          <a:xfrm flipH="1">
            <a:off x="5715000" y="1951038"/>
            <a:ext cx="838200" cy="762000"/>
          </a:xfrm>
          <a:prstGeom prst="line">
            <a:avLst/>
          </a:prstGeom>
          <a:ln w="19050" cap="flat" cmpd="sng">
            <a:solidFill>
              <a:schemeClr val="tx1"/>
            </a:solidFill>
            <a:prstDash val="solid"/>
            <a:round/>
            <a:headEnd type="none" w="med" len="med"/>
            <a:tailEnd type="none" w="lg" len="lg"/>
          </a:ln>
        </p:spPr>
      </p:sp>
      <p:sp>
        <p:nvSpPr>
          <p:cNvPr id="43027" name="Line 19"/>
          <p:cNvSpPr/>
          <p:nvPr/>
        </p:nvSpPr>
        <p:spPr>
          <a:xfrm>
            <a:off x="6629400" y="1951038"/>
            <a:ext cx="228600" cy="685800"/>
          </a:xfrm>
          <a:prstGeom prst="line">
            <a:avLst/>
          </a:prstGeom>
          <a:ln w="19050" cap="flat" cmpd="sng">
            <a:solidFill>
              <a:schemeClr val="tx1"/>
            </a:solidFill>
            <a:prstDash val="solid"/>
            <a:round/>
            <a:headEnd type="none" w="med" len="med"/>
            <a:tailEnd type="none" w="lg" len="lg"/>
          </a:ln>
        </p:spPr>
      </p:sp>
      <p:sp>
        <p:nvSpPr>
          <p:cNvPr id="43028" name="Line 20"/>
          <p:cNvSpPr/>
          <p:nvPr/>
        </p:nvSpPr>
        <p:spPr>
          <a:xfrm>
            <a:off x="6705600" y="1874838"/>
            <a:ext cx="1524000" cy="838200"/>
          </a:xfrm>
          <a:prstGeom prst="line">
            <a:avLst/>
          </a:prstGeom>
          <a:ln w="19050" cap="flat" cmpd="sng">
            <a:solidFill>
              <a:schemeClr val="tx1"/>
            </a:solidFill>
            <a:prstDash val="solid"/>
            <a:round/>
            <a:headEnd type="none" w="med" len="med"/>
            <a:tailEnd type="none" w="lg" len="lg"/>
          </a:ln>
        </p:spPr>
      </p:sp>
      <p:sp>
        <p:nvSpPr>
          <p:cNvPr id="43029" name="Text Box 21"/>
          <p:cNvSpPr txBox="1"/>
          <p:nvPr/>
        </p:nvSpPr>
        <p:spPr>
          <a:xfrm>
            <a:off x="5486400" y="2713038"/>
            <a:ext cx="415925" cy="579437"/>
          </a:xfrm>
          <a:prstGeom prst="rect">
            <a:avLst/>
          </a:prstGeom>
          <a:noFill/>
          <a:ln w="19050">
            <a:noFill/>
          </a:ln>
        </p:spPr>
        <p:txBody>
          <a:bodyPr wrap="none" anchor="t">
            <a:spAutoFit/>
          </a:bodyPr>
          <a:p>
            <a:pPr algn="ctr"/>
            <a:r>
              <a:rPr lang="en-US" altLang="zh-CN" sz="3200" b="1" u="none" dirty="0">
                <a:solidFill>
                  <a:srgbClr val="FF0000"/>
                </a:solidFill>
                <a:latin typeface="Times New Roman" panose="02020603050405020304" pitchFamily="18" charset="0"/>
              </a:rPr>
              <a:t>+</a:t>
            </a:r>
            <a:endParaRPr lang="en-US" altLang="zh-CN" sz="3200" b="1" u="none" dirty="0">
              <a:solidFill>
                <a:srgbClr val="FF0000"/>
              </a:solidFill>
              <a:latin typeface="Times New Roman" panose="02020603050405020304" pitchFamily="18" charset="0"/>
            </a:endParaRPr>
          </a:p>
        </p:txBody>
      </p:sp>
      <p:sp>
        <p:nvSpPr>
          <p:cNvPr id="43030" name="Text Box 22"/>
          <p:cNvSpPr txBox="1"/>
          <p:nvPr/>
        </p:nvSpPr>
        <p:spPr>
          <a:xfrm>
            <a:off x="6629400" y="2713038"/>
            <a:ext cx="455613" cy="579437"/>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T</a:t>
            </a:r>
            <a:endParaRPr lang="en-US" altLang="zh-CN" sz="3200" b="1" u="none" dirty="0">
              <a:solidFill>
                <a:schemeClr val="tx1"/>
              </a:solidFill>
              <a:latin typeface="Times New Roman" panose="02020603050405020304" pitchFamily="18" charset="0"/>
            </a:endParaRPr>
          </a:p>
        </p:txBody>
      </p:sp>
      <p:sp>
        <p:nvSpPr>
          <p:cNvPr id="43031" name="Text Box 23"/>
          <p:cNvSpPr txBox="1"/>
          <p:nvPr/>
        </p:nvSpPr>
        <p:spPr>
          <a:xfrm>
            <a:off x="8010525" y="2713038"/>
            <a:ext cx="590550" cy="579437"/>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E’</a:t>
            </a:r>
            <a:endParaRPr lang="en-US" altLang="zh-CN" sz="3200" b="1" u="none" dirty="0">
              <a:solidFill>
                <a:schemeClr val="tx1"/>
              </a:solidFill>
              <a:latin typeface="Times New Roman" panose="02020603050405020304" pitchFamily="18" charset="0"/>
            </a:endParaRPr>
          </a:p>
        </p:txBody>
      </p:sp>
      <p:sp>
        <p:nvSpPr>
          <p:cNvPr id="43032" name="Rectangle 25"/>
          <p:cNvSpPr/>
          <p:nvPr/>
        </p:nvSpPr>
        <p:spPr>
          <a:xfrm>
            <a:off x="0" y="4149725"/>
            <a:ext cx="2700338" cy="2349500"/>
          </a:xfrm>
          <a:prstGeom prst="rect">
            <a:avLst/>
          </a:prstGeom>
          <a:solidFill>
            <a:srgbClr val="FFFF99"/>
          </a:solidFill>
          <a:ln w="12700" cap="flat" cmpd="sng">
            <a:solidFill>
              <a:srgbClr val="FF0000"/>
            </a:solidFill>
            <a:prstDash val="solid"/>
            <a:miter/>
            <a:headEnd type="none" w="med" len="med"/>
            <a:tailEnd type="none" w="lg" len="lg"/>
          </a:ln>
        </p:spPr>
        <p:txBody>
          <a:bodyPr wrap="none" anchor="ctr"/>
          <a:p>
            <a:pPr>
              <a:lnSpc>
                <a:spcPct val="90000"/>
              </a:lnSpc>
              <a:buClr>
                <a:schemeClr val="bg2"/>
              </a:buClr>
              <a:buSzPct val="75000"/>
              <a:buFont typeface="Wingdings" panose="05000000000000000000" pitchFamily="2" charset="2"/>
              <a:buChar char="n"/>
            </a:pPr>
            <a:r>
              <a:rPr lang="en-US" altLang="zh-CN" sz="2800" b="1" u="none" dirty="0">
                <a:solidFill>
                  <a:schemeClr val="tx1"/>
                </a:solidFill>
                <a:latin typeface="Arial" panose="020B0604020202020204" pitchFamily="34" charset="0"/>
              </a:rPr>
              <a:t>G(E):</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E→TE</a:t>
            </a:r>
            <a:r>
              <a:rPr lang="en-US" altLang="zh-CN" sz="2800" b="1" u="none" dirty="0">
                <a:solidFill>
                  <a:schemeClr val="tx1"/>
                </a:solidFill>
                <a:latin typeface="Arial" panose="020B0604020202020204" pitchFamily="34" charset="0"/>
                <a:sym typeface="Symbol" panose="05050102010706020507" pitchFamily="18" charset="2"/>
              </a:rPr>
              <a:t></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E</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→+TE</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 | </a:t>
            </a:r>
            <a:r>
              <a:rPr lang="en-US" altLang="zh-CN" sz="2800" b="1" u="none" dirty="0">
                <a:solidFill>
                  <a:schemeClr val="tx1"/>
                </a:solidFill>
                <a:latin typeface="Arial" panose="020B0604020202020204" pitchFamily="34" charset="0"/>
                <a:sym typeface="Symbol" panose="05050102010706020507" pitchFamily="18" charset="2"/>
              </a:rPr>
              <a:t></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T→FT</a:t>
            </a:r>
            <a:r>
              <a:rPr lang="en-US" altLang="zh-CN" sz="2800" b="1" u="none" dirty="0">
                <a:solidFill>
                  <a:schemeClr val="tx1"/>
                </a:solidFill>
                <a:latin typeface="Arial" panose="020B0604020202020204" pitchFamily="34" charset="0"/>
                <a:sym typeface="Symbol" panose="05050102010706020507" pitchFamily="18" charset="2"/>
              </a:rPr>
              <a:t></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T</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→*FT</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 | </a:t>
            </a:r>
            <a:r>
              <a:rPr lang="en-US" altLang="zh-CN" sz="2800" b="1" u="none" dirty="0">
                <a:solidFill>
                  <a:schemeClr val="tx1"/>
                </a:solidFill>
                <a:latin typeface="Arial" panose="020B0604020202020204" pitchFamily="34" charset="0"/>
                <a:sym typeface="Symbol" panose="05050102010706020507" pitchFamily="18" charset="2"/>
              </a:rPr>
              <a:t></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F→(E) | i</a:t>
            </a:r>
            <a:endParaRPr lang="en-GB" altLang="zh-CN" sz="1600" u="none" dirty="0">
              <a:solidFill>
                <a:schemeClr val="tx1"/>
              </a:solidFill>
              <a:latin typeface="Arial" panose="020B0604020202020204" pitchFamily="34" charset="0"/>
            </a:endParaRPr>
          </a:p>
        </p:txBody>
      </p:sp>
    </p:spTree>
  </p:cSld>
  <p:clrMapOvr>
    <a:masterClrMapping/>
  </p:clrMapOvr>
  <p:transition spd="med">
    <p:zo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3"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44034" name="Text Box 2"/>
          <p:cNvSpPr txBox="1"/>
          <p:nvPr/>
        </p:nvSpPr>
        <p:spPr>
          <a:xfrm>
            <a:off x="457200" y="2152650"/>
            <a:ext cx="1912938" cy="641350"/>
          </a:xfrm>
          <a:prstGeom prst="rect">
            <a:avLst/>
          </a:prstGeom>
          <a:noFill/>
          <a:ln w="12700">
            <a:noFill/>
          </a:ln>
        </p:spPr>
        <p:txBody>
          <a:bodyPr anchor="t">
            <a:spAutoFit/>
          </a:bodyPr>
          <a:p>
            <a:pPr algn="ctr"/>
            <a:r>
              <a:rPr lang="en-US" altLang="zh-CN" sz="3600" b="1" u="none" dirty="0">
                <a:solidFill>
                  <a:schemeClr val="tx1"/>
                </a:solidFill>
                <a:latin typeface="Times New Roman" panose="02020603050405020304" pitchFamily="18" charset="0"/>
              </a:rPr>
              <a:t>i   +   i </a:t>
            </a:r>
            <a:endParaRPr lang="en-US" altLang="zh-CN" sz="3600" b="1" u="none" dirty="0">
              <a:solidFill>
                <a:schemeClr val="tx1"/>
              </a:solidFill>
              <a:latin typeface="Times New Roman" panose="02020603050405020304" pitchFamily="18" charset="0"/>
            </a:endParaRPr>
          </a:p>
        </p:txBody>
      </p:sp>
      <p:sp>
        <p:nvSpPr>
          <p:cNvPr id="44035" name="Line 3"/>
          <p:cNvSpPr/>
          <p:nvPr/>
        </p:nvSpPr>
        <p:spPr>
          <a:xfrm flipV="1">
            <a:off x="1944688" y="2819400"/>
            <a:ext cx="0" cy="533400"/>
          </a:xfrm>
          <a:prstGeom prst="line">
            <a:avLst/>
          </a:prstGeom>
          <a:ln w="19050" cap="flat" cmpd="sng">
            <a:solidFill>
              <a:schemeClr val="tx1"/>
            </a:solidFill>
            <a:prstDash val="solid"/>
            <a:round/>
            <a:headEnd type="none" w="med" len="med"/>
            <a:tailEnd type="stealth" w="lg" len="lg"/>
          </a:ln>
        </p:spPr>
      </p:sp>
      <p:sp>
        <p:nvSpPr>
          <p:cNvPr id="44036" name="Text Box 4"/>
          <p:cNvSpPr txBox="1"/>
          <p:nvPr/>
        </p:nvSpPr>
        <p:spPr>
          <a:xfrm>
            <a:off x="1676400" y="3495675"/>
            <a:ext cx="539750" cy="519113"/>
          </a:xfrm>
          <a:prstGeom prst="rect">
            <a:avLst/>
          </a:prstGeom>
          <a:noFill/>
          <a:ln w="12700">
            <a:noFill/>
          </a:ln>
        </p:spPr>
        <p:txBody>
          <a:bodyPr wrap="none" anchor="t">
            <a:spAutoFit/>
          </a:bodyPr>
          <a:p>
            <a:pPr algn="ctr"/>
            <a:r>
              <a:rPr lang="en-US" altLang="zh-CN" sz="2800" b="1" u="none" dirty="0">
                <a:solidFill>
                  <a:schemeClr val="tx1"/>
                </a:solidFill>
                <a:latin typeface="Times New Roman" panose="02020603050405020304" pitchFamily="18" charset="0"/>
              </a:rPr>
              <a:t>IP</a:t>
            </a:r>
            <a:endParaRPr lang="en-US" altLang="zh-CN" sz="2800" b="1" u="none" dirty="0">
              <a:solidFill>
                <a:schemeClr val="tx1"/>
              </a:solidFill>
              <a:latin typeface="Times New Roman" panose="02020603050405020304" pitchFamily="18" charset="0"/>
            </a:endParaRPr>
          </a:p>
        </p:txBody>
      </p:sp>
      <p:sp>
        <p:nvSpPr>
          <p:cNvPr id="44037" name="Text Box 5"/>
          <p:cNvSpPr txBox="1"/>
          <p:nvPr/>
        </p:nvSpPr>
        <p:spPr>
          <a:xfrm>
            <a:off x="5030788" y="228600"/>
            <a:ext cx="455612" cy="579438"/>
          </a:xfrm>
          <a:prstGeom prst="rect">
            <a:avLst/>
          </a:prstGeom>
          <a:noFill/>
          <a:ln w="12700">
            <a:noFill/>
          </a:ln>
        </p:spPr>
        <p:txBody>
          <a:bodyPr wrap="none" anchor="t">
            <a:spAutoFit/>
          </a:bodyPr>
          <a:p>
            <a:pPr algn="ctr"/>
            <a:r>
              <a:rPr lang="en-US" altLang="zh-CN" sz="3200" b="1" u="none" dirty="0">
                <a:solidFill>
                  <a:schemeClr val="tx1"/>
                </a:solidFill>
                <a:latin typeface="Times New Roman" panose="02020603050405020304" pitchFamily="18" charset="0"/>
              </a:rPr>
              <a:t>E</a:t>
            </a:r>
            <a:endParaRPr lang="en-US" altLang="zh-CN" sz="3200" b="1" u="none" dirty="0">
              <a:solidFill>
                <a:schemeClr val="tx1"/>
              </a:solidFill>
              <a:latin typeface="Times New Roman" panose="02020603050405020304" pitchFamily="18" charset="0"/>
            </a:endParaRPr>
          </a:p>
        </p:txBody>
      </p:sp>
      <p:sp>
        <p:nvSpPr>
          <p:cNvPr id="44038" name="Line 6"/>
          <p:cNvSpPr/>
          <p:nvPr/>
        </p:nvSpPr>
        <p:spPr>
          <a:xfrm flipH="1">
            <a:off x="4038600" y="731838"/>
            <a:ext cx="1143000" cy="685800"/>
          </a:xfrm>
          <a:prstGeom prst="line">
            <a:avLst/>
          </a:prstGeom>
          <a:ln w="19050" cap="flat" cmpd="sng">
            <a:solidFill>
              <a:schemeClr val="tx1"/>
            </a:solidFill>
            <a:prstDash val="solid"/>
            <a:round/>
            <a:headEnd type="none" w="med" len="med"/>
            <a:tailEnd type="none" w="lg" len="lg"/>
          </a:ln>
        </p:spPr>
      </p:sp>
      <p:sp>
        <p:nvSpPr>
          <p:cNvPr id="44039" name="Line 7"/>
          <p:cNvSpPr/>
          <p:nvPr/>
        </p:nvSpPr>
        <p:spPr>
          <a:xfrm>
            <a:off x="5334000" y="731838"/>
            <a:ext cx="1295400" cy="685800"/>
          </a:xfrm>
          <a:prstGeom prst="line">
            <a:avLst/>
          </a:prstGeom>
          <a:ln w="19050" cap="flat" cmpd="sng">
            <a:solidFill>
              <a:schemeClr val="tx1"/>
            </a:solidFill>
            <a:prstDash val="solid"/>
            <a:round/>
            <a:headEnd type="none" w="med" len="med"/>
            <a:tailEnd type="none" w="lg" len="lg"/>
          </a:ln>
        </p:spPr>
      </p:sp>
      <p:sp>
        <p:nvSpPr>
          <p:cNvPr id="44040" name="Text Box 8"/>
          <p:cNvSpPr txBox="1"/>
          <p:nvPr/>
        </p:nvSpPr>
        <p:spPr>
          <a:xfrm>
            <a:off x="3810000" y="1417638"/>
            <a:ext cx="455613" cy="579437"/>
          </a:xfrm>
          <a:prstGeom prst="rect">
            <a:avLst/>
          </a:prstGeom>
          <a:noFill/>
          <a:ln w="12700">
            <a:noFill/>
          </a:ln>
        </p:spPr>
        <p:txBody>
          <a:bodyPr wrap="none" anchor="t">
            <a:spAutoFit/>
          </a:bodyPr>
          <a:p>
            <a:pPr algn="ctr"/>
            <a:r>
              <a:rPr lang="en-US" altLang="zh-CN" sz="3200" b="1" u="none" dirty="0">
                <a:solidFill>
                  <a:schemeClr val="tx1"/>
                </a:solidFill>
                <a:latin typeface="Times New Roman" panose="02020603050405020304" pitchFamily="18" charset="0"/>
              </a:rPr>
              <a:t>T</a:t>
            </a:r>
            <a:endParaRPr lang="en-US" altLang="zh-CN" sz="3200" b="1" u="none" dirty="0">
              <a:solidFill>
                <a:schemeClr val="tx1"/>
              </a:solidFill>
              <a:latin typeface="Times New Roman" panose="02020603050405020304" pitchFamily="18" charset="0"/>
            </a:endParaRPr>
          </a:p>
        </p:txBody>
      </p:sp>
      <p:sp>
        <p:nvSpPr>
          <p:cNvPr id="44041" name="Text Box 9"/>
          <p:cNvSpPr txBox="1"/>
          <p:nvPr/>
        </p:nvSpPr>
        <p:spPr>
          <a:xfrm>
            <a:off x="6257925" y="1417638"/>
            <a:ext cx="590550" cy="579437"/>
          </a:xfrm>
          <a:prstGeom prst="rect">
            <a:avLst/>
          </a:prstGeom>
          <a:noFill/>
          <a:ln w="12700">
            <a:noFill/>
          </a:ln>
        </p:spPr>
        <p:txBody>
          <a:bodyPr wrap="none" anchor="t">
            <a:spAutoFit/>
          </a:bodyPr>
          <a:p>
            <a:pPr algn="ctr"/>
            <a:r>
              <a:rPr lang="en-US" altLang="zh-CN" sz="3200" b="1" u="none" dirty="0">
                <a:solidFill>
                  <a:schemeClr val="tx1"/>
                </a:solidFill>
                <a:latin typeface="Times New Roman" panose="02020603050405020304" pitchFamily="18" charset="0"/>
              </a:rPr>
              <a:t>E’</a:t>
            </a:r>
            <a:endParaRPr lang="en-US" altLang="zh-CN" sz="3200" b="1" u="none" dirty="0">
              <a:solidFill>
                <a:schemeClr val="tx1"/>
              </a:solidFill>
              <a:latin typeface="Times New Roman" panose="02020603050405020304" pitchFamily="18" charset="0"/>
            </a:endParaRPr>
          </a:p>
        </p:txBody>
      </p:sp>
      <p:sp>
        <p:nvSpPr>
          <p:cNvPr id="44042" name="Line 10"/>
          <p:cNvSpPr/>
          <p:nvPr/>
        </p:nvSpPr>
        <p:spPr>
          <a:xfrm flipH="1">
            <a:off x="3200400" y="1874838"/>
            <a:ext cx="762000" cy="762000"/>
          </a:xfrm>
          <a:prstGeom prst="line">
            <a:avLst/>
          </a:prstGeom>
          <a:ln w="19050" cap="flat" cmpd="sng">
            <a:solidFill>
              <a:schemeClr val="tx1"/>
            </a:solidFill>
            <a:prstDash val="solid"/>
            <a:round/>
            <a:headEnd type="none" w="med" len="med"/>
            <a:tailEnd type="none" w="lg" len="lg"/>
          </a:ln>
        </p:spPr>
      </p:sp>
      <p:sp>
        <p:nvSpPr>
          <p:cNvPr id="44043" name="Line 11"/>
          <p:cNvSpPr/>
          <p:nvPr/>
        </p:nvSpPr>
        <p:spPr>
          <a:xfrm>
            <a:off x="4038600" y="1874838"/>
            <a:ext cx="685800" cy="762000"/>
          </a:xfrm>
          <a:prstGeom prst="line">
            <a:avLst/>
          </a:prstGeom>
          <a:ln w="19050" cap="flat" cmpd="sng">
            <a:solidFill>
              <a:schemeClr val="tx1"/>
            </a:solidFill>
            <a:prstDash val="solid"/>
            <a:round/>
            <a:headEnd type="none" w="med" len="med"/>
            <a:tailEnd type="none" w="lg" len="lg"/>
          </a:ln>
        </p:spPr>
      </p:sp>
      <p:sp>
        <p:nvSpPr>
          <p:cNvPr id="44044" name="Text Box 12"/>
          <p:cNvSpPr txBox="1"/>
          <p:nvPr/>
        </p:nvSpPr>
        <p:spPr>
          <a:xfrm>
            <a:off x="2921000" y="2667000"/>
            <a:ext cx="431800" cy="579438"/>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F</a:t>
            </a:r>
            <a:endParaRPr lang="en-US" altLang="zh-CN" sz="3200" b="1" u="none" dirty="0">
              <a:solidFill>
                <a:schemeClr val="tx1"/>
              </a:solidFill>
              <a:latin typeface="Times New Roman" panose="02020603050405020304" pitchFamily="18" charset="0"/>
            </a:endParaRPr>
          </a:p>
        </p:txBody>
      </p:sp>
      <p:sp>
        <p:nvSpPr>
          <p:cNvPr id="44045" name="Text Box 13"/>
          <p:cNvSpPr txBox="1"/>
          <p:nvPr/>
        </p:nvSpPr>
        <p:spPr>
          <a:xfrm>
            <a:off x="4495800" y="2667000"/>
            <a:ext cx="590550" cy="579438"/>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T’</a:t>
            </a:r>
            <a:endParaRPr lang="en-US" altLang="zh-CN" sz="3200" b="1" u="none" dirty="0">
              <a:solidFill>
                <a:schemeClr val="tx1"/>
              </a:solidFill>
              <a:latin typeface="Times New Roman" panose="02020603050405020304" pitchFamily="18" charset="0"/>
            </a:endParaRPr>
          </a:p>
        </p:txBody>
      </p:sp>
      <p:sp>
        <p:nvSpPr>
          <p:cNvPr id="44046" name="Line 14"/>
          <p:cNvSpPr/>
          <p:nvPr/>
        </p:nvSpPr>
        <p:spPr>
          <a:xfrm>
            <a:off x="3135313" y="3170238"/>
            <a:ext cx="0" cy="838200"/>
          </a:xfrm>
          <a:prstGeom prst="line">
            <a:avLst/>
          </a:prstGeom>
          <a:ln w="19050" cap="flat" cmpd="sng">
            <a:solidFill>
              <a:schemeClr val="tx1"/>
            </a:solidFill>
            <a:prstDash val="solid"/>
            <a:round/>
            <a:headEnd type="none" w="med" len="med"/>
            <a:tailEnd type="none" w="lg" len="lg"/>
          </a:ln>
        </p:spPr>
      </p:sp>
      <p:sp>
        <p:nvSpPr>
          <p:cNvPr id="44047" name="Text Box 15"/>
          <p:cNvSpPr txBox="1"/>
          <p:nvPr/>
        </p:nvSpPr>
        <p:spPr>
          <a:xfrm>
            <a:off x="2982913" y="4008438"/>
            <a:ext cx="296862" cy="579437"/>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i</a:t>
            </a:r>
            <a:endParaRPr lang="en-US" altLang="zh-CN" sz="3200" b="1" u="none" dirty="0">
              <a:solidFill>
                <a:schemeClr val="tx1"/>
              </a:solidFill>
              <a:latin typeface="Times New Roman" panose="02020603050405020304" pitchFamily="18" charset="0"/>
            </a:endParaRPr>
          </a:p>
        </p:txBody>
      </p:sp>
      <p:sp>
        <p:nvSpPr>
          <p:cNvPr id="44048" name="Line 16"/>
          <p:cNvSpPr/>
          <p:nvPr/>
        </p:nvSpPr>
        <p:spPr>
          <a:xfrm>
            <a:off x="4714875" y="3246438"/>
            <a:ext cx="0" cy="838200"/>
          </a:xfrm>
          <a:prstGeom prst="line">
            <a:avLst/>
          </a:prstGeom>
          <a:ln w="19050" cap="flat" cmpd="sng">
            <a:solidFill>
              <a:schemeClr val="tx1"/>
            </a:solidFill>
            <a:prstDash val="solid"/>
            <a:round/>
            <a:headEnd type="none" w="med" len="med"/>
            <a:tailEnd type="none" w="lg" len="lg"/>
          </a:ln>
        </p:spPr>
      </p:sp>
      <p:sp>
        <p:nvSpPr>
          <p:cNvPr id="44049" name="Text Box 17"/>
          <p:cNvSpPr txBox="1"/>
          <p:nvPr/>
        </p:nvSpPr>
        <p:spPr>
          <a:xfrm>
            <a:off x="4529138" y="4076700"/>
            <a:ext cx="363537" cy="579438"/>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sym typeface="Symbol" panose="05050102010706020507" pitchFamily="18" charset="2"/>
              </a:rPr>
              <a:t></a:t>
            </a:r>
            <a:endParaRPr lang="en-US" altLang="zh-CN" sz="3200" b="1" u="none" dirty="0">
              <a:solidFill>
                <a:schemeClr val="tx1"/>
              </a:solidFill>
              <a:latin typeface="Times New Roman" panose="02020603050405020304" pitchFamily="18" charset="0"/>
            </a:endParaRPr>
          </a:p>
        </p:txBody>
      </p:sp>
      <p:sp>
        <p:nvSpPr>
          <p:cNvPr id="44050" name="Line 18"/>
          <p:cNvSpPr/>
          <p:nvPr/>
        </p:nvSpPr>
        <p:spPr>
          <a:xfrm flipH="1">
            <a:off x="5715000" y="1951038"/>
            <a:ext cx="838200" cy="762000"/>
          </a:xfrm>
          <a:prstGeom prst="line">
            <a:avLst/>
          </a:prstGeom>
          <a:ln w="19050" cap="flat" cmpd="sng">
            <a:solidFill>
              <a:schemeClr val="tx1"/>
            </a:solidFill>
            <a:prstDash val="solid"/>
            <a:round/>
            <a:headEnd type="none" w="med" len="med"/>
            <a:tailEnd type="none" w="lg" len="lg"/>
          </a:ln>
        </p:spPr>
      </p:sp>
      <p:sp>
        <p:nvSpPr>
          <p:cNvPr id="44051" name="Line 19"/>
          <p:cNvSpPr/>
          <p:nvPr/>
        </p:nvSpPr>
        <p:spPr>
          <a:xfrm>
            <a:off x="6629400" y="1951038"/>
            <a:ext cx="228600" cy="685800"/>
          </a:xfrm>
          <a:prstGeom prst="line">
            <a:avLst/>
          </a:prstGeom>
          <a:ln w="19050" cap="flat" cmpd="sng">
            <a:solidFill>
              <a:schemeClr val="tx1"/>
            </a:solidFill>
            <a:prstDash val="solid"/>
            <a:round/>
            <a:headEnd type="none" w="med" len="med"/>
            <a:tailEnd type="none" w="lg" len="lg"/>
          </a:ln>
        </p:spPr>
      </p:sp>
      <p:sp>
        <p:nvSpPr>
          <p:cNvPr id="44052" name="Line 20"/>
          <p:cNvSpPr/>
          <p:nvPr/>
        </p:nvSpPr>
        <p:spPr>
          <a:xfrm>
            <a:off x="6705600" y="1874838"/>
            <a:ext cx="1524000" cy="838200"/>
          </a:xfrm>
          <a:prstGeom prst="line">
            <a:avLst/>
          </a:prstGeom>
          <a:ln w="19050" cap="flat" cmpd="sng">
            <a:solidFill>
              <a:schemeClr val="tx1"/>
            </a:solidFill>
            <a:prstDash val="solid"/>
            <a:round/>
            <a:headEnd type="none" w="med" len="med"/>
            <a:tailEnd type="none" w="lg" len="lg"/>
          </a:ln>
        </p:spPr>
      </p:sp>
      <p:sp>
        <p:nvSpPr>
          <p:cNvPr id="44053" name="Text Box 21"/>
          <p:cNvSpPr txBox="1"/>
          <p:nvPr/>
        </p:nvSpPr>
        <p:spPr>
          <a:xfrm>
            <a:off x="5486400" y="2713038"/>
            <a:ext cx="415925" cy="579437"/>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a:t>
            </a:r>
            <a:endParaRPr lang="en-US" altLang="zh-CN" sz="3200" b="1" u="none" dirty="0">
              <a:solidFill>
                <a:schemeClr val="tx1"/>
              </a:solidFill>
              <a:latin typeface="Times New Roman" panose="02020603050405020304" pitchFamily="18" charset="0"/>
            </a:endParaRPr>
          </a:p>
        </p:txBody>
      </p:sp>
      <p:sp>
        <p:nvSpPr>
          <p:cNvPr id="44054" name="Text Box 22"/>
          <p:cNvSpPr txBox="1"/>
          <p:nvPr/>
        </p:nvSpPr>
        <p:spPr>
          <a:xfrm>
            <a:off x="6629400" y="2713038"/>
            <a:ext cx="455613" cy="579437"/>
          </a:xfrm>
          <a:prstGeom prst="rect">
            <a:avLst/>
          </a:prstGeom>
          <a:noFill/>
          <a:ln w="19050">
            <a:noFill/>
          </a:ln>
        </p:spPr>
        <p:txBody>
          <a:bodyPr wrap="none" anchor="t">
            <a:spAutoFit/>
          </a:bodyPr>
          <a:p>
            <a:pPr algn="ctr"/>
            <a:r>
              <a:rPr lang="en-US" altLang="zh-CN" sz="3200" b="1" u="none" dirty="0">
                <a:solidFill>
                  <a:srgbClr val="FF0000"/>
                </a:solidFill>
                <a:latin typeface="Times New Roman" panose="02020603050405020304" pitchFamily="18" charset="0"/>
              </a:rPr>
              <a:t>T</a:t>
            </a:r>
            <a:endParaRPr lang="en-US" altLang="zh-CN" sz="3200" b="1" u="none" dirty="0">
              <a:solidFill>
                <a:srgbClr val="FF0000"/>
              </a:solidFill>
              <a:latin typeface="Times New Roman" panose="02020603050405020304" pitchFamily="18" charset="0"/>
            </a:endParaRPr>
          </a:p>
        </p:txBody>
      </p:sp>
      <p:sp>
        <p:nvSpPr>
          <p:cNvPr id="44055" name="Text Box 23"/>
          <p:cNvSpPr txBox="1"/>
          <p:nvPr/>
        </p:nvSpPr>
        <p:spPr>
          <a:xfrm>
            <a:off x="8010525" y="2713038"/>
            <a:ext cx="590550" cy="579437"/>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E’</a:t>
            </a:r>
            <a:endParaRPr lang="en-US" altLang="zh-CN" sz="3200" b="1" u="none" dirty="0">
              <a:solidFill>
                <a:schemeClr val="tx1"/>
              </a:solidFill>
              <a:latin typeface="Times New Roman" panose="02020603050405020304" pitchFamily="18" charset="0"/>
            </a:endParaRPr>
          </a:p>
        </p:txBody>
      </p:sp>
      <p:sp>
        <p:nvSpPr>
          <p:cNvPr id="44056" name="Rectangle 25"/>
          <p:cNvSpPr/>
          <p:nvPr/>
        </p:nvSpPr>
        <p:spPr>
          <a:xfrm>
            <a:off x="0" y="4149725"/>
            <a:ext cx="2700338" cy="2349500"/>
          </a:xfrm>
          <a:prstGeom prst="rect">
            <a:avLst/>
          </a:prstGeom>
          <a:solidFill>
            <a:srgbClr val="FFFF99"/>
          </a:solidFill>
          <a:ln w="12700" cap="flat" cmpd="sng">
            <a:solidFill>
              <a:srgbClr val="FF0000"/>
            </a:solidFill>
            <a:prstDash val="solid"/>
            <a:miter/>
            <a:headEnd type="none" w="med" len="med"/>
            <a:tailEnd type="none" w="lg" len="lg"/>
          </a:ln>
        </p:spPr>
        <p:txBody>
          <a:bodyPr wrap="none" anchor="ctr"/>
          <a:p>
            <a:pPr>
              <a:lnSpc>
                <a:spcPct val="90000"/>
              </a:lnSpc>
              <a:buClr>
                <a:schemeClr val="bg2"/>
              </a:buClr>
              <a:buSzPct val="75000"/>
              <a:buFont typeface="Wingdings" panose="05000000000000000000" pitchFamily="2" charset="2"/>
              <a:buChar char="n"/>
            </a:pPr>
            <a:r>
              <a:rPr lang="en-US" altLang="zh-CN" sz="2800" b="1" u="none" dirty="0">
                <a:solidFill>
                  <a:schemeClr val="tx1"/>
                </a:solidFill>
                <a:latin typeface="Arial" panose="020B0604020202020204" pitchFamily="34" charset="0"/>
              </a:rPr>
              <a:t>G(E):</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E→TE</a:t>
            </a:r>
            <a:r>
              <a:rPr lang="en-US" altLang="zh-CN" sz="2800" b="1" u="none" dirty="0">
                <a:solidFill>
                  <a:schemeClr val="tx1"/>
                </a:solidFill>
                <a:latin typeface="Arial" panose="020B0604020202020204" pitchFamily="34" charset="0"/>
                <a:sym typeface="Symbol" panose="05050102010706020507" pitchFamily="18" charset="2"/>
              </a:rPr>
              <a:t></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E</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→+TE</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 | </a:t>
            </a:r>
            <a:r>
              <a:rPr lang="en-US" altLang="zh-CN" sz="2800" b="1" u="none" dirty="0">
                <a:solidFill>
                  <a:schemeClr val="tx1"/>
                </a:solidFill>
                <a:latin typeface="Arial" panose="020B0604020202020204" pitchFamily="34" charset="0"/>
                <a:sym typeface="Symbol" panose="05050102010706020507" pitchFamily="18" charset="2"/>
              </a:rPr>
              <a:t></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T→FT</a:t>
            </a:r>
            <a:r>
              <a:rPr lang="en-US" altLang="zh-CN" sz="2800" b="1" u="none" dirty="0">
                <a:solidFill>
                  <a:schemeClr val="tx1"/>
                </a:solidFill>
                <a:latin typeface="Arial" panose="020B0604020202020204" pitchFamily="34" charset="0"/>
                <a:sym typeface="Symbol" panose="05050102010706020507" pitchFamily="18" charset="2"/>
              </a:rPr>
              <a:t></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T</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→*FT</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 | </a:t>
            </a:r>
            <a:r>
              <a:rPr lang="en-US" altLang="zh-CN" sz="2800" b="1" u="none" dirty="0">
                <a:solidFill>
                  <a:schemeClr val="tx1"/>
                </a:solidFill>
                <a:latin typeface="Arial" panose="020B0604020202020204" pitchFamily="34" charset="0"/>
                <a:sym typeface="Symbol" panose="05050102010706020507" pitchFamily="18" charset="2"/>
              </a:rPr>
              <a:t></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F→(E) | i</a:t>
            </a:r>
            <a:endParaRPr lang="en-GB" altLang="zh-CN" sz="1600" u="none" dirty="0">
              <a:solidFill>
                <a:schemeClr val="tx1"/>
              </a:solidFill>
              <a:latin typeface="Arial" panose="020B0604020202020204" pitchFamily="34" charset="0"/>
            </a:endParaRPr>
          </a:p>
        </p:txBody>
      </p:sp>
    </p:spTree>
  </p:cSld>
  <p:clrMapOvr>
    <a:masterClrMapping/>
  </p:clrMapOvr>
  <p:transition spd="med">
    <p:zo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45058" name="Text Box 2"/>
          <p:cNvSpPr txBox="1"/>
          <p:nvPr/>
        </p:nvSpPr>
        <p:spPr>
          <a:xfrm>
            <a:off x="457200" y="2152650"/>
            <a:ext cx="1912938" cy="641350"/>
          </a:xfrm>
          <a:prstGeom prst="rect">
            <a:avLst/>
          </a:prstGeom>
          <a:noFill/>
          <a:ln w="12700">
            <a:noFill/>
          </a:ln>
        </p:spPr>
        <p:txBody>
          <a:bodyPr anchor="t">
            <a:spAutoFit/>
          </a:bodyPr>
          <a:p>
            <a:pPr algn="ctr"/>
            <a:r>
              <a:rPr lang="en-US" altLang="zh-CN" sz="3600" b="1" u="none" dirty="0">
                <a:solidFill>
                  <a:schemeClr val="tx1"/>
                </a:solidFill>
                <a:latin typeface="Times New Roman" panose="02020603050405020304" pitchFamily="18" charset="0"/>
              </a:rPr>
              <a:t>i   +   i </a:t>
            </a:r>
            <a:endParaRPr lang="en-US" altLang="zh-CN" sz="3600" b="1" u="none" dirty="0">
              <a:solidFill>
                <a:schemeClr val="tx1"/>
              </a:solidFill>
              <a:latin typeface="Times New Roman" panose="02020603050405020304" pitchFamily="18" charset="0"/>
            </a:endParaRPr>
          </a:p>
        </p:txBody>
      </p:sp>
      <p:sp>
        <p:nvSpPr>
          <p:cNvPr id="45059" name="Line 3"/>
          <p:cNvSpPr/>
          <p:nvPr/>
        </p:nvSpPr>
        <p:spPr>
          <a:xfrm flipV="1">
            <a:off x="1944688" y="2819400"/>
            <a:ext cx="0" cy="533400"/>
          </a:xfrm>
          <a:prstGeom prst="line">
            <a:avLst/>
          </a:prstGeom>
          <a:ln w="19050" cap="flat" cmpd="sng">
            <a:solidFill>
              <a:schemeClr val="tx1"/>
            </a:solidFill>
            <a:prstDash val="solid"/>
            <a:round/>
            <a:headEnd type="none" w="med" len="med"/>
            <a:tailEnd type="stealth" w="lg" len="lg"/>
          </a:ln>
        </p:spPr>
      </p:sp>
      <p:sp>
        <p:nvSpPr>
          <p:cNvPr id="45060" name="Text Box 4"/>
          <p:cNvSpPr txBox="1"/>
          <p:nvPr/>
        </p:nvSpPr>
        <p:spPr>
          <a:xfrm>
            <a:off x="1676400" y="3495675"/>
            <a:ext cx="539750" cy="519113"/>
          </a:xfrm>
          <a:prstGeom prst="rect">
            <a:avLst/>
          </a:prstGeom>
          <a:noFill/>
          <a:ln w="12700">
            <a:noFill/>
          </a:ln>
        </p:spPr>
        <p:txBody>
          <a:bodyPr wrap="none" anchor="t">
            <a:spAutoFit/>
          </a:bodyPr>
          <a:p>
            <a:pPr algn="ctr"/>
            <a:r>
              <a:rPr lang="en-US" altLang="zh-CN" sz="2800" b="1" u="none" dirty="0">
                <a:solidFill>
                  <a:schemeClr val="tx1"/>
                </a:solidFill>
                <a:latin typeface="Times New Roman" panose="02020603050405020304" pitchFamily="18" charset="0"/>
              </a:rPr>
              <a:t>IP</a:t>
            </a:r>
            <a:endParaRPr lang="en-US" altLang="zh-CN" sz="2800" b="1" u="none" dirty="0">
              <a:solidFill>
                <a:schemeClr val="tx1"/>
              </a:solidFill>
              <a:latin typeface="Times New Roman" panose="02020603050405020304" pitchFamily="18" charset="0"/>
            </a:endParaRPr>
          </a:p>
        </p:txBody>
      </p:sp>
      <p:sp>
        <p:nvSpPr>
          <p:cNvPr id="45061" name="Text Box 5"/>
          <p:cNvSpPr txBox="1"/>
          <p:nvPr/>
        </p:nvSpPr>
        <p:spPr>
          <a:xfrm>
            <a:off x="5030788" y="228600"/>
            <a:ext cx="455612" cy="579438"/>
          </a:xfrm>
          <a:prstGeom prst="rect">
            <a:avLst/>
          </a:prstGeom>
          <a:noFill/>
          <a:ln w="12700">
            <a:noFill/>
          </a:ln>
        </p:spPr>
        <p:txBody>
          <a:bodyPr wrap="none" anchor="t">
            <a:spAutoFit/>
          </a:bodyPr>
          <a:p>
            <a:pPr algn="ctr"/>
            <a:r>
              <a:rPr lang="en-US" altLang="zh-CN" sz="3200" b="1" u="none" dirty="0">
                <a:solidFill>
                  <a:schemeClr val="tx1"/>
                </a:solidFill>
                <a:latin typeface="Times New Roman" panose="02020603050405020304" pitchFamily="18" charset="0"/>
              </a:rPr>
              <a:t>E</a:t>
            </a:r>
            <a:endParaRPr lang="en-US" altLang="zh-CN" sz="3200" b="1" u="none" dirty="0">
              <a:solidFill>
                <a:schemeClr val="tx1"/>
              </a:solidFill>
              <a:latin typeface="Times New Roman" panose="02020603050405020304" pitchFamily="18" charset="0"/>
            </a:endParaRPr>
          </a:p>
        </p:txBody>
      </p:sp>
      <p:sp>
        <p:nvSpPr>
          <p:cNvPr id="45062" name="Line 6"/>
          <p:cNvSpPr/>
          <p:nvPr/>
        </p:nvSpPr>
        <p:spPr>
          <a:xfrm flipH="1">
            <a:off x="4038600" y="731838"/>
            <a:ext cx="1143000" cy="685800"/>
          </a:xfrm>
          <a:prstGeom prst="line">
            <a:avLst/>
          </a:prstGeom>
          <a:ln w="19050" cap="flat" cmpd="sng">
            <a:solidFill>
              <a:schemeClr val="tx1"/>
            </a:solidFill>
            <a:prstDash val="solid"/>
            <a:round/>
            <a:headEnd type="none" w="med" len="med"/>
            <a:tailEnd type="none" w="lg" len="lg"/>
          </a:ln>
        </p:spPr>
      </p:sp>
      <p:sp>
        <p:nvSpPr>
          <p:cNvPr id="45063" name="Line 7"/>
          <p:cNvSpPr/>
          <p:nvPr/>
        </p:nvSpPr>
        <p:spPr>
          <a:xfrm>
            <a:off x="5334000" y="731838"/>
            <a:ext cx="1295400" cy="685800"/>
          </a:xfrm>
          <a:prstGeom prst="line">
            <a:avLst/>
          </a:prstGeom>
          <a:ln w="19050" cap="flat" cmpd="sng">
            <a:solidFill>
              <a:schemeClr val="tx1"/>
            </a:solidFill>
            <a:prstDash val="solid"/>
            <a:round/>
            <a:headEnd type="none" w="med" len="med"/>
            <a:tailEnd type="none" w="lg" len="lg"/>
          </a:ln>
        </p:spPr>
      </p:sp>
      <p:sp>
        <p:nvSpPr>
          <p:cNvPr id="45064" name="Text Box 8"/>
          <p:cNvSpPr txBox="1"/>
          <p:nvPr/>
        </p:nvSpPr>
        <p:spPr>
          <a:xfrm>
            <a:off x="3810000" y="1417638"/>
            <a:ext cx="455613" cy="579437"/>
          </a:xfrm>
          <a:prstGeom prst="rect">
            <a:avLst/>
          </a:prstGeom>
          <a:noFill/>
          <a:ln w="12700">
            <a:noFill/>
          </a:ln>
        </p:spPr>
        <p:txBody>
          <a:bodyPr wrap="none" anchor="t">
            <a:spAutoFit/>
          </a:bodyPr>
          <a:p>
            <a:pPr algn="ctr"/>
            <a:r>
              <a:rPr lang="en-US" altLang="zh-CN" sz="3200" b="1" u="none" dirty="0">
                <a:solidFill>
                  <a:schemeClr val="tx1"/>
                </a:solidFill>
                <a:latin typeface="Times New Roman" panose="02020603050405020304" pitchFamily="18" charset="0"/>
              </a:rPr>
              <a:t>T</a:t>
            </a:r>
            <a:endParaRPr lang="en-US" altLang="zh-CN" sz="3200" b="1" u="none" dirty="0">
              <a:solidFill>
                <a:schemeClr val="tx1"/>
              </a:solidFill>
              <a:latin typeface="Times New Roman" panose="02020603050405020304" pitchFamily="18" charset="0"/>
            </a:endParaRPr>
          </a:p>
        </p:txBody>
      </p:sp>
      <p:sp>
        <p:nvSpPr>
          <p:cNvPr id="45065" name="Text Box 9"/>
          <p:cNvSpPr txBox="1"/>
          <p:nvPr/>
        </p:nvSpPr>
        <p:spPr>
          <a:xfrm>
            <a:off x="6257925" y="1417638"/>
            <a:ext cx="590550" cy="579437"/>
          </a:xfrm>
          <a:prstGeom prst="rect">
            <a:avLst/>
          </a:prstGeom>
          <a:noFill/>
          <a:ln w="12700">
            <a:noFill/>
          </a:ln>
        </p:spPr>
        <p:txBody>
          <a:bodyPr wrap="none" anchor="t">
            <a:spAutoFit/>
          </a:bodyPr>
          <a:p>
            <a:pPr algn="ctr"/>
            <a:r>
              <a:rPr lang="en-US" altLang="zh-CN" sz="3200" b="1" u="none" dirty="0">
                <a:solidFill>
                  <a:schemeClr val="tx1"/>
                </a:solidFill>
                <a:latin typeface="Times New Roman" panose="02020603050405020304" pitchFamily="18" charset="0"/>
              </a:rPr>
              <a:t>E’</a:t>
            </a:r>
            <a:endParaRPr lang="en-US" altLang="zh-CN" sz="3200" b="1" u="none" dirty="0">
              <a:solidFill>
                <a:schemeClr val="tx1"/>
              </a:solidFill>
              <a:latin typeface="Times New Roman" panose="02020603050405020304" pitchFamily="18" charset="0"/>
            </a:endParaRPr>
          </a:p>
        </p:txBody>
      </p:sp>
      <p:sp>
        <p:nvSpPr>
          <p:cNvPr id="45066" name="Line 10"/>
          <p:cNvSpPr/>
          <p:nvPr/>
        </p:nvSpPr>
        <p:spPr>
          <a:xfrm flipH="1">
            <a:off x="3200400" y="1874838"/>
            <a:ext cx="762000" cy="762000"/>
          </a:xfrm>
          <a:prstGeom prst="line">
            <a:avLst/>
          </a:prstGeom>
          <a:ln w="19050" cap="flat" cmpd="sng">
            <a:solidFill>
              <a:schemeClr val="tx1"/>
            </a:solidFill>
            <a:prstDash val="solid"/>
            <a:round/>
            <a:headEnd type="none" w="med" len="med"/>
            <a:tailEnd type="none" w="lg" len="lg"/>
          </a:ln>
        </p:spPr>
      </p:sp>
      <p:sp>
        <p:nvSpPr>
          <p:cNvPr id="45067" name="Line 11"/>
          <p:cNvSpPr/>
          <p:nvPr/>
        </p:nvSpPr>
        <p:spPr>
          <a:xfrm>
            <a:off x="4038600" y="1874838"/>
            <a:ext cx="685800" cy="762000"/>
          </a:xfrm>
          <a:prstGeom prst="line">
            <a:avLst/>
          </a:prstGeom>
          <a:ln w="19050" cap="flat" cmpd="sng">
            <a:solidFill>
              <a:schemeClr val="tx1"/>
            </a:solidFill>
            <a:prstDash val="solid"/>
            <a:round/>
            <a:headEnd type="none" w="med" len="med"/>
            <a:tailEnd type="none" w="lg" len="lg"/>
          </a:ln>
        </p:spPr>
      </p:sp>
      <p:sp>
        <p:nvSpPr>
          <p:cNvPr id="45068" name="Text Box 12"/>
          <p:cNvSpPr txBox="1"/>
          <p:nvPr/>
        </p:nvSpPr>
        <p:spPr>
          <a:xfrm>
            <a:off x="2921000" y="2667000"/>
            <a:ext cx="431800" cy="579438"/>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F</a:t>
            </a:r>
            <a:endParaRPr lang="en-US" altLang="zh-CN" sz="3200" b="1" u="none" dirty="0">
              <a:solidFill>
                <a:schemeClr val="tx1"/>
              </a:solidFill>
              <a:latin typeface="Times New Roman" panose="02020603050405020304" pitchFamily="18" charset="0"/>
            </a:endParaRPr>
          </a:p>
        </p:txBody>
      </p:sp>
      <p:sp>
        <p:nvSpPr>
          <p:cNvPr id="45069" name="Text Box 13"/>
          <p:cNvSpPr txBox="1"/>
          <p:nvPr/>
        </p:nvSpPr>
        <p:spPr>
          <a:xfrm>
            <a:off x="4495800" y="2667000"/>
            <a:ext cx="590550" cy="579438"/>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T’</a:t>
            </a:r>
            <a:endParaRPr lang="en-US" altLang="zh-CN" sz="3200" b="1" u="none" dirty="0">
              <a:solidFill>
                <a:schemeClr val="tx1"/>
              </a:solidFill>
              <a:latin typeface="Times New Roman" panose="02020603050405020304" pitchFamily="18" charset="0"/>
            </a:endParaRPr>
          </a:p>
        </p:txBody>
      </p:sp>
      <p:sp>
        <p:nvSpPr>
          <p:cNvPr id="45070" name="Line 14"/>
          <p:cNvSpPr/>
          <p:nvPr/>
        </p:nvSpPr>
        <p:spPr>
          <a:xfrm>
            <a:off x="3135313" y="3170238"/>
            <a:ext cx="0" cy="838200"/>
          </a:xfrm>
          <a:prstGeom prst="line">
            <a:avLst/>
          </a:prstGeom>
          <a:ln w="19050" cap="flat" cmpd="sng">
            <a:solidFill>
              <a:schemeClr val="tx1"/>
            </a:solidFill>
            <a:prstDash val="solid"/>
            <a:round/>
            <a:headEnd type="none" w="med" len="med"/>
            <a:tailEnd type="none" w="lg" len="lg"/>
          </a:ln>
        </p:spPr>
      </p:sp>
      <p:sp>
        <p:nvSpPr>
          <p:cNvPr id="45071" name="Text Box 15"/>
          <p:cNvSpPr txBox="1"/>
          <p:nvPr/>
        </p:nvSpPr>
        <p:spPr>
          <a:xfrm>
            <a:off x="2982913" y="4008438"/>
            <a:ext cx="296862" cy="579437"/>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i</a:t>
            </a:r>
            <a:endParaRPr lang="en-US" altLang="zh-CN" sz="3200" b="1" u="none" dirty="0">
              <a:solidFill>
                <a:schemeClr val="tx1"/>
              </a:solidFill>
              <a:latin typeface="Times New Roman" panose="02020603050405020304" pitchFamily="18" charset="0"/>
            </a:endParaRPr>
          </a:p>
        </p:txBody>
      </p:sp>
      <p:sp>
        <p:nvSpPr>
          <p:cNvPr id="45072" name="Line 16"/>
          <p:cNvSpPr/>
          <p:nvPr/>
        </p:nvSpPr>
        <p:spPr>
          <a:xfrm>
            <a:off x="4714875" y="3246438"/>
            <a:ext cx="0" cy="838200"/>
          </a:xfrm>
          <a:prstGeom prst="line">
            <a:avLst/>
          </a:prstGeom>
          <a:ln w="19050" cap="flat" cmpd="sng">
            <a:solidFill>
              <a:schemeClr val="tx1"/>
            </a:solidFill>
            <a:prstDash val="solid"/>
            <a:round/>
            <a:headEnd type="none" w="med" len="med"/>
            <a:tailEnd type="none" w="lg" len="lg"/>
          </a:ln>
        </p:spPr>
      </p:sp>
      <p:sp>
        <p:nvSpPr>
          <p:cNvPr id="45073" name="Text Box 17"/>
          <p:cNvSpPr txBox="1"/>
          <p:nvPr/>
        </p:nvSpPr>
        <p:spPr>
          <a:xfrm>
            <a:off x="4529138" y="4076700"/>
            <a:ext cx="363537" cy="579438"/>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sym typeface="Symbol" panose="05050102010706020507" pitchFamily="18" charset="2"/>
              </a:rPr>
              <a:t></a:t>
            </a:r>
            <a:endParaRPr lang="en-US" altLang="zh-CN" sz="3200" b="1" u="none" dirty="0">
              <a:solidFill>
                <a:schemeClr val="tx1"/>
              </a:solidFill>
              <a:latin typeface="Times New Roman" panose="02020603050405020304" pitchFamily="18" charset="0"/>
            </a:endParaRPr>
          </a:p>
        </p:txBody>
      </p:sp>
      <p:sp>
        <p:nvSpPr>
          <p:cNvPr id="45074" name="Line 18"/>
          <p:cNvSpPr/>
          <p:nvPr/>
        </p:nvSpPr>
        <p:spPr>
          <a:xfrm flipH="1">
            <a:off x="5715000" y="1951038"/>
            <a:ext cx="838200" cy="762000"/>
          </a:xfrm>
          <a:prstGeom prst="line">
            <a:avLst/>
          </a:prstGeom>
          <a:ln w="19050" cap="flat" cmpd="sng">
            <a:solidFill>
              <a:schemeClr val="tx1"/>
            </a:solidFill>
            <a:prstDash val="solid"/>
            <a:round/>
            <a:headEnd type="none" w="med" len="med"/>
            <a:tailEnd type="none" w="lg" len="lg"/>
          </a:ln>
        </p:spPr>
      </p:sp>
      <p:sp>
        <p:nvSpPr>
          <p:cNvPr id="45075" name="Line 19"/>
          <p:cNvSpPr/>
          <p:nvPr/>
        </p:nvSpPr>
        <p:spPr>
          <a:xfrm>
            <a:off x="6629400" y="1951038"/>
            <a:ext cx="228600" cy="685800"/>
          </a:xfrm>
          <a:prstGeom prst="line">
            <a:avLst/>
          </a:prstGeom>
          <a:ln w="19050" cap="flat" cmpd="sng">
            <a:solidFill>
              <a:schemeClr val="tx1"/>
            </a:solidFill>
            <a:prstDash val="solid"/>
            <a:round/>
            <a:headEnd type="none" w="med" len="med"/>
            <a:tailEnd type="none" w="lg" len="lg"/>
          </a:ln>
        </p:spPr>
      </p:sp>
      <p:sp>
        <p:nvSpPr>
          <p:cNvPr id="45076" name="Line 20"/>
          <p:cNvSpPr/>
          <p:nvPr/>
        </p:nvSpPr>
        <p:spPr>
          <a:xfrm>
            <a:off x="6705600" y="1874838"/>
            <a:ext cx="1524000" cy="838200"/>
          </a:xfrm>
          <a:prstGeom prst="line">
            <a:avLst/>
          </a:prstGeom>
          <a:ln w="19050" cap="flat" cmpd="sng">
            <a:solidFill>
              <a:schemeClr val="tx1"/>
            </a:solidFill>
            <a:prstDash val="solid"/>
            <a:round/>
            <a:headEnd type="none" w="med" len="med"/>
            <a:tailEnd type="none" w="lg" len="lg"/>
          </a:ln>
        </p:spPr>
      </p:sp>
      <p:sp>
        <p:nvSpPr>
          <p:cNvPr id="45077" name="Text Box 21"/>
          <p:cNvSpPr txBox="1"/>
          <p:nvPr/>
        </p:nvSpPr>
        <p:spPr>
          <a:xfrm>
            <a:off x="5486400" y="2713038"/>
            <a:ext cx="415925" cy="579437"/>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a:t>
            </a:r>
            <a:endParaRPr lang="en-US" altLang="zh-CN" sz="3200" b="1" u="none" dirty="0">
              <a:solidFill>
                <a:schemeClr val="tx1"/>
              </a:solidFill>
              <a:latin typeface="Times New Roman" panose="02020603050405020304" pitchFamily="18" charset="0"/>
            </a:endParaRPr>
          </a:p>
        </p:txBody>
      </p:sp>
      <p:sp>
        <p:nvSpPr>
          <p:cNvPr id="45078" name="Text Box 22"/>
          <p:cNvSpPr txBox="1"/>
          <p:nvPr/>
        </p:nvSpPr>
        <p:spPr>
          <a:xfrm>
            <a:off x="6629400" y="2713038"/>
            <a:ext cx="455613" cy="579437"/>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T</a:t>
            </a:r>
            <a:endParaRPr lang="en-US" altLang="zh-CN" sz="3200" b="1" u="none" dirty="0">
              <a:solidFill>
                <a:schemeClr val="tx1"/>
              </a:solidFill>
              <a:latin typeface="Times New Roman" panose="02020603050405020304" pitchFamily="18" charset="0"/>
            </a:endParaRPr>
          </a:p>
        </p:txBody>
      </p:sp>
      <p:sp>
        <p:nvSpPr>
          <p:cNvPr id="45079" name="Text Box 23"/>
          <p:cNvSpPr txBox="1"/>
          <p:nvPr/>
        </p:nvSpPr>
        <p:spPr>
          <a:xfrm>
            <a:off x="8010525" y="2713038"/>
            <a:ext cx="590550" cy="579437"/>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E’</a:t>
            </a:r>
            <a:endParaRPr lang="en-US" altLang="zh-CN" sz="3200" b="1" u="none" dirty="0">
              <a:solidFill>
                <a:schemeClr val="tx1"/>
              </a:solidFill>
              <a:latin typeface="Times New Roman" panose="02020603050405020304" pitchFamily="18" charset="0"/>
            </a:endParaRPr>
          </a:p>
        </p:txBody>
      </p:sp>
      <p:sp>
        <p:nvSpPr>
          <p:cNvPr id="45080" name="Line 24"/>
          <p:cNvSpPr/>
          <p:nvPr/>
        </p:nvSpPr>
        <p:spPr>
          <a:xfrm flipH="1">
            <a:off x="6172200" y="3246438"/>
            <a:ext cx="685800" cy="685800"/>
          </a:xfrm>
          <a:prstGeom prst="line">
            <a:avLst/>
          </a:prstGeom>
          <a:ln w="19050" cap="flat" cmpd="sng">
            <a:solidFill>
              <a:schemeClr val="tx1"/>
            </a:solidFill>
            <a:prstDash val="solid"/>
            <a:round/>
            <a:headEnd type="none" w="med" len="med"/>
            <a:tailEnd type="none" w="lg" len="lg"/>
          </a:ln>
        </p:spPr>
      </p:sp>
      <p:sp>
        <p:nvSpPr>
          <p:cNvPr id="45081" name="Line 25"/>
          <p:cNvSpPr/>
          <p:nvPr/>
        </p:nvSpPr>
        <p:spPr>
          <a:xfrm>
            <a:off x="6934200" y="3246438"/>
            <a:ext cx="685800" cy="685800"/>
          </a:xfrm>
          <a:prstGeom prst="line">
            <a:avLst/>
          </a:prstGeom>
          <a:ln w="19050" cap="flat" cmpd="sng">
            <a:solidFill>
              <a:schemeClr val="tx1"/>
            </a:solidFill>
            <a:prstDash val="solid"/>
            <a:round/>
            <a:headEnd type="none" w="med" len="med"/>
            <a:tailEnd type="none" w="lg" len="lg"/>
          </a:ln>
        </p:spPr>
      </p:sp>
      <p:sp>
        <p:nvSpPr>
          <p:cNvPr id="45082" name="Text Box 26"/>
          <p:cNvSpPr txBox="1"/>
          <p:nvPr/>
        </p:nvSpPr>
        <p:spPr>
          <a:xfrm>
            <a:off x="5872163" y="3932238"/>
            <a:ext cx="431800" cy="579437"/>
          </a:xfrm>
          <a:prstGeom prst="rect">
            <a:avLst/>
          </a:prstGeom>
          <a:noFill/>
          <a:ln w="19050">
            <a:noFill/>
          </a:ln>
        </p:spPr>
        <p:txBody>
          <a:bodyPr wrap="none" anchor="t">
            <a:spAutoFit/>
          </a:bodyPr>
          <a:p>
            <a:pPr algn="ctr"/>
            <a:r>
              <a:rPr lang="en-US" altLang="zh-CN" sz="3200" b="1" u="none" dirty="0">
                <a:solidFill>
                  <a:srgbClr val="FF0000"/>
                </a:solidFill>
                <a:latin typeface="Times New Roman" panose="02020603050405020304" pitchFamily="18" charset="0"/>
              </a:rPr>
              <a:t>F</a:t>
            </a:r>
            <a:endParaRPr lang="en-US" altLang="zh-CN" sz="3200" b="1" u="none" dirty="0">
              <a:solidFill>
                <a:srgbClr val="FF0000"/>
              </a:solidFill>
              <a:latin typeface="Times New Roman" panose="02020603050405020304" pitchFamily="18" charset="0"/>
            </a:endParaRPr>
          </a:p>
        </p:txBody>
      </p:sp>
      <p:sp>
        <p:nvSpPr>
          <p:cNvPr id="45083" name="Text Box 27"/>
          <p:cNvSpPr txBox="1"/>
          <p:nvPr/>
        </p:nvSpPr>
        <p:spPr>
          <a:xfrm>
            <a:off x="7315200" y="3932238"/>
            <a:ext cx="590550" cy="579437"/>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T’</a:t>
            </a:r>
            <a:endParaRPr lang="en-US" altLang="zh-CN" sz="3200" b="1" u="none" dirty="0">
              <a:solidFill>
                <a:schemeClr val="tx1"/>
              </a:solidFill>
              <a:latin typeface="Times New Roman" panose="02020603050405020304" pitchFamily="18" charset="0"/>
            </a:endParaRPr>
          </a:p>
        </p:txBody>
      </p:sp>
      <p:sp>
        <p:nvSpPr>
          <p:cNvPr id="45084" name="Rectangle 29"/>
          <p:cNvSpPr/>
          <p:nvPr/>
        </p:nvSpPr>
        <p:spPr>
          <a:xfrm>
            <a:off x="0" y="4149725"/>
            <a:ext cx="2700338" cy="2349500"/>
          </a:xfrm>
          <a:prstGeom prst="rect">
            <a:avLst/>
          </a:prstGeom>
          <a:solidFill>
            <a:srgbClr val="FFFF99"/>
          </a:solidFill>
          <a:ln w="12700" cap="flat" cmpd="sng">
            <a:solidFill>
              <a:srgbClr val="FF0000"/>
            </a:solidFill>
            <a:prstDash val="solid"/>
            <a:miter/>
            <a:headEnd type="none" w="med" len="med"/>
            <a:tailEnd type="none" w="lg" len="lg"/>
          </a:ln>
        </p:spPr>
        <p:txBody>
          <a:bodyPr wrap="none" anchor="ctr"/>
          <a:p>
            <a:pPr>
              <a:lnSpc>
                <a:spcPct val="90000"/>
              </a:lnSpc>
              <a:buClr>
                <a:schemeClr val="bg2"/>
              </a:buClr>
              <a:buSzPct val="75000"/>
              <a:buFont typeface="Wingdings" panose="05000000000000000000" pitchFamily="2" charset="2"/>
              <a:buChar char="n"/>
            </a:pPr>
            <a:r>
              <a:rPr lang="en-US" altLang="zh-CN" sz="2800" b="1" u="none" dirty="0">
                <a:solidFill>
                  <a:schemeClr val="tx1"/>
                </a:solidFill>
                <a:latin typeface="Arial" panose="020B0604020202020204" pitchFamily="34" charset="0"/>
              </a:rPr>
              <a:t>G(E):</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E→TE</a:t>
            </a:r>
            <a:r>
              <a:rPr lang="en-US" altLang="zh-CN" sz="2800" b="1" u="none" dirty="0">
                <a:solidFill>
                  <a:schemeClr val="tx1"/>
                </a:solidFill>
                <a:latin typeface="Arial" panose="020B0604020202020204" pitchFamily="34" charset="0"/>
                <a:sym typeface="Symbol" panose="05050102010706020507" pitchFamily="18" charset="2"/>
              </a:rPr>
              <a:t></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E</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→+TE</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 | </a:t>
            </a:r>
            <a:r>
              <a:rPr lang="en-US" altLang="zh-CN" sz="2800" b="1" u="none" dirty="0">
                <a:solidFill>
                  <a:schemeClr val="tx1"/>
                </a:solidFill>
                <a:latin typeface="Arial" panose="020B0604020202020204" pitchFamily="34" charset="0"/>
                <a:sym typeface="Symbol" panose="05050102010706020507" pitchFamily="18" charset="2"/>
              </a:rPr>
              <a:t></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T→FT</a:t>
            </a:r>
            <a:r>
              <a:rPr lang="en-US" altLang="zh-CN" sz="2800" b="1" u="none" dirty="0">
                <a:solidFill>
                  <a:schemeClr val="tx1"/>
                </a:solidFill>
                <a:latin typeface="Arial" panose="020B0604020202020204" pitchFamily="34" charset="0"/>
                <a:sym typeface="Symbol" panose="05050102010706020507" pitchFamily="18" charset="2"/>
              </a:rPr>
              <a:t></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T</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→*FT</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 | </a:t>
            </a:r>
            <a:r>
              <a:rPr lang="en-US" altLang="zh-CN" sz="2800" b="1" u="none" dirty="0">
                <a:solidFill>
                  <a:schemeClr val="tx1"/>
                </a:solidFill>
                <a:latin typeface="Arial" panose="020B0604020202020204" pitchFamily="34" charset="0"/>
                <a:sym typeface="Symbol" panose="05050102010706020507" pitchFamily="18" charset="2"/>
              </a:rPr>
              <a:t></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F→(E) | i</a:t>
            </a:r>
            <a:endParaRPr lang="en-GB" altLang="zh-CN" sz="1600" u="none" dirty="0">
              <a:solidFill>
                <a:schemeClr val="tx1"/>
              </a:solidFill>
              <a:latin typeface="Arial" panose="020B0604020202020204" pitchFamily="34" charset="0"/>
            </a:endParaRPr>
          </a:p>
        </p:txBody>
      </p:sp>
    </p:spTree>
  </p:cSld>
  <p:clrMapOvr>
    <a:masterClrMapping/>
  </p:clrMapOvr>
  <p:transition spd="med">
    <p:zo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1"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46082" name="Text Box 2"/>
          <p:cNvSpPr txBox="1"/>
          <p:nvPr/>
        </p:nvSpPr>
        <p:spPr>
          <a:xfrm>
            <a:off x="457200" y="2152650"/>
            <a:ext cx="1912938" cy="641350"/>
          </a:xfrm>
          <a:prstGeom prst="rect">
            <a:avLst/>
          </a:prstGeom>
          <a:noFill/>
          <a:ln w="12700">
            <a:noFill/>
          </a:ln>
        </p:spPr>
        <p:txBody>
          <a:bodyPr anchor="t">
            <a:spAutoFit/>
          </a:bodyPr>
          <a:p>
            <a:pPr algn="ctr"/>
            <a:r>
              <a:rPr lang="en-US" altLang="zh-CN" sz="3600" b="1" u="none" dirty="0">
                <a:solidFill>
                  <a:schemeClr val="tx1"/>
                </a:solidFill>
                <a:latin typeface="Times New Roman" panose="02020603050405020304" pitchFamily="18" charset="0"/>
              </a:rPr>
              <a:t>i   +   i </a:t>
            </a:r>
            <a:endParaRPr lang="en-US" altLang="zh-CN" sz="3600" b="1" u="none" dirty="0">
              <a:solidFill>
                <a:schemeClr val="tx1"/>
              </a:solidFill>
              <a:latin typeface="Times New Roman" panose="02020603050405020304" pitchFamily="18" charset="0"/>
            </a:endParaRPr>
          </a:p>
        </p:txBody>
      </p:sp>
      <p:sp>
        <p:nvSpPr>
          <p:cNvPr id="46083" name="Line 3"/>
          <p:cNvSpPr/>
          <p:nvPr/>
        </p:nvSpPr>
        <p:spPr>
          <a:xfrm flipV="1">
            <a:off x="1944688" y="2819400"/>
            <a:ext cx="0" cy="533400"/>
          </a:xfrm>
          <a:prstGeom prst="line">
            <a:avLst/>
          </a:prstGeom>
          <a:ln w="19050" cap="flat" cmpd="sng">
            <a:solidFill>
              <a:schemeClr val="tx1"/>
            </a:solidFill>
            <a:prstDash val="solid"/>
            <a:round/>
            <a:headEnd type="none" w="med" len="med"/>
            <a:tailEnd type="stealth" w="lg" len="lg"/>
          </a:ln>
        </p:spPr>
      </p:sp>
      <p:sp>
        <p:nvSpPr>
          <p:cNvPr id="46084" name="Text Box 4"/>
          <p:cNvSpPr txBox="1"/>
          <p:nvPr/>
        </p:nvSpPr>
        <p:spPr>
          <a:xfrm>
            <a:off x="1676400" y="3495675"/>
            <a:ext cx="539750" cy="519113"/>
          </a:xfrm>
          <a:prstGeom prst="rect">
            <a:avLst/>
          </a:prstGeom>
          <a:noFill/>
          <a:ln w="12700">
            <a:noFill/>
          </a:ln>
        </p:spPr>
        <p:txBody>
          <a:bodyPr wrap="none" anchor="t">
            <a:spAutoFit/>
          </a:bodyPr>
          <a:p>
            <a:pPr algn="ctr"/>
            <a:r>
              <a:rPr lang="en-US" altLang="zh-CN" sz="2800" b="1" u="none" dirty="0">
                <a:solidFill>
                  <a:schemeClr val="tx1"/>
                </a:solidFill>
                <a:latin typeface="Times New Roman" panose="02020603050405020304" pitchFamily="18" charset="0"/>
              </a:rPr>
              <a:t>IP</a:t>
            </a:r>
            <a:endParaRPr lang="en-US" altLang="zh-CN" sz="2800" b="1" u="none" dirty="0">
              <a:solidFill>
                <a:schemeClr val="tx1"/>
              </a:solidFill>
              <a:latin typeface="Times New Roman" panose="02020603050405020304" pitchFamily="18" charset="0"/>
            </a:endParaRPr>
          </a:p>
        </p:txBody>
      </p:sp>
      <p:sp>
        <p:nvSpPr>
          <p:cNvPr id="46085" name="Text Box 5"/>
          <p:cNvSpPr txBox="1"/>
          <p:nvPr/>
        </p:nvSpPr>
        <p:spPr>
          <a:xfrm>
            <a:off x="5030788" y="228600"/>
            <a:ext cx="455612" cy="579438"/>
          </a:xfrm>
          <a:prstGeom prst="rect">
            <a:avLst/>
          </a:prstGeom>
          <a:noFill/>
          <a:ln w="12700">
            <a:noFill/>
          </a:ln>
        </p:spPr>
        <p:txBody>
          <a:bodyPr wrap="none" anchor="t">
            <a:spAutoFit/>
          </a:bodyPr>
          <a:p>
            <a:pPr algn="ctr"/>
            <a:r>
              <a:rPr lang="en-US" altLang="zh-CN" sz="3200" b="1" u="none" dirty="0">
                <a:solidFill>
                  <a:schemeClr val="tx1"/>
                </a:solidFill>
                <a:latin typeface="Times New Roman" panose="02020603050405020304" pitchFamily="18" charset="0"/>
              </a:rPr>
              <a:t>E</a:t>
            </a:r>
            <a:endParaRPr lang="en-US" altLang="zh-CN" sz="3200" b="1" u="none" dirty="0">
              <a:solidFill>
                <a:schemeClr val="tx1"/>
              </a:solidFill>
              <a:latin typeface="Times New Roman" panose="02020603050405020304" pitchFamily="18" charset="0"/>
            </a:endParaRPr>
          </a:p>
        </p:txBody>
      </p:sp>
      <p:sp>
        <p:nvSpPr>
          <p:cNvPr id="46086" name="Line 6"/>
          <p:cNvSpPr/>
          <p:nvPr/>
        </p:nvSpPr>
        <p:spPr>
          <a:xfrm flipH="1">
            <a:off x="4038600" y="731838"/>
            <a:ext cx="1143000" cy="685800"/>
          </a:xfrm>
          <a:prstGeom prst="line">
            <a:avLst/>
          </a:prstGeom>
          <a:ln w="19050" cap="flat" cmpd="sng">
            <a:solidFill>
              <a:schemeClr val="tx1"/>
            </a:solidFill>
            <a:prstDash val="solid"/>
            <a:round/>
            <a:headEnd type="none" w="med" len="med"/>
            <a:tailEnd type="none" w="lg" len="lg"/>
          </a:ln>
        </p:spPr>
      </p:sp>
      <p:sp>
        <p:nvSpPr>
          <p:cNvPr id="46087" name="Line 7"/>
          <p:cNvSpPr/>
          <p:nvPr/>
        </p:nvSpPr>
        <p:spPr>
          <a:xfrm>
            <a:off x="5334000" y="731838"/>
            <a:ext cx="1295400" cy="685800"/>
          </a:xfrm>
          <a:prstGeom prst="line">
            <a:avLst/>
          </a:prstGeom>
          <a:ln w="19050" cap="flat" cmpd="sng">
            <a:solidFill>
              <a:schemeClr val="tx1"/>
            </a:solidFill>
            <a:prstDash val="solid"/>
            <a:round/>
            <a:headEnd type="none" w="med" len="med"/>
            <a:tailEnd type="none" w="lg" len="lg"/>
          </a:ln>
        </p:spPr>
      </p:sp>
      <p:sp>
        <p:nvSpPr>
          <p:cNvPr id="46088" name="Text Box 8"/>
          <p:cNvSpPr txBox="1"/>
          <p:nvPr/>
        </p:nvSpPr>
        <p:spPr>
          <a:xfrm>
            <a:off x="3810000" y="1417638"/>
            <a:ext cx="455613" cy="579437"/>
          </a:xfrm>
          <a:prstGeom prst="rect">
            <a:avLst/>
          </a:prstGeom>
          <a:noFill/>
          <a:ln w="12700">
            <a:noFill/>
          </a:ln>
        </p:spPr>
        <p:txBody>
          <a:bodyPr wrap="none" anchor="t">
            <a:spAutoFit/>
          </a:bodyPr>
          <a:p>
            <a:pPr algn="ctr"/>
            <a:r>
              <a:rPr lang="en-US" altLang="zh-CN" sz="3200" b="1" u="none" dirty="0">
                <a:solidFill>
                  <a:schemeClr val="tx1"/>
                </a:solidFill>
                <a:latin typeface="Times New Roman" panose="02020603050405020304" pitchFamily="18" charset="0"/>
              </a:rPr>
              <a:t>T</a:t>
            </a:r>
            <a:endParaRPr lang="en-US" altLang="zh-CN" sz="3200" b="1" u="none" dirty="0">
              <a:solidFill>
                <a:schemeClr val="tx1"/>
              </a:solidFill>
              <a:latin typeface="Times New Roman" panose="02020603050405020304" pitchFamily="18" charset="0"/>
            </a:endParaRPr>
          </a:p>
        </p:txBody>
      </p:sp>
      <p:sp>
        <p:nvSpPr>
          <p:cNvPr id="46089" name="Text Box 9"/>
          <p:cNvSpPr txBox="1"/>
          <p:nvPr/>
        </p:nvSpPr>
        <p:spPr>
          <a:xfrm>
            <a:off x="6257925" y="1417638"/>
            <a:ext cx="590550" cy="579437"/>
          </a:xfrm>
          <a:prstGeom prst="rect">
            <a:avLst/>
          </a:prstGeom>
          <a:noFill/>
          <a:ln w="12700">
            <a:noFill/>
          </a:ln>
        </p:spPr>
        <p:txBody>
          <a:bodyPr wrap="none" anchor="t">
            <a:spAutoFit/>
          </a:bodyPr>
          <a:p>
            <a:pPr algn="ctr"/>
            <a:r>
              <a:rPr lang="en-US" altLang="zh-CN" sz="3200" b="1" u="none" dirty="0">
                <a:solidFill>
                  <a:schemeClr val="tx1"/>
                </a:solidFill>
                <a:latin typeface="Times New Roman" panose="02020603050405020304" pitchFamily="18" charset="0"/>
              </a:rPr>
              <a:t>E’</a:t>
            </a:r>
            <a:endParaRPr lang="en-US" altLang="zh-CN" sz="3200" b="1" u="none" dirty="0">
              <a:solidFill>
                <a:schemeClr val="tx1"/>
              </a:solidFill>
              <a:latin typeface="Times New Roman" panose="02020603050405020304" pitchFamily="18" charset="0"/>
            </a:endParaRPr>
          </a:p>
        </p:txBody>
      </p:sp>
      <p:sp>
        <p:nvSpPr>
          <p:cNvPr id="46090" name="Line 10"/>
          <p:cNvSpPr/>
          <p:nvPr/>
        </p:nvSpPr>
        <p:spPr>
          <a:xfrm flipH="1">
            <a:off x="3200400" y="1874838"/>
            <a:ext cx="762000" cy="762000"/>
          </a:xfrm>
          <a:prstGeom prst="line">
            <a:avLst/>
          </a:prstGeom>
          <a:ln w="19050" cap="flat" cmpd="sng">
            <a:solidFill>
              <a:schemeClr val="tx1"/>
            </a:solidFill>
            <a:prstDash val="solid"/>
            <a:round/>
            <a:headEnd type="none" w="med" len="med"/>
            <a:tailEnd type="none" w="lg" len="lg"/>
          </a:ln>
        </p:spPr>
      </p:sp>
      <p:sp>
        <p:nvSpPr>
          <p:cNvPr id="46091" name="Line 11"/>
          <p:cNvSpPr/>
          <p:nvPr/>
        </p:nvSpPr>
        <p:spPr>
          <a:xfrm>
            <a:off x="4038600" y="1874838"/>
            <a:ext cx="685800" cy="762000"/>
          </a:xfrm>
          <a:prstGeom prst="line">
            <a:avLst/>
          </a:prstGeom>
          <a:ln w="19050" cap="flat" cmpd="sng">
            <a:solidFill>
              <a:schemeClr val="tx1"/>
            </a:solidFill>
            <a:prstDash val="solid"/>
            <a:round/>
            <a:headEnd type="none" w="med" len="med"/>
            <a:tailEnd type="none" w="lg" len="lg"/>
          </a:ln>
        </p:spPr>
      </p:sp>
      <p:sp>
        <p:nvSpPr>
          <p:cNvPr id="46092" name="Text Box 12"/>
          <p:cNvSpPr txBox="1"/>
          <p:nvPr/>
        </p:nvSpPr>
        <p:spPr>
          <a:xfrm>
            <a:off x="2921000" y="2667000"/>
            <a:ext cx="431800" cy="579438"/>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F</a:t>
            </a:r>
            <a:endParaRPr lang="en-US" altLang="zh-CN" sz="3200" b="1" u="none" dirty="0">
              <a:solidFill>
                <a:schemeClr val="tx1"/>
              </a:solidFill>
              <a:latin typeface="Times New Roman" panose="02020603050405020304" pitchFamily="18" charset="0"/>
            </a:endParaRPr>
          </a:p>
        </p:txBody>
      </p:sp>
      <p:sp>
        <p:nvSpPr>
          <p:cNvPr id="46093" name="Text Box 13"/>
          <p:cNvSpPr txBox="1"/>
          <p:nvPr/>
        </p:nvSpPr>
        <p:spPr>
          <a:xfrm>
            <a:off x="4495800" y="2667000"/>
            <a:ext cx="590550" cy="579438"/>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T’</a:t>
            </a:r>
            <a:endParaRPr lang="en-US" altLang="zh-CN" sz="3200" b="1" u="none" dirty="0">
              <a:solidFill>
                <a:schemeClr val="tx1"/>
              </a:solidFill>
              <a:latin typeface="Times New Roman" panose="02020603050405020304" pitchFamily="18" charset="0"/>
            </a:endParaRPr>
          </a:p>
        </p:txBody>
      </p:sp>
      <p:sp>
        <p:nvSpPr>
          <p:cNvPr id="46094" name="Line 14"/>
          <p:cNvSpPr/>
          <p:nvPr/>
        </p:nvSpPr>
        <p:spPr>
          <a:xfrm>
            <a:off x="3135313" y="3170238"/>
            <a:ext cx="0" cy="838200"/>
          </a:xfrm>
          <a:prstGeom prst="line">
            <a:avLst/>
          </a:prstGeom>
          <a:ln w="19050" cap="flat" cmpd="sng">
            <a:solidFill>
              <a:schemeClr val="tx1"/>
            </a:solidFill>
            <a:prstDash val="solid"/>
            <a:round/>
            <a:headEnd type="none" w="med" len="med"/>
            <a:tailEnd type="none" w="lg" len="lg"/>
          </a:ln>
        </p:spPr>
      </p:sp>
      <p:sp>
        <p:nvSpPr>
          <p:cNvPr id="46095" name="Text Box 15"/>
          <p:cNvSpPr txBox="1"/>
          <p:nvPr/>
        </p:nvSpPr>
        <p:spPr>
          <a:xfrm>
            <a:off x="2982913" y="4008438"/>
            <a:ext cx="296862" cy="579437"/>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i</a:t>
            </a:r>
            <a:endParaRPr lang="en-US" altLang="zh-CN" sz="3200" b="1" u="none" dirty="0">
              <a:solidFill>
                <a:schemeClr val="tx1"/>
              </a:solidFill>
              <a:latin typeface="Times New Roman" panose="02020603050405020304" pitchFamily="18" charset="0"/>
            </a:endParaRPr>
          </a:p>
        </p:txBody>
      </p:sp>
      <p:sp>
        <p:nvSpPr>
          <p:cNvPr id="46096" name="Line 16"/>
          <p:cNvSpPr/>
          <p:nvPr/>
        </p:nvSpPr>
        <p:spPr>
          <a:xfrm>
            <a:off x="4714875" y="3246438"/>
            <a:ext cx="0" cy="838200"/>
          </a:xfrm>
          <a:prstGeom prst="line">
            <a:avLst/>
          </a:prstGeom>
          <a:ln w="19050" cap="flat" cmpd="sng">
            <a:solidFill>
              <a:schemeClr val="tx1"/>
            </a:solidFill>
            <a:prstDash val="solid"/>
            <a:round/>
            <a:headEnd type="none" w="med" len="med"/>
            <a:tailEnd type="none" w="lg" len="lg"/>
          </a:ln>
        </p:spPr>
      </p:sp>
      <p:sp>
        <p:nvSpPr>
          <p:cNvPr id="46097" name="Text Box 17"/>
          <p:cNvSpPr txBox="1"/>
          <p:nvPr/>
        </p:nvSpPr>
        <p:spPr>
          <a:xfrm>
            <a:off x="4529138" y="4076700"/>
            <a:ext cx="363537" cy="579438"/>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sym typeface="Symbol" panose="05050102010706020507" pitchFamily="18" charset="2"/>
              </a:rPr>
              <a:t></a:t>
            </a:r>
            <a:endParaRPr lang="en-US" altLang="zh-CN" sz="3200" b="1" u="none" dirty="0">
              <a:solidFill>
                <a:schemeClr val="tx1"/>
              </a:solidFill>
              <a:latin typeface="Times New Roman" panose="02020603050405020304" pitchFamily="18" charset="0"/>
            </a:endParaRPr>
          </a:p>
        </p:txBody>
      </p:sp>
      <p:sp>
        <p:nvSpPr>
          <p:cNvPr id="46098" name="Line 18"/>
          <p:cNvSpPr/>
          <p:nvPr/>
        </p:nvSpPr>
        <p:spPr>
          <a:xfrm flipH="1">
            <a:off x="5715000" y="1951038"/>
            <a:ext cx="838200" cy="762000"/>
          </a:xfrm>
          <a:prstGeom prst="line">
            <a:avLst/>
          </a:prstGeom>
          <a:ln w="19050" cap="flat" cmpd="sng">
            <a:solidFill>
              <a:schemeClr val="tx1"/>
            </a:solidFill>
            <a:prstDash val="solid"/>
            <a:round/>
            <a:headEnd type="none" w="med" len="med"/>
            <a:tailEnd type="none" w="lg" len="lg"/>
          </a:ln>
        </p:spPr>
      </p:sp>
      <p:sp>
        <p:nvSpPr>
          <p:cNvPr id="46099" name="Line 19"/>
          <p:cNvSpPr/>
          <p:nvPr/>
        </p:nvSpPr>
        <p:spPr>
          <a:xfrm>
            <a:off x="6629400" y="1951038"/>
            <a:ext cx="228600" cy="685800"/>
          </a:xfrm>
          <a:prstGeom prst="line">
            <a:avLst/>
          </a:prstGeom>
          <a:ln w="19050" cap="flat" cmpd="sng">
            <a:solidFill>
              <a:schemeClr val="tx1"/>
            </a:solidFill>
            <a:prstDash val="solid"/>
            <a:round/>
            <a:headEnd type="none" w="med" len="med"/>
            <a:tailEnd type="none" w="lg" len="lg"/>
          </a:ln>
        </p:spPr>
      </p:sp>
      <p:sp>
        <p:nvSpPr>
          <p:cNvPr id="46100" name="Line 20"/>
          <p:cNvSpPr/>
          <p:nvPr/>
        </p:nvSpPr>
        <p:spPr>
          <a:xfrm>
            <a:off x="6705600" y="1874838"/>
            <a:ext cx="1524000" cy="838200"/>
          </a:xfrm>
          <a:prstGeom prst="line">
            <a:avLst/>
          </a:prstGeom>
          <a:ln w="19050" cap="flat" cmpd="sng">
            <a:solidFill>
              <a:schemeClr val="tx1"/>
            </a:solidFill>
            <a:prstDash val="solid"/>
            <a:round/>
            <a:headEnd type="none" w="med" len="med"/>
            <a:tailEnd type="none" w="lg" len="lg"/>
          </a:ln>
        </p:spPr>
      </p:sp>
      <p:sp>
        <p:nvSpPr>
          <p:cNvPr id="46101" name="Text Box 21"/>
          <p:cNvSpPr txBox="1"/>
          <p:nvPr/>
        </p:nvSpPr>
        <p:spPr>
          <a:xfrm>
            <a:off x="5486400" y="2713038"/>
            <a:ext cx="415925" cy="579437"/>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a:t>
            </a:r>
            <a:endParaRPr lang="en-US" altLang="zh-CN" sz="3200" b="1" u="none" dirty="0">
              <a:solidFill>
                <a:schemeClr val="tx1"/>
              </a:solidFill>
              <a:latin typeface="Times New Roman" panose="02020603050405020304" pitchFamily="18" charset="0"/>
            </a:endParaRPr>
          </a:p>
        </p:txBody>
      </p:sp>
      <p:sp>
        <p:nvSpPr>
          <p:cNvPr id="46102" name="Text Box 22"/>
          <p:cNvSpPr txBox="1"/>
          <p:nvPr/>
        </p:nvSpPr>
        <p:spPr>
          <a:xfrm>
            <a:off x="6629400" y="2713038"/>
            <a:ext cx="455613" cy="579437"/>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T</a:t>
            </a:r>
            <a:endParaRPr lang="en-US" altLang="zh-CN" sz="3200" b="1" u="none" dirty="0">
              <a:solidFill>
                <a:schemeClr val="tx1"/>
              </a:solidFill>
              <a:latin typeface="Times New Roman" panose="02020603050405020304" pitchFamily="18" charset="0"/>
            </a:endParaRPr>
          </a:p>
        </p:txBody>
      </p:sp>
      <p:sp>
        <p:nvSpPr>
          <p:cNvPr id="46103" name="Text Box 23"/>
          <p:cNvSpPr txBox="1"/>
          <p:nvPr/>
        </p:nvSpPr>
        <p:spPr>
          <a:xfrm>
            <a:off x="8010525" y="2713038"/>
            <a:ext cx="590550" cy="579437"/>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E’</a:t>
            </a:r>
            <a:endParaRPr lang="en-US" altLang="zh-CN" sz="3200" b="1" u="none" dirty="0">
              <a:solidFill>
                <a:schemeClr val="tx1"/>
              </a:solidFill>
              <a:latin typeface="Times New Roman" panose="02020603050405020304" pitchFamily="18" charset="0"/>
            </a:endParaRPr>
          </a:p>
        </p:txBody>
      </p:sp>
      <p:sp>
        <p:nvSpPr>
          <p:cNvPr id="46104" name="Line 24"/>
          <p:cNvSpPr/>
          <p:nvPr/>
        </p:nvSpPr>
        <p:spPr>
          <a:xfrm flipH="1">
            <a:off x="6172200" y="3246438"/>
            <a:ext cx="685800" cy="685800"/>
          </a:xfrm>
          <a:prstGeom prst="line">
            <a:avLst/>
          </a:prstGeom>
          <a:ln w="19050" cap="flat" cmpd="sng">
            <a:solidFill>
              <a:schemeClr val="tx1"/>
            </a:solidFill>
            <a:prstDash val="solid"/>
            <a:round/>
            <a:headEnd type="none" w="med" len="med"/>
            <a:tailEnd type="none" w="lg" len="lg"/>
          </a:ln>
        </p:spPr>
      </p:sp>
      <p:sp>
        <p:nvSpPr>
          <p:cNvPr id="46105" name="Line 25"/>
          <p:cNvSpPr/>
          <p:nvPr/>
        </p:nvSpPr>
        <p:spPr>
          <a:xfrm>
            <a:off x="6934200" y="3246438"/>
            <a:ext cx="685800" cy="685800"/>
          </a:xfrm>
          <a:prstGeom prst="line">
            <a:avLst/>
          </a:prstGeom>
          <a:ln w="19050" cap="flat" cmpd="sng">
            <a:solidFill>
              <a:schemeClr val="tx1"/>
            </a:solidFill>
            <a:prstDash val="solid"/>
            <a:round/>
            <a:headEnd type="none" w="med" len="med"/>
            <a:tailEnd type="none" w="lg" len="lg"/>
          </a:ln>
        </p:spPr>
      </p:sp>
      <p:sp>
        <p:nvSpPr>
          <p:cNvPr id="46106" name="Text Box 26"/>
          <p:cNvSpPr txBox="1"/>
          <p:nvPr/>
        </p:nvSpPr>
        <p:spPr>
          <a:xfrm>
            <a:off x="5872163" y="3932238"/>
            <a:ext cx="431800" cy="579437"/>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F</a:t>
            </a:r>
            <a:endParaRPr lang="en-US" altLang="zh-CN" sz="3200" b="1" u="none" dirty="0">
              <a:solidFill>
                <a:schemeClr val="tx1"/>
              </a:solidFill>
              <a:latin typeface="Times New Roman" panose="02020603050405020304" pitchFamily="18" charset="0"/>
            </a:endParaRPr>
          </a:p>
        </p:txBody>
      </p:sp>
      <p:sp>
        <p:nvSpPr>
          <p:cNvPr id="46107" name="Text Box 27"/>
          <p:cNvSpPr txBox="1"/>
          <p:nvPr/>
        </p:nvSpPr>
        <p:spPr>
          <a:xfrm>
            <a:off x="7315200" y="3932238"/>
            <a:ext cx="590550" cy="579437"/>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T’</a:t>
            </a:r>
            <a:endParaRPr lang="en-US" altLang="zh-CN" sz="3200" b="1" u="none" dirty="0">
              <a:solidFill>
                <a:schemeClr val="tx1"/>
              </a:solidFill>
              <a:latin typeface="Times New Roman" panose="02020603050405020304" pitchFamily="18" charset="0"/>
            </a:endParaRPr>
          </a:p>
        </p:txBody>
      </p:sp>
      <p:sp>
        <p:nvSpPr>
          <p:cNvPr id="46108" name="Line 28"/>
          <p:cNvSpPr/>
          <p:nvPr/>
        </p:nvSpPr>
        <p:spPr>
          <a:xfrm>
            <a:off x="6040438" y="4533900"/>
            <a:ext cx="0" cy="838200"/>
          </a:xfrm>
          <a:prstGeom prst="line">
            <a:avLst/>
          </a:prstGeom>
          <a:ln w="19050" cap="flat" cmpd="sng">
            <a:solidFill>
              <a:schemeClr val="tx1"/>
            </a:solidFill>
            <a:prstDash val="solid"/>
            <a:round/>
            <a:headEnd type="none" w="med" len="med"/>
            <a:tailEnd type="none" w="lg" len="lg"/>
          </a:ln>
        </p:spPr>
      </p:sp>
      <p:sp>
        <p:nvSpPr>
          <p:cNvPr id="46109" name="Text Box 29"/>
          <p:cNvSpPr txBox="1"/>
          <p:nvPr/>
        </p:nvSpPr>
        <p:spPr>
          <a:xfrm>
            <a:off x="5888038" y="5372100"/>
            <a:ext cx="296862" cy="579438"/>
          </a:xfrm>
          <a:prstGeom prst="rect">
            <a:avLst/>
          </a:prstGeom>
          <a:noFill/>
          <a:ln w="19050">
            <a:noFill/>
          </a:ln>
        </p:spPr>
        <p:txBody>
          <a:bodyPr wrap="none" anchor="t">
            <a:spAutoFit/>
          </a:bodyPr>
          <a:p>
            <a:pPr algn="ctr"/>
            <a:r>
              <a:rPr lang="en-US" altLang="zh-CN" sz="3200" b="1" u="none" dirty="0">
                <a:solidFill>
                  <a:srgbClr val="FF0000"/>
                </a:solidFill>
                <a:latin typeface="Times New Roman" panose="02020603050405020304" pitchFamily="18" charset="0"/>
              </a:rPr>
              <a:t>i</a:t>
            </a:r>
            <a:endParaRPr lang="en-US" altLang="zh-CN" sz="3200" b="1" u="none" dirty="0">
              <a:solidFill>
                <a:srgbClr val="FF0000"/>
              </a:solidFill>
              <a:latin typeface="Times New Roman" panose="02020603050405020304" pitchFamily="18" charset="0"/>
            </a:endParaRPr>
          </a:p>
        </p:txBody>
      </p:sp>
      <p:sp>
        <p:nvSpPr>
          <p:cNvPr id="46110" name="Rectangle 30"/>
          <p:cNvSpPr/>
          <p:nvPr/>
        </p:nvSpPr>
        <p:spPr>
          <a:xfrm>
            <a:off x="0" y="4149725"/>
            <a:ext cx="2700338" cy="2349500"/>
          </a:xfrm>
          <a:prstGeom prst="rect">
            <a:avLst/>
          </a:prstGeom>
          <a:solidFill>
            <a:srgbClr val="FFFF99"/>
          </a:solidFill>
          <a:ln w="12700" cap="flat" cmpd="sng">
            <a:solidFill>
              <a:srgbClr val="FF0000"/>
            </a:solidFill>
            <a:prstDash val="solid"/>
            <a:miter/>
            <a:headEnd type="none" w="med" len="med"/>
            <a:tailEnd type="none" w="lg" len="lg"/>
          </a:ln>
        </p:spPr>
        <p:txBody>
          <a:bodyPr wrap="none" anchor="ctr"/>
          <a:p>
            <a:pPr>
              <a:lnSpc>
                <a:spcPct val="90000"/>
              </a:lnSpc>
              <a:buClr>
                <a:schemeClr val="bg2"/>
              </a:buClr>
              <a:buSzPct val="75000"/>
              <a:buFont typeface="Wingdings" panose="05000000000000000000" pitchFamily="2" charset="2"/>
              <a:buChar char="n"/>
            </a:pPr>
            <a:r>
              <a:rPr lang="en-US" altLang="zh-CN" sz="2800" b="1" u="none" dirty="0">
                <a:solidFill>
                  <a:schemeClr val="tx1"/>
                </a:solidFill>
                <a:latin typeface="Arial" panose="020B0604020202020204" pitchFamily="34" charset="0"/>
              </a:rPr>
              <a:t>G(E):</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E→TE</a:t>
            </a:r>
            <a:r>
              <a:rPr lang="en-US" altLang="zh-CN" sz="2800" b="1" u="none" dirty="0">
                <a:solidFill>
                  <a:schemeClr val="tx1"/>
                </a:solidFill>
                <a:latin typeface="Arial" panose="020B0604020202020204" pitchFamily="34" charset="0"/>
                <a:sym typeface="Symbol" panose="05050102010706020507" pitchFamily="18" charset="2"/>
              </a:rPr>
              <a:t></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E</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→+TE</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 | </a:t>
            </a:r>
            <a:r>
              <a:rPr lang="en-US" altLang="zh-CN" sz="2800" b="1" u="none" dirty="0">
                <a:solidFill>
                  <a:schemeClr val="tx1"/>
                </a:solidFill>
                <a:latin typeface="Arial" panose="020B0604020202020204" pitchFamily="34" charset="0"/>
                <a:sym typeface="Symbol" panose="05050102010706020507" pitchFamily="18" charset="2"/>
              </a:rPr>
              <a:t></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T→FT</a:t>
            </a:r>
            <a:r>
              <a:rPr lang="en-US" altLang="zh-CN" sz="2800" b="1" u="none" dirty="0">
                <a:solidFill>
                  <a:schemeClr val="tx1"/>
                </a:solidFill>
                <a:latin typeface="Arial" panose="020B0604020202020204" pitchFamily="34" charset="0"/>
                <a:sym typeface="Symbol" panose="05050102010706020507" pitchFamily="18" charset="2"/>
              </a:rPr>
              <a:t></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T</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→*FT</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 | </a:t>
            </a:r>
            <a:r>
              <a:rPr lang="en-US" altLang="zh-CN" sz="2800" b="1" u="none" dirty="0">
                <a:solidFill>
                  <a:schemeClr val="tx1"/>
                </a:solidFill>
                <a:latin typeface="Arial" panose="020B0604020202020204" pitchFamily="34" charset="0"/>
                <a:sym typeface="Symbol" panose="05050102010706020507" pitchFamily="18" charset="2"/>
              </a:rPr>
              <a:t></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F→(E) | i</a:t>
            </a:r>
            <a:endParaRPr lang="en-GB" altLang="zh-CN" sz="1600" u="none" dirty="0">
              <a:solidFill>
                <a:schemeClr val="tx1"/>
              </a:solidFill>
              <a:latin typeface="Arial" panose="020B0604020202020204" pitchFamily="34" charset="0"/>
            </a:endParaRPr>
          </a:p>
        </p:txBody>
      </p:sp>
    </p:spTree>
  </p:cSld>
  <p:clrMapOvr>
    <a:masterClrMapping/>
  </p:clrMapOvr>
  <p:transition spd="med">
    <p:zo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5"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47106" name="Text Box 2"/>
          <p:cNvSpPr txBox="1"/>
          <p:nvPr/>
        </p:nvSpPr>
        <p:spPr>
          <a:xfrm>
            <a:off x="457200" y="2152650"/>
            <a:ext cx="1912938" cy="641350"/>
          </a:xfrm>
          <a:prstGeom prst="rect">
            <a:avLst/>
          </a:prstGeom>
          <a:noFill/>
          <a:ln w="12700">
            <a:noFill/>
          </a:ln>
        </p:spPr>
        <p:txBody>
          <a:bodyPr anchor="t">
            <a:spAutoFit/>
          </a:bodyPr>
          <a:p>
            <a:pPr algn="ctr"/>
            <a:r>
              <a:rPr lang="en-US" altLang="zh-CN" sz="3600" b="1" u="none" dirty="0">
                <a:solidFill>
                  <a:schemeClr val="tx1"/>
                </a:solidFill>
                <a:latin typeface="Times New Roman" panose="02020603050405020304" pitchFamily="18" charset="0"/>
              </a:rPr>
              <a:t>i   +   i </a:t>
            </a:r>
            <a:endParaRPr lang="en-US" altLang="zh-CN" sz="3600" b="1" u="none" dirty="0">
              <a:solidFill>
                <a:schemeClr val="tx1"/>
              </a:solidFill>
              <a:latin typeface="Times New Roman" panose="02020603050405020304" pitchFamily="18" charset="0"/>
            </a:endParaRPr>
          </a:p>
        </p:txBody>
      </p:sp>
      <p:sp>
        <p:nvSpPr>
          <p:cNvPr id="47107" name="Line 3"/>
          <p:cNvSpPr/>
          <p:nvPr/>
        </p:nvSpPr>
        <p:spPr>
          <a:xfrm flipV="1">
            <a:off x="2166938" y="2819400"/>
            <a:ext cx="0" cy="533400"/>
          </a:xfrm>
          <a:prstGeom prst="line">
            <a:avLst/>
          </a:prstGeom>
          <a:ln w="19050" cap="flat" cmpd="sng">
            <a:solidFill>
              <a:schemeClr val="tx1"/>
            </a:solidFill>
            <a:prstDash val="solid"/>
            <a:round/>
            <a:headEnd type="none" w="med" len="med"/>
            <a:tailEnd type="stealth" w="lg" len="lg"/>
          </a:ln>
        </p:spPr>
      </p:sp>
      <p:sp>
        <p:nvSpPr>
          <p:cNvPr id="47108" name="Text Box 4"/>
          <p:cNvSpPr txBox="1"/>
          <p:nvPr/>
        </p:nvSpPr>
        <p:spPr>
          <a:xfrm>
            <a:off x="1898650" y="3495675"/>
            <a:ext cx="539750" cy="519113"/>
          </a:xfrm>
          <a:prstGeom prst="rect">
            <a:avLst/>
          </a:prstGeom>
          <a:noFill/>
          <a:ln w="12700">
            <a:noFill/>
          </a:ln>
        </p:spPr>
        <p:txBody>
          <a:bodyPr wrap="none" anchor="t">
            <a:spAutoFit/>
          </a:bodyPr>
          <a:p>
            <a:pPr algn="ctr"/>
            <a:r>
              <a:rPr lang="en-US" altLang="zh-CN" sz="2800" b="1" u="none" dirty="0">
                <a:solidFill>
                  <a:schemeClr val="tx1"/>
                </a:solidFill>
                <a:latin typeface="Times New Roman" panose="02020603050405020304" pitchFamily="18" charset="0"/>
              </a:rPr>
              <a:t>IP</a:t>
            </a:r>
            <a:endParaRPr lang="en-US" altLang="zh-CN" sz="2800" b="1" u="none" dirty="0">
              <a:solidFill>
                <a:schemeClr val="tx1"/>
              </a:solidFill>
              <a:latin typeface="Times New Roman" panose="02020603050405020304" pitchFamily="18" charset="0"/>
            </a:endParaRPr>
          </a:p>
        </p:txBody>
      </p:sp>
      <p:sp>
        <p:nvSpPr>
          <p:cNvPr id="47109" name="Text Box 5"/>
          <p:cNvSpPr txBox="1"/>
          <p:nvPr/>
        </p:nvSpPr>
        <p:spPr>
          <a:xfrm>
            <a:off x="5030788" y="228600"/>
            <a:ext cx="455612" cy="579438"/>
          </a:xfrm>
          <a:prstGeom prst="rect">
            <a:avLst/>
          </a:prstGeom>
          <a:noFill/>
          <a:ln w="12700">
            <a:noFill/>
          </a:ln>
        </p:spPr>
        <p:txBody>
          <a:bodyPr wrap="none" anchor="t">
            <a:spAutoFit/>
          </a:bodyPr>
          <a:p>
            <a:pPr algn="ctr"/>
            <a:r>
              <a:rPr lang="en-US" altLang="zh-CN" sz="3200" b="1" u="none" dirty="0">
                <a:solidFill>
                  <a:schemeClr val="tx1"/>
                </a:solidFill>
                <a:latin typeface="Times New Roman" panose="02020603050405020304" pitchFamily="18" charset="0"/>
              </a:rPr>
              <a:t>E</a:t>
            </a:r>
            <a:endParaRPr lang="en-US" altLang="zh-CN" sz="3200" b="1" u="none" dirty="0">
              <a:solidFill>
                <a:schemeClr val="tx1"/>
              </a:solidFill>
              <a:latin typeface="Times New Roman" panose="02020603050405020304" pitchFamily="18" charset="0"/>
            </a:endParaRPr>
          </a:p>
        </p:txBody>
      </p:sp>
      <p:sp>
        <p:nvSpPr>
          <p:cNvPr id="47110" name="Line 6"/>
          <p:cNvSpPr/>
          <p:nvPr/>
        </p:nvSpPr>
        <p:spPr>
          <a:xfrm flipH="1">
            <a:off x="4038600" y="731838"/>
            <a:ext cx="1143000" cy="685800"/>
          </a:xfrm>
          <a:prstGeom prst="line">
            <a:avLst/>
          </a:prstGeom>
          <a:ln w="19050" cap="flat" cmpd="sng">
            <a:solidFill>
              <a:schemeClr val="tx1"/>
            </a:solidFill>
            <a:prstDash val="solid"/>
            <a:round/>
            <a:headEnd type="none" w="med" len="med"/>
            <a:tailEnd type="none" w="lg" len="lg"/>
          </a:ln>
        </p:spPr>
      </p:sp>
      <p:sp>
        <p:nvSpPr>
          <p:cNvPr id="47111" name="Line 7"/>
          <p:cNvSpPr/>
          <p:nvPr/>
        </p:nvSpPr>
        <p:spPr>
          <a:xfrm>
            <a:off x="5334000" y="731838"/>
            <a:ext cx="1295400" cy="685800"/>
          </a:xfrm>
          <a:prstGeom prst="line">
            <a:avLst/>
          </a:prstGeom>
          <a:ln w="19050" cap="flat" cmpd="sng">
            <a:solidFill>
              <a:schemeClr val="tx1"/>
            </a:solidFill>
            <a:prstDash val="solid"/>
            <a:round/>
            <a:headEnd type="none" w="med" len="med"/>
            <a:tailEnd type="none" w="lg" len="lg"/>
          </a:ln>
        </p:spPr>
      </p:sp>
      <p:sp>
        <p:nvSpPr>
          <p:cNvPr id="47112" name="Text Box 8"/>
          <p:cNvSpPr txBox="1"/>
          <p:nvPr/>
        </p:nvSpPr>
        <p:spPr>
          <a:xfrm>
            <a:off x="3810000" y="1417638"/>
            <a:ext cx="455613" cy="579437"/>
          </a:xfrm>
          <a:prstGeom prst="rect">
            <a:avLst/>
          </a:prstGeom>
          <a:noFill/>
          <a:ln w="12700">
            <a:noFill/>
          </a:ln>
        </p:spPr>
        <p:txBody>
          <a:bodyPr wrap="none" anchor="t">
            <a:spAutoFit/>
          </a:bodyPr>
          <a:p>
            <a:pPr algn="ctr"/>
            <a:r>
              <a:rPr lang="en-US" altLang="zh-CN" sz="3200" b="1" u="none" dirty="0">
                <a:solidFill>
                  <a:schemeClr val="tx1"/>
                </a:solidFill>
                <a:latin typeface="Times New Roman" panose="02020603050405020304" pitchFamily="18" charset="0"/>
              </a:rPr>
              <a:t>T</a:t>
            </a:r>
            <a:endParaRPr lang="en-US" altLang="zh-CN" sz="3200" b="1" u="none" dirty="0">
              <a:solidFill>
                <a:schemeClr val="tx1"/>
              </a:solidFill>
              <a:latin typeface="Times New Roman" panose="02020603050405020304" pitchFamily="18" charset="0"/>
            </a:endParaRPr>
          </a:p>
        </p:txBody>
      </p:sp>
      <p:sp>
        <p:nvSpPr>
          <p:cNvPr id="47113" name="Text Box 9"/>
          <p:cNvSpPr txBox="1"/>
          <p:nvPr/>
        </p:nvSpPr>
        <p:spPr>
          <a:xfrm>
            <a:off x="6257925" y="1417638"/>
            <a:ext cx="590550" cy="579437"/>
          </a:xfrm>
          <a:prstGeom prst="rect">
            <a:avLst/>
          </a:prstGeom>
          <a:noFill/>
          <a:ln w="12700">
            <a:noFill/>
          </a:ln>
        </p:spPr>
        <p:txBody>
          <a:bodyPr wrap="none" anchor="t">
            <a:spAutoFit/>
          </a:bodyPr>
          <a:p>
            <a:pPr algn="ctr"/>
            <a:r>
              <a:rPr lang="en-US" altLang="zh-CN" sz="3200" b="1" u="none" dirty="0">
                <a:solidFill>
                  <a:schemeClr val="tx1"/>
                </a:solidFill>
                <a:latin typeface="Times New Roman" panose="02020603050405020304" pitchFamily="18" charset="0"/>
              </a:rPr>
              <a:t>E’</a:t>
            </a:r>
            <a:endParaRPr lang="en-US" altLang="zh-CN" sz="3200" b="1" u="none" dirty="0">
              <a:solidFill>
                <a:schemeClr val="tx1"/>
              </a:solidFill>
              <a:latin typeface="Times New Roman" panose="02020603050405020304" pitchFamily="18" charset="0"/>
            </a:endParaRPr>
          </a:p>
        </p:txBody>
      </p:sp>
      <p:sp>
        <p:nvSpPr>
          <p:cNvPr id="47114" name="Line 10"/>
          <p:cNvSpPr/>
          <p:nvPr/>
        </p:nvSpPr>
        <p:spPr>
          <a:xfrm flipH="1">
            <a:off x="3200400" y="1874838"/>
            <a:ext cx="762000" cy="762000"/>
          </a:xfrm>
          <a:prstGeom prst="line">
            <a:avLst/>
          </a:prstGeom>
          <a:ln w="19050" cap="flat" cmpd="sng">
            <a:solidFill>
              <a:schemeClr val="tx1"/>
            </a:solidFill>
            <a:prstDash val="solid"/>
            <a:round/>
            <a:headEnd type="none" w="med" len="med"/>
            <a:tailEnd type="none" w="lg" len="lg"/>
          </a:ln>
        </p:spPr>
      </p:sp>
      <p:sp>
        <p:nvSpPr>
          <p:cNvPr id="47115" name="Line 11"/>
          <p:cNvSpPr/>
          <p:nvPr/>
        </p:nvSpPr>
        <p:spPr>
          <a:xfrm>
            <a:off x="4038600" y="1874838"/>
            <a:ext cx="685800" cy="762000"/>
          </a:xfrm>
          <a:prstGeom prst="line">
            <a:avLst/>
          </a:prstGeom>
          <a:ln w="19050" cap="flat" cmpd="sng">
            <a:solidFill>
              <a:schemeClr val="tx1"/>
            </a:solidFill>
            <a:prstDash val="solid"/>
            <a:round/>
            <a:headEnd type="none" w="med" len="med"/>
            <a:tailEnd type="none" w="lg" len="lg"/>
          </a:ln>
        </p:spPr>
      </p:sp>
      <p:sp>
        <p:nvSpPr>
          <p:cNvPr id="47116" name="Text Box 12"/>
          <p:cNvSpPr txBox="1"/>
          <p:nvPr/>
        </p:nvSpPr>
        <p:spPr>
          <a:xfrm>
            <a:off x="2921000" y="2667000"/>
            <a:ext cx="431800" cy="579438"/>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F</a:t>
            </a:r>
            <a:endParaRPr lang="en-US" altLang="zh-CN" sz="3200" b="1" u="none" dirty="0">
              <a:solidFill>
                <a:schemeClr val="tx1"/>
              </a:solidFill>
              <a:latin typeface="Times New Roman" panose="02020603050405020304" pitchFamily="18" charset="0"/>
            </a:endParaRPr>
          </a:p>
        </p:txBody>
      </p:sp>
      <p:sp>
        <p:nvSpPr>
          <p:cNvPr id="47117" name="Text Box 13"/>
          <p:cNvSpPr txBox="1"/>
          <p:nvPr/>
        </p:nvSpPr>
        <p:spPr>
          <a:xfrm>
            <a:off x="4495800" y="2667000"/>
            <a:ext cx="590550" cy="579438"/>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T’</a:t>
            </a:r>
            <a:endParaRPr lang="en-US" altLang="zh-CN" sz="3200" b="1" u="none" dirty="0">
              <a:solidFill>
                <a:schemeClr val="tx1"/>
              </a:solidFill>
              <a:latin typeface="Times New Roman" panose="02020603050405020304" pitchFamily="18" charset="0"/>
            </a:endParaRPr>
          </a:p>
        </p:txBody>
      </p:sp>
      <p:sp>
        <p:nvSpPr>
          <p:cNvPr id="47118" name="Line 14"/>
          <p:cNvSpPr/>
          <p:nvPr/>
        </p:nvSpPr>
        <p:spPr>
          <a:xfrm>
            <a:off x="3135313" y="3170238"/>
            <a:ext cx="0" cy="838200"/>
          </a:xfrm>
          <a:prstGeom prst="line">
            <a:avLst/>
          </a:prstGeom>
          <a:ln w="19050" cap="flat" cmpd="sng">
            <a:solidFill>
              <a:schemeClr val="tx1"/>
            </a:solidFill>
            <a:prstDash val="solid"/>
            <a:round/>
            <a:headEnd type="none" w="med" len="med"/>
            <a:tailEnd type="none" w="lg" len="lg"/>
          </a:ln>
        </p:spPr>
      </p:sp>
      <p:sp>
        <p:nvSpPr>
          <p:cNvPr id="47119" name="Text Box 15"/>
          <p:cNvSpPr txBox="1"/>
          <p:nvPr/>
        </p:nvSpPr>
        <p:spPr>
          <a:xfrm>
            <a:off x="2982913" y="4008438"/>
            <a:ext cx="296862" cy="579437"/>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i</a:t>
            </a:r>
            <a:endParaRPr lang="en-US" altLang="zh-CN" sz="3200" b="1" u="none" dirty="0">
              <a:solidFill>
                <a:schemeClr val="tx1"/>
              </a:solidFill>
              <a:latin typeface="Times New Roman" panose="02020603050405020304" pitchFamily="18" charset="0"/>
            </a:endParaRPr>
          </a:p>
        </p:txBody>
      </p:sp>
      <p:sp>
        <p:nvSpPr>
          <p:cNvPr id="47120" name="Line 16"/>
          <p:cNvSpPr/>
          <p:nvPr/>
        </p:nvSpPr>
        <p:spPr>
          <a:xfrm>
            <a:off x="4714875" y="3246438"/>
            <a:ext cx="0" cy="838200"/>
          </a:xfrm>
          <a:prstGeom prst="line">
            <a:avLst/>
          </a:prstGeom>
          <a:ln w="19050" cap="flat" cmpd="sng">
            <a:solidFill>
              <a:schemeClr val="tx1"/>
            </a:solidFill>
            <a:prstDash val="solid"/>
            <a:round/>
            <a:headEnd type="none" w="med" len="med"/>
            <a:tailEnd type="none" w="lg" len="lg"/>
          </a:ln>
        </p:spPr>
      </p:sp>
      <p:sp>
        <p:nvSpPr>
          <p:cNvPr id="47121" name="Text Box 17"/>
          <p:cNvSpPr txBox="1"/>
          <p:nvPr/>
        </p:nvSpPr>
        <p:spPr>
          <a:xfrm>
            <a:off x="4529138" y="4076700"/>
            <a:ext cx="363537" cy="579438"/>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sym typeface="Symbol" panose="05050102010706020507" pitchFamily="18" charset="2"/>
              </a:rPr>
              <a:t></a:t>
            </a:r>
            <a:endParaRPr lang="en-US" altLang="zh-CN" sz="3200" b="1" u="none" dirty="0">
              <a:solidFill>
                <a:schemeClr val="tx1"/>
              </a:solidFill>
              <a:latin typeface="Times New Roman" panose="02020603050405020304" pitchFamily="18" charset="0"/>
            </a:endParaRPr>
          </a:p>
        </p:txBody>
      </p:sp>
      <p:sp>
        <p:nvSpPr>
          <p:cNvPr id="47122" name="Line 18"/>
          <p:cNvSpPr/>
          <p:nvPr/>
        </p:nvSpPr>
        <p:spPr>
          <a:xfrm flipH="1">
            <a:off x="5715000" y="1951038"/>
            <a:ext cx="838200" cy="762000"/>
          </a:xfrm>
          <a:prstGeom prst="line">
            <a:avLst/>
          </a:prstGeom>
          <a:ln w="19050" cap="flat" cmpd="sng">
            <a:solidFill>
              <a:schemeClr val="tx1"/>
            </a:solidFill>
            <a:prstDash val="solid"/>
            <a:round/>
            <a:headEnd type="none" w="med" len="med"/>
            <a:tailEnd type="none" w="lg" len="lg"/>
          </a:ln>
        </p:spPr>
      </p:sp>
      <p:sp>
        <p:nvSpPr>
          <p:cNvPr id="47123" name="Line 19"/>
          <p:cNvSpPr/>
          <p:nvPr/>
        </p:nvSpPr>
        <p:spPr>
          <a:xfrm>
            <a:off x="6629400" y="1951038"/>
            <a:ext cx="228600" cy="685800"/>
          </a:xfrm>
          <a:prstGeom prst="line">
            <a:avLst/>
          </a:prstGeom>
          <a:ln w="19050" cap="flat" cmpd="sng">
            <a:solidFill>
              <a:schemeClr val="tx1"/>
            </a:solidFill>
            <a:prstDash val="solid"/>
            <a:round/>
            <a:headEnd type="none" w="med" len="med"/>
            <a:tailEnd type="none" w="lg" len="lg"/>
          </a:ln>
        </p:spPr>
      </p:sp>
      <p:sp>
        <p:nvSpPr>
          <p:cNvPr id="47124" name="Line 20"/>
          <p:cNvSpPr/>
          <p:nvPr/>
        </p:nvSpPr>
        <p:spPr>
          <a:xfrm>
            <a:off x="6705600" y="1874838"/>
            <a:ext cx="1524000" cy="838200"/>
          </a:xfrm>
          <a:prstGeom prst="line">
            <a:avLst/>
          </a:prstGeom>
          <a:ln w="19050" cap="flat" cmpd="sng">
            <a:solidFill>
              <a:schemeClr val="tx1"/>
            </a:solidFill>
            <a:prstDash val="solid"/>
            <a:round/>
            <a:headEnd type="none" w="med" len="med"/>
            <a:tailEnd type="none" w="lg" len="lg"/>
          </a:ln>
        </p:spPr>
      </p:sp>
      <p:sp>
        <p:nvSpPr>
          <p:cNvPr id="47125" name="Text Box 21"/>
          <p:cNvSpPr txBox="1"/>
          <p:nvPr/>
        </p:nvSpPr>
        <p:spPr>
          <a:xfrm>
            <a:off x="5486400" y="2713038"/>
            <a:ext cx="415925" cy="579437"/>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a:t>
            </a:r>
            <a:endParaRPr lang="en-US" altLang="zh-CN" sz="3200" b="1" u="none" dirty="0">
              <a:solidFill>
                <a:schemeClr val="tx1"/>
              </a:solidFill>
              <a:latin typeface="Times New Roman" panose="02020603050405020304" pitchFamily="18" charset="0"/>
            </a:endParaRPr>
          </a:p>
        </p:txBody>
      </p:sp>
      <p:sp>
        <p:nvSpPr>
          <p:cNvPr id="47126" name="Text Box 22"/>
          <p:cNvSpPr txBox="1"/>
          <p:nvPr/>
        </p:nvSpPr>
        <p:spPr>
          <a:xfrm>
            <a:off x="6629400" y="2713038"/>
            <a:ext cx="455613" cy="579437"/>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T</a:t>
            </a:r>
            <a:endParaRPr lang="en-US" altLang="zh-CN" sz="3200" b="1" u="none" dirty="0">
              <a:solidFill>
                <a:schemeClr val="tx1"/>
              </a:solidFill>
              <a:latin typeface="Times New Roman" panose="02020603050405020304" pitchFamily="18" charset="0"/>
            </a:endParaRPr>
          </a:p>
        </p:txBody>
      </p:sp>
      <p:sp>
        <p:nvSpPr>
          <p:cNvPr id="47127" name="Text Box 23"/>
          <p:cNvSpPr txBox="1"/>
          <p:nvPr/>
        </p:nvSpPr>
        <p:spPr>
          <a:xfrm>
            <a:off x="8010525" y="2713038"/>
            <a:ext cx="590550" cy="579437"/>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E’</a:t>
            </a:r>
            <a:endParaRPr lang="en-US" altLang="zh-CN" sz="3200" b="1" u="none" dirty="0">
              <a:solidFill>
                <a:schemeClr val="tx1"/>
              </a:solidFill>
              <a:latin typeface="Times New Roman" panose="02020603050405020304" pitchFamily="18" charset="0"/>
            </a:endParaRPr>
          </a:p>
        </p:txBody>
      </p:sp>
      <p:sp>
        <p:nvSpPr>
          <p:cNvPr id="47128" name="Line 24"/>
          <p:cNvSpPr/>
          <p:nvPr/>
        </p:nvSpPr>
        <p:spPr>
          <a:xfrm flipH="1">
            <a:off x="6172200" y="3246438"/>
            <a:ext cx="685800" cy="685800"/>
          </a:xfrm>
          <a:prstGeom prst="line">
            <a:avLst/>
          </a:prstGeom>
          <a:ln w="19050" cap="flat" cmpd="sng">
            <a:solidFill>
              <a:schemeClr val="tx1"/>
            </a:solidFill>
            <a:prstDash val="solid"/>
            <a:round/>
            <a:headEnd type="none" w="med" len="med"/>
            <a:tailEnd type="none" w="lg" len="lg"/>
          </a:ln>
        </p:spPr>
      </p:sp>
      <p:sp>
        <p:nvSpPr>
          <p:cNvPr id="47129" name="Line 25"/>
          <p:cNvSpPr/>
          <p:nvPr/>
        </p:nvSpPr>
        <p:spPr>
          <a:xfrm>
            <a:off x="6934200" y="3246438"/>
            <a:ext cx="685800" cy="685800"/>
          </a:xfrm>
          <a:prstGeom prst="line">
            <a:avLst/>
          </a:prstGeom>
          <a:ln w="19050" cap="flat" cmpd="sng">
            <a:solidFill>
              <a:schemeClr val="tx1"/>
            </a:solidFill>
            <a:prstDash val="solid"/>
            <a:round/>
            <a:headEnd type="none" w="med" len="med"/>
            <a:tailEnd type="none" w="lg" len="lg"/>
          </a:ln>
        </p:spPr>
      </p:sp>
      <p:sp>
        <p:nvSpPr>
          <p:cNvPr id="47130" name="Text Box 26"/>
          <p:cNvSpPr txBox="1"/>
          <p:nvPr/>
        </p:nvSpPr>
        <p:spPr>
          <a:xfrm>
            <a:off x="5872163" y="3932238"/>
            <a:ext cx="431800" cy="579437"/>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F</a:t>
            </a:r>
            <a:endParaRPr lang="en-US" altLang="zh-CN" sz="3200" b="1" u="none" dirty="0">
              <a:solidFill>
                <a:schemeClr val="tx1"/>
              </a:solidFill>
              <a:latin typeface="Times New Roman" panose="02020603050405020304" pitchFamily="18" charset="0"/>
            </a:endParaRPr>
          </a:p>
        </p:txBody>
      </p:sp>
      <p:sp>
        <p:nvSpPr>
          <p:cNvPr id="47131" name="Text Box 27"/>
          <p:cNvSpPr txBox="1"/>
          <p:nvPr/>
        </p:nvSpPr>
        <p:spPr>
          <a:xfrm>
            <a:off x="7315200" y="3932238"/>
            <a:ext cx="590550" cy="579437"/>
          </a:xfrm>
          <a:prstGeom prst="rect">
            <a:avLst/>
          </a:prstGeom>
          <a:noFill/>
          <a:ln w="19050">
            <a:noFill/>
          </a:ln>
        </p:spPr>
        <p:txBody>
          <a:bodyPr wrap="none" anchor="t">
            <a:spAutoFit/>
          </a:bodyPr>
          <a:p>
            <a:pPr algn="ctr"/>
            <a:r>
              <a:rPr lang="en-US" altLang="zh-CN" sz="3200" b="1" u="none" dirty="0">
                <a:solidFill>
                  <a:srgbClr val="FF0000"/>
                </a:solidFill>
                <a:latin typeface="Times New Roman" panose="02020603050405020304" pitchFamily="18" charset="0"/>
              </a:rPr>
              <a:t>T’</a:t>
            </a:r>
            <a:endParaRPr lang="en-US" altLang="zh-CN" sz="3200" b="1" u="none" dirty="0">
              <a:solidFill>
                <a:srgbClr val="FF0000"/>
              </a:solidFill>
              <a:latin typeface="Times New Roman" panose="02020603050405020304" pitchFamily="18" charset="0"/>
            </a:endParaRPr>
          </a:p>
        </p:txBody>
      </p:sp>
      <p:sp>
        <p:nvSpPr>
          <p:cNvPr id="47132" name="Line 28"/>
          <p:cNvSpPr/>
          <p:nvPr/>
        </p:nvSpPr>
        <p:spPr>
          <a:xfrm>
            <a:off x="6040438" y="4533900"/>
            <a:ext cx="0" cy="838200"/>
          </a:xfrm>
          <a:prstGeom prst="line">
            <a:avLst/>
          </a:prstGeom>
          <a:ln w="19050" cap="flat" cmpd="sng">
            <a:solidFill>
              <a:schemeClr val="tx1"/>
            </a:solidFill>
            <a:prstDash val="solid"/>
            <a:round/>
            <a:headEnd type="none" w="med" len="med"/>
            <a:tailEnd type="none" w="lg" len="lg"/>
          </a:ln>
        </p:spPr>
      </p:sp>
      <p:sp>
        <p:nvSpPr>
          <p:cNvPr id="47133" name="Text Box 29"/>
          <p:cNvSpPr txBox="1"/>
          <p:nvPr/>
        </p:nvSpPr>
        <p:spPr>
          <a:xfrm>
            <a:off x="5888038" y="5372100"/>
            <a:ext cx="296862" cy="579438"/>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i</a:t>
            </a:r>
            <a:endParaRPr lang="en-US" altLang="zh-CN" sz="3200" b="1" u="none" dirty="0">
              <a:solidFill>
                <a:schemeClr val="tx1"/>
              </a:solidFill>
              <a:latin typeface="Times New Roman" panose="02020603050405020304" pitchFamily="18" charset="0"/>
            </a:endParaRPr>
          </a:p>
        </p:txBody>
      </p:sp>
      <p:sp>
        <p:nvSpPr>
          <p:cNvPr id="47134" name="Rectangle 30"/>
          <p:cNvSpPr/>
          <p:nvPr/>
        </p:nvSpPr>
        <p:spPr>
          <a:xfrm>
            <a:off x="0" y="4149725"/>
            <a:ext cx="2700338" cy="2349500"/>
          </a:xfrm>
          <a:prstGeom prst="rect">
            <a:avLst/>
          </a:prstGeom>
          <a:solidFill>
            <a:srgbClr val="FFFF99"/>
          </a:solidFill>
          <a:ln w="12700" cap="flat" cmpd="sng">
            <a:solidFill>
              <a:srgbClr val="FF0000"/>
            </a:solidFill>
            <a:prstDash val="solid"/>
            <a:miter/>
            <a:headEnd type="none" w="med" len="med"/>
            <a:tailEnd type="none" w="lg" len="lg"/>
          </a:ln>
        </p:spPr>
        <p:txBody>
          <a:bodyPr wrap="none" anchor="ctr"/>
          <a:p>
            <a:pPr>
              <a:lnSpc>
                <a:spcPct val="90000"/>
              </a:lnSpc>
              <a:buClr>
                <a:schemeClr val="bg2"/>
              </a:buClr>
              <a:buSzPct val="75000"/>
              <a:buFont typeface="Wingdings" panose="05000000000000000000" pitchFamily="2" charset="2"/>
              <a:buChar char="n"/>
            </a:pPr>
            <a:r>
              <a:rPr lang="en-US" altLang="zh-CN" sz="2800" b="1" u="none" dirty="0">
                <a:solidFill>
                  <a:schemeClr val="tx1"/>
                </a:solidFill>
                <a:latin typeface="Arial" panose="020B0604020202020204" pitchFamily="34" charset="0"/>
              </a:rPr>
              <a:t>G(E):</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E→TE</a:t>
            </a:r>
            <a:r>
              <a:rPr lang="en-US" altLang="zh-CN" sz="2800" b="1" u="none" dirty="0">
                <a:solidFill>
                  <a:schemeClr val="tx1"/>
                </a:solidFill>
                <a:latin typeface="Arial" panose="020B0604020202020204" pitchFamily="34" charset="0"/>
                <a:sym typeface="Symbol" panose="05050102010706020507" pitchFamily="18" charset="2"/>
              </a:rPr>
              <a:t></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E</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→+TE</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 | </a:t>
            </a:r>
            <a:r>
              <a:rPr lang="en-US" altLang="zh-CN" sz="2800" b="1" u="none" dirty="0">
                <a:solidFill>
                  <a:schemeClr val="tx1"/>
                </a:solidFill>
                <a:latin typeface="Arial" panose="020B0604020202020204" pitchFamily="34" charset="0"/>
                <a:sym typeface="Symbol" panose="05050102010706020507" pitchFamily="18" charset="2"/>
              </a:rPr>
              <a:t></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T→FT</a:t>
            </a:r>
            <a:r>
              <a:rPr lang="en-US" altLang="zh-CN" sz="2800" b="1" u="none" dirty="0">
                <a:solidFill>
                  <a:schemeClr val="tx1"/>
                </a:solidFill>
                <a:latin typeface="Arial" panose="020B0604020202020204" pitchFamily="34" charset="0"/>
                <a:sym typeface="Symbol" panose="05050102010706020507" pitchFamily="18" charset="2"/>
              </a:rPr>
              <a:t></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T</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→*FT</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 | </a:t>
            </a:r>
            <a:r>
              <a:rPr lang="en-US" altLang="zh-CN" sz="2800" b="1" u="none" dirty="0">
                <a:solidFill>
                  <a:schemeClr val="tx1"/>
                </a:solidFill>
                <a:latin typeface="Arial" panose="020B0604020202020204" pitchFamily="34" charset="0"/>
                <a:sym typeface="Symbol" panose="05050102010706020507" pitchFamily="18" charset="2"/>
              </a:rPr>
              <a:t></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F→(E) | i</a:t>
            </a:r>
            <a:endParaRPr lang="en-GB" altLang="zh-CN" sz="1600" u="none" dirty="0">
              <a:solidFill>
                <a:schemeClr val="tx1"/>
              </a:solidFill>
              <a:latin typeface="Arial" panose="020B0604020202020204" pitchFamily="34" charset="0"/>
            </a:endParaRPr>
          </a:p>
        </p:txBody>
      </p:sp>
    </p:spTree>
  </p:cSld>
  <p:clrMapOvr>
    <a:masterClrMapping/>
  </p:clrMapOvr>
  <p:transition spd="med">
    <p:zoom/>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29"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48130" name="Text Box 2"/>
          <p:cNvSpPr txBox="1"/>
          <p:nvPr/>
        </p:nvSpPr>
        <p:spPr>
          <a:xfrm>
            <a:off x="457200" y="2152650"/>
            <a:ext cx="1912938" cy="641350"/>
          </a:xfrm>
          <a:prstGeom prst="rect">
            <a:avLst/>
          </a:prstGeom>
          <a:noFill/>
          <a:ln w="12700">
            <a:noFill/>
          </a:ln>
        </p:spPr>
        <p:txBody>
          <a:bodyPr anchor="t">
            <a:spAutoFit/>
          </a:bodyPr>
          <a:p>
            <a:pPr algn="ctr"/>
            <a:r>
              <a:rPr lang="en-US" altLang="zh-CN" sz="3600" b="1" u="none" dirty="0">
                <a:solidFill>
                  <a:schemeClr val="tx1"/>
                </a:solidFill>
                <a:latin typeface="Times New Roman" panose="02020603050405020304" pitchFamily="18" charset="0"/>
              </a:rPr>
              <a:t>i   +   i </a:t>
            </a:r>
            <a:endParaRPr lang="en-US" altLang="zh-CN" sz="3600" b="1" u="none" dirty="0">
              <a:solidFill>
                <a:schemeClr val="tx1"/>
              </a:solidFill>
              <a:latin typeface="Times New Roman" panose="02020603050405020304" pitchFamily="18" charset="0"/>
            </a:endParaRPr>
          </a:p>
        </p:txBody>
      </p:sp>
      <p:sp>
        <p:nvSpPr>
          <p:cNvPr id="48131" name="Line 3"/>
          <p:cNvSpPr/>
          <p:nvPr/>
        </p:nvSpPr>
        <p:spPr>
          <a:xfrm flipV="1">
            <a:off x="2166938" y="2819400"/>
            <a:ext cx="0" cy="533400"/>
          </a:xfrm>
          <a:prstGeom prst="line">
            <a:avLst/>
          </a:prstGeom>
          <a:ln w="19050" cap="flat" cmpd="sng">
            <a:solidFill>
              <a:schemeClr val="tx1"/>
            </a:solidFill>
            <a:prstDash val="solid"/>
            <a:round/>
            <a:headEnd type="none" w="med" len="med"/>
            <a:tailEnd type="stealth" w="lg" len="lg"/>
          </a:ln>
        </p:spPr>
      </p:sp>
      <p:sp>
        <p:nvSpPr>
          <p:cNvPr id="48132" name="Text Box 4"/>
          <p:cNvSpPr txBox="1"/>
          <p:nvPr/>
        </p:nvSpPr>
        <p:spPr>
          <a:xfrm>
            <a:off x="1898650" y="3495675"/>
            <a:ext cx="539750" cy="519113"/>
          </a:xfrm>
          <a:prstGeom prst="rect">
            <a:avLst/>
          </a:prstGeom>
          <a:noFill/>
          <a:ln w="12700">
            <a:noFill/>
          </a:ln>
        </p:spPr>
        <p:txBody>
          <a:bodyPr wrap="none" anchor="t">
            <a:spAutoFit/>
          </a:bodyPr>
          <a:p>
            <a:pPr algn="ctr"/>
            <a:r>
              <a:rPr lang="en-US" altLang="zh-CN" sz="2800" b="1" u="none" dirty="0">
                <a:solidFill>
                  <a:schemeClr val="tx1"/>
                </a:solidFill>
                <a:latin typeface="Times New Roman" panose="02020603050405020304" pitchFamily="18" charset="0"/>
              </a:rPr>
              <a:t>IP</a:t>
            </a:r>
            <a:endParaRPr lang="en-US" altLang="zh-CN" sz="2800" b="1" u="none" dirty="0">
              <a:solidFill>
                <a:schemeClr val="tx1"/>
              </a:solidFill>
              <a:latin typeface="Times New Roman" panose="02020603050405020304" pitchFamily="18" charset="0"/>
            </a:endParaRPr>
          </a:p>
        </p:txBody>
      </p:sp>
      <p:sp>
        <p:nvSpPr>
          <p:cNvPr id="48133" name="Text Box 5"/>
          <p:cNvSpPr txBox="1"/>
          <p:nvPr/>
        </p:nvSpPr>
        <p:spPr>
          <a:xfrm>
            <a:off x="5030788" y="228600"/>
            <a:ext cx="455612" cy="579438"/>
          </a:xfrm>
          <a:prstGeom prst="rect">
            <a:avLst/>
          </a:prstGeom>
          <a:noFill/>
          <a:ln w="12700">
            <a:noFill/>
          </a:ln>
        </p:spPr>
        <p:txBody>
          <a:bodyPr wrap="none" anchor="t">
            <a:spAutoFit/>
          </a:bodyPr>
          <a:p>
            <a:pPr algn="ctr"/>
            <a:r>
              <a:rPr lang="en-US" altLang="zh-CN" sz="3200" b="1" u="none" dirty="0">
                <a:solidFill>
                  <a:schemeClr val="tx1"/>
                </a:solidFill>
                <a:latin typeface="Times New Roman" panose="02020603050405020304" pitchFamily="18" charset="0"/>
              </a:rPr>
              <a:t>E</a:t>
            </a:r>
            <a:endParaRPr lang="en-US" altLang="zh-CN" sz="3200" b="1" u="none" dirty="0">
              <a:solidFill>
                <a:schemeClr val="tx1"/>
              </a:solidFill>
              <a:latin typeface="Times New Roman" panose="02020603050405020304" pitchFamily="18" charset="0"/>
            </a:endParaRPr>
          </a:p>
        </p:txBody>
      </p:sp>
      <p:sp>
        <p:nvSpPr>
          <p:cNvPr id="48134" name="Line 6"/>
          <p:cNvSpPr/>
          <p:nvPr/>
        </p:nvSpPr>
        <p:spPr>
          <a:xfrm flipH="1">
            <a:off x="4038600" y="731838"/>
            <a:ext cx="1143000" cy="685800"/>
          </a:xfrm>
          <a:prstGeom prst="line">
            <a:avLst/>
          </a:prstGeom>
          <a:ln w="19050" cap="flat" cmpd="sng">
            <a:solidFill>
              <a:schemeClr val="tx1"/>
            </a:solidFill>
            <a:prstDash val="solid"/>
            <a:round/>
            <a:headEnd type="none" w="med" len="med"/>
            <a:tailEnd type="none" w="lg" len="lg"/>
          </a:ln>
        </p:spPr>
      </p:sp>
      <p:sp>
        <p:nvSpPr>
          <p:cNvPr id="48135" name="Line 7"/>
          <p:cNvSpPr/>
          <p:nvPr/>
        </p:nvSpPr>
        <p:spPr>
          <a:xfrm>
            <a:off x="5334000" y="731838"/>
            <a:ext cx="1295400" cy="685800"/>
          </a:xfrm>
          <a:prstGeom prst="line">
            <a:avLst/>
          </a:prstGeom>
          <a:ln w="19050" cap="flat" cmpd="sng">
            <a:solidFill>
              <a:schemeClr val="tx1"/>
            </a:solidFill>
            <a:prstDash val="solid"/>
            <a:round/>
            <a:headEnd type="none" w="med" len="med"/>
            <a:tailEnd type="none" w="lg" len="lg"/>
          </a:ln>
        </p:spPr>
      </p:sp>
      <p:sp>
        <p:nvSpPr>
          <p:cNvPr id="48136" name="Text Box 8"/>
          <p:cNvSpPr txBox="1"/>
          <p:nvPr/>
        </p:nvSpPr>
        <p:spPr>
          <a:xfrm>
            <a:off x="3810000" y="1417638"/>
            <a:ext cx="455613" cy="579437"/>
          </a:xfrm>
          <a:prstGeom prst="rect">
            <a:avLst/>
          </a:prstGeom>
          <a:noFill/>
          <a:ln w="12700">
            <a:noFill/>
          </a:ln>
        </p:spPr>
        <p:txBody>
          <a:bodyPr wrap="none" anchor="t">
            <a:spAutoFit/>
          </a:bodyPr>
          <a:p>
            <a:pPr algn="ctr"/>
            <a:r>
              <a:rPr lang="en-US" altLang="zh-CN" sz="3200" b="1" u="none" dirty="0">
                <a:solidFill>
                  <a:schemeClr val="tx1"/>
                </a:solidFill>
                <a:latin typeface="Times New Roman" panose="02020603050405020304" pitchFamily="18" charset="0"/>
              </a:rPr>
              <a:t>T</a:t>
            </a:r>
            <a:endParaRPr lang="en-US" altLang="zh-CN" sz="3200" b="1" u="none" dirty="0">
              <a:solidFill>
                <a:schemeClr val="tx1"/>
              </a:solidFill>
              <a:latin typeface="Times New Roman" panose="02020603050405020304" pitchFamily="18" charset="0"/>
            </a:endParaRPr>
          </a:p>
        </p:txBody>
      </p:sp>
      <p:sp>
        <p:nvSpPr>
          <p:cNvPr id="48137" name="Text Box 9"/>
          <p:cNvSpPr txBox="1"/>
          <p:nvPr/>
        </p:nvSpPr>
        <p:spPr>
          <a:xfrm>
            <a:off x="6257925" y="1417638"/>
            <a:ext cx="590550" cy="579437"/>
          </a:xfrm>
          <a:prstGeom prst="rect">
            <a:avLst/>
          </a:prstGeom>
          <a:noFill/>
          <a:ln w="12700">
            <a:noFill/>
          </a:ln>
        </p:spPr>
        <p:txBody>
          <a:bodyPr wrap="none" anchor="t">
            <a:spAutoFit/>
          </a:bodyPr>
          <a:p>
            <a:pPr algn="ctr"/>
            <a:r>
              <a:rPr lang="en-US" altLang="zh-CN" sz="3200" b="1" u="none" dirty="0">
                <a:solidFill>
                  <a:schemeClr val="tx1"/>
                </a:solidFill>
                <a:latin typeface="Times New Roman" panose="02020603050405020304" pitchFamily="18" charset="0"/>
              </a:rPr>
              <a:t>E’</a:t>
            </a:r>
            <a:endParaRPr lang="en-US" altLang="zh-CN" sz="3200" b="1" u="none" dirty="0">
              <a:solidFill>
                <a:schemeClr val="tx1"/>
              </a:solidFill>
              <a:latin typeface="Times New Roman" panose="02020603050405020304" pitchFamily="18" charset="0"/>
            </a:endParaRPr>
          </a:p>
        </p:txBody>
      </p:sp>
      <p:sp>
        <p:nvSpPr>
          <p:cNvPr id="48138" name="Line 10"/>
          <p:cNvSpPr/>
          <p:nvPr/>
        </p:nvSpPr>
        <p:spPr>
          <a:xfrm flipH="1">
            <a:off x="3200400" y="1874838"/>
            <a:ext cx="762000" cy="762000"/>
          </a:xfrm>
          <a:prstGeom prst="line">
            <a:avLst/>
          </a:prstGeom>
          <a:ln w="19050" cap="flat" cmpd="sng">
            <a:solidFill>
              <a:schemeClr val="tx1"/>
            </a:solidFill>
            <a:prstDash val="solid"/>
            <a:round/>
            <a:headEnd type="none" w="med" len="med"/>
            <a:tailEnd type="none" w="lg" len="lg"/>
          </a:ln>
        </p:spPr>
      </p:sp>
      <p:sp>
        <p:nvSpPr>
          <p:cNvPr id="48139" name="Line 11"/>
          <p:cNvSpPr/>
          <p:nvPr/>
        </p:nvSpPr>
        <p:spPr>
          <a:xfrm>
            <a:off x="4038600" y="1874838"/>
            <a:ext cx="685800" cy="762000"/>
          </a:xfrm>
          <a:prstGeom prst="line">
            <a:avLst/>
          </a:prstGeom>
          <a:ln w="19050" cap="flat" cmpd="sng">
            <a:solidFill>
              <a:schemeClr val="tx1"/>
            </a:solidFill>
            <a:prstDash val="solid"/>
            <a:round/>
            <a:headEnd type="none" w="med" len="med"/>
            <a:tailEnd type="none" w="lg" len="lg"/>
          </a:ln>
        </p:spPr>
      </p:sp>
      <p:sp>
        <p:nvSpPr>
          <p:cNvPr id="48140" name="Text Box 12"/>
          <p:cNvSpPr txBox="1"/>
          <p:nvPr/>
        </p:nvSpPr>
        <p:spPr>
          <a:xfrm>
            <a:off x="2921000" y="2667000"/>
            <a:ext cx="431800" cy="579438"/>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F</a:t>
            </a:r>
            <a:endParaRPr lang="en-US" altLang="zh-CN" sz="3200" b="1" u="none" dirty="0">
              <a:solidFill>
                <a:schemeClr val="tx1"/>
              </a:solidFill>
              <a:latin typeface="Times New Roman" panose="02020603050405020304" pitchFamily="18" charset="0"/>
            </a:endParaRPr>
          </a:p>
        </p:txBody>
      </p:sp>
      <p:sp>
        <p:nvSpPr>
          <p:cNvPr id="48141" name="Text Box 13"/>
          <p:cNvSpPr txBox="1"/>
          <p:nvPr/>
        </p:nvSpPr>
        <p:spPr>
          <a:xfrm>
            <a:off x="4495800" y="2667000"/>
            <a:ext cx="590550" cy="579438"/>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T’</a:t>
            </a:r>
            <a:endParaRPr lang="en-US" altLang="zh-CN" sz="3200" b="1" u="none" dirty="0">
              <a:solidFill>
                <a:schemeClr val="tx1"/>
              </a:solidFill>
              <a:latin typeface="Times New Roman" panose="02020603050405020304" pitchFamily="18" charset="0"/>
            </a:endParaRPr>
          </a:p>
        </p:txBody>
      </p:sp>
      <p:sp>
        <p:nvSpPr>
          <p:cNvPr id="48142" name="Line 14"/>
          <p:cNvSpPr/>
          <p:nvPr/>
        </p:nvSpPr>
        <p:spPr>
          <a:xfrm>
            <a:off x="3135313" y="3170238"/>
            <a:ext cx="0" cy="838200"/>
          </a:xfrm>
          <a:prstGeom prst="line">
            <a:avLst/>
          </a:prstGeom>
          <a:ln w="19050" cap="flat" cmpd="sng">
            <a:solidFill>
              <a:schemeClr val="tx1"/>
            </a:solidFill>
            <a:prstDash val="solid"/>
            <a:round/>
            <a:headEnd type="none" w="med" len="med"/>
            <a:tailEnd type="none" w="lg" len="lg"/>
          </a:ln>
        </p:spPr>
      </p:sp>
      <p:sp>
        <p:nvSpPr>
          <p:cNvPr id="48143" name="Text Box 15"/>
          <p:cNvSpPr txBox="1"/>
          <p:nvPr/>
        </p:nvSpPr>
        <p:spPr>
          <a:xfrm>
            <a:off x="2982913" y="4008438"/>
            <a:ext cx="296862" cy="579437"/>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i</a:t>
            </a:r>
            <a:endParaRPr lang="en-US" altLang="zh-CN" sz="3200" b="1" u="none" dirty="0">
              <a:solidFill>
                <a:schemeClr val="tx1"/>
              </a:solidFill>
              <a:latin typeface="Times New Roman" panose="02020603050405020304" pitchFamily="18" charset="0"/>
            </a:endParaRPr>
          </a:p>
        </p:txBody>
      </p:sp>
      <p:sp>
        <p:nvSpPr>
          <p:cNvPr id="48144" name="Line 16"/>
          <p:cNvSpPr/>
          <p:nvPr/>
        </p:nvSpPr>
        <p:spPr>
          <a:xfrm>
            <a:off x="4714875" y="3246438"/>
            <a:ext cx="0" cy="838200"/>
          </a:xfrm>
          <a:prstGeom prst="line">
            <a:avLst/>
          </a:prstGeom>
          <a:ln w="19050" cap="flat" cmpd="sng">
            <a:solidFill>
              <a:schemeClr val="tx1"/>
            </a:solidFill>
            <a:prstDash val="solid"/>
            <a:round/>
            <a:headEnd type="none" w="med" len="med"/>
            <a:tailEnd type="none" w="lg" len="lg"/>
          </a:ln>
        </p:spPr>
      </p:sp>
      <p:sp>
        <p:nvSpPr>
          <p:cNvPr id="48145" name="Text Box 17"/>
          <p:cNvSpPr txBox="1"/>
          <p:nvPr/>
        </p:nvSpPr>
        <p:spPr>
          <a:xfrm>
            <a:off x="4529138" y="4076700"/>
            <a:ext cx="363537" cy="579438"/>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sym typeface="Symbol" panose="05050102010706020507" pitchFamily="18" charset="2"/>
              </a:rPr>
              <a:t></a:t>
            </a:r>
            <a:endParaRPr lang="en-US" altLang="zh-CN" sz="3200" b="1" u="none" dirty="0">
              <a:solidFill>
                <a:schemeClr val="tx1"/>
              </a:solidFill>
              <a:latin typeface="Times New Roman" panose="02020603050405020304" pitchFamily="18" charset="0"/>
            </a:endParaRPr>
          </a:p>
        </p:txBody>
      </p:sp>
      <p:sp>
        <p:nvSpPr>
          <p:cNvPr id="48146" name="Line 18"/>
          <p:cNvSpPr/>
          <p:nvPr/>
        </p:nvSpPr>
        <p:spPr>
          <a:xfrm flipH="1">
            <a:off x="5715000" y="1951038"/>
            <a:ext cx="838200" cy="762000"/>
          </a:xfrm>
          <a:prstGeom prst="line">
            <a:avLst/>
          </a:prstGeom>
          <a:ln w="19050" cap="flat" cmpd="sng">
            <a:solidFill>
              <a:schemeClr val="tx1"/>
            </a:solidFill>
            <a:prstDash val="solid"/>
            <a:round/>
            <a:headEnd type="none" w="med" len="med"/>
            <a:tailEnd type="none" w="lg" len="lg"/>
          </a:ln>
        </p:spPr>
      </p:sp>
      <p:sp>
        <p:nvSpPr>
          <p:cNvPr id="48147" name="Line 19"/>
          <p:cNvSpPr/>
          <p:nvPr/>
        </p:nvSpPr>
        <p:spPr>
          <a:xfrm>
            <a:off x="6629400" y="1951038"/>
            <a:ext cx="228600" cy="685800"/>
          </a:xfrm>
          <a:prstGeom prst="line">
            <a:avLst/>
          </a:prstGeom>
          <a:ln w="19050" cap="flat" cmpd="sng">
            <a:solidFill>
              <a:schemeClr val="tx1"/>
            </a:solidFill>
            <a:prstDash val="solid"/>
            <a:round/>
            <a:headEnd type="none" w="med" len="med"/>
            <a:tailEnd type="none" w="lg" len="lg"/>
          </a:ln>
        </p:spPr>
      </p:sp>
      <p:sp>
        <p:nvSpPr>
          <p:cNvPr id="48148" name="Line 20"/>
          <p:cNvSpPr/>
          <p:nvPr/>
        </p:nvSpPr>
        <p:spPr>
          <a:xfrm>
            <a:off x="6705600" y="1874838"/>
            <a:ext cx="1524000" cy="838200"/>
          </a:xfrm>
          <a:prstGeom prst="line">
            <a:avLst/>
          </a:prstGeom>
          <a:ln w="19050" cap="flat" cmpd="sng">
            <a:solidFill>
              <a:schemeClr val="tx1"/>
            </a:solidFill>
            <a:prstDash val="solid"/>
            <a:round/>
            <a:headEnd type="none" w="med" len="med"/>
            <a:tailEnd type="none" w="lg" len="lg"/>
          </a:ln>
        </p:spPr>
      </p:sp>
      <p:sp>
        <p:nvSpPr>
          <p:cNvPr id="48149" name="Text Box 21"/>
          <p:cNvSpPr txBox="1"/>
          <p:nvPr/>
        </p:nvSpPr>
        <p:spPr>
          <a:xfrm>
            <a:off x="5486400" y="2713038"/>
            <a:ext cx="415925" cy="579437"/>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a:t>
            </a:r>
            <a:endParaRPr lang="en-US" altLang="zh-CN" sz="3200" b="1" u="none" dirty="0">
              <a:solidFill>
                <a:schemeClr val="tx1"/>
              </a:solidFill>
              <a:latin typeface="Times New Roman" panose="02020603050405020304" pitchFamily="18" charset="0"/>
            </a:endParaRPr>
          </a:p>
        </p:txBody>
      </p:sp>
      <p:sp>
        <p:nvSpPr>
          <p:cNvPr id="48150" name="Text Box 22"/>
          <p:cNvSpPr txBox="1"/>
          <p:nvPr/>
        </p:nvSpPr>
        <p:spPr>
          <a:xfrm>
            <a:off x="6629400" y="2713038"/>
            <a:ext cx="455613" cy="579437"/>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T</a:t>
            </a:r>
            <a:endParaRPr lang="en-US" altLang="zh-CN" sz="3200" b="1" u="none" dirty="0">
              <a:solidFill>
                <a:schemeClr val="tx1"/>
              </a:solidFill>
              <a:latin typeface="Times New Roman" panose="02020603050405020304" pitchFamily="18" charset="0"/>
            </a:endParaRPr>
          </a:p>
        </p:txBody>
      </p:sp>
      <p:sp>
        <p:nvSpPr>
          <p:cNvPr id="48151" name="Text Box 23"/>
          <p:cNvSpPr txBox="1"/>
          <p:nvPr/>
        </p:nvSpPr>
        <p:spPr>
          <a:xfrm>
            <a:off x="8010525" y="2713038"/>
            <a:ext cx="590550" cy="579437"/>
          </a:xfrm>
          <a:prstGeom prst="rect">
            <a:avLst/>
          </a:prstGeom>
          <a:noFill/>
          <a:ln w="19050">
            <a:noFill/>
          </a:ln>
        </p:spPr>
        <p:txBody>
          <a:bodyPr wrap="none" anchor="t">
            <a:spAutoFit/>
          </a:bodyPr>
          <a:p>
            <a:pPr algn="ctr"/>
            <a:r>
              <a:rPr lang="en-US" altLang="zh-CN" sz="3200" b="1" u="none" dirty="0">
                <a:solidFill>
                  <a:srgbClr val="FF0000"/>
                </a:solidFill>
                <a:latin typeface="Times New Roman" panose="02020603050405020304" pitchFamily="18" charset="0"/>
              </a:rPr>
              <a:t>E’</a:t>
            </a:r>
            <a:endParaRPr lang="en-US" altLang="zh-CN" sz="3200" b="1" u="none" dirty="0">
              <a:solidFill>
                <a:srgbClr val="FF0000"/>
              </a:solidFill>
              <a:latin typeface="Times New Roman" panose="02020603050405020304" pitchFamily="18" charset="0"/>
            </a:endParaRPr>
          </a:p>
        </p:txBody>
      </p:sp>
      <p:sp>
        <p:nvSpPr>
          <p:cNvPr id="48152" name="Line 24"/>
          <p:cNvSpPr/>
          <p:nvPr/>
        </p:nvSpPr>
        <p:spPr>
          <a:xfrm flipH="1">
            <a:off x="6172200" y="3246438"/>
            <a:ext cx="685800" cy="685800"/>
          </a:xfrm>
          <a:prstGeom prst="line">
            <a:avLst/>
          </a:prstGeom>
          <a:ln w="19050" cap="flat" cmpd="sng">
            <a:solidFill>
              <a:schemeClr val="tx1"/>
            </a:solidFill>
            <a:prstDash val="solid"/>
            <a:round/>
            <a:headEnd type="none" w="med" len="med"/>
            <a:tailEnd type="none" w="lg" len="lg"/>
          </a:ln>
        </p:spPr>
      </p:sp>
      <p:sp>
        <p:nvSpPr>
          <p:cNvPr id="48153" name="Line 25"/>
          <p:cNvSpPr/>
          <p:nvPr/>
        </p:nvSpPr>
        <p:spPr>
          <a:xfrm>
            <a:off x="6934200" y="3246438"/>
            <a:ext cx="685800" cy="685800"/>
          </a:xfrm>
          <a:prstGeom prst="line">
            <a:avLst/>
          </a:prstGeom>
          <a:ln w="19050" cap="flat" cmpd="sng">
            <a:solidFill>
              <a:schemeClr val="tx1"/>
            </a:solidFill>
            <a:prstDash val="solid"/>
            <a:round/>
            <a:headEnd type="none" w="med" len="med"/>
            <a:tailEnd type="none" w="lg" len="lg"/>
          </a:ln>
        </p:spPr>
      </p:sp>
      <p:sp>
        <p:nvSpPr>
          <p:cNvPr id="48154" name="Text Box 26"/>
          <p:cNvSpPr txBox="1"/>
          <p:nvPr/>
        </p:nvSpPr>
        <p:spPr>
          <a:xfrm>
            <a:off x="5872163" y="3932238"/>
            <a:ext cx="431800" cy="579437"/>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F</a:t>
            </a:r>
            <a:endParaRPr lang="en-US" altLang="zh-CN" sz="3200" b="1" u="none" dirty="0">
              <a:solidFill>
                <a:schemeClr val="tx1"/>
              </a:solidFill>
              <a:latin typeface="Times New Roman" panose="02020603050405020304" pitchFamily="18" charset="0"/>
            </a:endParaRPr>
          </a:p>
        </p:txBody>
      </p:sp>
      <p:sp>
        <p:nvSpPr>
          <p:cNvPr id="48155" name="Text Box 27"/>
          <p:cNvSpPr txBox="1"/>
          <p:nvPr/>
        </p:nvSpPr>
        <p:spPr>
          <a:xfrm>
            <a:off x="7315200" y="3932238"/>
            <a:ext cx="590550" cy="579437"/>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T’</a:t>
            </a:r>
            <a:endParaRPr lang="en-US" altLang="zh-CN" sz="3200" b="1" u="none" dirty="0">
              <a:solidFill>
                <a:schemeClr val="tx1"/>
              </a:solidFill>
              <a:latin typeface="Times New Roman" panose="02020603050405020304" pitchFamily="18" charset="0"/>
            </a:endParaRPr>
          </a:p>
        </p:txBody>
      </p:sp>
      <p:sp>
        <p:nvSpPr>
          <p:cNvPr id="48156" name="Line 28"/>
          <p:cNvSpPr/>
          <p:nvPr/>
        </p:nvSpPr>
        <p:spPr>
          <a:xfrm>
            <a:off x="6040438" y="4533900"/>
            <a:ext cx="0" cy="838200"/>
          </a:xfrm>
          <a:prstGeom prst="line">
            <a:avLst/>
          </a:prstGeom>
          <a:ln w="19050" cap="flat" cmpd="sng">
            <a:solidFill>
              <a:schemeClr val="tx1"/>
            </a:solidFill>
            <a:prstDash val="solid"/>
            <a:round/>
            <a:headEnd type="none" w="med" len="med"/>
            <a:tailEnd type="none" w="lg" len="lg"/>
          </a:ln>
        </p:spPr>
      </p:sp>
      <p:sp>
        <p:nvSpPr>
          <p:cNvPr id="48157" name="Text Box 29"/>
          <p:cNvSpPr txBox="1"/>
          <p:nvPr/>
        </p:nvSpPr>
        <p:spPr>
          <a:xfrm>
            <a:off x="5888038" y="5372100"/>
            <a:ext cx="296862" cy="579438"/>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i</a:t>
            </a:r>
            <a:endParaRPr lang="en-US" altLang="zh-CN" sz="3200" b="1" u="none" dirty="0">
              <a:solidFill>
                <a:schemeClr val="tx1"/>
              </a:solidFill>
              <a:latin typeface="Times New Roman" panose="02020603050405020304" pitchFamily="18" charset="0"/>
            </a:endParaRPr>
          </a:p>
        </p:txBody>
      </p:sp>
      <p:sp>
        <p:nvSpPr>
          <p:cNvPr id="48158" name="Line 30"/>
          <p:cNvSpPr/>
          <p:nvPr/>
        </p:nvSpPr>
        <p:spPr>
          <a:xfrm>
            <a:off x="7620000" y="4610100"/>
            <a:ext cx="0" cy="838200"/>
          </a:xfrm>
          <a:prstGeom prst="line">
            <a:avLst/>
          </a:prstGeom>
          <a:ln w="19050" cap="flat" cmpd="sng">
            <a:solidFill>
              <a:schemeClr val="tx1"/>
            </a:solidFill>
            <a:prstDash val="solid"/>
            <a:round/>
            <a:headEnd type="none" w="med" len="med"/>
            <a:tailEnd type="none" w="lg" len="lg"/>
          </a:ln>
        </p:spPr>
      </p:sp>
      <p:sp>
        <p:nvSpPr>
          <p:cNvPr id="48159" name="Text Box 31"/>
          <p:cNvSpPr txBox="1"/>
          <p:nvPr/>
        </p:nvSpPr>
        <p:spPr>
          <a:xfrm>
            <a:off x="7434263" y="5440363"/>
            <a:ext cx="363537" cy="579437"/>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sym typeface="Symbol" panose="05050102010706020507" pitchFamily="18" charset="2"/>
              </a:rPr>
              <a:t></a:t>
            </a:r>
            <a:endParaRPr lang="en-US" altLang="zh-CN" sz="3200" b="1" u="none" dirty="0">
              <a:solidFill>
                <a:schemeClr val="tx1"/>
              </a:solidFill>
              <a:latin typeface="Times New Roman" panose="02020603050405020304" pitchFamily="18" charset="0"/>
            </a:endParaRPr>
          </a:p>
        </p:txBody>
      </p:sp>
      <p:sp>
        <p:nvSpPr>
          <p:cNvPr id="48160" name="Rectangle 32"/>
          <p:cNvSpPr/>
          <p:nvPr/>
        </p:nvSpPr>
        <p:spPr>
          <a:xfrm>
            <a:off x="0" y="4149725"/>
            <a:ext cx="2700338" cy="2349500"/>
          </a:xfrm>
          <a:prstGeom prst="rect">
            <a:avLst/>
          </a:prstGeom>
          <a:solidFill>
            <a:srgbClr val="FFFF99"/>
          </a:solidFill>
          <a:ln w="12700" cap="flat" cmpd="sng">
            <a:solidFill>
              <a:srgbClr val="FF0000"/>
            </a:solidFill>
            <a:prstDash val="solid"/>
            <a:miter/>
            <a:headEnd type="none" w="med" len="med"/>
            <a:tailEnd type="none" w="lg" len="lg"/>
          </a:ln>
        </p:spPr>
        <p:txBody>
          <a:bodyPr wrap="none" anchor="ctr"/>
          <a:p>
            <a:pPr>
              <a:lnSpc>
                <a:spcPct val="90000"/>
              </a:lnSpc>
              <a:buClr>
                <a:schemeClr val="bg2"/>
              </a:buClr>
              <a:buSzPct val="75000"/>
              <a:buFont typeface="Wingdings" panose="05000000000000000000" pitchFamily="2" charset="2"/>
              <a:buChar char="n"/>
            </a:pPr>
            <a:r>
              <a:rPr lang="en-US" altLang="zh-CN" sz="2800" b="1" u="none" dirty="0">
                <a:solidFill>
                  <a:schemeClr val="tx1"/>
                </a:solidFill>
                <a:latin typeface="Arial" panose="020B0604020202020204" pitchFamily="34" charset="0"/>
              </a:rPr>
              <a:t>G(E):</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E→TE</a:t>
            </a:r>
            <a:r>
              <a:rPr lang="en-US" altLang="zh-CN" sz="2800" b="1" u="none" dirty="0">
                <a:solidFill>
                  <a:schemeClr val="tx1"/>
                </a:solidFill>
                <a:latin typeface="Arial" panose="020B0604020202020204" pitchFamily="34" charset="0"/>
                <a:sym typeface="Symbol" panose="05050102010706020507" pitchFamily="18" charset="2"/>
              </a:rPr>
              <a:t></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E</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→+TE</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 | </a:t>
            </a:r>
            <a:r>
              <a:rPr lang="en-US" altLang="zh-CN" sz="2800" b="1" u="none" dirty="0">
                <a:solidFill>
                  <a:schemeClr val="tx1"/>
                </a:solidFill>
                <a:latin typeface="Arial" panose="020B0604020202020204" pitchFamily="34" charset="0"/>
                <a:sym typeface="Symbol" panose="05050102010706020507" pitchFamily="18" charset="2"/>
              </a:rPr>
              <a:t></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T→FT</a:t>
            </a:r>
            <a:r>
              <a:rPr lang="en-US" altLang="zh-CN" sz="2800" b="1" u="none" dirty="0">
                <a:solidFill>
                  <a:schemeClr val="tx1"/>
                </a:solidFill>
                <a:latin typeface="Arial" panose="020B0604020202020204" pitchFamily="34" charset="0"/>
                <a:sym typeface="Symbol" panose="05050102010706020507" pitchFamily="18" charset="2"/>
              </a:rPr>
              <a:t></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T</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→*FT</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 | </a:t>
            </a:r>
            <a:r>
              <a:rPr lang="en-US" altLang="zh-CN" sz="2800" b="1" u="none" dirty="0">
                <a:solidFill>
                  <a:schemeClr val="tx1"/>
                </a:solidFill>
                <a:latin typeface="Arial" panose="020B0604020202020204" pitchFamily="34" charset="0"/>
                <a:sym typeface="Symbol" panose="05050102010706020507" pitchFamily="18" charset="2"/>
              </a:rPr>
              <a:t></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F→(E) | i</a:t>
            </a:r>
            <a:endParaRPr lang="en-GB" altLang="zh-CN" sz="1600" u="none" dirty="0">
              <a:solidFill>
                <a:schemeClr val="tx1"/>
              </a:solidFill>
              <a:latin typeface="Arial" panose="020B0604020202020204" pitchFamily="34" charset="0"/>
            </a:endParaRPr>
          </a:p>
        </p:txBody>
      </p:sp>
    </p:spTree>
  </p:cSld>
  <p:clrMapOvr>
    <a:masterClrMapping/>
  </p:clrMapOvr>
  <p:transition spd="med">
    <p:zo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3"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49154" name="Text Box 2"/>
          <p:cNvSpPr txBox="1"/>
          <p:nvPr/>
        </p:nvSpPr>
        <p:spPr>
          <a:xfrm>
            <a:off x="457200" y="2152650"/>
            <a:ext cx="1912938" cy="641350"/>
          </a:xfrm>
          <a:prstGeom prst="rect">
            <a:avLst/>
          </a:prstGeom>
          <a:noFill/>
          <a:ln w="12700">
            <a:noFill/>
          </a:ln>
        </p:spPr>
        <p:txBody>
          <a:bodyPr anchor="t">
            <a:spAutoFit/>
          </a:bodyPr>
          <a:p>
            <a:pPr algn="ctr"/>
            <a:r>
              <a:rPr lang="en-US" altLang="zh-CN" sz="3600" b="1" u="none" dirty="0">
                <a:solidFill>
                  <a:schemeClr val="tx1"/>
                </a:solidFill>
                <a:latin typeface="Times New Roman" panose="02020603050405020304" pitchFamily="18" charset="0"/>
              </a:rPr>
              <a:t>i   +   i </a:t>
            </a:r>
            <a:endParaRPr lang="en-US" altLang="zh-CN" sz="3600" b="1" u="none" dirty="0">
              <a:solidFill>
                <a:schemeClr val="tx1"/>
              </a:solidFill>
              <a:latin typeface="Times New Roman" panose="02020603050405020304" pitchFamily="18" charset="0"/>
            </a:endParaRPr>
          </a:p>
        </p:txBody>
      </p:sp>
      <p:sp>
        <p:nvSpPr>
          <p:cNvPr id="49155" name="Line 3"/>
          <p:cNvSpPr/>
          <p:nvPr/>
        </p:nvSpPr>
        <p:spPr>
          <a:xfrm flipV="1">
            <a:off x="2166938" y="2819400"/>
            <a:ext cx="0" cy="533400"/>
          </a:xfrm>
          <a:prstGeom prst="line">
            <a:avLst/>
          </a:prstGeom>
          <a:ln w="19050" cap="flat" cmpd="sng">
            <a:solidFill>
              <a:schemeClr val="tx1"/>
            </a:solidFill>
            <a:prstDash val="solid"/>
            <a:round/>
            <a:headEnd type="none" w="med" len="med"/>
            <a:tailEnd type="stealth" w="lg" len="lg"/>
          </a:ln>
        </p:spPr>
      </p:sp>
      <p:sp>
        <p:nvSpPr>
          <p:cNvPr id="49156" name="Text Box 4"/>
          <p:cNvSpPr txBox="1"/>
          <p:nvPr/>
        </p:nvSpPr>
        <p:spPr>
          <a:xfrm>
            <a:off x="1898650" y="3495675"/>
            <a:ext cx="539750" cy="519113"/>
          </a:xfrm>
          <a:prstGeom prst="rect">
            <a:avLst/>
          </a:prstGeom>
          <a:noFill/>
          <a:ln w="12700">
            <a:noFill/>
          </a:ln>
        </p:spPr>
        <p:txBody>
          <a:bodyPr wrap="none" anchor="t">
            <a:spAutoFit/>
          </a:bodyPr>
          <a:p>
            <a:pPr algn="ctr"/>
            <a:r>
              <a:rPr lang="en-US" altLang="zh-CN" sz="2800" b="1" u="none" dirty="0">
                <a:solidFill>
                  <a:schemeClr val="tx1"/>
                </a:solidFill>
                <a:latin typeface="Times New Roman" panose="02020603050405020304" pitchFamily="18" charset="0"/>
              </a:rPr>
              <a:t>IP</a:t>
            </a:r>
            <a:endParaRPr lang="en-US" altLang="zh-CN" sz="2800" b="1" u="none" dirty="0">
              <a:solidFill>
                <a:schemeClr val="tx1"/>
              </a:solidFill>
              <a:latin typeface="Times New Roman" panose="02020603050405020304" pitchFamily="18" charset="0"/>
            </a:endParaRPr>
          </a:p>
        </p:txBody>
      </p:sp>
      <p:sp>
        <p:nvSpPr>
          <p:cNvPr id="49157" name="Text Box 5"/>
          <p:cNvSpPr txBox="1"/>
          <p:nvPr/>
        </p:nvSpPr>
        <p:spPr>
          <a:xfrm>
            <a:off x="5030788" y="228600"/>
            <a:ext cx="455612" cy="579438"/>
          </a:xfrm>
          <a:prstGeom prst="rect">
            <a:avLst/>
          </a:prstGeom>
          <a:noFill/>
          <a:ln w="12700">
            <a:noFill/>
          </a:ln>
        </p:spPr>
        <p:txBody>
          <a:bodyPr wrap="none" anchor="t">
            <a:spAutoFit/>
          </a:bodyPr>
          <a:p>
            <a:pPr algn="ctr"/>
            <a:r>
              <a:rPr lang="en-US" altLang="zh-CN" sz="3200" b="1" u="none" dirty="0">
                <a:solidFill>
                  <a:schemeClr val="tx1"/>
                </a:solidFill>
                <a:latin typeface="Times New Roman" panose="02020603050405020304" pitchFamily="18" charset="0"/>
              </a:rPr>
              <a:t>E</a:t>
            </a:r>
            <a:endParaRPr lang="en-US" altLang="zh-CN" sz="3200" b="1" u="none" dirty="0">
              <a:solidFill>
                <a:schemeClr val="tx1"/>
              </a:solidFill>
              <a:latin typeface="Times New Roman" panose="02020603050405020304" pitchFamily="18" charset="0"/>
            </a:endParaRPr>
          </a:p>
        </p:txBody>
      </p:sp>
      <p:sp>
        <p:nvSpPr>
          <p:cNvPr id="49158" name="Line 6"/>
          <p:cNvSpPr/>
          <p:nvPr/>
        </p:nvSpPr>
        <p:spPr>
          <a:xfrm flipH="1">
            <a:off x="4038600" y="731838"/>
            <a:ext cx="1143000" cy="685800"/>
          </a:xfrm>
          <a:prstGeom prst="line">
            <a:avLst/>
          </a:prstGeom>
          <a:ln w="19050" cap="flat" cmpd="sng">
            <a:solidFill>
              <a:schemeClr val="tx1"/>
            </a:solidFill>
            <a:prstDash val="solid"/>
            <a:round/>
            <a:headEnd type="none" w="med" len="med"/>
            <a:tailEnd type="none" w="lg" len="lg"/>
          </a:ln>
        </p:spPr>
      </p:sp>
      <p:sp>
        <p:nvSpPr>
          <p:cNvPr id="49159" name="Line 7"/>
          <p:cNvSpPr/>
          <p:nvPr/>
        </p:nvSpPr>
        <p:spPr>
          <a:xfrm>
            <a:off x="5334000" y="731838"/>
            <a:ext cx="1295400" cy="685800"/>
          </a:xfrm>
          <a:prstGeom prst="line">
            <a:avLst/>
          </a:prstGeom>
          <a:ln w="19050" cap="flat" cmpd="sng">
            <a:solidFill>
              <a:schemeClr val="tx1"/>
            </a:solidFill>
            <a:prstDash val="solid"/>
            <a:round/>
            <a:headEnd type="none" w="med" len="med"/>
            <a:tailEnd type="none" w="lg" len="lg"/>
          </a:ln>
        </p:spPr>
      </p:sp>
      <p:sp>
        <p:nvSpPr>
          <p:cNvPr id="49160" name="Text Box 8"/>
          <p:cNvSpPr txBox="1"/>
          <p:nvPr/>
        </p:nvSpPr>
        <p:spPr>
          <a:xfrm>
            <a:off x="3810000" y="1417638"/>
            <a:ext cx="455613" cy="579437"/>
          </a:xfrm>
          <a:prstGeom prst="rect">
            <a:avLst/>
          </a:prstGeom>
          <a:noFill/>
          <a:ln w="12700">
            <a:noFill/>
          </a:ln>
        </p:spPr>
        <p:txBody>
          <a:bodyPr wrap="none" anchor="t">
            <a:spAutoFit/>
          </a:bodyPr>
          <a:p>
            <a:pPr algn="ctr"/>
            <a:r>
              <a:rPr lang="en-US" altLang="zh-CN" sz="3200" b="1" u="none" dirty="0">
                <a:solidFill>
                  <a:schemeClr val="tx1"/>
                </a:solidFill>
                <a:latin typeface="Times New Roman" panose="02020603050405020304" pitchFamily="18" charset="0"/>
              </a:rPr>
              <a:t>T</a:t>
            </a:r>
            <a:endParaRPr lang="en-US" altLang="zh-CN" sz="3200" b="1" u="none" dirty="0">
              <a:solidFill>
                <a:schemeClr val="tx1"/>
              </a:solidFill>
              <a:latin typeface="Times New Roman" panose="02020603050405020304" pitchFamily="18" charset="0"/>
            </a:endParaRPr>
          </a:p>
        </p:txBody>
      </p:sp>
      <p:sp>
        <p:nvSpPr>
          <p:cNvPr id="49161" name="Text Box 9"/>
          <p:cNvSpPr txBox="1"/>
          <p:nvPr/>
        </p:nvSpPr>
        <p:spPr>
          <a:xfrm>
            <a:off x="6257925" y="1417638"/>
            <a:ext cx="590550" cy="579437"/>
          </a:xfrm>
          <a:prstGeom prst="rect">
            <a:avLst/>
          </a:prstGeom>
          <a:noFill/>
          <a:ln w="12700">
            <a:noFill/>
          </a:ln>
        </p:spPr>
        <p:txBody>
          <a:bodyPr wrap="none" anchor="t">
            <a:spAutoFit/>
          </a:bodyPr>
          <a:p>
            <a:pPr algn="ctr"/>
            <a:r>
              <a:rPr lang="en-US" altLang="zh-CN" sz="3200" b="1" u="none" dirty="0">
                <a:solidFill>
                  <a:schemeClr val="tx1"/>
                </a:solidFill>
                <a:latin typeface="Times New Roman" panose="02020603050405020304" pitchFamily="18" charset="0"/>
              </a:rPr>
              <a:t>E’</a:t>
            </a:r>
            <a:endParaRPr lang="en-US" altLang="zh-CN" sz="3200" b="1" u="none" dirty="0">
              <a:solidFill>
                <a:schemeClr val="tx1"/>
              </a:solidFill>
              <a:latin typeface="Times New Roman" panose="02020603050405020304" pitchFamily="18" charset="0"/>
            </a:endParaRPr>
          </a:p>
        </p:txBody>
      </p:sp>
      <p:sp>
        <p:nvSpPr>
          <p:cNvPr id="49162" name="Line 10"/>
          <p:cNvSpPr/>
          <p:nvPr/>
        </p:nvSpPr>
        <p:spPr>
          <a:xfrm flipH="1">
            <a:off x="3200400" y="1874838"/>
            <a:ext cx="762000" cy="762000"/>
          </a:xfrm>
          <a:prstGeom prst="line">
            <a:avLst/>
          </a:prstGeom>
          <a:ln w="19050" cap="flat" cmpd="sng">
            <a:solidFill>
              <a:schemeClr val="tx1"/>
            </a:solidFill>
            <a:prstDash val="solid"/>
            <a:round/>
            <a:headEnd type="none" w="med" len="med"/>
            <a:tailEnd type="none" w="lg" len="lg"/>
          </a:ln>
        </p:spPr>
      </p:sp>
      <p:sp>
        <p:nvSpPr>
          <p:cNvPr id="49163" name="Line 11"/>
          <p:cNvSpPr/>
          <p:nvPr/>
        </p:nvSpPr>
        <p:spPr>
          <a:xfrm>
            <a:off x="4038600" y="1874838"/>
            <a:ext cx="685800" cy="762000"/>
          </a:xfrm>
          <a:prstGeom prst="line">
            <a:avLst/>
          </a:prstGeom>
          <a:ln w="19050" cap="flat" cmpd="sng">
            <a:solidFill>
              <a:schemeClr val="tx1"/>
            </a:solidFill>
            <a:prstDash val="solid"/>
            <a:round/>
            <a:headEnd type="none" w="med" len="med"/>
            <a:tailEnd type="none" w="lg" len="lg"/>
          </a:ln>
        </p:spPr>
      </p:sp>
      <p:sp>
        <p:nvSpPr>
          <p:cNvPr id="49164" name="Text Box 12"/>
          <p:cNvSpPr txBox="1"/>
          <p:nvPr/>
        </p:nvSpPr>
        <p:spPr>
          <a:xfrm>
            <a:off x="2921000" y="2667000"/>
            <a:ext cx="431800" cy="579438"/>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F</a:t>
            </a:r>
            <a:endParaRPr lang="en-US" altLang="zh-CN" sz="3200" b="1" u="none" dirty="0">
              <a:solidFill>
                <a:schemeClr val="tx1"/>
              </a:solidFill>
              <a:latin typeface="Times New Roman" panose="02020603050405020304" pitchFamily="18" charset="0"/>
            </a:endParaRPr>
          </a:p>
        </p:txBody>
      </p:sp>
      <p:sp>
        <p:nvSpPr>
          <p:cNvPr id="49165" name="Text Box 13"/>
          <p:cNvSpPr txBox="1"/>
          <p:nvPr/>
        </p:nvSpPr>
        <p:spPr>
          <a:xfrm>
            <a:off x="4495800" y="2667000"/>
            <a:ext cx="590550" cy="579438"/>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T’</a:t>
            </a:r>
            <a:endParaRPr lang="en-US" altLang="zh-CN" sz="3200" b="1" u="none" dirty="0">
              <a:solidFill>
                <a:schemeClr val="tx1"/>
              </a:solidFill>
              <a:latin typeface="Times New Roman" panose="02020603050405020304" pitchFamily="18" charset="0"/>
            </a:endParaRPr>
          </a:p>
        </p:txBody>
      </p:sp>
      <p:sp>
        <p:nvSpPr>
          <p:cNvPr id="49166" name="Line 14"/>
          <p:cNvSpPr/>
          <p:nvPr/>
        </p:nvSpPr>
        <p:spPr>
          <a:xfrm>
            <a:off x="3135313" y="3170238"/>
            <a:ext cx="0" cy="838200"/>
          </a:xfrm>
          <a:prstGeom prst="line">
            <a:avLst/>
          </a:prstGeom>
          <a:ln w="19050" cap="flat" cmpd="sng">
            <a:solidFill>
              <a:schemeClr val="tx1"/>
            </a:solidFill>
            <a:prstDash val="solid"/>
            <a:round/>
            <a:headEnd type="none" w="med" len="med"/>
            <a:tailEnd type="none" w="lg" len="lg"/>
          </a:ln>
        </p:spPr>
      </p:sp>
      <p:sp>
        <p:nvSpPr>
          <p:cNvPr id="49167" name="Text Box 15"/>
          <p:cNvSpPr txBox="1"/>
          <p:nvPr/>
        </p:nvSpPr>
        <p:spPr>
          <a:xfrm>
            <a:off x="2982913" y="4008438"/>
            <a:ext cx="296862" cy="579437"/>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i</a:t>
            </a:r>
            <a:endParaRPr lang="en-US" altLang="zh-CN" sz="3200" b="1" u="none" dirty="0">
              <a:solidFill>
                <a:schemeClr val="tx1"/>
              </a:solidFill>
              <a:latin typeface="Times New Roman" panose="02020603050405020304" pitchFamily="18" charset="0"/>
            </a:endParaRPr>
          </a:p>
        </p:txBody>
      </p:sp>
      <p:sp>
        <p:nvSpPr>
          <p:cNvPr id="49168" name="Line 16"/>
          <p:cNvSpPr/>
          <p:nvPr/>
        </p:nvSpPr>
        <p:spPr>
          <a:xfrm>
            <a:off x="4714875" y="3246438"/>
            <a:ext cx="0" cy="838200"/>
          </a:xfrm>
          <a:prstGeom prst="line">
            <a:avLst/>
          </a:prstGeom>
          <a:ln w="19050" cap="flat" cmpd="sng">
            <a:solidFill>
              <a:schemeClr val="tx1"/>
            </a:solidFill>
            <a:prstDash val="solid"/>
            <a:round/>
            <a:headEnd type="none" w="med" len="med"/>
            <a:tailEnd type="none" w="lg" len="lg"/>
          </a:ln>
        </p:spPr>
      </p:sp>
      <p:sp>
        <p:nvSpPr>
          <p:cNvPr id="49169" name="Text Box 17"/>
          <p:cNvSpPr txBox="1"/>
          <p:nvPr/>
        </p:nvSpPr>
        <p:spPr>
          <a:xfrm>
            <a:off x="4529138" y="4076700"/>
            <a:ext cx="363537" cy="579438"/>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sym typeface="Symbol" panose="05050102010706020507" pitchFamily="18" charset="2"/>
              </a:rPr>
              <a:t></a:t>
            </a:r>
            <a:endParaRPr lang="en-US" altLang="zh-CN" sz="3200" b="1" u="none" dirty="0">
              <a:solidFill>
                <a:schemeClr val="tx1"/>
              </a:solidFill>
              <a:latin typeface="Times New Roman" panose="02020603050405020304" pitchFamily="18" charset="0"/>
            </a:endParaRPr>
          </a:p>
        </p:txBody>
      </p:sp>
      <p:sp>
        <p:nvSpPr>
          <p:cNvPr id="49170" name="Line 18"/>
          <p:cNvSpPr/>
          <p:nvPr/>
        </p:nvSpPr>
        <p:spPr>
          <a:xfrm flipH="1">
            <a:off x="5715000" y="1951038"/>
            <a:ext cx="838200" cy="762000"/>
          </a:xfrm>
          <a:prstGeom prst="line">
            <a:avLst/>
          </a:prstGeom>
          <a:ln w="19050" cap="flat" cmpd="sng">
            <a:solidFill>
              <a:schemeClr val="tx1"/>
            </a:solidFill>
            <a:prstDash val="solid"/>
            <a:round/>
            <a:headEnd type="none" w="med" len="med"/>
            <a:tailEnd type="none" w="lg" len="lg"/>
          </a:ln>
        </p:spPr>
      </p:sp>
      <p:sp>
        <p:nvSpPr>
          <p:cNvPr id="49171" name="Line 19"/>
          <p:cNvSpPr/>
          <p:nvPr/>
        </p:nvSpPr>
        <p:spPr>
          <a:xfrm>
            <a:off x="6629400" y="1951038"/>
            <a:ext cx="228600" cy="685800"/>
          </a:xfrm>
          <a:prstGeom prst="line">
            <a:avLst/>
          </a:prstGeom>
          <a:ln w="19050" cap="flat" cmpd="sng">
            <a:solidFill>
              <a:schemeClr val="tx1"/>
            </a:solidFill>
            <a:prstDash val="solid"/>
            <a:round/>
            <a:headEnd type="none" w="med" len="med"/>
            <a:tailEnd type="none" w="lg" len="lg"/>
          </a:ln>
        </p:spPr>
      </p:sp>
      <p:sp>
        <p:nvSpPr>
          <p:cNvPr id="49172" name="Line 20"/>
          <p:cNvSpPr/>
          <p:nvPr/>
        </p:nvSpPr>
        <p:spPr>
          <a:xfrm>
            <a:off x="6705600" y="1874838"/>
            <a:ext cx="1524000" cy="838200"/>
          </a:xfrm>
          <a:prstGeom prst="line">
            <a:avLst/>
          </a:prstGeom>
          <a:ln w="19050" cap="flat" cmpd="sng">
            <a:solidFill>
              <a:schemeClr val="tx1"/>
            </a:solidFill>
            <a:prstDash val="solid"/>
            <a:round/>
            <a:headEnd type="none" w="med" len="med"/>
            <a:tailEnd type="none" w="lg" len="lg"/>
          </a:ln>
        </p:spPr>
      </p:sp>
      <p:sp>
        <p:nvSpPr>
          <p:cNvPr id="49173" name="Text Box 21"/>
          <p:cNvSpPr txBox="1"/>
          <p:nvPr/>
        </p:nvSpPr>
        <p:spPr>
          <a:xfrm>
            <a:off x="5486400" y="2713038"/>
            <a:ext cx="415925" cy="579437"/>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a:t>
            </a:r>
            <a:endParaRPr lang="en-US" altLang="zh-CN" sz="3200" b="1" u="none" dirty="0">
              <a:solidFill>
                <a:schemeClr val="tx1"/>
              </a:solidFill>
              <a:latin typeface="Times New Roman" panose="02020603050405020304" pitchFamily="18" charset="0"/>
            </a:endParaRPr>
          </a:p>
        </p:txBody>
      </p:sp>
      <p:sp>
        <p:nvSpPr>
          <p:cNvPr id="49174" name="Text Box 22"/>
          <p:cNvSpPr txBox="1"/>
          <p:nvPr/>
        </p:nvSpPr>
        <p:spPr>
          <a:xfrm>
            <a:off x="6629400" y="2713038"/>
            <a:ext cx="455613" cy="579437"/>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T</a:t>
            </a:r>
            <a:endParaRPr lang="en-US" altLang="zh-CN" sz="3200" b="1" u="none" dirty="0">
              <a:solidFill>
                <a:schemeClr val="tx1"/>
              </a:solidFill>
              <a:latin typeface="Times New Roman" panose="02020603050405020304" pitchFamily="18" charset="0"/>
            </a:endParaRPr>
          </a:p>
        </p:txBody>
      </p:sp>
      <p:sp>
        <p:nvSpPr>
          <p:cNvPr id="49175" name="Text Box 23"/>
          <p:cNvSpPr txBox="1"/>
          <p:nvPr/>
        </p:nvSpPr>
        <p:spPr>
          <a:xfrm>
            <a:off x="8010525" y="2713038"/>
            <a:ext cx="590550" cy="579437"/>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E’</a:t>
            </a:r>
            <a:endParaRPr lang="en-US" altLang="zh-CN" sz="3200" b="1" u="none" dirty="0">
              <a:solidFill>
                <a:schemeClr val="tx1"/>
              </a:solidFill>
              <a:latin typeface="Times New Roman" panose="02020603050405020304" pitchFamily="18" charset="0"/>
            </a:endParaRPr>
          </a:p>
        </p:txBody>
      </p:sp>
      <p:sp>
        <p:nvSpPr>
          <p:cNvPr id="49176" name="Line 24"/>
          <p:cNvSpPr/>
          <p:nvPr/>
        </p:nvSpPr>
        <p:spPr>
          <a:xfrm flipH="1">
            <a:off x="6172200" y="3246438"/>
            <a:ext cx="685800" cy="685800"/>
          </a:xfrm>
          <a:prstGeom prst="line">
            <a:avLst/>
          </a:prstGeom>
          <a:ln w="19050" cap="flat" cmpd="sng">
            <a:solidFill>
              <a:schemeClr val="tx1"/>
            </a:solidFill>
            <a:prstDash val="solid"/>
            <a:round/>
            <a:headEnd type="none" w="med" len="med"/>
            <a:tailEnd type="none" w="lg" len="lg"/>
          </a:ln>
        </p:spPr>
      </p:sp>
      <p:sp>
        <p:nvSpPr>
          <p:cNvPr id="49177" name="Line 25"/>
          <p:cNvSpPr/>
          <p:nvPr/>
        </p:nvSpPr>
        <p:spPr>
          <a:xfrm>
            <a:off x="6934200" y="3246438"/>
            <a:ext cx="685800" cy="685800"/>
          </a:xfrm>
          <a:prstGeom prst="line">
            <a:avLst/>
          </a:prstGeom>
          <a:ln w="19050" cap="flat" cmpd="sng">
            <a:solidFill>
              <a:schemeClr val="tx1"/>
            </a:solidFill>
            <a:prstDash val="solid"/>
            <a:round/>
            <a:headEnd type="none" w="med" len="med"/>
            <a:tailEnd type="none" w="lg" len="lg"/>
          </a:ln>
        </p:spPr>
      </p:sp>
      <p:sp>
        <p:nvSpPr>
          <p:cNvPr id="49178" name="Text Box 26"/>
          <p:cNvSpPr txBox="1"/>
          <p:nvPr/>
        </p:nvSpPr>
        <p:spPr>
          <a:xfrm>
            <a:off x="5872163" y="3932238"/>
            <a:ext cx="431800" cy="579437"/>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F</a:t>
            </a:r>
            <a:endParaRPr lang="en-US" altLang="zh-CN" sz="3200" b="1" u="none" dirty="0">
              <a:solidFill>
                <a:schemeClr val="tx1"/>
              </a:solidFill>
              <a:latin typeface="Times New Roman" panose="02020603050405020304" pitchFamily="18" charset="0"/>
            </a:endParaRPr>
          </a:p>
        </p:txBody>
      </p:sp>
      <p:sp>
        <p:nvSpPr>
          <p:cNvPr id="49179" name="Text Box 27"/>
          <p:cNvSpPr txBox="1"/>
          <p:nvPr/>
        </p:nvSpPr>
        <p:spPr>
          <a:xfrm>
            <a:off x="7315200" y="3932238"/>
            <a:ext cx="590550" cy="579437"/>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T’</a:t>
            </a:r>
            <a:endParaRPr lang="en-US" altLang="zh-CN" sz="3200" b="1" u="none" dirty="0">
              <a:solidFill>
                <a:schemeClr val="tx1"/>
              </a:solidFill>
              <a:latin typeface="Times New Roman" panose="02020603050405020304" pitchFamily="18" charset="0"/>
            </a:endParaRPr>
          </a:p>
        </p:txBody>
      </p:sp>
      <p:sp>
        <p:nvSpPr>
          <p:cNvPr id="49180" name="Line 28"/>
          <p:cNvSpPr/>
          <p:nvPr/>
        </p:nvSpPr>
        <p:spPr>
          <a:xfrm>
            <a:off x="6040438" y="4533900"/>
            <a:ext cx="0" cy="838200"/>
          </a:xfrm>
          <a:prstGeom prst="line">
            <a:avLst/>
          </a:prstGeom>
          <a:ln w="19050" cap="flat" cmpd="sng">
            <a:solidFill>
              <a:schemeClr val="tx1"/>
            </a:solidFill>
            <a:prstDash val="solid"/>
            <a:round/>
            <a:headEnd type="none" w="med" len="med"/>
            <a:tailEnd type="none" w="lg" len="lg"/>
          </a:ln>
        </p:spPr>
      </p:sp>
      <p:sp>
        <p:nvSpPr>
          <p:cNvPr id="49181" name="Text Box 29"/>
          <p:cNvSpPr txBox="1"/>
          <p:nvPr/>
        </p:nvSpPr>
        <p:spPr>
          <a:xfrm>
            <a:off x="5888038" y="5372100"/>
            <a:ext cx="296862" cy="579438"/>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i</a:t>
            </a:r>
            <a:endParaRPr lang="en-US" altLang="zh-CN" sz="3200" b="1" u="none" dirty="0">
              <a:solidFill>
                <a:schemeClr val="tx1"/>
              </a:solidFill>
              <a:latin typeface="Times New Roman" panose="02020603050405020304" pitchFamily="18" charset="0"/>
            </a:endParaRPr>
          </a:p>
        </p:txBody>
      </p:sp>
      <p:sp>
        <p:nvSpPr>
          <p:cNvPr id="49182" name="Line 30"/>
          <p:cNvSpPr/>
          <p:nvPr/>
        </p:nvSpPr>
        <p:spPr>
          <a:xfrm>
            <a:off x="7620000" y="4610100"/>
            <a:ext cx="0" cy="838200"/>
          </a:xfrm>
          <a:prstGeom prst="line">
            <a:avLst/>
          </a:prstGeom>
          <a:ln w="19050" cap="flat" cmpd="sng">
            <a:solidFill>
              <a:schemeClr val="tx1"/>
            </a:solidFill>
            <a:prstDash val="solid"/>
            <a:round/>
            <a:headEnd type="none" w="med" len="med"/>
            <a:tailEnd type="none" w="lg" len="lg"/>
          </a:ln>
        </p:spPr>
      </p:sp>
      <p:sp>
        <p:nvSpPr>
          <p:cNvPr id="49183" name="Text Box 31"/>
          <p:cNvSpPr txBox="1"/>
          <p:nvPr/>
        </p:nvSpPr>
        <p:spPr>
          <a:xfrm>
            <a:off x="7434263" y="5440363"/>
            <a:ext cx="363537" cy="579437"/>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sym typeface="Symbol" panose="05050102010706020507" pitchFamily="18" charset="2"/>
              </a:rPr>
              <a:t></a:t>
            </a:r>
            <a:endParaRPr lang="en-US" altLang="zh-CN" sz="3200" b="1" u="none" dirty="0">
              <a:solidFill>
                <a:schemeClr val="tx1"/>
              </a:solidFill>
              <a:latin typeface="Times New Roman" panose="02020603050405020304" pitchFamily="18" charset="0"/>
            </a:endParaRPr>
          </a:p>
        </p:txBody>
      </p:sp>
      <p:sp>
        <p:nvSpPr>
          <p:cNvPr id="49184" name="Line 32"/>
          <p:cNvSpPr/>
          <p:nvPr/>
        </p:nvSpPr>
        <p:spPr>
          <a:xfrm>
            <a:off x="8305800" y="3276600"/>
            <a:ext cx="0" cy="838200"/>
          </a:xfrm>
          <a:prstGeom prst="line">
            <a:avLst/>
          </a:prstGeom>
          <a:ln w="19050" cap="flat" cmpd="sng">
            <a:solidFill>
              <a:schemeClr val="tx1"/>
            </a:solidFill>
            <a:prstDash val="solid"/>
            <a:round/>
            <a:headEnd type="none" w="med" len="med"/>
            <a:tailEnd type="none" w="lg" len="lg"/>
          </a:ln>
        </p:spPr>
      </p:sp>
      <p:sp>
        <p:nvSpPr>
          <p:cNvPr id="49185" name="Text Box 33"/>
          <p:cNvSpPr txBox="1"/>
          <p:nvPr/>
        </p:nvSpPr>
        <p:spPr>
          <a:xfrm>
            <a:off x="8120063" y="4106863"/>
            <a:ext cx="363537" cy="579437"/>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sym typeface="Symbol" panose="05050102010706020507" pitchFamily="18" charset="2"/>
              </a:rPr>
              <a:t></a:t>
            </a:r>
            <a:endParaRPr lang="en-US" altLang="zh-CN" sz="3200" b="1" u="none" dirty="0">
              <a:solidFill>
                <a:schemeClr val="tx1"/>
              </a:solidFill>
              <a:latin typeface="Times New Roman" panose="02020603050405020304" pitchFamily="18" charset="0"/>
            </a:endParaRPr>
          </a:p>
        </p:txBody>
      </p:sp>
      <p:sp>
        <p:nvSpPr>
          <p:cNvPr id="49186" name="Rectangle 34"/>
          <p:cNvSpPr/>
          <p:nvPr/>
        </p:nvSpPr>
        <p:spPr>
          <a:xfrm>
            <a:off x="0" y="4149725"/>
            <a:ext cx="2700338" cy="2349500"/>
          </a:xfrm>
          <a:prstGeom prst="rect">
            <a:avLst/>
          </a:prstGeom>
          <a:solidFill>
            <a:srgbClr val="FFFF99"/>
          </a:solidFill>
          <a:ln w="12700" cap="flat" cmpd="sng">
            <a:solidFill>
              <a:srgbClr val="FF0000"/>
            </a:solidFill>
            <a:prstDash val="solid"/>
            <a:miter/>
            <a:headEnd type="none" w="med" len="med"/>
            <a:tailEnd type="none" w="lg" len="lg"/>
          </a:ln>
        </p:spPr>
        <p:txBody>
          <a:bodyPr wrap="none" anchor="ctr"/>
          <a:p>
            <a:pPr>
              <a:lnSpc>
                <a:spcPct val="90000"/>
              </a:lnSpc>
              <a:buClr>
                <a:schemeClr val="bg2"/>
              </a:buClr>
              <a:buSzPct val="75000"/>
              <a:buFont typeface="Wingdings" panose="05000000000000000000" pitchFamily="2" charset="2"/>
              <a:buChar char="n"/>
            </a:pPr>
            <a:r>
              <a:rPr lang="en-US" altLang="zh-CN" sz="2800" b="1" u="none" dirty="0">
                <a:solidFill>
                  <a:schemeClr val="tx1"/>
                </a:solidFill>
                <a:latin typeface="Arial" panose="020B0604020202020204" pitchFamily="34" charset="0"/>
              </a:rPr>
              <a:t>G(E):</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E→TE</a:t>
            </a:r>
            <a:r>
              <a:rPr lang="en-US" altLang="zh-CN" sz="2800" b="1" u="none" dirty="0">
                <a:solidFill>
                  <a:schemeClr val="tx1"/>
                </a:solidFill>
                <a:latin typeface="Arial" panose="020B0604020202020204" pitchFamily="34" charset="0"/>
                <a:sym typeface="Symbol" panose="05050102010706020507" pitchFamily="18" charset="2"/>
              </a:rPr>
              <a:t></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E</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→+TE</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 | </a:t>
            </a:r>
            <a:r>
              <a:rPr lang="en-US" altLang="zh-CN" sz="2800" b="1" u="none" dirty="0">
                <a:solidFill>
                  <a:schemeClr val="tx1"/>
                </a:solidFill>
                <a:latin typeface="Arial" panose="020B0604020202020204" pitchFamily="34" charset="0"/>
                <a:sym typeface="Symbol" panose="05050102010706020507" pitchFamily="18" charset="2"/>
              </a:rPr>
              <a:t></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T→FT</a:t>
            </a:r>
            <a:r>
              <a:rPr lang="en-US" altLang="zh-CN" sz="2800" b="1" u="none" dirty="0">
                <a:solidFill>
                  <a:schemeClr val="tx1"/>
                </a:solidFill>
                <a:latin typeface="Arial" panose="020B0604020202020204" pitchFamily="34" charset="0"/>
                <a:sym typeface="Symbol" panose="05050102010706020507" pitchFamily="18" charset="2"/>
              </a:rPr>
              <a:t></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T</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→*FT</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 | </a:t>
            </a:r>
            <a:r>
              <a:rPr lang="en-US" altLang="zh-CN" sz="2800" b="1" u="none" dirty="0">
                <a:solidFill>
                  <a:schemeClr val="tx1"/>
                </a:solidFill>
                <a:latin typeface="Arial" panose="020B0604020202020204" pitchFamily="34" charset="0"/>
                <a:sym typeface="Symbol" panose="05050102010706020507" pitchFamily="18" charset="2"/>
              </a:rPr>
              <a:t></a:t>
            </a:r>
            <a:endParaRPr lang="en-US" altLang="zh-CN" sz="28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F→(E) | i</a:t>
            </a:r>
            <a:endParaRPr lang="en-GB" altLang="zh-CN" sz="1600" u="none" dirty="0">
              <a:solidFill>
                <a:schemeClr val="tx1"/>
              </a:solidFill>
              <a:latin typeface="Arial" panose="020B0604020202020204" pitchFamily="34" charset="0"/>
            </a:endParaRPr>
          </a:p>
        </p:txBody>
      </p:sp>
      <p:sp>
        <p:nvSpPr>
          <p:cNvPr id="206883" name="Rectangle 35"/>
          <p:cNvSpPr/>
          <p:nvPr/>
        </p:nvSpPr>
        <p:spPr>
          <a:xfrm>
            <a:off x="4284663" y="2565400"/>
            <a:ext cx="935037" cy="2232025"/>
          </a:xfrm>
          <a:prstGeom prst="rect">
            <a:avLst/>
          </a:prstGeom>
          <a:solidFill>
            <a:srgbClr val="CC99FF">
              <a:alpha val="39999"/>
            </a:srgbClr>
          </a:solidFill>
          <a:ln w="12700" cap="flat" cmpd="sng">
            <a:solidFill>
              <a:srgbClr val="FF0000"/>
            </a:solidFill>
            <a:prstDash val="solid"/>
            <a:miter/>
            <a:headEnd type="none" w="med" len="med"/>
            <a:tailEnd type="none" w="lg" len="lg"/>
          </a:ln>
        </p:spPr>
        <p:txBody>
          <a:bodyPr wrap="none" anchor="ctr"/>
          <a:p>
            <a:endParaRPr lang="zh-CN" altLang="en-US" u="none" dirty="0">
              <a:solidFill>
                <a:schemeClr val="tx1"/>
              </a:solidFill>
              <a:latin typeface="Arial" panose="020B0604020202020204" pitchFamily="34" charset="0"/>
            </a:endParaRPr>
          </a:p>
        </p:txBody>
      </p:sp>
      <p:sp>
        <p:nvSpPr>
          <p:cNvPr id="206884" name="AutoShape 36"/>
          <p:cNvSpPr/>
          <p:nvPr/>
        </p:nvSpPr>
        <p:spPr>
          <a:xfrm>
            <a:off x="755650" y="1052513"/>
            <a:ext cx="2951163" cy="609600"/>
          </a:xfrm>
          <a:prstGeom prst="wedgeRectCallout">
            <a:avLst>
              <a:gd name="adj1" fmla="val 69690"/>
              <a:gd name="adj2" fmla="val 192449"/>
            </a:avLst>
          </a:prstGeom>
          <a:solidFill>
            <a:srgbClr val="99CCFF"/>
          </a:solidFill>
          <a:ln w="12700" cap="flat" cmpd="sng">
            <a:solidFill>
              <a:srgbClr val="FF0000"/>
            </a:solidFill>
            <a:prstDash val="solid"/>
            <a:miter/>
            <a:headEnd type="none" w="med" len="med"/>
            <a:tailEnd type="none" w="lg" len="lg"/>
          </a:ln>
        </p:spPr>
        <p:txBody>
          <a:bodyPr anchor="ctr"/>
          <a:p>
            <a:pPr algn="ctr"/>
            <a:r>
              <a:rPr lang="en-GB" altLang="zh-CN" sz="3200" u="none" dirty="0">
                <a:solidFill>
                  <a:schemeClr val="tx1"/>
                </a:solidFill>
                <a:latin typeface="Times New Roman" panose="02020603050405020304" pitchFamily="18" charset="0"/>
              </a:rPr>
              <a:t>S </a:t>
            </a:r>
            <a:r>
              <a:rPr lang="en-US" altLang="zh-CN" sz="3200" b="1" u="none" dirty="0">
                <a:solidFill>
                  <a:schemeClr val="tx1"/>
                </a:solidFill>
                <a:latin typeface="Times New Roman" panose="02020603050405020304" pitchFamily="18" charset="0"/>
                <a:sym typeface="Symbol" panose="05050102010706020507" pitchFamily="18" charset="2"/>
              </a:rPr>
              <a:t>…T’</a:t>
            </a:r>
            <a:r>
              <a:rPr lang="en-US" altLang="zh-CN" sz="3200" b="1" u="none" dirty="0">
                <a:solidFill>
                  <a:srgbClr val="FF0000"/>
                </a:solidFill>
                <a:latin typeface="Times New Roman" panose="02020603050405020304" pitchFamily="18" charset="0"/>
                <a:sym typeface="Symbol" panose="05050102010706020507" pitchFamily="18" charset="2"/>
              </a:rPr>
              <a:t>+</a:t>
            </a:r>
            <a:r>
              <a:rPr lang="en-US" altLang="zh-CN" sz="3200" b="1" u="none" dirty="0">
                <a:solidFill>
                  <a:schemeClr val="tx1"/>
                </a:solidFill>
                <a:latin typeface="Times New Roman" panose="02020603050405020304" pitchFamily="18" charset="0"/>
                <a:sym typeface="Symbol" panose="05050102010706020507" pitchFamily="18" charset="2"/>
              </a:rPr>
              <a:t>…</a:t>
            </a:r>
            <a:endParaRPr lang="zh-CN" altLang="en-GB" sz="3200" b="1" u="none" dirty="0">
              <a:solidFill>
                <a:schemeClr val="tx1"/>
              </a:solidFill>
              <a:latin typeface="Times New Roman" panose="02020603050405020304" pitchFamily="18" charset="0"/>
              <a:sym typeface="Symbol" panose="05050102010706020507" pitchFamily="18" charset="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688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grpId="0" nodeType="clickEffect">
                                  <p:stCondLst>
                                    <p:cond delay="0"/>
                                  </p:stCondLst>
                                  <p:childTnLst>
                                    <p:set>
                                      <p:cBhvr>
                                        <p:cTn id="10" dur="1" fill="hold">
                                          <p:stCondLst>
                                            <p:cond delay="0"/>
                                          </p:stCondLst>
                                        </p:cTn>
                                        <p:tgtEl>
                                          <p:spTgt spid="206884"/>
                                        </p:tgtEl>
                                        <p:attrNameLst>
                                          <p:attrName>style.visibility</p:attrName>
                                        </p:attrNameLst>
                                      </p:cBhvr>
                                      <p:to>
                                        <p:strVal val="visible"/>
                                      </p:to>
                                    </p:set>
                                    <p:animEffect transition="in" filter="wipe(down)">
                                      <p:cBhvr>
                                        <p:cTn id="11" dur="500"/>
                                        <p:tgtEl>
                                          <p:spTgt spid="2068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883" grpId="0" animBg="1"/>
      <p:bldP spid="206884"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7"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233474" name="Rectangle 2"/>
          <p:cNvSpPr>
            <a:spLocks noGrp="1"/>
          </p:cNvSpPr>
          <p:nvPr>
            <p:ph type="body"/>
          </p:nvPr>
        </p:nvSpPr>
        <p:spPr>
          <a:xfrm>
            <a:off x="468313" y="1844675"/>
            <a:ext cx="8207375" cy="1179513"/>
          </a:xfrm>
          <a:ln/>
        </p:spPr>
        <p:txBody>
          <a:bodyPr vert="horz" wrap="square" lIns="91440" tIns="45720" rIns="91440" bIns="45720" anchor="t"/>
          <a:p>
            <a:pPr eaLnBrk="1" hangingPunct="1"/>
            <a:r>
              <a:rPr lang="zh-CN" altLang="en-US" b="1" dirty="0"/>
              <a:t>假定</a:t>
            </a:r>
            <a:r>
              <a:rPr lang="en-US" altLang="zh-CN" b="1" dirty="0"/>
              <a:t>S</a:t>
            </a:r>
            <a:r>
              <a:rPr lang="zh-CN" altLang="en-US" b="1" dirty="0"/>
              <a:t>是文法</a:t>
            </a:r>
            <a:r>
              <a:rPr lang="en-US" altLang="zh-CN" b="1" dirty="0"/>
              <a:t>G</a:t>
            </a:r>
            <a:r>
              <a:rPr lang="zh-CN" altLang="en-US" b="1" dirty="0"/>
              <a:t>的开始符号，对于</a:t>
            </a:r>
            <a:r>
              <a:rPr lang="en-US" altLang="zh-CN" b="1" dirty="0"/>
              <a:t>G</a:t>
            </a:r>
            <a:r>
              <a:rPr lang="zh-CN" altLang="en-US" b="1" dirty="0"/>
              <a:t>的任何非终结符</a:t>
            </a:r>
            <a:r>
              <a:rPr lang="en-US" altLang="zh-CN" b="1" dirty="0"/>
              <a:t>A</a:t>
            </a:r>
            <a:r>
              <a:rPr lang="zh-CN" altLang="en-US" b="1" dirty="0"/>
              <a:t>，我们定义</a:t>
            </a:r>
            <a:endParaRPr lang="zh-CN" altLang="en-US" b="1" dirty="0"/>
          </a:p>
          <a:p>
            <a:pPr eaLnBrk="1" hangingPunct="1"/>
            <a:endParaRPr lang="en-US" altLang="zh-CN" b="1" dirty="0"/>
          </a:p>
        </p:txBody>
      </p:sp>
      <p:graphicFrame>
        <p:nvGraphicFramePr>
          <p:cNvPr id="233475" name="Object 3"/>
          <p:cNvGraphicFramePr>
            <a:graphicFrameLocks noChangeAspect="1"/>
          </p:cNvGraphicFramePr>
          <p:nvPr/>
        </p:nvGraphicFramePr>
        <p:xfrm>
          <a:off x="1138238" y="2971800"/>
          <a:ext cx="7094537" cy="885825"/>
        </p:xfrm>
        <a:graphic>
          <a:graphicData uri="http://schemas.openxmlformats.org/presentationml/2006/ole">
            <mc:AlternateContent xmlns:mc="http://schemas.openxmlformats.org/markup-compatibility/2006">
              <mc:Choice xmlns:v="urn:schemas-microsoft-com:vml" Requires="v">
                <p:oleObj spid="_x0000_s3082" name="" r:id="rId1" imgW="2045335" imgH="256540" progId="Equation.3">
                  <p:embed/>
                </p:oleObj>
              </mc:Choice>
              <mc:Fallback>
                <p:oleObj name="" r:id="rId1" imgW="2045335" imgH="256540" progId="Equation.3">
                  <p:embed/>
                  <p:pic>
                    <p:nvPicPr>
                      <p:cNvPr id="0" name="图片 3081"/>
                      <p:cNvPicPr/>
                      <p:nvPr/>
                    </p:nvPicPr>
                    <p:blipFill>
                      <a:blip r:embed="rId2">
                        <a:clrChange>
                          <a:clrFrom>
                            <a:srgbClr val="000000"/>
                          </a:clrFrom>
                          <a:clrTo>
                            <a:srgbClr val="000000"/>
                          </a:clrTo>
                        </a:clrChange>
                      </a:blip>
                      <a:stretch>
                        <a:fillRect/>
                      </a:stretch>
                    </p:blipFill>
                    <p:spPr>
                      <a:xfrm>
                        <a:off x="1138238" y="2971800"/>
                        <a:ext cx="7094537" cy="885825"/>
                      </a:xfrm>
                      <a:prstGeom prst="rect">
                        <a:avLst/>
                      </a:prstGeom>
                      <a:noFill/>
                      <a:ln w="38100">
                        <a:noFill/>
                        <a:miter/>
                      </a:ln>
                    </p:spPr>
                  </p:pic>
                </p:oleObj>
              </mc:Fallback>
            </mc:AlternateContent>
          </a:graphicData>
        </a:graphic>
      </p:graphicFrame>
      <p:grpSp>
        <p:nvGrpSpPr>
          <p:cNvPr id="2" name="Group 4"/>
          <p:cNvGrpSpPr/>
          <p:nvPr/>
        </p:nvGrpSpPr>
        <p:grpSpPr>
          <a:xfrm>
            <a:off x="762000" y="4267200"/>
            <a:ext cx="8153400" cy="1219200"/>
            <a:chOff x="768" y="2832"/>
            <a:chExt cx="5136" cy="768"/>
          </a:xfrm>
        </p:grpSpPr>
        <p:graphicFrame>
          <p:nvGraphicFramePr>
            <p:cNvPr id="50181" name="Object 5"/>
            <p:cNvGraphicFramePr>
              <a:graphicFrameLocks noChangeAspect="1"/>
            </p:cNvGraphicFramePr>
            <p:nvPr/>
          </p:nvGraphicFramePr>
          <p:xfrm>
            <a:off x="2064" y="2832"/>
            <a:ext cx="1008" cy="494"/>
          </p:xfrm>
          <a:graphic>
            <a:graphicData uri="http://schemas.openxmlformats.org/presentationml/2006/ole">
              <mc:AlternateContent xmlns:mc="http://schemas.openxmlformats.org/markup-compatibility/2006">
                <mc:Choice xmlns:v="urn:schemas-microsoft-com:vml" Requires="v">
                  <p:oleObj spid="_x0000_s3080" name="" r:id="rId3" imgW="481330" imgH="232410" progId="Equation.3">
                    <p:embed/>
                  </p:oleObj>
                </mc:Choice>
                <mc:Fallback>
                  <p:oleObj name="" r:id="rId3" imgW="481330" imgH="232410" progId="Equation.3">
                    <p:embed/>
                    <p:pic>
                      <p:nvPicPr>
                        <p:cNvPr id="0" name="图片 3079"/>
                        <p:cNvPicPr/>
                        <p:nvPr/>
                      </p:nvPicPr>
                      <p:blipFill>
                        <a:blip r:embed="rId4">
                          <a:clrChange>
                            <a:clrFrom>
                              <a:srgbClr val="000000"/>
                            </a:clrFrom>
                            <a:clrTo>
                              <a:srgbClr val="000000"/>
                            </a:clrTo>
                          </a:clrChange>
                        </a:blip>
                        <a:stretch>
                          <a:fillRect/>
                        </a:stretch>
                      </p:blipFill>
                      <p:spPr>
                        <a:xfrm>
                          <a:off x="2064" y="2832"/>
                          <a:ext cx="1008" cy="494"/>
                        </a:xfrm>
                        <a:prstGeom prst="rect">
                          <a:avLst/>
                        </a:prstGeom>
                        <a:noFill/>
                        <a:ln w="38100">
                          <a:noFill/>
                          <a:miter/>
                        </a:ln>
                      </p:spPr>
                    </p:pic>
                  </p:oleObj>
                </mc:Fallback>
              </mc:AlternateContent>
            </a:graphicData>
          </a:graphic>
        </p:graphicFrame>
        <p:sp>
          <p:nvSpPr>
            <p:cNvPr id="50182" name="Rectangle 6"/>
            <p:cNvSpPr/>
            <p:nvPr/>
          </p:nvSpPr>
          <p:spPr>
            <a:xfrm>
              <a:off x="768" y="2976"/>
              <a:ext cx="5136" cy="624"/>
            </a:xfrm>
            <a:prstGeom prst="rect">
              <a:avLst/>
            </a:prstGeom>
            <a:noFill/>
            <a:ln w="9525">
              <a:noFill/>
            </a:ln>
          </p:spPr>
          <p:txBody>
            <a:bodyPr anchor="t"/>
            <a:p>
              <a:pPr eaLnBrk="0" hangingPunct="0"/>
              <a:r>
                <a:rPr lang="zh-CN" altLang="en-US" sz="3200" b="1" u="none" dirty="0">
                  <a:solidFill>
                    <a:schemeClr val="tx1"/>
                  </a:solidFill>
                  <a:latin typeface="Times New Roman" panose="02020603050405020304" pitchFamily="18" charset="0"/>
                </a:rPr>
                <a:t>特别是，若               ，则规定</a:t>
              </a:r>
              <a:endParaRPr lang="zh-CN" altLang="en-US" sz="3200" b="1" u="none" dirty="0">
                <a:solidFill>
                  <a:schemeClr val="tx1"/>
                </a:solidFill>
                <a:latin typeface="Times New Roman" panose="02020603050405020304" pitchFamily="18" charset="0"/>
              </a:endParaRPr>
            </a:p>
            <a:p>
              <a:pPr algn="ctr" eaLnBrk="0" hangingPunct="0"/>
              <a:r>
                <a:rPr lang="zh-CN" altLang="en-US" sz="3200" b="1" u="none" dirty="0">
                  <a:solidFill>
                    <a:schemeClr val="tx1"/>
                  </a:solidFill>
                  <a:latin typeface="Times New Roman" panose="02020603050405020304" pitchFamily="18" charset="0"/>
                </a:rPr>
                <a:t>   ＃</a:t>
              </a:r>
              <a:r>
                <a:rPr lang="zh-CN" altLang="en-US" sz="3200" b="1" u="none" dirty="0">
                  <a:solidFill>
                    <a:schemeClr val="tx1"/>
                  </a:solidFill>
                  <a:latin typeface="Times New Roman" panose="02020603050405020304" pitchFamily="18" charset="0"/>
                  <a:sym typeface="Symbol" panose="05050102010706020507" pitchFamily="18" charset="2"/>
                </a:rPr>
                <a:t></a:t>
              </a:r>
              <a:r>
                <a:rPr lang="en-US" altLang="zh-CN" sz="3200" b="1" u="none" dirty="0">
                  <a:solidFill>
                    <a:schemeClr val="tx1"/>
                  </a:solidFill>
                  <a:latin typeface="Times New Roman" panose="02020603050405020304" pitchFamily="18" charset="0"/>
                </a:rPr>
                <a:t>FOLLOW(A)</a:t>
              </a:r>
              <a:endParaRPr lang="en-US" altLang="zh-CN" sz="3200" b="1" u="none" dirty="0">
                <a:solidFill>
                  <a:schemeClr val="tx1"/>
                </a:solidFill>
                <a:latin typeface="Times New Roman" panose="02020603050405020304" pitchFamily="18" charset="0"/>
              </a:endParaRPr>
            </a:p>
          </p:txBody>
        </p:sp>
      </p:grpSp>
      <p:sp>
        <p:nvSpPr>
          <p:cNvPr id="50183" name="Rectangle 7"/>
          <p:cNvSpPr>
            <a:spLocks noGrp="1"/>
          </p:cNvSpPr>
          <p:nvPr>
            <p:ph type="title"/>
          </p:nvPr>
        </p:nvSpPr>
        <p:spPr>
          <a:ln/>
        </p:spPr>
        <p:txBody>
          <a:bodyPr vert="horz" wrap="square" lIns="91440" tIns="45720" rIns="91440" bIns="45720" anchor="ctr"/>
          <a:p>
            <a:pPr eaLnBrk="1" hangingPunct="1"/>
            <a:r>
              <a:rPr lang="en-US" altLang="zh-CN" b="1" dirty="0"/>
              <a:t>4.3.3  LL(1)</a:t>
            </a:r>
            <a:r>
              <a:rPr lang="zh-CN" altLang="en-US" b="1" dirty="0"/>
              <a:t>分析条件</a:t>
            </a:r>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33474">
                                            <p:txEl>
                                              <p:charRg st="0" end="30"/>
                                            </p:txEl>
                                          </p:spTgt>
                                        </p:tgtEl>
                                        <p:attrNameLst>
                                          <p:attrName>style.visibility</p:attrName>
                                        </p:attrNameLst>
                                      </p:cBhvr>
                                      <p:to>
                                        <p:strVal val="visible"/>
                                      </p:to>
                                    </p:set>
                                    <p:animEffect transition="in" filter="wipe(up)">
                                      <p:cBhvr>
                                        <p:cTn id="7" dur="500"/>
                                        <p:tgtEl>
                                          <p:spTgt spid="233474">
                                            <p:txEl>
                                              <p:charRg st="0" end="3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33475"/>
                                        </p:tgtEl>
                                        <p:attrNameLst>
                                          <p:attrName>style.visibility</p:attrName>
                                        </p:attrNameLst>
                                      </p:cBhvr>
                                      <p:to>
                                        <p:strVal val="visible"/>
                                      </p:to>
                                    </p:set>
                                    <p:animEffect transition="in" filter="wipe(left)">
                                      <p:cBhvr>
                                        <p:cTn id="11" dur="500"/>
                                        <p:tgtEl>
                                          <p:spTgt spid="23347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3474"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1"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120834" name="Rectangle 2"/>
          <p:cNvSpPr/>
          <p:nvPr/>
        </p:nvSpPr>
        <p:spPr>
          <a:xfrm>
            <a:off x="685800" y="228600"/>
            <a:ext cx="8207375" cy="5486400"/>
          </a:xfrm>
          <a:prstGeom prst="rect">
            <a:avLst/>
          </a:prstGeom>
          <a:noFill/>
          <a:ln w="9525">
            <a:noFill/>
          </a:ln>
        </p:spPr>
        <p:txBody>
          <a:bodyPr anchor="t"/>
          <a:p>
            <a:pPr>
              <a:spcBef>
                <a:spcPct val="20000"/>
              </a:spcBef>
              <a:buClr>
                <a:schemeClr val="bg2"/>
              </a:buClr>
              <a:buSzPct val="75000"/>
              <a:buFont typeface="Wingdings" panose="05000000000000000000" pitchFamily="2" charset="2"/>
              <a:buChar char="n"/>
            </a:pPr>
            <a:r>
              <a:rPr lang="zh-CN" altLang="en-US" sz="3200" b="1" u="none" dirty="0">
                <a:solidFill>
                  <a:schemeClr val="tx1"/>
                </a:solidFill>
                <a:latin typeface="Arial" panose="020B0604020202020204" pitchFamily="34" charset="0"/>
              </a:rPr>
              <a:t>构造不带回溯的自上而下分析的文法条件</a:t>
            </a:r>
            <a:endParaRPr lang="zh-CN" altLang="en-US" sz="3200" b="1" u="none" dirty="0">
              <a:solidFill>
                <a:schemeClr val="tx1"/>
              </a:solidFill>
              <a:latin typeface="Arial" panose="020B0604020202020204" pitchFamily="34" charset="0"/>
            </a:endParaRPr>
          </a:p>
          <a:p>
            <a:pPr lvl="1" indent="0" algn="l" eaLnBrk="0" hangingPunct="0">
              <a:spcBef>
                <a:spcPct val="40000"/>
              </a:spcBef>
            </a:pPr>
            <a:r>
              <a:rPr lang="en-US" altLang="zh-CN" sz="3000" b="1" u="none" dirty="0">
                <a:solidFill>
                  <a:schemeClr val="tx1"/>
                </a:solidFill>
                <a:latin typeface="Times New Roman" panose="02020603050405020304" pitchFamily="18" charset="0"/>
              </a:rPr>
              <a:t>1. </a:t>
            </a:r>
            <a:r>
              <a:rPr lang="zh-CN" altLang="en-US" sz="3000" b="1" u="none" dirty="0">
                <a:solidFill>
                  <a:schemeClr val="tx1"/>
                </a:solidFill>
                <a:latin typeface="Times New Roman" panose="02020603050405020304" pitchFamily="18" charset="0"/>
              </a:rPr>
              <a:t>文法不含左递归，</a:t>
            </a:r>
            <a:endParaRPr lang="zh-CN" altLang="en-US" sz="3000" b="1" u="none" dirty="0">
              <a:solidFill>
                <a:schemeClr val="tx1"/>
              </a:solidFill>
              <a:latin typeface="Times New Roman" panose="02020603050405020304" pitchFamily="18" charset="0"/>
            </a:endParaRPr>
          </a:p>
          <a:p>
            <a:pPr lvl="1" indent="0" algn="l" eaLnBrk="0" hangingPunct="0">
              <a:spcBef>
                <a:spcPct val="40000"/>
              </a:spcBef>
            </a:pPr>
            <a:r>
              <a:rPr lang="en-US" altLang="zh-CN" sz="3000" b="1" u="none" dirty="0">
                <a:solidFill>
                  <a:schemeClr val="tx1"/>
                </a:solidFill>
                <a:latin typeface="Times New Roman" panose="02020603050405020304" pitchFamily="18" charset="0"/>
              </a:rPr>
              <a:t>2. </a:t>
            </a:r>
            <a:r>
              <a:rPr lang="zh-CN" altLang="en-US" sz="3000" b="1" u="none" dirty="0">
                <a:solidFill>
                  <a:schemeClr val="tx1"/>
                </a:solidFill>
                <a:latin typeface="Times New Roman" panose="02020603050405020304" pitchFamily="18" charset="0"/>
              </a:rPr>
              <a:t>对于文法中每一个非终结符</a:t>
            </a:r>
            <a:r>
              <a:rPr lang="en-US" altLang="zh-CN" sz="3000" b="1" u="none" dirty="0">
                <a:solidFill>
                  <a:schemeClr val="tx1"/>
                </a:solidFill>
                <a:latin typeface="Times New Roman" panose="02020603050405020304" pitchFamily="18" charset="0"/>
              </a:rPr>
              <a:t>A</a:t>
            </a:r>
            <a:r>
              <a:rPr lang="zh-CN" altLang="en-US" sz="3000" b="1" u="none" dirty="0">
                <a:solidFill>
                  <a:schemeClr val="tx1"/>
                </a:solidFill>
                <a:latin typeface="Times New Roman" panose="02020603050405020304" pitchFamily="18" charset="0"/>
              </a:rPr>
              <a:t>的各个产生式的候选首符集两两不相交。即，若</a:t>
            </a:r>
            <a:endParaRPr lang="zh-CN" altLang="en-US" sz="3000" b="1" u="none" dirty="0">
              <a:solidFill>
                <a:schemeClr val="tx1"/>
              </a:solidFill>
              <a:latin typeface="Times New Roman" panose="02020603050405020304" pitchFamily="18" charset="0"/>
            </a:endParaRPr>
          </a:p>
          <a:p>
            <a:pPr lvl="1" indent="0" algn="ctr" eaLnBrk="0" hangingPunct="0"/>
            <a:r>
              <a:rPr lang="en-US" altLang="zh-CN" sz="3000" b="1" u="none" dirty="0">
                <a:solidFill>
                  <a:schemeClr val="tx1"/>
                </a:solidFill>
                <a:latin typeface="Times New Roman" panose="02020603050405020304" pitchFamily="18" charset="0"/>
              </a:rPr>
              <a:t>A→</a:t>
            </a:r>
            <a:r>
              <a:rPr lang="en-US" altLang="zh-CN" sz="3000" b="1" u="none" dirty="0">
                <a:solidFill>
                  <a:schemeClr val="tx1"/>
                </a:solidFill>
                <a:latin typeface="Times New Roman" panose="02020603050405020304" pitchFamily="18" charset="0"/>
                <a:sym typeface="Symbol" panose="05050102010706020507" pitchFamily="18" charset="2"/>
              </a:rPr>
              <a:t></a:t>
            </a:r>
            <a:r>
              <a:rPr lang="en-US" altLang="zh-CN" sz="3000" b="1" u="none" baseline="-25000" dirty="0">
                <a:solidFill>
                  <a:schemeClr val="tx1"/>
                </a:solidFill>
                <a:latin typeface="Times New Roman" panose="02020603050405020304" pitchFamily="18" charset="0"/>
              </a:rPr>
              <a:t> 1</a:t>
            </a:r>
            <a:r>
              <a:rPr lang="en-US" altLang="zh-CN" sz="3000" b="1" u="none" dirty="0">
                <a:solidFill>
                  <a:schemeClr val="tx1"/>
                </a:solidFill>
                <a:latin typeface="Times New Roman" panose="02020603050405020304" pitchFamily="18" charset="0"/>
              </a:rPr>
              <a:t>|</a:t>
            </a:r>
            <a:r>
              <a:rPr lang="en-US" altLang="zh-CN" sz="3000" b="1" u="none" dirty="0">
                <a:solidFill>
                  <a:schemeClr val="tx1"/>
                </a:solidFill>
                <a:latin typeface="Times New Roman" panose="02020603050405020304" pitchFamily="18" charset="0"/>
                <a:sym typeface="Symbol" panose="05050102010706020507" pitchFamily="18" charset="2"/>
              </a:rPr>
              <a:t></a:t>
            </a:r>
            <a:r>
              <a:rPr lang="en-US" altLang="zh-CN" sz="3000" b="1" u="none" baseline="-25000" dirty="0">
                <a:solidFill>
                  <a:schemeClr val="tx1"/>
                </a:solidFill>
                <a:latin typeface="Times New Roman" panose="02020603050405020304" pitchFamily="18" charset="0"/>
              </a:rPr>
              <a:t> 2</a:t>
            </a:r>
            <a:r>
              <a:rPr lang="en-US" altLang="zh-CN" sz="3000" b="1" u="none" dirty="0">
                <a:solidFill>
                  <a:schemeClr val="tx1"/>
                </a:solidFill>
                <a:latin typeface="Times New Roman" panose="02020603050405020304" pitchFamily="18" charset="0"/>
              </a:rPr>
              <a:t>|…|</a:t>
            </a:r>
            <a:r>
              <a:rPr lang="en-US" altLang="zh-CN" sz="3000" b="1" u="none" dirty="0">
                <a:solidFill>
                  <a:schemeClr val="tx1"/>
                </a:solidFill>
                <a:latin typeface="Times New Roman" panose="02020603050405020304" pitchFamily="18" charset="0"/>
                <a:sym typeface="Symbol" panose="05050102010706020507" pitchFamily="18" charset="2"/>
              </a:rPr>
              <a:t></a:t>
            </a:r>
            <a:r>
              <a:rPr lang="en-US" altLang="zh-CN" sz="3000" b="1" u="none" baseline="-25000" dirty="0">
                <a:solidFill>
                  <a:schemeClr val="tx1"/>
                </a:solidFill>
                <a:latin typeface="Times New Roman" panose="02020603050405020304" pitchFamily="18" charset="0"/>
              </a:rPr>
              <a:t> n</a:t>
            </a:r>
            <a:endParaRPr lang="en-US" altLang="zh-CN" sz="3000" b="1" u="none" dirty="0">
              <a:solidFill>
                <a:schemeClr val="tx1"/>
              </a:solidFill>
              <a:latin typeface="Times New Roman" panose="02020603050405020304" pitchFamily="18" charset="0"/>
            </a:endParaRPr>
          </a:p>
          <a:p>
            <a:pPr lvl="1" indent="0" algn="l" eaLnBrk="0" hangingPunct="0"/>
            <a:r>
              <a:rPr lang="en-US" altLang="zh-CN" sz="3000" b="1" u="none" dirty="0">
                <a:solidFill>
                  <a:schemeClr val="tx1"/>
                </a:solidFill>
                <a:latin typeface="Times New Roman" panose="02020603050405020304" pitchFamily="18" charset="0"/>
              </a:rPr>
              <a:t>    </a:t>
            </a:r>
            <a:r>
              <a:rPr lang="zh-CN" altLang="en-US" sz="3000" b="1" u="none" dirty="0">
                <a:solidFill>
                  <a:schemeClr val="tx1"/>
                </a:solidFill>
                <a:latin typeface="Times New Roman" panose="02020603050405020304" pitchFamily="18" charset="0"/>
              </a:rPr>
              <a:t>则  </a:t>
            </a:r>
            <a:r>
              <a:rPr lang="en-US" altLang="zh-CN" sz="3000" b="1" u="none" dirty="0">
                <a:solidFill>
                  <a:schemeClr val="tx1"/>
                </a:solidFill>
                <a:latin typeface="Times New Roman" panose="02020603050405020304" pitchFamily="18" charset="0"/>
              </a:rPr>
              <a:t>FIRST(</a:t>
            </a:r>
            <a:r>
              <a:rPr lang="en-US" altLang="zh-CN" sz="3000" b="1" u="none" dirty="0">
                <a:solidFill>
                  <a:schemeClr val="tx1"/>
                </a:solidFill>
                <a:latin typeface="Times New Roman" panose="02020603050405020304" pitchFamily="18" charset="0"/>
                <a:sym typeface="Symbol" panose="05050102010706020507" pitchFamily="18" charset="2"/>
              </a:rPr>
              <a:t></a:t>
            </a:r>
            <a:r>
              <a:rPr lang="en-US" altLang="zh-CN" sz="3000" b="1" u="none" baseline="-25000" dirty="0">
                <a:solidFill>
                  <a:schemeClr val="tx1"/>
                </a:solidFill>
                <a:latin typeface="Times New Roman" panose="02020603050405020304" pitchFamily="18" charset="0"/>
              </a:rPr>
              <a:t> i</a:t>
            </a:r>
            <a:r>
              <a:rPr lang="en-US" altLang="zh-CN" sz="3000" b="1" u="none" dirty="0">
                <a:solidFill>
                  <a:schemeClr val="tx1"/>
                </a:solidFill>
                <a:latin typeface="Times New Roman" panose="02020603050405020304" pitchFamily="18" charset="0"/>
              </a:rPr>
              <a:t>)</a:t>
            </a:r>
            <a:r>
              <a:rPr lang="en-US" altLang="zh-CN" sz="3000" b="1" u="none" dirty="0">
                <a:solidFill>
                  <a:schemeClr val="tx1"/>
                </a:solidFill>
                <a:latin typeface="宋体" panose="02010600030101010101" pitchFamily="2" charset="-122"/>
              </a:rPr>
              <a:t>∩</a:t>
            </a:r>
            <a:r>
              <a:rPr lang="en-US" altLang="zh-CN" sz="3000" b="1" u="none" dirty="0">
                <a:solidFill>
                  <a:schemeClr val="tx1"/>
                </a:solidFill>
                <a:latin typeface="Times New Roman" panose="02020603050405020304" pitchFamily="18" charset="0"/>
              </a:rPr>
              <a:t>FIRST(</a:t>
            </a:r>
            <a:r>
              <a:rPr lang="en-US" altLang="zh-CN" sz="3000" b="1" u="none" dirty="0">
                <a:solidFill>
                  <a:schemeClr val="tx1"/>
                </a:solidFill>
                <a:latin typeface="Times New Roman" panose="02020603050405020304" pitchFamily="18" charset="0"/>
                <a:sym typeface="Symbol" panose="05050102010706020507" pitchFamily="18" charset="2"/>
              </a:rPr>
              <a:t></a:t>
            </a:r>
            <a:r>
              <a:rPr lang="en-US" altLang="zh-CN" sz="3000" b="1" u="none" baseline="-25000" dirty="0">
                <a:solidFill>
                  <a:schemeClr val="tx1"/>
                </a:solidFill>
                <a:latin typeface="Times New Roman" panose="02020603050405020304" pitchFamily="18" charset="0"/>
              </a:rPr>
              <a:t> j</a:t>
            </a:r>
            <a:r>
              <a:rPr lang="en-US" altLang="zh-CN" sz="3000" b="1" u="none" dirty="0">
                <a:solidFill>
                  <a:schemeClr val="tx1"/>
                </a:solidFill>
                <a:latin typeface="Times New Roman" panose="02020603050405020304" pitchFamily="18" charset="0"/>
              </a:rPr>
              <a:t>)</a:t>
            </a:r>
            <a:r>
              <a:rPr lang="zh-CN" altLang="en-US" sz="3000" b="1" u="none" dirty="0">
                <a:solidFill>
                  <a:schemeClr val="tx1"/>
                </a:solidFill>
                <a:latin typeface="Times New Roman" panose="02020603050405020304" pitchFamily="18" charset="0"/>
              </a:rPr>
              <a:t>＝</a:t>
            </a:r>
            <a:r>
              <a:rPr lang="zh-CN" altLang="en-US" sz="3000" b="1" u="none" dirty="0">
                <a:solidFill>
                  <a:schemeClr val="tx1"/>
                </a:solidFill>
                <a:latin typeface="Times New Roman" panose="02020603050405020304" pitchFamily="18" charset="0"/>
                <a:sym typeface="Symbol" panose="05050102010706020507" pitchFamily="18" charset="2"/>
              </a:rPr>
              <a:t></a:t>
            </a:r>
            <a:r>
              <a:rPr lang="zh-CN" altLang="en-US" sz="3000" b="1" u="none" dirty="0">
                <a:solidFill>
                  <a:schemeClr val="tx1"/>
                </a:solidFill>
                <a:latin typeface="Times New Roman" panose="02020603050405020304" pitchFamily="18" charset="0"/>
              </a:rPr>
              <a:t>	   </a:t>
            </a:r>
            <a:r>
              <a:rPr lang="en-US" altLang="zh-CN" sz="3000" b="1" u="none" dirty="0">
                <a:solidFill>
                  <a:schemeClr val="tx1"/>
                </a:solidFill>
                <a:latin typeface="Times New Roman" panose="02020603050405020304" pitchFamily="18" charset="0"/>
              </a:rPr>
              <a:t>(i</a:t>
            </a:r>
            <a:r>
              <a:rPr lang="en-US" altLang="zh-CN" sz="3000" b="1" u="none" dirty="0">
                <a:solidFill>
                  <a:schemeClr val="tx1"/>
                </a:solidFill>
                <a:latin typeface="Times New Roman" panose="02020603050405020304" pitchFamily="18" charset="0"/>
                <a:sym typeface="Symbol" panose="05050102010706020507" pitchFamily="18" charset="2"/>
              </a:rPr>
              <a:t></a:t>
            </a:r>
            <a:r>
              <a:rPr lang="en-US" altLang="zh-CN" sz="3000" b="1" u="none" dirty="0">
                <a:solidFill>
                  <a:schemeClr val="tx1"/>
                </a:solidFill>
                <a:latin typeface="Times New Roman" panose="02020603050405020304" pitchFamily="18" charset="0"/>
              </a:rPr>
              <a:t>j)</a:t>
            </a:r>
            <a:endParaRPr lang="en-US" altLang="zh-CN" sz="3000" b="1" u="none" dirty="0">
              <a:solidFill>
                <a:schemeClr val="tx1"/>
              </a:solidFill>
              <a:latin typeface="Times New Roman" panose="02020603050405020304" pitchFamily="18" charset="0"/>
            </a:endParaRPr>
          </a:p>
          <a:p>
            <a:pPr lvl="1" indent="0" algn="l" eaLnBrk="0" hangingPunct="0">
              <a:spcBef>
                <a:spcPct val="40000"/>
              </a:spcBef>
            </a:pPr>
            <a:r>
              <a:rPr lang="en-US" altLang="zh-CN" sz="3000" b="1" u="none" dirty="0">
                <a:solidFill>
                  <a:schemeClr val="tx1"/>
                </a:solidFill>
                <a:latin typeface="Times New Roman" panose="02020603050405020304" pitchFamily="18" charset="0"/>
              </a:rPr>
              <a:t>3. </a:t>
            </a:r>
            <a:r>
              <a:rPr lang="zh-CN" altLang="en-US" sz="3000" b="1" u="none" dirty="0">
                <a:solidFill>
                  <a:schemeClr val="tx1"/>
                </a:solidFill>
                <a:latin typeface="Times New Roman" panose="02020603050405020304" pitchFamily="18" charset="0"/>
              </a:rPr>
              <a:t>对文法中的每个非终结符</a:t>
            </a:r>
            <a:r>
              <a:rPr lang="en-US" altLang="zh-CN" sz="3000" b="1" u="none" dirty="0">
                <a:solidFill>
                  <a:schemeClr val="tx1"/>
                </a:solidFill>
                <a:latin typeface="Times New Roman" panose="02020603050405020304" pitchFamily="18" charset="0"/>
              </a:rPr>
              <a:t>A</a:t>
            </a:r>
            <a:r>
              <a:rPr lang="zh-CN" altLang="en-US" sz="3000" b="1" u="none" dirty="0">
                <a:solidFill>
                  <a:schemeClr val="tx1"/>
                </a:solidFill>
                <a:latin typeface="Times New Roman" panose="02020603050405020304" pitchFamily="18" charset="0"/>
              </a:rPr>
              <a:t>，若它存在某个候选首符集包含</a:t>
            </a:r>
            <a:r>
              <a:rPr lang="zh-CN" altLang="en-US" sz="3000" b="1" u="none" dirty="0">
                <a:solidFill>
                  <a:schemeClr val="tx1"/>
                </a:solidFill>
                <a:latin typeface="Times New Roman" panose="02020603050405020304" pitchFamily="18" charset="0"/>
                <a:sym typeface="Symbol" panose="05050102010706020507" pitchFamily="18" charset="2"/>
              </a:rPr>
              <a:t></a:t>
            </a:r>
            <a:r>
              <a:rPr lang="zh-CN" altLang="en-US" sz="3000" b="1" u="none" dirty="0">
                <a:solidFill>
                  <a:schemeClr val="tx1"/>
                </a:solidFill>
                <a:latin typeface="Times New Roman" panose="02020603050405020304" pitchFamily="18" charset="0"/>
              </a:rPr>
              <a:t>，则</a:t>
            </a:r>
            <a:endParaRPr lang="zh-CN" altLang="en-US" sz="3000" b="1" u="none" dirty="0">
              <a:solidFill>
                <a:schemeClr val="tx1"/>
              </a:solidFill>
              <a:latin typeface="Times New Roman" panose="02020603050405020304" pitchFamily="18" charset="0"/>
            </a:endParaRPr>
          </a:p>
          <a:p>
            <a:pPr lvl="1" indent="0" algn="ctr" eaLnBrk="0" hangingPunct="0"/>
            <a:r>
              <a:rPr lang="en-US" altLang="zh-CN" sz="3000" b="1" u="none" dirty="0">
                <a:solidFill>
                  <a:schemeClr val="tx1"/>
                </a:solidFill>
                <a:latin typeface="Times New Roman" panose="02020603050405020304" pitchFamily="18" charset="0"/>
              </a:rPr>
              <a:t>FIRST(</a:t>
            </a:r>
            <a:r>
              <a:rPr lang="en-US" altLang="zh-CN" sz="3000" b="1" u="none" dirty="0">
                <a:solidFill>
                  <a:schemeClr val="tx1"/>
                </a:solidFill>
                <a:latin typeface="Times New Roman" panose="02020603050405020304" pitchFamily="18" charset="0"/>
                <a:sym typeface="Symbol" panose="05050102010706020507" pitchFamily="18" charset="2"/>
              </a:rPr>
              <a:t></a:t>
            </a:r>
            <a:r>
              <a:rPr lang="en-US" altLang="zh-CN" sz="3000" b="1" u="none" baseline="-25000" dirty="0">
                <a:solidFill>
                  <a:schemeClr val="tx1"/>
                </a:solidFill>
                <a:latin typeface="Times New Roman" panose="02020603050405020304" pitchFamily="18" charset="0"/>
              </a:rPr>
              <a:t> i</a:t>
            </a:r>
            <a:r>
              <a:rPr lang="en-US" altLang="zh-CN" sz="3000" b="1" u="none" dirty="0">
                <a:solidFill>
                  <a:schemeClr val="tx1"/>
                </a:solidFill>
                <a:latin typeface="Times New Roman" panose="02020603050405020304" pitchFamily="18" charset="0"/>
              </a:rPr>
              <a:t>)</a:t>
            </a:r>
            <a:r>
              <a:rPr lang="en-US" altLang="zh-CN" sz="3000" b="1" u="none" dirty="0">
                <a:solidFill>
                  <a:schemeClr val="tx1"/>
                </a:solidFill>
                <a:latin typeface="宋体" panose="02010600030101010101" pitchFamily="2" charset="-122"/>
              </a:rPr>
              <a:t>∩</a:t>
            </a:r>
            <a:r>
              <a:rPr lang="en-US" altLang="zh-CN" sz="3000" b="1" u="none" dirty="0">
                <a:solidFill>
                  <a:schemeClr val="tx1"/>
                </a:solidFill>
                <a:latin typeface="Times New Roman" panose="02020603050405020304" pitchFamily="18" charset="0"/>
              </a:rPr>
              <a:t>FOLLOW(A)=</a:t>
            </a:r>
            <a:r>
              <a:rPr lang="en-US" altLang="zh-CN" sz="3000" b="1" u="none" dirty="0">
                <a:solidFill>
                  <a:schemeClr val="tx1"/>
                </a:solidFill>
                <a:latin typeface="Times New Roman" panose="02020603050405020304" pitchFamily="18" charset="0"/>
                <a:sym typeface="Symbol" panose="05050102010706020507" pitchFamily="18" charset="2"/>
              </a:rPr>
              <a:t></a:t>
            </a:r>
            <a:endParaRPr lang="en-US" altLang="zh-CN" sz="3000" b="1" u="none" dirty="0">
              <a:solidFill>
                <a:schemeClr val="tx1"/>
              </a:solidFill>
              <a:latin typeface="Times New Roman" panose="02020603050405020304" pitchFamily="18" charset="0"/>
              <a:sym typeface="Symbol" panose="05050102010706020507" pitchFamily="18" charset="2"/>
            </a:endParaRPr>
          </a:p>
          <a:p>
            <a:pPr lvl="1" indent="0" algn="ctr" eaLnBrk="0" hangingPunct="0"/>
            <a:r>
              <a:rPr lang="en-US" altLang="zh-CN" sz="3000" b="1" u="none" dirty="0">
                <a:solidFill>
                  <a:schemeClr val="tx1"/>
                </a:solidFill>
                <a:latin typeface="Times New Roman" panose="02020603050405020304" pitchFamily="18" charset="0"/>
                <a:sym typeface="Symbol" panose="05050102010706020507" pitchFamily="18" charset="2"/>
              </a:rPr>
              <a:t>i=1,2,...,n</a:t>
            </a:r>
            <a:endParaRPr lang="en-US" altLang="zh-CN" sz="3000" b="1" u="none" dirty="0">
              <a:solidFill>
                <a:schemeClr val="tx1"/>
              </a:solidFill>
              <a:latin typeface="Times New Roman" panose="02020603050405020304" pitchFamily="18" charset="0"/>
              <a:sym typeface="Symbol" panose="05050102010706020507" pitchFamily="18" charset="2"/>
            </a:endParaRPr>
          </a:p>
          <a:p>
            <a:pPr eaLnBrk="0" hangingPunct="0"/>
            <a:r>
              <a:rPr lang="zh-CN" altLang="en-US" sz="3000" b="1" u="none" dirty="0">
                <a:solidFill>
                  <a:schemeClr val="tx1"/>
                </a:solidFill>
                <a:latin typeface="Times New Roman" panose="02020603050405020304" pitchFamily="18" charset="0"/>
              </a:rPr>
              <a:t>如果一个文法</a:t>
            </a:r>
            <a:r>
              <a:rPr lang="en-US" altLang="zh-CN" sz="3000" b="1" u="none" dirty="0">
                <a:solidFill>
                  <a:schemeClr val="tx1"/>
                </a:solidFill>
                <a:latin typeface="Times New Roman" panose="02020603050405020304" pitchFamily="18" charset="0"/>
              </a:rPr>
              <a:t>G</a:t>
            </a:r>
            <a:r>
              <a:rPr lang="zh-CN" altLang="en-US" sz="3000" b="1" u="none" dirty="0">
                <a:solidFill>
                  <a:schemeClr val="tx1"/>
                </a:solidFill>
                <a:latin typeface="Times New Roman" panose="02020603050405020304" pitchFamily="18" charset="0"/>
              </a:rPr>
              <a:t>满足以上条件，则称该文法</a:t>
            </a:r>
            <a:r>
              <a:rPr lang="en-US" altLang="zh-CN" sz="3000" b="1" u="none" dirty="0">
                <a:solidFill>
                  <a:schemeClr val="tx1"/>
                </a:solidFill>
                <a:latin typeface="Times New Roman" panose="02020603050405020304" pitchFamily="18" charset="0"/>
              </a:rPr>
              <a:t>G</a:t>
            </a:r>
            <a:r>
              <a:rPr lang="zh-CN" altLang="en-US" sz="3000" b="1" u="none" dirty="0">
                <a:solidFill>
                  <a:schemeClr val="tx1"/>
                </a:solidFill>
                <a:latin typeface="Times New Roman" panose="02020603050405020304" pitchFamily="18" charset="0"/>
              </a:rPr>
              <a:t>为</a:t>
            </a:r>
            <a:r>
              <a:rPr lang="en-US" altLang="zh-CN" sz="3000" b="1" u="none" dirty="0">
                <a:solidFill>
                  <a:srgbClr val="FF0000"/>
                </a:solidFill>
                <a:latin typeface="黑体" panose="02010609060101010101" pitchFamily="49" charset="-122"/>
                <a:ea typeface="黑体" panose="02010609060101010101" pitchFamily="49" charset="-122"/>
              </a:rPr>
              <a:t>LL(1)</a:t>
            </a:r>
            <a:r>
              <a:rPr lang="zh-CN" altLang="en-US" sz="3000" b="1" u="none" dirty="0">
                <a:solidFill>
                  <a:srgbClr val="FF0000"/>
                </a:solidFill>
                <a:latin typeface="黑体" panose="02010609060101010101" pitchFamily="49" charset="-122"/>
                <a:ea typeface="黑体" panose="02010609060101010101" pitchFamily="49" charset="-122"/>
              </a:rPr>
              <a:t>文法</a:t>
            </a:r>
            <a:r>
              <a:rPr lang="zh-CN" altLang="en-US" sz="3000" b="1" u="none" dirty="0">
                <a:solidFill>
                  <a:schemeClr val="tx1"/>
                </a:solidFill>
                <a:latin typeface="Times New Roman" panose="02020603050405020304" pitchFamily="18" charset="0"/>
              </a:rPr>
              <a:t>。</a:t>
            </a:r>
            <a:r>
              <a:rPr lang="en-US" altLang="zh-CN" sz="3000" b="1" u="none" dirty="0">
                <a:solidFill>
                  <a:schemeClr val="tx1"/>
                </a:solidFill>
                <a:latin typeface="Times New Roman" panose="02020603050405020304" pitchFamily="18" charset="0"/>
              </a:rPr>
              <a:t>(</a:t>
            </a:r>
            <a:r>
              <a:rPr lang="zh-CN" altLang="en-US" sz="3000" b="1" u="none" dirty="0">
                <a:solidFill>
                  <a:schemeClr val="tx1"/>
                </a:solidFill>
                <a:latin typeface="Times New Roman" panose="02020603050405020304" pitchFamily="18" charset="0"/>
              </a:rPr>
              <a:t>自左向右</a:t>
            </a:r>
            <a:r>
              <a:rPr lang="en-US" altLang="zh-CN" sz="3000" b="1" u="none" dirty="0">
                <a:solidFill>
                  <a:schemeClr val="tx1"/>
                </a:solidFill>
                <a:latin typeface="Times New Roman" panose="02020603050405020304" pitchFamily="18" charset="0"/>
              </a:rPr>
              <a:t>, </a:t>
            </a:r>
            <a:r>
              <a:rPr lang="zh-CN" altLang="en-US" sz="3000" b="1" u="none" dirty="0">
                <a:solidFill>
                  <a:schemeClr val="tx1"/>
                </a:solidFill>
                <a:latin typeface="Times New Roman" panose="02020603050405020304" pitchFamily="18" charset="0"/>
              </a:rPr>
              <a:t>最左推导</a:t>
            </a:r>
            <a:r>
              <a:rPr lang="en-US" altLang="zh-CN" sz="3000" b="1" u="none" dirty="0">
                <a:solidFill>
                  <a:schemeClr val="tx1"/>
                </a:solidFill>
                <a:latin typeface="Times New Roman" panose="02020603050405020304" pitchFamily="18" charset="0"/>
              </a:rPr>
              <a:t>, </a:t>
            </a:r>
            <a:r>
              <a:rPr lang="zh-CN" altLang="en-US" sz="3000" b="1" u="none" dirty="0">
                <a:solidFill>
                  <a:schemeClr val="tx1"/>
                </a:solidFill>
                <a:latin typeface="Times New Roman" panose="02020603050405020304" pitchFamily="18" charset="0"/>
              </a:rPr>
              <a:t>向前看</a:t>
            </a:r>
            <a:r>
              <a:rPr lang="en-US" altLang="zh-CN" sz="3000" b="1" u="none" dirty="0">
                <a:solidFill>
                  <a:schemeClr val="tx1"/>
                </a:solidFill>
                <a:latin typeface="Times New Roman" panose="02020603050405020304" pitchFamily="18" charset="0"/>
              </a:rPr>
              <a:t>1</a:t>
            </a:r>
            <a:r>
              <a:rPr lang="zh-CN" altLang="en-US" sz="3000" b="1" u="none" dirty="0">
                <a:solidFill>
                  <a:schemeClr val="tx1"/>
                </a:solidFill>
                <a:latin typeface="Times New Roman" panose="02020603050405020304" pitchFamily="18" charset="0"/>
              </a:rPr>
              <a:t>步</a:t>
            </a:r>
            <a:r>
              <a:rPr lang="en-US" altLang="zh-CN" sz="3000" b="1" u="none" dirty="0">
                <a:solidFill>
                  <a:schemeClr val="tx1"/>
                </a:solidFill>
                <a:latin typeface="Times New Roman" panose="02020603050405020304" pitchFamily="18" charset="0"/>
              </a:rPr>
              <a:t>)	</a:t>
            </a:r>
            <a:endParaRPr lang="en-US" altLang="zh-CN" sz="3000" b="1" u="none" dirty="0">
              <a:solidFill>
                <a:schemeClr val="tx1"/>
              </a:solidFill>
              <a:latin typeface="Times New Roman" panose="02020603050405020304" pitchFamily="18"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20834">
                                            <p:txEl>
                                              <p:charRg st="0" end="19"/>
                                            </p:txEl>
                                          </p:spTgt>
                                        </p:tgtEl>
                                        <p:attrNameLst>
                                          <p:attrName>style.visibility</p:attrName>
                                        </p:attrNameLst>
                                      </p:cBhvr>
                                      <p:to>
                                        <p:strVal val="visible"/>
                                      </p:to>
                                    </p:set>
                                    <p:animEffect transition="in" filter="wipe(up)">
                                      <p:cBhvr>
                                        <p:cTn id="7" dur="500"/>
                                        <p:tgtEl>
                                          <p:spTgt spid="120834">
                                            <p:txEl>
                                              <p:charRg st="0" end="19"/>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20834">
                                            <p:txEl>
                                              <p:charRg st="19" end="31"/>
                                            </p:txEl>
                                          </p:spTgt>
                                        </p:tgtEl>
                                        <p:attrNameLst>
                                          <p:attrName>style.visibility</p:attrName>
                                        </p:attrNameLst>
                                      </p:cBhvr>
                                      <p:to>
                                        <p:strVal val="visible"/>
                                      </p:to>
                                    </p:set>
                                    <p:animEffect transition="in" filter="wipe(up)">
                                      <p:cBhvr>
                                        <p:cTn id="12" dur="500"/>
                                        <p:tgtEl>
                                          <p:spTgt spid="120834">
                                            <p:txEl>
                                              <p:charRg st="19" end="3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20834">
                                            <p:txEl>
                                              <p:charRg st="31" end="69"/>
                                            </p:txEl>
                                          </p:spTgt>
                                        </p:tgtEl>
                                        <p:attrNameLst>
                                          <p:attrName>style.visibility</p:attrName>
                                        </p:attrNameLst>
                                      </p:cBhvr>
                                      <p:to>
                                        <p:strVal val="visible"/>
                                      </p:to>
                                    </p:set>
                                    <p:animEffect transition="in" filter="wipe(up)">
                                      <p:cBhvr>
                                        <p:cTn id="17" dur="500"/>
                                        <p:tgtEl>
                                          <p:spTgt spid="120834">
                                            <p:txEl>
                                              <p:charRg st="31" end="69"/>
                                            </p:txEl>
                                          </p:spTgt>
                                        </p:tgtEl>
                                      </p:cBhvr>
                                    </p:animEffect>
                                  </p:childTnLst>
                                </p:cTn>
                              </p:par>
                            </p:childTnLst>
                          </p:cTn>
                        </p:par>
                        <p:par>
                          <p:cTn id="18" fill="hold">
                            <p:stCondLst>
                              <p:cond delay="500"/>
                            </p:stCondLst>
                            <p:childTnLst>
                              <p:par>
                                <p:cTn id="19" presetID="22" presetClass="entr" presetSubtype="1" fill="hold" grpId="0" nodeType="afterEffect">
                                  <p:stCondLst>
                                    <p:cond delay="0"/>
                                  </p:stCondLst>
                                  <p:childTnLst>
                                    <p:set>
                                      <p:cBhvr>
                                        <p:cTn id="20" dur="1" fill="hold">
                                          <p:stCondLst>
                                            <p:cond delay="0"/>
                                          </p:stCondLst>
                                        </p:cTn>
                                        <p:tgtEl>
                                          <p:spTgt spid="120834">
                                            <p:txEl>
                                              <p:charRg st="69" end="85"/>
                                            </p:txEl>
                                          </p:spTgt>
                                        </p:tgtEl>
                                        <p:attrNameLst>
                                          <p:attrName>style.visibility</p:attrName>
                                        </p:attrNameLst>
                                      </p:cBhvr>
                                      <p:to>
                                        <p:strVal val="visible"/>
                                      </p:to>
                                    </p:set>
                                    <p:animEffect transition="in" filter="wipe(up)">
                                      <p:cBhvr>
                                        <p:cTn id="21" dur="500"/>
                                        <p:tgtEl>
                                          <p:spTgt spid="120834">
                                            <p:txEl>
                                              <p:charRg st="69" end="85"/>
                                            </p:txEl>
                                          </p:spTgt>
                                        </p:tgtEl>
                                      </p:cBhvr>
                                    </p:animEffect>
                                  </p:childTnLst>
                                </p:cTn>
                              </p:par>
                            </p:childTnLst>
                          </p:cTn>
                        </p:par>
                        <p:par>
                          <p:cTn id="22" fill="hold">
                            <p:stCondLst>
                              <p:cond delay="1000"/>
                            </p:stCondLst>
                            <p:childTnLst>
                              <p:par>
                                <p:cTn id="23" presetID="22" presetClass="entr" presetSubtype="1" fill="hold" grpId="0" nodeType="afterEffect">
                                  <p:stCondLst>
                                    <p:cond delay="0"/>
                                  </p:stCondLst>
                                  <p:childTnLst>
                                    <p:set>
                                      <p:cBhvr>
                                        <p:cTn id="24" dur="1" fill="hold">
                                          <p:stCondLst>
                                            <p:cond delay="0"/>
                                          </p:stCondLst>
                                        </p:cTn>
                                        <p:tgtEl>
                                          <p:spTgt spid="120834">
                                            <p:txEl>
                                              <p:charRg st="85" end="125"/>
                                            </p:txEl>
                                          </p:spTgt>
                                        </p:tgtEl>
                                        <p:attrNameLst>
                                          <p:attrName>style.visibility</p:attrName>
                                        </p:attrNameLst>
                                      </p:cBhvr>
                                      <p:to>
                                        <p:strVal val="visible"/>
                                      </p:to>
                                    </p:set>
                                    <p:animEffect transition="in" filter="wipe(up)">
                                      <p:cBhvr>
                                        <p:cTn id="25" dur="500"/>
                                        <p:tgtEl>
                                          <p:spTgt spid="120834">
                                            <p:txEl>
                                              <p:charRg st="85" end="12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120834">
                                            <p:txEl>
                                              <p:charRg st="125" end="158"/>
                                            </p:txEl>
                                          </p:spTgt>
                                        </p:tgtEl>
                                        <p:attrNameLst>
                                          <p:attrName>style.visibility</p:attrName>
                                        </p:attrNameLst>
                                      </p:cBhvr>
                                      <p:to>
                                        <p:strVal val="visible"/>
                                      </p:to>
                                    </p:set>
                                    <p:animEffect transition="in" filter="wipe(up)">
                                      <p:cBhvr>
                                        <p:cTn id="30" dur="500"/>
                                        <p:tgtEl>
                                          <p:spTgt spid="120834">
                                            <p:txEl>
                                              <p:charRg st="125" end="158"/>
                                            </p:txEl>
                                          </p:spTgt>
                                        </p:tgtEl>
                                      </p:cBhvr>
                                    </p:animEffect>
                                  </p:childTnLst>
                                </p:cTn>
                              </p:par>
                            </p:childTnLst>
                          </p:cTn>
                        </p:par>
                        <p:par>
                          <p:cTn id="31" fill="hold">
                            <p:stCondLst>
                              <p:cond delay="500"/>
                            </p:stCondLst>
                            <p:childTnLst>
                              <p:par>
                                <p:cTn id="32" presetID="22" presetClass="entr" presetSubtype="1" fill="hold" grpId="0" nodeType="afterEffect">
                                  <p:stCondLst>
                                    <p:cond delay="0"/>
                                  </p:stCondLst>
                                  <p:childTnLst>
                                    <p:set>
                                      <p:cBhvr>
                                        <p:cTn id="33" dur="1" fill="hold">
                                          <p:stCondLst>
                                            <p:cond delay="0"/>
                                          </p:stCondLst>
                                        </p:cTn>
                                        <p:tgtEl>
                                          <p:spTgt spid="120834">
                                            <p:txEl>
                                              <p:charRg st="158" end="181"/>
                                            </p:txEl>
                                          </p:spTgt>
                                        </p:tgtEl>
                                        <p:attrNameLst>
                                          <p:attrName>style.visibility</p:attrName>
                                        </p:attrNameLst>
                                      </p:cBhvr>
                                      <p:to>
                                        <p:strVal val="visible"/>
                                      </p:to>
                                    </p:set>
                                    <p:animEffect transition="in" filter="wipe(up)">
                                      <p:cBhvr>
                                        <p:cTn id="34" dur="500"/>
                                        <p:tgtEl>
                                          <p:spTgt spid="120834">
                                            <p:txEl>
                                              <p:charRg st="158" end="181"/>
                                            </p:txEl>
                                          </p:spTgt>
                                        </p:tgtEl>
                                      </p:cBhvr>
                                    </p:animEffect>
                                  </p:childTnLst>
                                </p:cTn>
                              </p:par>
                            </p:childTnLst>
                          </p:cTn>
                        </p:par>
                        <p:par>
                          <p:cTn id="35" fill="hold">
                            <p:stCondLst>
                              <p:cond delay="1000"/>
                            </p:stCondLst>
                            <p:childTnLst>
                              <p:par>
                                <p:cTn id="36" presetID="22" presetClass="entr" presetSubtype="1" fill="hold" grpId="0" nodeType="afterEffect">
                                  <p:stCondLst>
                                    <p:cond delay="0"/>
                                  </p:stCondLst>
                                  <p:childTnLst>
                                    <p:set>
                                      <p:cBhvr>
                                        <p:cTn id="37" dur="1" fill="hold">
                                          <p:stCondLst>
                                            <p:cond delay="0"/>
                                          </p:stCondLst>
                                        </p:cTn>
                                        <p:tgtEl>
                                          <p:spTgt spid="120834">
                                            <p:txEl>
                                              <p:charRg st="181" end="193"/>
                                            </p:txEl>
                                          </p:spTgt>
                                        </p:tgtEl>
                                        <p:attrNameLst>
                                          <p:attrName>style.visibility</p:attrName>
                                        </p:attrNameLst>
                                      </p:cBhvr>
                                      <p:to>
                                        <p:strVal val="visible"/>
                                      </p:to>
                                    </p:set>
                                    <p:animEffect transition="in" filter="wipe(up)">
                                      <p:cBhvr>
                                        <p:cTn id="38" dur="500"/>
                                        <p:tgtEl>
                                          <p:spTgt spid="120834">
                                            <p:txEl>
                                              <p:charRg st="181" end="193"/>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grpId="0" nodeType="clickEffect">
                                  <p:stCondLst>
                                    <p:cond delay="0"/>
                                  </p:stCondLst>
                                  <p:childTnLst>
                                    <p:set>
                                      <p:cBhvr>
                                        <p:cTn id="42" dur="1" fill="hold">
                                          <p:stCondLst>
                                            <p:cond delay="0"/>
                                          </p:stCondLst>
                                        </p:cTn>
                                        <p:tgtEl>
                                          <p:spTgt spid="120834">
                                            <p:txEl>
                                              <p:charRg st="193" end="243"/>
                                            </p:txEl>
                                          </p:spTgt>
                                        </p:tgtEl>
                                        <p:attrNameLst>
                                          <p:attrName>style.visibility</p:attrName>
                                        </p:attrNameLst>
                                      </p:cBhvr>
                                      <p:to>
                                        <p:strVal val="visible"/>
                                      </p:to>
                                    </p:set>
                                    <p:animEffect transition="in" filter="wipe(up)">
                                      <p:cBhvr>
                                        <p:cTn id="43" dur="500"/>
                                        <p:tgtEl>
                                          <p:spTgt spid="120834">
                                            <p:txEl>
                                              <p:charRg st="193" end="24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4" grpId="0" bldLvl="2"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121859" name="Rectangle 3"/>
          <p:cNvSpPr>
            <a:spLocks noGrp="1"/>
          </p:cNvSpPr>
          <p:nvPr>
            <p:ph type="body"/>
          </p:nvPr>
        </p:nvSpPr>
        <p:spPr>
          <a:xfrm>
            <a:off x="381000" y="381000"/>
            <a:ext cx="8458200" cy="5353050"/>
          </a:xfrm>
          <a:ln/>
        </p:spPr>
        <p:txBody>
          <a:bodyPr vert="horz" wrap="square" lIns="91440" tIns="45720" rIns="91440" bIns="45720" anchor="t"/>
          <a:p>
            <a:pPr eaLnBrk="1" hangingPunct="1"/>
            <a:r>
              <a:rPr lang="zh-CN" altLang="en-US" b="1" dirty="0"/>
              <a:t>对于一个满足上述条件的文法，可以对其输入串进行有效的无回溯的自上而下分析。假设要用非终结符</a:t>
            </a:r>
            <a:r>
              <a:rPr lang="en-US" altLang="zh-CN" b="1" dirty="0"/>
              <a:t>A</a:t>
            </a:r>
            <a:r>
              <a:rPr lang="zh-CN" altLang="en-US" b="1" dirty="0"/>
              <a:t>进行匹配，面临的输入符号为</a:t>
            </a:r>
            <a:r>
              <a:rPr lang="en-US" altLang="zh-CN" b="1" dirty="0"/>
              <a:t>a</a:t>
            </a:r>
            <a:r>
              <a:rPr lang="zh-CN" altLang="en-US" b="1" dirty="0"/>
              <a:t>，</a:t>
            </a:r>
            <a:r>
              <a:rPr lang="en-US" altLang="zh-CN" b="1" dirty="0"/>
              <a:t>A</a:t>
            </a:r>
            <a:r>
              <a:rPr lang="zh-CN" altLang="en-US" b="1" dirty="0"/>
              <a:t>的所有产生式为</a:t>
            </a:r>
            <a:endParaRPr lang="zh-CN" altLang="en-US" b="1" dirty="0"/>
          </a:p>
          <a:p>
            <a:pPr algn="ctr" eaLnBrk="1" hangingPunct="1">
              <a:buNone/>
            </a:pPr>
            <a:r>
              <a:rPr lang="en-US" altLang="zh-CN" b="1" dirty="0"/>
              <a:t>A→</a:t>
            </a:r>
            <a:r>
              <a:rPr lang="en-US" altLang="zh-CN" b="1" dirty="0">
                <a:sym typeface="Symbol" panose="05050102010706020507" pitchFamily="18" charset="2"/>
              </a:rPr>
              <a:t></a:t>
            </a:r>
            <a:r>
              <a:rPr lang="en-US" altLang="zh-CN" b="1" baseline="-25000" dirty="0"/>
              <a:t> 1 </a:t>
            </a:r>
            <a:r>
              <a:rPr lang="en-US" altLang="zh-CN" b="1" dirty="0"/>
              <a:t>| </a:t>
            </a:r>
            <a:r>
              <a:rPr lang="en-US" altLang="zh-CN" b="1" dirty="0">
                <a:sym typeface="Symbol" panose="05050102010706020507" pitchFamily="18" charset="2"/>
              </a:rPr>
              <a:t></a:t>
            </a:r>
            <a:r>
              <a:rPr lang="en-US" altLang="zh-CN" b="1" baseline="-25000" dirty="0"/>
              <a:t> 2 </a:t>
            </a:r>
            <a:r>
              <a:rPr lang="en-US" altLang="zh-CN" b="1" dirty="0"/>
              <a:t>| … | </a:t>
            </a:r>
            <a:r>
              <a:rPr lang="en-US" altLang="zh-CN" b="1" dirty="0">
                <a:sym typeface="Symbol" panose="05050102010706020507" pitchFamily="18" charset="2"/>
              </a:rPr>
              <a:t></a:t>
            </a:r>
            <a:r>
              <a:rPr lang="en-US" altLang="zh-CN" b="1" baseline="-25000" dirty="0"/>
              <a:t> n</a:t>
            </a:r>
            <a:endParaRPr lang="en-US" altLang="zh-CN" b="1" dirty="0"/>
          </a:p>
          <a:p>
            <a:pPr lvl="1" indent="-436245" eaLnBrk="1" hangingPunct="1">
              <a:buNone/>
            </a:pPr>
            <a:r>
              <a:rPr lang="en-US" altLang="zh-CN" b="1" dirty="0"/>
              <a:t>1. </a:t>
            </a:r>
            <a:r>
              <a:rPr lang="zh-CN" altLang="en-US" b="1" dirty="0"/>
              <a:t>若</a:t>
            </a:r>
            <a:r>
              <a:rPr lang="en-US" altLang="zh-CN" b="1" dirty="0"/>
              <a:t>a</a:t>
            </a:r>
            <a:r>
              <a:rPr lang="en-US" altLang="zh-CN" b="1" dirty="0">
                <a:sym typeface="Symbol" panose="05050102010706020507" pitchFamily="18" charset="2"/>
              </a:rPr>
              <a:t></a:t>
            </a:r>
            <a:r>
              <a:rPr lang="en-US" altLang="zh-CN" b="1" dirty="0"/>
              <a:t>FIRST(</a:t>
            </a:r>
            <a:r>
              <a:rPr lang="en-US" altLang="zh-CN" b="1" dirty="0">
                <a:sym typeface="Symbol" panose="05050102010706020507" pitchFamily="18" charset="2"/>
              </a:rPr>
              <a:t></a:t>
            </a:r>
            <a:r>
              <a:rPr lang="en-US" altLang="zh-CN" b="1" baseline="-25000" dirty="0"/>
              <a:t> i</a:t>
            </a:r>
            <a:r>
              <a:rPr lang="en-US" altLang="zh-CN" b="1" dirty="0"/>
              <a:t>)</a:t>
            </a:r>
            <a:r>
              <a:rPr lang="zh-CN" altLang="en-US" b="1" dirty="0"/>
              <a:t>，则指派</a:t>
            </a:r>
            <a:r>
              <a:rPr lang="zh-CN" altLang="en-US" b="1" dirty="0">
                <a:sym typeface="Symbol" panose="05050102010706020507" pitchFamily="18" charset="2"/>
              </a:rPr>
              <a:t></a:t>
            </a:r>
            <a:r>
              <a:rPr lang="zh-CN" altLang="en-US" b="1" baseline="-25000" dirty="0"/>
              <a:t> </a:t>
            </a:r>
            <a:r>
              <a:rPr lang="en-US" altLang="zh-CN" b="1" baseline="-25000" dirty="0"/>
              <a:t>i</a:t>
            </a:r>
            <a:r>
              <a:rPr lang="zh-CN" altLang="en-US" b="1" dirty="0"/>
              <a:t>执行匹配任务；</a:t>
            </a:r>
            <a:endParaRPr lang="zh-CN" altLang="en-US" b="1" dirty="0"/>
          </a:p>
          <a:p>
            <a:pPr lvl="1" indent="-436245" eaLnBrk="1" hangingPunct="1">
              <a:spcBef>
                <a:spcPct val="50000"/>
              </a:spcBef>
              <a:buNone/>
            </a:pPr>
            <a:r>
              <a:rPr lang="en-US" altLang="zh-CN" b="1" dirty="0"/>
              <a:t>2. </a:t>
            </a:r>
            <a:r>
              <a:rPr lang="zh-CN" altLang="en-US" b="1" dirty="0"/>
              <a:t>若</a:t>
            </a:r>
            <a:r>
              <a:rPr lang="en-US" altLang="zh-CN" b="1" dirty="0"/>
              <a:t>a</a:t>
            </a:r>
            <a:r>
              <a:rPr lang="zh-CN" altLang="en-US" b="1" dirty="0"/>
              <a:t>不属于任何一个候选首符集，则：</a:t>
            </a:r>
            <a:endParaRPr lang="zh-CN" altLang="en-US" b="1" dirty="0"/>
          </a:p>
          <a:p>
            <a:pPr lvl="1" indent="-436245" eaLnBrk="1" hangingPunct="1">
              <a:buNone/>
            </a:pPr>
            <a:r>
              <a:rPr lang="zh-CN" altLang="en-US" b="1" dirty="0"/>
              <a:t>  </a:t>
            </a:r>
            <a:r>
              <a:rPr lang="en-US" altLang="zh-CN" b="1" dirty="0"/>
              <a:t>(1) </a:t>
            </a:r>
            <a:r>
              <a:rPr lang="zh-CN" altLang="en-US" b="1" dirty="0"/>
              <a:t>若</a:t>
            </a:r>
            <a:r>
              <a:rPr lang="zh-CN" altLang="en-US" b="1" dirty="0">
                <a:sym typeface="Symbol" panose="05050102010706020507" pitchFamily="18" charset="2"/>
              </a:rPr>
              <a:t></a:t>
            </a:r>
            <a:r>
              <a:rPr lang="zh-CN" altLang="en-US" b="1" dirty="0"/>
              <a:t>属于某个</a:t>
            </a:r>
            <a:r>
              <a:rPr lang="en-US" altLang="zh-CN" b="1" dirty="0"/>
              <a:t>FIRST(</a:t>
            </a:r>
            <a:r>
              <a:rPr lang="en-US" altLang="zh-CN" b="1" dirty="0">
                <a:sym typeface="Symbol" panose="05050102010706020507" pitchFamily="18" charset="2"/>
              </a:rPr>
              <a:t></a:t>
            </a:r>
            <a:r>
              <a:rPr lang="en-US" altLang="zh-CN" b="1" baseline="-25000" dirty="0"/>
              <a:t>i</a:t>
            </a:r>
            <a:r>
              <a:rPr lang="en-US" altLang="zh-CN" b="1" dirty="0"/>
              <a:t> )</a:t>
            </a:r>
            <a:r>
              <a:rPr lang="zh-CN" altLang="en-US" b="1" dirty="0"/>
              <a:t>且 </a:t>
            </a:r>
            <a:r>
              <a:rPr lang="en-US" altLang="zh-CN" b="1" dirty="0"/>
              <a:t>a</a:t>
            </a:r>
            <a:r>
              <a:rPr lang="en-US" altLang="zh-CN" b="1" dirty="0">
                <a:sym typeface="Symbol" panose="05050102010706020507" pitchFamily="18" charset="2"/>
              </a:rPr>
              <a:t></a:t>
            </a:r>
            <a:r>
              <a:rPr lang="en-US" altLang="zh-CN" b="1" dirty="0"/>
              <a:t>FOLLOW(A)</a:t>
            </a:r>
            <a:r>
              <a:rPr lang="zh-CN" altLang="en-US" b="1" dirty="0"/>
              <a:t>， 则让</a:t>
            </a:r>
            <a:r>
              <a:rPr lang="en-US" altLang="zh-CN" b="1" dirty="0"/>
              <a:t>A</a:t>
            </a:r>
            <a:r>
              <a:rPr lang="zh-CN" altLang="en-US" b="1" dirty="0"/>
              <a:t>与</a:t>
            </a:r>
            <a:r>
              <a:rPr lang="zh-CN" altLang="en-US" b="1" dirty="0">
                <a:sym typeface="Symbol" panose="05050102010706020507" pitchFamily="18" charset="2"/>
              </a:rPr>
              <a:t></a:t>
            </a:r>
            <a:r>
              <a:rPr lang="zh-CN" altLang="en-US" b="1" dirty="0"/>
              <a:t>自动匹配。</a:t>
            </a:r>
            <a:endParaRPr lang="zh-CN" altLang="en-US" b="1" dirty="0"/>
          </a:p>
          <a:p>
            <a:pPr lvl="1" indent="-436245" eaLnBrk="1" hangingPunct="1">
              <a:buNone/>
            </a:pPr>
            <a:r>
              <a:rPr lang="zh-CN" altLang="en-US" b="1" dirty="0"/>
              <a:t>  </a:t>
            </a:r>
            <a:r>
              <a:rPr lang="en-US" altLang="zh-CN" b="1" dirty="0"/>
              <a:t>(2) </a:t>
            </a:r>
            <a:r>
              <a:rPr lang="zh-CN" altLang="en-US" b="1" dirty="0"/>
              <a:t>否则，</a:t>
            </a:r>
            <a:r>
              <a:rPr lang="en-US" altLang="zh-CN" b="1" dirty="0"/>
              <a:t>a</a:t>
            </a:r>
            <a:r>
              <a:rPr lang="zh-CN" altLang="en-US" b="1" dirty="0"/>
              <a:t>的出现是一种语法错误。</a:t>
            </a:r>
            <a:endParaRPr lang="zh-CN" altLang="en-US" b="1"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21859">
                                            <p:txEl>
                                              <p:charRg st="0" end="70"/>
                                            </p:txEl>
                                          </p:spTgt>
                                        </p:tgtEl>
                                        <p:attrNameLst>
                                          <p:attrName>style.visibility</p:attrName>
                                        </p:attrNameLst>
                                      </p:cBhvr>
                                      <p:to>
                                        <p:strVal val="visible"/>
                                      </p:to>
                                    </p:set>
                                    <p:animEffect transition="in" filter="wipe(up)">
                                      <p:cBhvr>
                                        <p:cTn id="7" dur="500"/>
                                        <p:tgtEl>
                                          <p:spTgt spid="121859">
                                            <p:txEl>
                                              <p:charRg st="0" end="7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21859">
                                            <p:txEl>
                                              <p:charRg st="70" end="92"/>
                                            </p:txEl>
                                          </p:spTgt>
                                        </p:tgtEl>
                                        <p:attrNameLst>
                                          <p:attrName>style.visibility</p:attrName>
                                        </p:attrNameLst>
                                      </p:cBhvr>
                                      <p:to>
                                        <p:strVal val="visible"/>
                                      </p:to>
                                    </p:set>
                                    <p:animEffect transition="in" filter="wipe(up)">
                                      <p:cBhvr>
                                        <p:cTn id="11" dur="500"/>
                                        <p:tgtEl>
                                          <p:spTgt spid="121859">
                                            <p:txEl>
                                              <p:charRg st="70" end="9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121859">
                                            <p:txEl>
                                              <p:charRg st="92" end="123"/>
                                            </p:txEl>
                                          </p:spTgt>
                                        </p:tgtEl>
                                        <p:attrNameLst>
                                          <p:attrName>style.visibility</p:attrName>
                                        </p:attrNameLst>
                                      </p:cBhvr>
                                      <p:to>
                                        <p:strVal val="visible"/>
                                      </p:to>
                                    </p:set>
                                    <p:animEffect transition="in" filter="wipe(up)">
                                      <p:cBhvr>
                                        <p:cTn id="16" dur="500"/>
                                        <p:tgtEl>
                                          <p:spTgt spid="121859">
                                            <p:txEl>
                                              <p:charRg st="92" end="12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121859">
                                            <p:txEl>
                                              <p:charRg st="123" end="144"/>
                                            </p:txEl>
                                          </p:spTgt>
                                        </p:tgtEl>
                                        <p:attrNameLst>
                                          <p:attrName>style.visibility</p:attrName>
                                        </p:attrNameLst>
                                      </p:cBhvr>
                                      <p:to>
                                        <p:strVal val="visible"/>
                                      </p:to>
                                    </p:set>
                                    <p:animEffect transition="in" filter="wipe(up)">
                                      <p:cBhvr>
                                        <p:cTn id="21" dur="500"/>
                                        <p:tgtEl>
                                          <p:spTgt spid="121859">
                                            <p:txEl>
                                              <p:charRg st="123" end="14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121859">
                                            <p:txEl>
                                              <p:charRg st="144" end="192"/>
                                            </p:txEl>
                                          </p:spTgt>
                                        </p:tgtEl>
                                        <p:attrNameLst>
                                          <p:attrName>style.visibility</p:attrName>
                                        </p:attrNameLst>
                                      </p:cBhvr>
                                      <p:to>
                                        <p:strVal val="visible"/>
                                      </p:to>
                                    </p:set>
                                    <p:animEffect transition="in" filter="wipe(up)">
                                      <p:cBhvr>
                                        <p:cTn id="26" dur="500"/>
                                        <p:tgtEl>
                                          <p:spTgt spid="121859">
                                            <p:txEl>
                                              <p:charRg st="144" end="19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121859">
                                            <p:txEl>
                                              <p:charRg st="192" end="214"/>
                                            </p:txEl>
                                          </p:spTgt>
                                        </p:tgtEl>
                                        <p:attrNameLst>
                                          <p:attrName>style.visibility</p:attrName>
                                        </p:attrNameLst>
                                      </p:cBhvr>
                                      <p:to>
                                        <p:strVal val="visible"/>
                                      </p:to>
                                    </p:set>
                                    <p:animEffect transition="in" filter="wipe(up)">
                                      <p:cBhvr>
                                        <p:cTn id="31" dur="500"/>
                                        <p:tgtEl>
                                          <p:spTgt spid="121859">
                                            <p:txEl>
                                              <p:charRg st="192" end="2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59" grpId="0" bldLvl="2"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53250" name="Rectangle 2"/>
          <p:cNvSpPr>
            <a:spLocks noGrp="1"/>
          </p:cNvSpPr>
          <p:nvPr>
            <p:ph type="body"/>
          </p:nvPr>
        </p:nvSpPr>
        <p:spPr>
          <a:xfrm>
            <a:off x="539750" y="981075"/>
            <a:ext cx="8001000" cy="914400"/>
          </a:xfrm>
          <a:ln/>
        </p:spPr>
        <p:txBody>
          <a:bodyPr vert="horz" wrap="square" lIns="91440" tIns="45720" rIns="91440" bIns="45720" anchor="t"/>
          <a:p>
            <a:pPr marL="609600" indent="-609600" eaLnBrk="1" hangingPunct="1">
              <a:spcBef>
                <a:spcPct val="35000"/>
              </a:spcBef>
              <a:buNone/>
            </a:pPr>
            <a:r>
              <a:rPr lang="zh-CN" altLang="en-US" sz="3900" b="1" dirty="0"/>
              <a:t>构造</a:t>
            </a:r>
            <a:r>
              <a:rPr lang="en-US" altLang="zh-CN" sz="3900" b="1" dirty="0"/>
              <a:t>FIRST(</a:t>
            </a:r>
            <a:r>
              <a:rPr lang="en-US" altLang="zh-CN" sz="3900" b="1" dirty="0">
                <a:sym typeface="Symbol" panose="05050102010706020507" pitchFamily="18" charset="2"/>
              </a:rPr>
              <a:t></a:t>
            </a:r>
            <a:r>
              <a:rPr lang="en-US" altLang="zh-CN" sz="3900" b="1" dirty="0"/>
              <a:t>)</a:t>
            </a:r>
            <a:endParaRPr lang="en-US" altLang="zh-CN" sz="3900" b="1" dirty="0"/>
          </a:p>
        </p:txBody>
      </p:sp>
      <p:graphicFrame>
        <p:nvGraphicFramePr>
          <p:cNvPr id="220164" name="Object 4"/>
          <p:cNvGraphicFramePr>
            <a:graphicFrameLocks noChangeAspect="1"/>
          </p:cNvGraphicFramePr>
          <p:nvPr/>
        </p:nvGraphicFramePr>
        <p:xfrm>
          <a:off x="1595438" y="2590800"/>
          <a:ext cx="5722937" cy="865188"/>
        </p:xfrm>
        <a:graphic>
          <a:graphicData uri="http://schemas.openxmlformats.org/presentationml/2006/ole">
            <mc:AlternateContent xmlns:mc="http://schemas.openxmlformats.org/markup-compatibility/2006">
              <mc:Choice xmlns:v="urn:schemas-microsoft-com:vml" Requires="v">
                <p:oleObj spid="_x0000_s3081" name="" r:id="rId1" imgW="1692275" imgH="256540" progId="Equation.3">
                  <p:embed/>
                </p:oleObj>
              </mc:Choice>
              <mc:Fallback>
                <p:oleObj name="" r:id="rId1" imgW="1692275" imgH="256540" progId="Equation.3">
                  <p:embed/>
                  <p:pic>
                    <p:nvPicPr>
                      <p:cNvPr id="0" name="图片 3080"/>
                      <p:cNvPicPr/>
                      <p:nvPr/>
                    </p:nvPicPr>
                    <p:blipFill>
                      <a:blip r:embed="rId2">
                        <a:clrChange>
                          <a:clrFrom>
                            <a:srgbClr val="000000"/>
                          </a:clrFrom>
                          <a:clrTo>
                            <a:srgbClr val="FF0000"/>
                          </a:clrTo>
                        </a:clrChange>
                      </a:blip>
                      <a:stretch>
                        <a:fillRect/>
                      </a:stretch>
                    </p:blipFill>
                    <p:spPr>
                      <a:xfrm>
                        <a:off x="1595438" y="2590800"/>
                        <a:ext cx="5722937" cy="865188"/>
                      </a:xfrm>
                      <a:prstGeom prst="rect">
                        <a:avLst/>
                      </a:prstGeom>
                      <a:noFill/>
                      <a:ln w="38100">
                        <a:noFill/>
                        <a:miter/>
                      </a:ln>
                    </p:spPr>
                  </p:pic>
                </p:oleObj>
              </mc:Fallback>
            </mc:AlternateContent>
          </a:graphicData>
        </a:graphic>
      </p:graphicFrame>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20164"/>
                                        </p:tgtEl>
                                        <p:attrNameLst>
                                          <p:attrName>style.visibility</p:attrName>
                                        </p:attrNameLst>
                                      </p:cBhvr>
                                      <p:to>
                                        <p:strVal val="visible"/>
                                      </p:to>
                                    </p:set>
                                    <p:animEffect transition="in" filter="wipe(left)">
                                      <p:cBhvr>
                                        <p:cTn id="7" dur="500"/>
                                        <p:tgtEl>
                                          <p:spTgt spid="2201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3"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221186" name="Rectangle 2"/>
          <p:cNvSpPr>
            <a:spLocks noGrp="1"/>
          </p:cNvSpPr>
          <p:nvPr>
            <p:ph type="body"/>
          </p:nvPr>
        </p:nvSpPr>
        <p:spPr>
          <a:xfrm>
            <a:off x="685800" y="1600200"/>
            <a:ext cx="8153400" cy="4724400"/>
          </a:xfrm>
          <a:ln/>
        </p:spPr>
        <p:txBody>
          <a:bodyPr vert="horz" wrap="square" lIns="91440" tIns="45720" rIns="91440" bIns="45720" anchor="t"/>
          <a:p>
            <a:pPr eaLnBrk="1" hangingPunct="1">
              <a:spcBef>
                <a:spcPct val="50000"/>
              </a:spcBef>
            </a:pPr>
            <a:r>
              <a:rPr lang="zh-CN" altLang="en-US" b="1" dirty="0"/>
              <a:t>对每一文法符号</a:t>
            </a:r>
            <a:r>
              <a:rPr lang="en-US" altLang="zh-CN" b="1" dirty="0"/>
              <a:t>X</a:t>
            </a:r>
            <a:r>
              <a:rPr lang="en-US" altLang="zh-CN" b="1" dirty="0">
                <a:sym typeface="Symbol" panose="05050102010706020507" pitchFamily="18" charset="2"/>
              </a:rPr>
              <a:t></a:t>
            </a:r>
            <a:r>
              <a:rPr lang="en-US" altLang="zh-CN" b="1" dirty="0"/>
              <a:t>V</a:t>
            </a:r>
            <a:r>
              <a:rPr lang="en-US" altLang="zh-CN" b="1" baseline="-25000" dirty="0"/>
              <a:t>T</a:t>
            </a:r>
            <a:r>
              <a:rPr lang="en-US" altLang="zh-CN" b="1" dirty="0">
                <a:latin typeface="宋体" panose="02010600030101010101" pitchFamily="2" charset="-122"/>
              </a:rPr>
              <a:t>∪</a:t>
            </a:r>
            <a:r>
              <a:rPr lang="en-US" altLang="zh-CN" b="1" dirty="0"/>
              <a:t>V</a:t>
            </a:r>
            <a:r>
              <a:rPr lang="en-US" altLang="zh-CN" b="1" baseline="-25000" dirty="0"/>
              <a:t>N</a:t>
            </a:r>
            <a:r>
              <a:rPr lang="zh-CN" altLang="en-US" b="1" dirty="0"/>
              <a:t>构造</a:t>
            </a:r>
            <a:r>
              <a:rPr lang="en-US" altLang="zh-CN" b="1" dirty="0"/>
              <a:t>FIRST(X)</a:t>
            </a:r>
            <a:endParaRPr lang="en-US" altLang="zh-CN" b="1" dirty="0"/>
          </a:p>
          <a:p>
            <a:pPr eaLnBrk="1" hangingPunct="1">
              <a:spcBef>
                <a:spcPct val="50000"/>
              </a:spcBef>
              <a:buNone/>
            </a:pPr>
            <a:r>
              <a:rPr lang="en-US" altLang="zh-CN" b="1" dirty="0"/>
              <a:t>   </a:t>
            </a:r>
            <a:r>
              <a:rPr lang="zh-CN" altLang="en-US" b="1" dirty="0"/>
              <a:t>连续使用下面的规则，直至每个集合</a:t>
            </a:r>
            <a:r>
              <a:rPr lang="en-US" altLang="zh-CN" b="1" dirty="0"/>
              <a:t>FIRST</a:t>
            </a:r>
            <a:r>
              <a:rPr lang="zh-CN" altLang="en-US" b="1" dirty="0"/>
              <a:t>不再增大为止：</a:t>
            </a:r>
            <a:endParaRPr lang="zh-CN" altLang="en-US" b="1" dirty="0"/>
          </a:p>
          <a:p>
            <a:pPr lvl="1" indent="-436245" eaLnBrk="1" hangingPunct="1">
              <a:spcBef>
                <a:spcPct val="50000"/>
              </a:spcBef>
              <a:buNone/>
            </a:pPr>
            <a:r>
              <a:rPr lang="en-US" altLang="zh-CN" b="1" dirty="0"/>
              <a:t>1. </a:t>
            </a:r>
            <a:r>
              <a:rPr lang="zh-CN" altLang="en-US" b="1" dirty="0"/>
              <a:t>若</a:t>
            </a:r>
            <a:r>
              <a:rPr lang="en-US" altLang="zh-CN" b="1" dirty="0"/>
              <a:t>X</a:t>
            </a:r>
            <a:r>
              <a:rPr lang="en-US" altLang="zh-CN" b="1" dirty="0">
                <a:sym typeface="Symbol" panose="05050102010706020507" pitchFamily="18" charset="2"/>
              </a:rPr>
              <a:t></a:t>
            </a:r>
            <a:r>
              <a:rPr lang="en-US" altLang="zh-CN" b="1" dirty="0"/>
              <a:t>V</a:t>
            </a:r>
            <a:r>
              <a:rPr lang="en-US" altLang="zh-CN" b="1" baseline="-25000" dirty="0"/>
              <a:t>T</a:t>
            </a:r>
            <a:r>
              <a:rPr lang="zh-CN" altLang="en-US" b="1" dirty="0"/>
              <a:t>，则</a:t>
            </a:r>
            <a:r>
              <a:rPr lang="en-US" altLang="zh-CN" b="1" dirty="0"/>
              <a:t>FIRST(X)</a:t>
            </a:r>
            <a:r>
              <a:rPr lang="zh-CN" altLang="en-US" b="1" dirty="0"/>
              <a:t>＝</a:t>
            </a:r>
            <a:r>
              <a:rPr lang="en-US" altLang="zh-CN" b="1" dirty="0"/>
              <a:t>{X}</a:t>
            </a:r>
            <a:r>
              <a:rPr lang="zh-CN" altLang="en-US" b="1" dirty="0"/>
              <a:t>。</a:t>
            </a:r>
            <a:endParaRPr lang="zh-CN" altLang="en-US" b="1" dirty="0"/>
          </a:p>
          <a:p>
            <a:pPr lvl="1" indent="-436245" eaLnBrk="1" hangingPunct="1">
              <a:spcBef>
                <a:spcPct val="50000"/>
              </a:spcBef>
              <a:buNone/>
            </a:pPr>
            <a:r>
              <a:rPr lang="en-US" altLang="zh-CN" b="1" dirty="0"/>
              <a:t>2. </a:t>
            </a:r>
            <a:r>
              <a:rPr lang="zh-CN" altLang="en-US" b="1" dirty="0"/>
              <a:t>若</a:t>
            </a:r>
            <a:r>
              <a:rPr lang="en-US" altLang="zh-CN" b="1" dirty="0"/>
              <a:t>X</a:t>
            </a:r>
            <a:r>
              <a:rPr lang="en-US" altLang="zh-CN" b="1" dirty="0">
                <a:sym typeface="Symbol" panose="05050102010706020507" pitchFamily="18" charset="2"/>
              </a:rPr>
              <a:t></a:t>
            </a:r>
            <a:r>
              <a:rPr lang="en-US" altLang="zh-CN" b="1" dirty="0"/>
              <a:t>V</a:t>
            </a:r>
            <a:r>
              <a:rPr lang="en-US" altLang="zh-CN" b="1" baseline="-25000" dirty="0"/>
              <a:t>N</a:t>
            </a:r>
            <a:r>
              <a:rPr lang="zh-CN" altLang="en-US" b="1" dirty="0"/>
              <a:t>，且有产生式</a:t>
            </a:r>
            <a:r>
              <a:rPr lang="en-US" altLang="zh-CN" b="1" dirty="0"/>
              <a:t>X→a…</a:t>
            </a:r>
            <a:r>
              <a:rPr lang="zh-CN" altLang="en-US" b="1" dirty="0"/>
              <a:t>，则把</a:t>
            </a:r>
            <a:r>
              <a:rPr lang="en-US" altLang="zh-CN" b="1" dirty="0"/>
              <a:t>a</a:t>
            </a:r>
            <a:r>
              <a:rPr lang="zh-CN" altLang="en-US" b="1" dirty="0"/>
              <a:t>加入到</a:t>
            </a:r>
            <a:r>
              <a:rPr lang="en-US" altLang="zh-CN" b="1" dirty="0"/>
              <a:t>FIRST(X)</a:t>
            </a:r>
            <a:r>
              <a:rPr lang="zh-CN" altLang="en-US" b="1" dirty="0"/>
              <a:t>中；若</a:t>
            </a:r>
            <a:r>
              <a:rPr lang="en-US" altLang="zh-CN" b="1" dirty="0"/>
              <a:t>X→</a:t>
            </a:r>
            <a:r>
              <a:rPr lang="en-US" altLang="zh-CN" b="1" dirty="0">
                <a:sym typeface="Symbol" panose="05050102010706020507" pitchFamily="18" charset="2"/>
              </a:rPr>
              <a:t></a:t>
            </a:r>
            <a:r>
              <a:rPr lang="zh-CN" altLang="en-US" b="1" dirty="0"/>
              <a:t>也是一条产生式，则把</a:t>
            </a:r>
            <a:r>
              <a:rPr lang="zh-CN" altLang="en-US" b="1" dirty="0">
                <a:sym typeface="Symbol" panose="05050102010706020507" pitchFamily="18" charset="2"/>
              </a:rPr>
              <a:t></a:t>
            </a:r>
            <a:r>
              <a:rPr lang="zh-CN" altLang="en-US" b="1" dirty="0"/>
              <a:t>也加到</a:t>
            </a:r>
            <a:r>
              <a:rPr lang="en-US" altLang="zh-CN" b="1" dirty="0"/>
              <a:t>FIRST(X)</a:t>
            </a:r>
            <a:r>
              <a:rPr lang="zh-CN" altLang="en-US" b="1" dirty="0"/>
              <a:t>中。</a:t>
            </a:r>
            <a:endParaRPr lang="zh-CN" altLang="en-US" b="1"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21186">
                                            <p:txEl>
                                              <p:charRg st="0" end="25"/>
                                            </p:txEl>
                                          </p:spTgt>
                                        </p:tgtEl>
                                        <p:attrNameLst>
                                          <p:attrName>style.visibility</p:attrName>
                                        </p:attrNameLst>
                                      </p:cBhvr>
                                      <p:to>
                                        <p:strVal val="visible"/>
                                      </p:to>
                                    </p:set>
                                    <p:animEffect transition="in" filter="wipe(up)">
                                      <p:cBhvr>
                                        <p:cTn id="7" dur="500"/>
                                        <p:tgtEl>
                                          <p:spTgt spid="221186">
                                            <p:txEl>
                                              <p:charRg st="0" end="2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21186">
                                            <p:txEl>
                                              <p:charRg st="25" end="57"/>
                                            </p:txEl>
                                          </p:spTgt>
                                        </p:tgtEl>
                                        <p:attrNameLst>
                                          <p:attrName>style.visibility</p:attrName>
                                        </p:attrNameLst>
                                      </p:cBhvr>
                                      <p:to>
                                        <p:strVal val="visible"/>
                                      </p:to>
                                    </p:set>
                                    <p:animEffect transition="in" filter="wipe(up)">
                                      <p:cBhvr>
                                        <p:cTn id="12" dur="500"/>
                                        <p:tgtEl>
                                          <p:spTgt spid="221186">
                                            <p:txEl>
                                              <p:charRg st="25" end="5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21186">
                                            <p:txEl>
                                              <p:charRg st="57" end="81"/>
                                            </p:txEl>
                                          </p:spTgt>
                                        </p:tgtEl>
                                        <p:attrNameLst>
                                          <p:attrName>style.visibility</p:attrName>
                                        </p:attrNameLst>
                                      </p:cBhvr>
                                      <p:to>
                                        <p:strVal val="visible"/>
                                      </p:to>
                                    </p:set>
                                    <p:animEffect transition="in" filter="wipe(up)">
                                      <p:cBhvr>
                                        <p:cTn id="17" dur="500"/>
                                        <p:tgtEl>
                                          <p:spTgt spid="221186">
                                            <p:txEl>
                                              <p:charRg st="57" end="8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21186">
                                            <p:txEl>
                                              <p:charRg st="81" end="145"/>
                                            </p:txEl>
                                          </p:spTgt>
                                        </p:tgtEl>
                                        <p:attrNameLst>
                                          <p:attrName>style.visibility</p:attrName>
                                        </p:attrNameLst>
                                      </p:cBhvr>
                                      <p:to>
                                        <p:strVal val="visible"/>
                                      </p:to>
                                    </p:set>
                                    <p:animEffect transition="in" filter="wipe(up)">
                                      <p:cBhvr>
                                        <p:cTn id="22" dur="500"/>
                                        <p:tgtEl>
                                          <p:spTgt spid="221186">
                                            <p:txEl>
                                              <p:charRg st="81" end="14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186" grpId="0" bldLvl="2"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7"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222210" name="Rectangle 2"/>
          <p:cNvSpPr>
            <a:spLocks noGrp="1"/>
          </p:cNvSpPr>
          <p:nvPr>
            <p:ph type="body"/>
          </p:nvPr>
        </p:nvSpPr>
        <p:spPr>
          <a:xfrm>
            <a:off x="395288" y="692150"/>
            <a:ext cx="8458200" cy="5699125"/>
          </a:xfrm>
          <a:ln/>
        </p:spPr>
        <p:txBody>
          <a:bodyPr vert="horz" wrap="square" lIns="91440" tIns="45720" rIns="91440" bIns="45720" anchor="t"/>
          <a:p>
            <a:pPr eaLnBrk="1" hangingPunct="1">
              <a:lnSpc>
                <a:spcPct val="90000"/>
              </a:lnSpc>
              <a:buNone/>
            </a:pPr>
            <a:r>
              <a:rPr lang="en-US" altLang="zh-CN" sz="2800" b="1" dirty="0"/>
              <a:t>3. </a:t>
            </a:r>
            <a:endParaRPr lang="en-US" altLang="zh-CN" sz="2800" b="1" dirty="0"/>
          </a:p>
          <a:p>
            <a:pPr lvl="1" indent="-436245" eaLnBrk="1" hangingPunct="1">
              <a:lnSpc>
                <a:spcPct val="90000"/>
              </a:lnSpc>
              <a:buChar char="l"/>
            </a:pPr>
            <a:r>
              <a:rPr lang="zh-CN" altLang="en-US" sz="3000" b="1" dirty="0"/>
              <a:t>若</a:t>
            </a:r>
            <a:r>
              <a:rPr lang="en-US" altLang="zh-CN" sz="3000" b="1" dirty="0"/>
              <a:t>X→Y…</a:t>
            </a:r>
            <a:r>
              <a:rPr lang="zh-CN" altLang="en-US" sz="3000" b="1" dirty="0"/>
              <a:t>是一个产生式且</a:t>
            </a:r>
            <a:r>
              <a:rPr lang="en-US" altLang="zh-CN" sz="3000" b="1" dirty="0"/>
              <a:t>Y</a:t>
            </a:r>
            <a:r>
              <a:rPr lang="en-US" altLang="zh-CN" sz="3000" b="1" dirty="0">
                <a:sym typeface="Symbol" panose="05050102010706020507" pitchFamily="18" charset="2"/>
              </a:rPr>
              <a:t></a:t>
            </a:r>
            <a:r>
              <a:rPr lang="en-US" altLang="zh-CN" sz="3000" b="1" dirty="0"/>
              <a:t>V</a:t>
            </a:r>
            <a:r>
              <a:rPr lang="en-US" altLang="zh-CN" sz="3000" b="1" baseline="-25000" dirty="0"/>
              <a:t>N</a:t>
            </a:r>
            <a:r>
              <a:rPr lang="zh-CN" altLang="en-US" sz="3000" b="1" dirty="0"/>
              <a:t>，则把</a:t>
            </a:r>
            <a:r>
              <a:rPr lang="en-US" altLang="zh-CN" sz="3000" b="1" dirty="0"/>
              <a:t>FIRST(Y)</a:t>
            </a:r>
            <a:r>
              <a:rPr lang="zh-CN" altLang="en-US" sz="3000" b="1" dirty="0"/>
              <a:t>中的所有非</a:t>
            </a:r>
            <a:r>
              <a:rPr lang="zh-CN" altLang="en-US" sz="3000" b="1" dirty="0">
                <a:sym typeface="Symbol" panose="05050102010706020507" pitchFamily="18" charset="2"/>
              </a:rPr>
              <a:t></a:t>
            </a:r>
            <a:r>
              <a:rPr lang="en-US" altLang="zh-CN" sz="3000" b="1" dirty="0"/>
              <a:t>-</a:t>
            </a:r>
            <a:r>
              <a:rPr lang="zh-CN" altLang="en-US" sz="3000" b="1" dirty="0"/>
              <a:t>元素都加到</a:t>
            </a:r>
            <a:r>
              <a:rPr lang="en-US" altLang="zh-CN" sz="3000" b="1" dirty="0"/>
              <a:t>FIRST(X)</a:t>
            </a:r>
            <a:r>
              <a:rPr lang="zh-CN" altLang="en-US" sz="3000" b="1" dirty="0"/>
              <a:t>中；</a:t>
            </a:r>
            <a:endParaRPr lang="zh-CN" altLang="en-US" sz="3000" b="1" dirty="0"/>
          </a:p>
          <a:p>
            <a:pPr lvl="1" indent="-436245" eaLnBrk="1" hangingPunct="1">
              <a:lnSpc>
                <a:spcPct val="90000"/>
              </a:lnSpc>
              <a:buChar char="l"/>
            </a:pPr>
            <a:r>
              <a:rPr lang="zh-CN" altLang="en-US" sz="3000" b="1" dirty="0"/>
              <a:t>若</a:t>
            </a:r>
            <a:r>
              <a:rPr lang="en-US" altLang="zh-CN" sz="3000" b="1" dirty="0"/>
              <a:t>X→Y</a:t>
            </a:r>
            <a:r>
              <a:rPr lang="en-US" altLang="zh-CN" sz="3000" b="1" baseline="-25000" dirty="0"/>
              <a:t>1</a:t>
            </a:r>
            <a:r>
              <a:rPr lang="en-US" altLang="zh-CN" sz="3000" b="1" dirty="0"/>
              <a:t>Y</a:t>
            </a:r>
            <a:r>
              <a:rPr lang="en-US" altLang="zh-CN" sz="3000" b="1" baseline="-25000" dirty="0"/>
              <a:t>2</a:t>
            </a:r>
            <a:r>
              <a:rPr lang="en-US" altLang="zh-CN" sz="3000" b="1" dirty="0"/>
              <a:t>…Y</a:t>
            </a:r>
            <a:r>
              <a:rPr lang="en-US" altLang="zh-CN" sz="3000" b="1" baseline="-25000" dirty="0"/>
              <a:t>k</a:t>
            </a:r>
            <a:r>
              <a:rPr lang="zh-CN" altLang="en-US" sz="3000" b="1" dirty="0"/>
              <a:t>是一个产生式，</a:t>
            </a:r>
            <a:r>
              <a:rPr lang="en-US" altLang="zh-CN" sz="3000" b="1" dirty="0"/>
              <a:t>Y</a:t>
            </a:r>
            <a:r>
              <a:rPr lang="en-US" altLang="zh-CN" sz="3000" b="1" baseline="-25000" dirty="0"/>
              <a:t>1</a:t>
            </a:r>
            <a:r>
              <a:rPr lang="zh-CN" altLang="en-US" sz="3000" b="1" dirty="0"/>
              <a:t>，</a:t>
            </a:r>
            <a:r>
              <a:rPr lang="en-US" altLang="zh-CN" sz="3000" b="1" dirty="0"/>
              <a:t>…</a:t>
            </a:r>
            <a:r>
              <a:rPr lang="zh-CN" altLang="en-US" sz="3000" b="1" dirty="0"/>
              <a:t>，</a:t>
            </a:r>
            <a:r>
              <a:rPr lang="en-US" altLang="zh-CN" sz="3000" b="1" dirty="0"/>
              <a:t>Y</a:t>
            </a:r>
            <a:r>
              <a:rPr lang="en-US" altLang="zh-CN" sz="3000" b="1" baseline="-25000" dirty="0"/>
              <a:t>i-1</a:t>
            </a:r>
            <a:r>
              <a:rPr lang="zh-CN" altLang="en-US" sz="3000" b="1" dirty="0"/>
              <a:t>都是非终结符，而且，对于任何</a:t>
            </a:r>
            <a:r>
              <a:rPr lang="en-US" altLang="zh-CN" sz="3000" b="1" dirty="0"/>
              <a:t>j</a:t>
            </a:r>
            <a:r>
              <a:rPr lang="zh-CN" altLang="en-US" sz="3000" b="1" dirty="0"/>
              <a:t>，</a:t>
            </a:r>
            <a:r>
              <a:rPr lang="en-US" altLang="zh-CN" sz="3000" b="1" dirty="0"/>
              <a:t>1</a:t>
            </a:r>
            <a:r>
              <a:rPr lang="en-US" altLang="zh-CN" sz="3000" b="1" dirty="0">
                <a:sym typeface="Symbol" panose="05050102010706020507" pitchFamily="18" charset="2"/>
              </a:rPr>
              <a:t></a:t>
            </a:r>
            <a:r>
              <a:rPr lang="en-US" altLang="zh-CN" sz="3000" b="1" dirty="0"/>
              <a:t>j</a:t>
            </a:r>
            <a:r>
              <a:rPr lang="en-US" altLang="zh-CN" sz="3000" b="1" dirty="0">
                <a:sym typeface="Symbol" panose="05050102010706020507" pitchFamily="18" charset="2"/>
              </a:rPr>
              <a:t></a:t>
            </a:r>
            <a:r>
              <a:rPr lang="en-US" altLang="zh-CN" sz="3000" b="1" dirty="0"/>
              <a:t>i-1</a:t>
            </a:r>
            <a:r>
              <a:rPr lang="zh-CN" altLang="en-US" sz="3000" b="1" dirty="0"/>
              <a:t>，</a:t>
            </a:r>
            <a:r>
              <a:rPr lang="en-US" altLang="zh-CN" sz="3000" b="1" dirty="0"/>
              <a:t>FIRST(Y</a:t>
            </a:r>
            <a:r>
              <a:rPr lang="en-US" altLang="zh-CN" sz="3000" b="1" baseline="-25000" dirty="0"/>
              <a:t>j</a:t>
            </a:r>
            <a:r>
              <a:rPr lang="en-US" altLang="zh-CN" sz="3000" b="1" dirty="0"/>
              <a:t>)</a:t>
            </a:r>
            <a:r>
              <a:rPr lang="zh-CN" altLang="en-US" sz="3000" b="1" dirty="0"/>
              <a:t>都含有</a:t>
            </a:r>
            <a:r>
              <a:rPr lang="zh-CN" altLang="en-US" sz="3000" b="1" dirty="0">
                <a:sym typeface="Symbol" panose="05050102010706020507" pitchFamily="18" charset="2"/>
              </a:rPr>
              <a:t></a:t>
            </a:r>
            <a:r>
              <a:rPr lang="en-US" altLang="zh-CN" sz="3000" b="1" dirty="0"/>
              <a:t>(</a:t>
            </a:r>
            <a:r>
              <a:rPr lang="zh-CN" altLang="en-US" sz="3000" b="1" dirty="0"/>
              <a:t>即</a:t>
            </a:r>
            <a:r>
              <a:rPr lang="en-US" altLang="zh-CN" sz="3000" b="1" dirty="0"/>
              <a:t>Y</a:t>
            </a:r>
            <a:r>
              <a:rPr lang="en-US" altLang="zh-CN" sz="3000" b="1" baseline="-25000" dirty="0"/>
              <a:t>1</a:t>
            </a:r>
            <a:r>
              <a:rPr lang="en-US" altLang="zh-CN" sz="3000" b="1" dirty="0"/>
              <a:t>…Y</a:t>
            </a:r>
            <a:r>
              <a:rPr lang="en-US" altLang="zh-CN" sz="3000" b="1" baseline="-25000" dirty="0"/>
              <a:t>i-1</a:t>
            </a:r>
            <a:r>
              <a:rPr lang="en-US" altLang="zh-CN" sz="3000" b="1" dirty="0">
                <a:sym typeface="Symbol" panose="05050102010706020507" pitchFamily="18" charset="2"/>
              </a:rPr>
              <a:t></a:t>
            </a:r>
            <a:r>
              <a:rPr lang="en-US" altLang="zh-CN" sz="3000" b="1" dirty="0"/>
              <a:t>)</a:t>
            </a:r>
            <a:r>
              <a:rPr lang="zh-CN" altLang="en-US" sz="3000" b="1" dirty="0"/>
              <a:t>， 则把</a:t>
            </a:r>
            <a:r>
              <a:rPr lang="en-US" altLang="zh-CN" sz="3000" b="1" dirty="0"/>
              <a:t>FIRST(Y</a:t>
            </a:r>
            <a:r>
              <a:rPr lang="en-US" altLang="zh-CN" sz="3000" b="1" baseline="-25000" dirty="0"/>
              <a:t>i</a:t>
            </a:r>
            <a:r>
              <a:rPr lang="en-US" altLang="zh-CN" sz="3000" b="1" dirty="0"/>
              <a:t>)</a:t>
            </a:r>
            <a:r>
              <a:rPr lang="zh-CN" altLang="en-US" sz="3000" b="1" dirty="0"/>
              <a:t>中的所有非</a:t>
            </a:r>
            <a:r>
              <a:rPr lang="zh-CN" altLang="en-US" sz="3000" b="1" dirty="0">
                <a:sym typeface="Symbol" panose="05050102010706020507" pitchFamily="18" charset="2"/>
              </a:rPr>
              <a:t></a:t>
            </a:r>
            <a:r>
              <a:rPr lang="en-US" altLang="zh-CN" sz="3000" b="1" dirty="0"/>
              <a:t>-</a:t>
            </a:r>
            <a:r>
              <a:rPr lang="zh-CN" altLang="en-US" sz="3000" b="1" dirty="0"/>
              <a:t>元素都加到</a:t>
            </a:r>
            <a:r>
              <a:rPr lang="en-US" altLang="zh-CN" sz="3000" b="1" dirty="0"/>
              <a:t>FIRST(X)</a:t>
            </a:r>
            <a:r>
              <a:rPr lang="zh-CN" altLang="en-US" sz="3000" b="1" dirty="0"/>
              <a:t>中；特别是，若所有的</a:t>
            </a:r>
            <a:r>
              <a:rPr lang="en-US" altLang="zh-CN" sz="3000" b="1" dirty="0"/>
              <a:t>FIRST(Y</a:t>
            </a:r>
            <a:r>
              <a:rPr lang="en-US" altLang="zh-CN" sz="3000" b="1" baseline="-25000" dirty="0"/>
              <a:t>j</a:t>
            </a:r>
            <a:r>
              <a:rPr lang="en-US" altLang="zh-CN" sz="3000" b="1" dirty="0"/>
              <a:t>)</a:t>
            </a:r>
            <a:r>
              <a:rPr lang="zh-CN" altLang="en-US" sz="3000" b="1" dirty="0"/>
              <a:t>均含有</a:t>
            </a:r>
            <a:r>
              <a:rPr lang="zh-CN" altLang="en-US" sz="3000" b="1" dirty="0">
                <a:sym typeface="Symbol" panose="05050102010706020507" pitchFamily="18" charset="2"/>
              </a:rPr>
              <a:t></a:t>
            </a:r>
            <a:r>
              <a:rPr lang="zh-CN" altLang="en-US" sz="3000" b="1" dirty="0"/>
              <a:t>，</a:t>
            </a:r>
            <a:r>
              <a:rPr lang="en-US" altLang="zh-CN" sz="3000" b="1" dirty="0"/>
              <a:t>j</a:t>
            </a:r>
            <a:r>
              <a:rPr lang="zh-CN" altLang="en-US" sz="3000" b="1" dirty="0"/>
              <a:t>＝</a:t>
            </a:r>
            <a:r>
              <a:rPr lang="en-US" altLang="zh-CN" sz="3000" b="1" dirty="0"/>
              <a:t>1</a:t>
            </a:r>
            <a:r>
              <a:rPr lang="zh-CN" altLang="en-US" sz="3000" b="1" dirty="0"/>
              <a:t>，</a:t>
            </a:r>
            <a:r>
              <a:rPr lang="en-US" altLang="zh-CN" sz="3000" b="1" dirty="0"/>
              <a:t>2</a:t>
            </a:r>
            <a:r>
              <a:rPr lang="zh-CN" altLang="en-US" sz="3000" b="1" dirty="0"/>
              <a:t>，</a:t>
            </a:r>
            <a:r>
              <a:rPr lang="en-US" altLang="zh-CN" sz="3000" b="1" dirty="0"/>
              <a:t>…</a:t>
            </a:r>
            <a:r>
              <a:rPr lang="zh-CN" altLang="en-US" sz="3000" b="1" dirty="0"/>
              <a:t>，</a:t>
            </a:r>
            <a:r>
              <a:rPr lang="en-US" altLang="zh-CN" sz="3000" b="1" dirty="0"/>
              <a:t>k</a:t>
            </a:r>
            <a:r>
              <a:rPr lang="zh-CN" altLang="en-US" sz="3000" b="1" dirty="0"/>
              <a:t>，则把</a:t>
            </a:r>
            <a:r>
              <a:rPr lang="zh-CN" altLang="en-US" sz="3000" b="1" dirty="0">
                <a:sym typeface="Symbol" panose="05050102010706020507" pitchFamily="18" charset="2"/>
              </a:rPr>
              <a:t></a:t>
            </a:r>
            <a:r>
              <a:rPr lang="zh-CN" altLang="en-US" sz="3000" b="1" dirty="0"/>
              <a:t>加到</a:t>
            </a:r>
            <a:r>
              <a:rPr lang="en-US" altLang="zh-CN" sz="3000" b="1" dirty="0"/>
              <a:t>FIRST(X)</a:t>
            </a:r>
            <a:r>
              <a:rPr lang="zh-CN" altLang="en-US" sz="3000" b="1" dirty="0"/>
              <a:t>中。</a:t>
            </a:r>
            <a:endParaRPr lang="zh-CN" altLang="en-US" sz="3000" b="1"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22210">
                                            <p:txEl>
                                              <p:charRg st="4" end="54"/>
                                            </p:txEl>
                                          </p:spTgt>
                                        </p:tgtEl>
                                        <p:attrNameLst>
                                          <p:attrName>style.visibility</p:attrName>
                                        </p:attrNameLst>
                                      </p:cBhvr>
                                      <p:to>
                                        <p:strVal val="visible"/>
                                      </p:to>
                                    </p:set>
                                    <p:animEffect transition="in" filter="wipe(up)">
                                      <p:cBhvr>
                                        <p:cTn id="7" dur="500"/>
                                        <p:tgtEl>
                                          <p:spTgt spid="222210">
                                            <p:txEl>
                                              <p:charRg st="4" end="54"/>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22210">
                                            <p:txEl>
                                              <p:charRg st="54" end="211"/>
                                            </p:txEl>
                                          </p:spTgt>
                                        </p:tgtEl>
                                        <p:attrNameLst>
                                          <p:attrName>style.visibility</p:attrName>
                                        </p:attrNameLst>
                                      </p:cBhvr>
                                      <p:to>
                                        <p:strVal val="visible"/>
                                      </p:to>
                                    </p:set>
                                    <p:animEffect transition="in" filter="wipe(up)">
                                      <p:cBhvr>
                                        <p:cTn id="12" dur="500"/>
                                        <p:tgtEl>
                                          <p:spTgt spid="222210">
                                            <p:txEl>
                                              <p:charRg st="54" end="2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210" grpId="0" bldLvl="3"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1"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223234" name="Rectangle 2"/>
          <p:cNvSpPr>
            <a:spLocks noGrp="1"/>
          </p:cNvSpPr>
          <p:nvPr>
            <p:ph type="body"/>
          </p:nvPr>
        </p:nvSpPr>
        <p:spPr>
          <a:xfrm>
            <a:off x="685800" y="533400"/>
            <a:ext cx="7772400" cy="5257800"/>
          </a:xfrm>
          <a:ln/>
        </p:spPr>
        <p:txBody>
          <a:bodyPr vert="horz" wrap="square" lIns="91440" tIns="45720" rIns="91440" bIns="45720" anchor="t"/>
          <a:p>
            <a:pPr eaLnBrk="1" hangingPunct="1">
              <a:spcBef>
                <a:spcPct val="50000"/>
              </a:spcBef>
            </a:pPr>
            <a:r>
              <a:rPr lang="zh-CN" altLang="en-US" b="1" dirty="0"/>
              <a:t>对文法</a:t>
            </a:r>
            <a:r>
              <a:rPr lang="en-US" altLang="zh-CN" b="1" dirty="0"/>
              <a:t>G</a:t>
            </a:r>
            <a:r>
              <a:rPr lang="zh-CN" altLang="en-US" b="1" dirty="0"/>
              <a:t>的任何符号串</a:t>
            </a:r>
            <a:r>
              <a:rPr lang="zh-CN" altLang="en-US" b="1" dirty="0">
                <a:sym typeface="Symbol" panose="05050102010706020507" pitchFamily="18" charset="2"/>
              </a:rPr>
              <a:t></a:t>
            </a:r>
            <a:r>
              <a:rPr lang="en-US" altLang="zh-CN" b="1" dirty="0"/>
              <a:t>=X</a:t>
            </a:r>
            <a:r>
              <a:rPr lang="en-US" altLang="zh-CN" b="1" baseline="-25000" dirty="0"/>
              <a:t>1</a:t>
            </a:r>
            <a:r>
              <a:rPr lang="en-US" altLang="zh-CN" b="1" dirty="0"/>
              <a:t>X</a:t>
            </a:r>
            <a:r>
              <a:rPr lang="en-US" altLang="zh-CN" b="1" baseline="-25000" dirty="0"/>
              <a:t>2</a:t>
            </a:r>
            <a:r>
              <a:rPr lang="en-US" altLang="zh-CN" b="1" dirty="0"/>
              <a:t>…X</a:t>
            </a:r>
            <a:r>
              <a:rPr lang="en-US" altLang="zh-CN" b="1" baseline="-25000" dirty="0"/>
              <a:t>n</a:t>
            </a:r>
            <a:r>
              <a:rPr lang="zh-CN" altLang="en-US" b="1" dirty="0"/>
              <a:t>构造集合</a:t>
            </a:r>
            <a:r>
              <a:rPr lang="en-US" altLang="zh-CN" b="1" dirty="0"/>
              <a:t>FIRST(</a:t>
            </a:r>
            <a:r>
              <a:rPr lang="en-US" altLang="zh-CN" b="1" dirty="0">
                <a:sym typeface="Symbol" panose="05050102010706020507" pitchFamily="18" charset="2"/>
              </a:rPr>
              <a:t></a:t>
            </a:r>
            <a:r>
              <a:rPr lang="en-US" altLang="zh-CN" b="1" dirty="0"/>
              <a:t>)</a:t>
            </a:r>
            <a:r>
              <a:rPr lang="zh-CN" altLang="en-US" b="1" dirty="0"/>
              <a:t>。</a:t>
            </a:r>
            <a:endParaRPr lang="zh-CN" altLang="en-US" b="1" dirty="0"/>
          </a:p>
          <a:p>
            <a:pPr lvl="1" indent="-436245" eaLnBrk="1" hangingPunct="1">
              <a:spcBef>
                <a:spcPct val="50000"/>
              </a:spcBef>
              <a:buNone/>
            </a:pPr>
            <a:r>
              <a:rPr lang="en-US" altLang="zh-CN" sz="3000" b="1" dirty="0"/>
              <a:t>1. </a:t>
            </a:r>
            <a:r>
              <a:rPr lang="zh-CN" altLang="en-US" sz="3000" b="1" dirty="0"/>
              <a:t>置</a:t>
            </a:r>
            <a:r>
              <a:rPr lang="en-US" altLang="zh-CN" sz="3000" b="1" dirty="0"/>
              <a:t>FIRST(</a:t>
            </a:r>
            <a:r>
              <a:rPr lang="en-US" altLang="zh-CN" sz="3000" b="1" dirty="0">
                <a:sym typeface="Symbol" panose="05050102010706020507" pitchFamily="18" charset="2"/>
              </a:rPr>
              <a:t></a:t>
            </a:r>
            <a:r>
              <a:rPr lang="en-US" altLang="zh-CN" sz="3000" b="1" dirty="0"/>
              <a:t>)</a:t>
            </a:r>
            <a:r>
              <a:rPr lang="zh-CN" altLang="en-US" sz="3000" b="1" dirty="0"/>
              <a:t>＝</a:t>
            </a:r>
            <a:r>
              <a:rPr lang="en-US" altLang="zh-CN" sz="3000" b="1" dirty="0"/>
              <a:t>FIRST(X</a:t>
            </a:r>
            <a:r>
              <a:rPr lang="en-US" altLang="zh-CN" sz="3000" b="1" baseline="-25000" dirty="0"/>
              <a:t>1</a:t>
            </a:r>
            <a:r>
              <a:rPr lang="en-US" altLang="zh-CN" sz="3000" b="1" dirty="0"/>
              <a:t>)\{</a:t>
            </a:r>
            <a:r>
              <a:rPr lang="en-US" altLang="zh-CN" sz="3000" b="1" dirty="0">
                <a:sym typeface="Symbol" panose="05050102010706020507" pitchFamily="18" charset="2"/>
              </a:rPr>
              <a:t></a:t>
            </a:r>
            <a:r>
              <a:rPr lang="en-US" altLang="zh-CN" sz="3000" b="1" dirty="0"/>
              <a:t>}</a:t>
            </a:r>
            <a:r>
              <a:rPr lang="zh-CN" altLang="en-US" sz="3000" b="1" dirty="0"/>
              <a:t>；</a:t>
            </a:r>
            <a:endParaRPr lang="zh-CN" altLang="en-US" sz="3000" b="1" dirty="0"/>
          </a:p>
          <a:p>
            <a:pPr lvl="1" indent="-436245" eaLnBrk="1" hangingPunct="1">
              <a:spcBef>
                <a:spcPct val="50000"/>
              </a:spcBef>
              <a:buNone/>
            </a:pPr>
            <a:r>
              <a:rPr lang="en-US" altLang="zh-CN" sz="3000" b="1" dirty="0"/>
              <a:t>2. </a:t>
            </a:r>
            <a:r>
              <a:rPr lang="zh-CN" altLang="en-US" sz="3000" b="1" dirty="0"/>
              <a:t>若对任何</a:t>
            </a:r>
            <a:r>
              <a:rPr lang="en-US" altLang="zh-CN" sz="3000" b="1" dirty="0"/>
              <a:t>1</a:t>
            </a:r>
            <a:r>
              <a:rPr lang="en-US" altLang="zh-CN" sz="3000" b="1" dirty="0">
                <a:sym typeface="Symbol" panose="05050102010706020507" pitchFamily="18" charset="2"/>
              </a:rPr>
              <a:t></a:t>
            </a:r>
            <a:r>
              <a:rPr lang="en-US" altLang="zh-CN" sz="3000" b="1" dirty="0"/>
              <a:t>j</a:t>
            </a:r>
            <a:r>
              <a:rPr lang="en-US" altLang="zh-CN" sz="3000" b="1" dirty="0">
                <a:sym typeface="Symbol" panose="05050102010706020507" pitchFamily="18" charset="2"/>
              </a:rPr>
              <a:t></a:t>
            </a:r>
            <a:r>
              <a:rPr lang="en-US" altLang="zh-CN" sz="3000" b="1" dirty="0"/>
              <a:t>i-1</a:t>
            </a:r>
            <a:r>
              <a:rPr lang="zh-CN" altLang="en-US" sz="3000" b="1" dirty="0"/>
              <a:t>，</a:t>
            </a:r>
            <a:r>
              <a:rPr lang="zh-CN" altLang="en-US" sz="3000" b="1" dirty="0">
                <a:sym typeface="Symbol" panose="05050102010706020507" pitchFamily="18" charset="2"/>
              </a:rPr>
              <a:t></a:t>
            </a:r>
            <a:r>
              <a:rPr lang="en-US" altLang="zh-CN" sz="3000" b="1" dirty="0"/>
              <a:t>FIRST(X</a:t>
            </a:r>
            <a:r>
              <a:rPr lang="en-US" altLang="zh-CN" sz="3000" b="1" baseline="-25000" dirty="0"/>
              <a:t>j</a:t>
            </a:r>
            <a:r>
              <a:rPr lang="en-US" altLang="zh-CN" sz="3000" b="1" dirty="0"/>
              <a:t>)</a:t>
            </a:r>
            <a:r>
              <a:rPr lang="zh-CN" altLang="en-US" sz="3000" b="1" dirty="0"/>
              <a:t>，则把</a:t>
            </a:r>
            <a:r>
              <a:rPr lang="en-US" altLang="zh-CN" sz="3000" b="1" dirty="0"/>
              <a:t>FIRST(X</a:t>
            </a:r>
            <a:r>
              <a:rPr lang="en-US" altLang="zh-CN" sz="3000" b="1" baseline="-25000" dirty="0"/>
              <a:t>i</a:t>
            </a:r>
            <a:r>
              <a:rPr lang="en-US" altLang="zh-CN" sz="3000" b="1" dirty="0"/>
              <a:t>)\{</a:t>
            </a:r>
            <a:r>
              <a:rPr lang="en-US" altLang="zh-CN" sz="3000" b="1" dirty="0">
                <a:sym typeface="Symbol" panose="05050102010706020507" pitchFamily="18" charset="2"/>
              </a:rPr>
              <a:t></a:t>
            </a:r>
            <a:r>
              <a:rPr lang="en-US" altLang="zh-CN" sz="3000" b="1" dirty="0"/>
              <a:t>}</a:t>
            </a:r>
            <a:r>
              <a:rPr lang="zh-CN" altLang="en-US" sz="3000" b="1" dirty="0"/>
              <a:t>加至</a:t>
            </a:r>
            <a:r>
              <a:rPr lang="en-US" altLang="zh-CN" sz="3000" b="1" dirty="0"/>
              <a:t>FIRST(</a:t>
            </a:r>
            <a:r>
              <a:rPr lang="en-US" altLang="zh-CN" sz="3000" b="1" dirty="0">
                <a:sym typeface="Symbol" panose="05050102010706020507" pitchFamily="18" charset="2"/>
              </a:rPr>
              <a:t></a:t>
            </a:r>
            <a:r>
              <a:rPr lang="en-US" altLang="zh-CN" sz="3000" b="1" dirty="0"/>
              <a:t>)</a:t>
            </a:r>
            <a:r>
              <a:rPr lang="zh-CN" altLang="en-US" sz="3000" b="1" dirty="0"/>
              <a:t>中；特别是，若所有的</a:t>
            </a:r>
            <a:r>
              <a:rPr lang="en-US" altLang="zh-CN" sz="3000" b="1" dirty="0"/>
              <a:t>FIRST(X</a:t>
            </a:r>
            <a:r>
              <a:rPr lang="en-US" altLang="zh-CN" sz="3000" b="1" baseline="-25000" dirty="0"/>
              <a:t>j</a:t>
            </a:r>
            <a:r>
              <a:rPr lang="en-US" altLang="zh-CN" sz="3000" b="1" dirty="0"/>
              <a:t>)</a:t>
            </a:r>
            <a:r>
              <a:rPr lang="zh-CN" altLang="en-US" sz="3000" b="1" dirty="0"/>
              <a:t>均含有</a:t>
            </a:r>
            <a:r>
              <a:rPr lang="zh-CN" altLang="en-US" sz="3000" b="1" dirty="0">
                <a:sym typeface="Symbol" panose="05050102010706020507" pitchFamily="18" charset="2"/>
              </a:rPr>
              <a:t></a:t>
            </a:r>
            <a:r>
              <a:rPr lang="zh-CN" altLang="en-US" sz="3000" b="1" dirty="0"/>
              <a:t>，</a:t>
            </a:r>
            <a:r>
              <a:rPr lang="en-US" altLang="zh-CN" sz="3000" b="1" dirty="0"/>
              <a:t>1</a:t>
            </a:r>
            <a:r>
              <a:rPr lang="en-US" altLang="zh-CN" sz="3000" b="1" dirty="0">
                <a:sym typeface="Symbol" panose="05050102010706020507" pitchFamily="18" charset="2"/>
              </a:rPr>
              <a:t></a:t>
            </a:r>
            <a:r>
              <a:rPr lang="en-US" altLang="zh-CN" sz="3000" b="1" dirty="0"/>
              <a:t>j</a:t>
            </a:r>
            <a:r>
              <a:rPr lang="en-US" altLang="zh-CN" sz="3000" b="1" dirty="0">
                <a:sym typeface="Symbol" panose="05050102010706020507" pitchFamily="18" charset="2"/>
              </a:rPr>
              <a:t></a:t>
            </a:r>
            <a:r>
              <a:rPr lang="en-US" altLang="zh-CN" sz="3000" b="1" dirty="0"/>
              <a:t>n</a:t>
            </a:r>
            <a:r>
              <a:rPr lang="zh-CN" altLang="en-US" sz="3000" b="1" dirty="0"/>
              <a:t>，则把</a:t>
            </a:r>
            <a:r>
              <a:rPr lang="zh-CN" altLang="en-US" sz="3000" b="1" dirty="0">
                <a:sym typeface="Symbol" panose="05050102010706020507" pitchFamily="18" charset="2"/>
              </a:rPr>
              <a:t></a:t>
            </a:r>
            <a:r>
              <a:rPr lang="zh-CN" altLang="en-US" sz="3000" b="1" dirty="0"/>
              <a:t>也加至</a:t>
            </a:r>
            <a:r>
              <a:rPr lang="en-US" altLang="zh-CN" sz="3000" b="1" dirty="0"/>
              <a:t>FIRST(</a:t>
            </a:r>
            <a:r>
              <a:rPr lang="en-US" altLang="zh-CN" sz="3000" b="1" dirty="0">
                <a:sym typeface="Symbol" panose="05050102010706020507" pitchFamily="18" charset="2"/>
              </a:rPr>
              <a:t></a:t>
            </a:r>
            <a:r>
              <a:rPr lang="en-US" altLang="zh-CN" sz="3000" b="1" dirty="0"/>
              <a:t>)</a:t>
            </a:r>
            <a:r>
              <a:rPr lang="zh-CN" altLang="en-US" sz="3000" b="1" dirty="0"/>
              <a:t>中。显然，若</a:t>
            </a:r>
            <a:r>
              <a:rPr lang="zh-CN" altLang="en-US" sz="3000" b="1" dirty="0">
                <a:sym typeface="Symbol" panose="05050102010706020507" pitchFamily="18" charset="2"/>
              </a:rPr>
              <a:t></a:t>
            </a:r>
            <a:r>
              <a:rPr lang="zh-CN" altLang="en-US" sz="3000" b="1" dirty="0"/>
              <a:t>＝</a:t>
            </a:r>
            <a:r>
              <a:rPr lang="zh-CN" altLang="en-US" sz="3000" b="1" dirty="0">
                <a:sym typeface="Symbol" panose="05050102010706020507" pitchFamily="18" charset="2"/>
              </a:rPr>
              <a:t></a:t>
            </a:r>
            <a:r>
              <a:rPr lang="zh-CN" altLang="en-US" sz="3000" b="1" dirty="0"/>
              <a:t>则</a:t>
            </a:r>
            <a:r>
              <a:rPr lang="en-US" altLang="zh-CN" sz="3000" b="1" dirty="0"/>
              <a:t>FIRST(</a:t>
            </a:r>
            <a:r>
              <a:rPr lang="en-US" altLang="zh-CN" sz="3000" b="1" dirty="0">
                <a:sym typeface="Symbol" panose="05050102010706020507" pitchFamily="18" charset="2"/>
              </a:rPr>
              <a:t></a:t>
            </a:r>
            <a:r>
              <a:rPr lang="en-US" altLang="zh-CN" sz="3000" b="1" dirty="0"/>
              <a:t>)</a:t>
            </a:r>
            <a:r>
              <a:rPr lang="zh-CN" altLang="en-US" sz="3000" b="1" dirty="0"/>
              <a:t>＝</a:t>
            </a:r>
            <a:r>
              <a:rPr lang="en-US" altLang="zh-CN" sz="3000" b="1" dirty="0"/>
              <a:t>{</a:t>
            </a:r>
            <a:r>
              <a:rPr lang="en-US" altLang="zh-CN" sz="3000" b="1" dirty="0">
                <a:sym typeface="Symbol" panose="05050102010706020507" pitchFamily="18" charset="2"/>
              </a:rPr>
              <a:t></a:t>
            </a:r>
            <a:r>
              <a:rPr lang="en-US" altLang="zh-CN" sz="3000" b="1" dirty="0"/>
              <a:t>}</a:t>
            </a:r>
            <a:r>
              <a:rPr lang="zh-CN" altLang="en-US" sz="3000" b="1" dirty="0"/>
              <a:t>。</a:t>
            </a:r>
            <a:endParaRPr lang="zh-CN" altLang="en-US" sz="3000" b="1"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23234">
                                            <p:txEl>
                                              <p:charRg st="33" end="61"/>
                                            </p:txEl>
                                          </p:spTgt>
                                        </p:tgtEl>
                                        <p:attrNameLst>
                                          <p:attrName>style.visibility</p:attrName>
                                        </p:attrNameLst>
                                      </p:cBhvr>
                                      <p:to>
                                        <p:strVal val="visible"/>
                                      </p:to>
                                    </p:set>
                                    <p:animEffect transition="in" filter="wipe(up)">
                                      <p:cBhvr>
                                        <p:cTn id="7" dur="500"/>
                                        <p:tgtEl>
                                          <p:spTgt spid="223234">
                                            <p:txEl>
                                              <p:charRg st="33" end="6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23234">
                                            <p:txEl>
                                              <p:charRg st="61" end="181"/>
                                            </p:txEl>
                                          </p:spTgt>
                                        </p:tgtEl>
                                        <p:attrNameLst>
                                          <p:attrName>style.visibility</p:attrName>
                                        </p:attrNameLst>
                                      </p:cBhvr>
                                      <p:to>
                                        <p:strVal val="visible"/>
                                      </p:to>
                                    </p:set>
                                    <p:animEffect transition="in" filter="wipe(up)">
                                      <p:cBhvr>
                                        <p:cTn id="12" dur="500"/>
                                        <p:tgtEl>
                                          <p:spTgt spid="223234">
                                            <p:txEl>
                                              <p:charRg st="61" end="18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234" grpId="0" bldLvl="2"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5"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57346" name="Rectangle 2"/>
          <p:cNvSpPr>
            <a:spLocks noGrp="1"/>
          </p:cNvSpPr>
          <p:nvPr>
            <p:ph type="body"/>
          </p:nvPr>
        </p:nvSpPr>
        <p:spPr>
          <a:xfrm>
            <a:off x="684213" y="908050"/>
            <a:ext cx="7772400" cy="685800"/>
          </a:xfrm>
          <a:ln/>
        </p:spPr>
        <p:txBody>
          <a:bodyPr vert="horz" wrap="square" lIns="91440" tIns="45720" rIns="91440" bIns="45720" anchor="t"/>
          <a:p>
            <a:pPr eaLnBrk="1" hangingPunct="1">
              <a:lnSpc>
                <a:spcPct val="90000"/>
              </a:lnSpc>
              <a:buNone/>
            </a:pPr>
            <a:r>
              <a:rPr lang="zh-CN" altLang="en-US" sz="3900" b="1" dirty="0"/>
              <a:t>构造</a:t>
            </a:r>
            <a:r>
              <a:rPr lang="en-US" altLang="zh-CN" sz="3900" b="1" dirty="0"/>
              <a:t>FOLLOW(A)</a:t>
            </a:r>
            <a:endParaRPr lang="en-US" altLang="zh-CN" sz="3900" b="1" dirty="0"/>
          </a:p>
        </p:txBody>
      </p:sp>
      <p:graphicFrame>
        <p:nvGraphicFramePr>
          <p:cNvPr id="224260" name="Object 4"/>
          <p:cNvGraphicFramePr>
            <a:graphicFrameLocks noChangeAspect="1"/>
          </p:cNvGraphicFramePr>
          <p:nvPr/>
        </p:nvGraphicFramePr>
        <p:xfrm>
          <a:off x="1214438" y="2209800"/>
          <a:ext cx="7094537" cy="885825"/>
        </p:xfrm>
        <a:graphic>
          <a:graphicData uri="http://schemas.openxmlformats.org/presentationml/2006/ole">
            <mc:AlternateContent xmlns:mc="http://schemas.openxmlformats.org/markup-compatibility/2006">
              <mc:Choice xmlns:v="urn:schemas-microsoft-com:vml" Requires="v">
                <p:oleObj spid="_x0000_s3084" name="" r:id="rId1" imgW="2045335" imgH="256540" progId="Equation.3">
                  <p:embed/>
                </p:oleObj>
              </mc:Choice>
              <mc:Fallback>
                <p:oleObj name="" r:id="rId1" imgW="2045335" imgH="256540" progId="Equation.3">
                  <p:embed/>
                  <p:pic>
                    <p:nvPicPr>
                      <p:cNvPr id="0" name="图片 3083"/>
                      <p:cNvPicPr/>
                      <p:nvPr/>
                    </p:nvPicPr>
                    <p:blipFill>
                      <a:blip r:embed="rId2">
                        <a:clrChange>
                          <a:clrFrom>
                            <a:srgbClr val="000000"/>
                          </a:clrFrom>
                          <a:clrTo>
                            <a:srgbClr val="FF0000"/>
                          </a:clrTo>
                        </a:clrChange>
                      </a:blip>
                      <a:stretch>
                        <a:fillRect/>
                      </a:stretch>
                    </p:blipFill>
                    <p:spPr>
                      <a:xfrm>
                        <a:off x="1214438" y="2209800"/>
                        <a:ext cx="7094537" cy="885825"/>
                      </a:xfrm>
                      <a:prstGeom prst="rect">
                        <a:avLst/>
                      </a:prstGeom>
                      <a:noFill/>
                      <a:ln w="38100">
                        <a:noFill/>
                        <a:miter/>
                      </a:ln>
                    </p:spPr>
                  </p:pic>
                </p:oleObj>
              </mc:Fallback>
            </mc:AlternateContent>
          </a:graphicData>
        </a:graphic>
      </p:graphicFrame>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24260"/>
                                        </p:tgtEl>
                                        <p:attrNameLst>
                                          <p:attrName>style.visibility</p:attrName>
                                        </p:attrNameLst>
                                      </p:cBhvr>
                                      <p:to>
                                        <p:strVal val="visible"/>
                                      </p:to>
                                    </p:set>
                                    <p:animEffect transition="in" filter="wipe(left)">
                                      <p:cBhvr>
                                        <p:cTn id="7" dur="500"/>
                                        <p:tgtEl>
                                          <p:spTgt spid="2242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69"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225282" name="Rectangle 2"/>
          <p:cNvSpPr>
            <a:spLocks noGrp="1"/>
          </p:cNvSpPr>
          <p:nvPr>
            <p:ph type="body"/>
          </p:nvPr>
        </p:nvSpPr>
        <p:spPr>
          <a:xfrm>
            <a:off x="685800" y="758825"/>
            <a:ext cx="7918450" cy="4038600"/>
          </a:xfrm>
          <a:ln/>
        </p:spPr>
        <p:txBody>
          <a:bodyPr vert="horz" wrap="square" lIns="91440" tIns="45720" rIns="91440" bIns="45720" anchor="t"/>
          <a:p>
            <a:pPr eaLnBrk="1" hangingPunct="1">
              <a:lnSpc>
                <a:spcPct val="90000"/>
              </a:lnSpc>
            </a:pPr>
            <a:r>
              <a:rPr lang="zh-CN" altLang="en-US" b="1" dirty="0"/>
              <a:t>对于文法</a:t>
            </a:r>
            <a:r>
              <a:rPr lang="en-US" altLang="zh-CN" b="1" dirty="0"/>
              <a:t>G</a:t>
            </a:r>
            <a:r>
              <a:rPr lang="zh-CN" altLang="en-US" b="1" dirty="0"/>
              <a:t>的每个非终结符</a:t>
            </a:r>
            <a:r>
              <a:rPr lang="en-US" altLang="zh-CN" b="1" dirty="0"/>
              <a:t>A</a:t>
            </a:r>
            <a:r>
              <a:rPr lang="zh-CN" altLang="en-US" b="1" dirty="0"/>
              <a:t>构造</a:t>
            </a:r>
            <a:r>
              <a:rPr lang="en-US" altLang="zh-CN" b="1" dirty="0"/>
              <a:t>FOLLOW(A)</a:t>
            </a:r>
            <a:r>
              <a:rPr lang="zh-CN" altLang="en-US" b="1" dirty="0"/>
              <a:t>的办法是，连续使用下面的规则，直至每个</a:t>
            </a:r>
            <a:r>
              <a:rPr lang="en-US" altLang="zh-CN" b="1" dirty="0"/>
              <a:t>FOLLOW</a:t>
            </a:r>
            <a:r>
              <a:rPr lang="zh-CN" altLang="en-US" b="1" dirty="0"/>
              <a:t>不再增大为止：</a:t>
            </a:r>
            <a:endParaRPr lang="zh-CN" altLang="en-US" b="1" dirty="0"/>
          </a:p>
          <a:p>
            <a:pPr lvl="1" indent="-436245" eaLnBrk="1" hangingPunct="1">
              <a:lnSpc>
                <a:spcPct val="90000"/>
              </a:lnSpc>
              <a:spcBef>
                <a:spcPct val="50000"/>
              </a:spcBef>
              <a:buNone/>
            </a:pPr>
            <a:r>
              <a:rPr lang="en-US" altLang="zh-CN" b="1" dirty="0"/>
              <a:t>1. </a:t>
            </a:r>
            <a:r>
              <a:rPr lang="zh-CN" altLang="en-US" b="1" dirty="0"/>
              <a:t>对于文法的开始符号</a:t>
            </a:r>
            <a:r>
              <a:rPr lang="en-US" altLang="zh-CN" b="1" dirty="0"/>
              <a:t>S</a:t>
            </a:r>
            <a:r>
              <a:rPr lang="zh-CN" altLang="en-US" b="1" dirty="0"/>
              <a:t>，置＃于</a:t>
            </a:r>
            <a:r>
              <a:rPr lang="en-US" altLang="zh-CN" b="1" dirty="0"/>
              <a:t>FOLLOW(S)</a:t>
            </a:r>
            <a:r>
              <a:rPr lang="zh-CN" altLang="en-US" b="1" dirty="0"/>
              <a:t>中；</a:t>
            </a:r>
            <a:endParaRPr lang="zh-CN" altLang="en-US" b="1" dirty="0"/>
          </a:p>
          <a:p>
            <a:pPr lvl="1" indent="-436245" eaLnBrk="1" hangingPunct="1">
              <a:lnSpc>
                <a:spcPct val="90000"/>
              </a:lnSpc>
              <a:spcBef>
                <a:spcPct val="50000"/>
              </a:spcBef>
              <a:buNone/>
            </a:pPr>
            <a:r>
              <a:rPr lang="en-US" altLang="zh-CN" b="1" dirty="0"/>
              <a:t>2. </a:t>
            </a:r>
            <a:r>
              <a:rPr lang="zh-CN" altLang="en-US" b="1" dirty="0"/>
              <a:t>若</a:t>
            </a:r>
            <a:r>
              <a:rPr lang="en-US" altLang="zh-CN" b="1" dirty="0"/>
              <a:t>A→</a:t>
            </a:r>
            <a:r>
              <a:rPr lang="en-US" altLang="zh-CN" b="1" dirty="0">
                <a:sym typeface="Symbol" panose="05050102010706020507" pitchFamily="18" charset="2"/>
              </a:rPr>
              <a:t></a:t>
            </a:r>
            <a:r>
              <a:rPr lang="en-US" altLang="zh-CN" b="1" dirty="0"/>
              <a:t>B</a:t>
            </a:r>
            <a:r>
              <a:rPr lang="en-US" altLang="zh-CN" b="1" dirty="0">
                <a:sym typeface="Symbol" panose="05050102010706020507" pitchFamily="18" charset="2"/>
              </a:rPr>
              <a:t></a:t>
            </a:r>
            <a:r>
              <a:rPr lang="zh-CN" altLang="en-US" b="1" dirty="0"/>
              <a:t>是一个产生式，则把</a:t>
            </a:r>
            <a:r>
              <a:rPr lang="en-US" altLang="zh-CN" b="1" dirty="0"/>
              <a:t>FIRST(</a:t>
            </a:r>
            <a:r>
              <a:rPr lang="en-US" altLang="zh-CN" b="1" dirty="0">
                <a:sym typeface="Symbol" panose="05050102010706020507" pitchFamily="18" charset="2"/>
              </a:rPr>
              <a:t></a:t>
            </a:r>
            <a:r>
              <a:rPr lang="en-US" altLang="zh-CN" b="1" dirty="0"/>
              <a:t>)\{</a:t>
            </a:r>
            <a:r>
              <a:rPr lang="en-US" altLang="zh-CN" b="1" dirty="0">
                <a:sym typeface="Symbol" panose="05050102010706020507" pitchFamily="18" charset="2"/>
              </a:rPr>
              <a:t></a:t>
            </a:r>
            <a:r>
              <a:rPr lang="en-US" altLang="zh-CN" b="1" dirty="0"/>
              <a:t>}</a:t>
            </a:r>
            <a:r>
              <a:rPr lang="zh-CN" altLang="en-US" b="1" dirty="0"/>
              <a:t>加至</a:t>
            </a:r>
            <a:r>
              <a:rPr lang="en-US" altLang="zh-CN" b="1" dirty="0"/>
              <a:t>FOLLOW(B)</a:t>
            </a:r>
            <a:r>
              <a:rPr lang="zh-CN" altLang="en-US" b="1" dirty="0"/>
              <a:t>中；</a:t>
            </a:r>
            <a:endParaRPr lang="zh-CN" altLang="en-US" b="1" dirty="0"/>
          </a:p>
        </p:txBody>
      </p:sp>
      <p:grpSp>
        <p:nvGrpSpPr>
          <p:cNvPr id="2" name="Group 6"/>
          <p:cNvGrpSpPr/>
          <p:nvPr/>
        </p:nvGrpSpPr>
        <p:grpSpPr>
          <a:xfrm>
            <a:off x="685800" y="4497388"/>
            <a:ext cx="7847013" cy="1524000"/>
            <a:chOff x="432" y="2736"/>
            <a:chExt cx="4943" cy="960"/>
          </a:xfrm>
        </p:grpSpPr>
        <p:sp>
          <p:nvSpPr>
            <p:cNvPr id="58372" name="Rectangle 4"/>
            <p:cNvSpPr/>
            <p:nvPr/>
          </p:nvSpPr>
          <p:spPr>
            <a:xfrm>
              <a:off x="432" y="2736"/>
              <a:ext cx="4943" cy="960"/>
            </a:xfrm>
            <a:prstGeom prst="rect">
              <a:avLst/>
            </a:prstGeom>
            <a:noFill/>
            <a:ln w="9525">
              <a:noFill/>
            </a:ln>
          </p:spPr>
          <p:txBody>
            <a:bodyPr lIns="92075" tIns="46038" rIns="92075" bIns="46038" anchor="t"/>
            <a:p>
              <a:pPr marL="742950" lvl="1" indent="-285750" algn="l" eaLnBrk="1" hangingPunct="1">
                <a:lnSpc>
                  <a:spcPct val="150000"/>
                </a:lnSpc>
                <a:spcBef>
                  <a:spcPct val="50000"/>
                </a:spcBef>
                <a:buClr>
                  <a:schemeClr val="accent2"/>
                </a:buClr>
                <a:buSzPct val="80000"/>
                <a:buFont typeface="Wingdings" panose="05000000000000000000" pitchFamily="2" charset="2"/>
              </a:pPr>
              <a:r>
                <a:rPr lang="en-US" altLang="zh-CN" sz="2800" b="1" u="none" dirty="0">
                  <a:solidFill>
                    <a:schemeClr val="tx1"/>
                  </a:solidFill>
                  <a:latin typeface="Arial" panose="020B0604020202020204" pitchFamily="34" charset="0"/>
                </a:rPr>
                <a:t>3. </a:t>
              </a:r>
              <a:r>
                <a:rPr lang="zh-CN" altLang="en-US" sz="2800" b="1" u="none" dirty="0">
                  <a:solidFill>
                    <a:schemeClr val="tx1"/>
                  </a:solidFill>
                  <a:latin typeface="Arial" panose="020B0604020202020204" pitchFamily="34" charset="0"/>
                </a:rPr>
                <a:t>若</a:t>
              </a:r>
              <a:r>
                <a:rPr lang="en-US" altLang="zh-CN" sz="2800" b="1" u="none" dirty="0">
                  <a:solidFill>
                    <a:schemeClr val="tx1"/>
                  </a:solidFill>
                  <a:latin typeface="Arial" panose="020B0604020202020204" pitchFamily="34" charset="0"/>
                </a:rPr>
                <a:t>A→</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B</a:t>
              </a:r>
              <a:r>
                <a:rPr lang="zh-CN" altLang="en-US" sz="2800" b="1" u="none" dirty="0">
                  <a:solidFill>
                    <a:schemeClr val="tx1"/>
                  </a:solidFill>
                  <a:latin typeface="Arial" panose="020B0604020202020204" pitchFamily="34" charset="0"/>
                </a:rPr>
                <a:t>是一个产生式，或</a:t>
              </a:r>
              <a:r>
                <a:rPr lang="en-US" altLang="zh-CN" sz="2800" b="1" u="none" dirty="0">
                  <a:solidFill>
                    <a:schemeClr val="tx1"/>
                  </a:solidFill>
                  <a:latin typeface="Arial" panose="020B0604020202020204" pitchFamily="34" charset="0"/>
                </a:rPr>
                <a:t>A</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B</a:t>
              </a:r>
              <a:r>
                <a:rPr lang="en-US" altLang="zh-CN" sz="2800" b="1" u="none" dirty="0">
                  <a:solidFill>
                    <a:schemeClr val="tx1"/>
                  </a:solidFill>
                  <a:latin typeface="Arial" panose="020B0604020202020204" pitchFamily="34" charset="0"/>
                  <a:sym typeface="Symbol" panose="05050102010706020507" pitchFamily="18" charset="2"/>
                </a:rPr>
                <a:t></a:t>
              </a:r>
              <a:r>
                <a:rPr lang="zh-CN" altLang="en-US" sz="2800" b="1" u="none" dirty="0">
                  <a:solidFill>
                    <a:schemeClr val="tx1"/>
                  </a:solidFill>
                  <a:latin typeface="Arial" panose="020B0604020202020204" pitchFamily="34" charset="0"/>
                </a:rPr>
                <a:t>是一个产生式而</a:t>
              </a:r>
              <a:r>
                <a:rPr lang="zh-CN" altLang="en-US" sz="2800" b="1" u="none" dirty="0">
                  <a:solidFill>
                    <a:schemeClr val="tx1"/>
                  </a:solidFill>
                  <a:latin typeface="Arial" panose="020B0604020202020204" pitchFamily="34" charset="0"/>
                  <a:sym typeface="Symbol" panose="05050102010706020507" pitchFamily="18" charset="2"/>
                </a:rPr>
                <a:t>        </a:t>
              </a:r>
              <a:r>
                <a:rPr lang="en-US" altLang="zh-CN" sz="2800" b="1" u="none" dirty="0">
                  <a:solidFill>
                    <a:schemeClr val="tx1"/>
                  </a:solidFill>
                  <a:latin typeface="Arial" panose="020B0604020202020204" pitchFamily="34" charset="0"/>
                </a:rPr>
                <a:t>(</a:t>
              </a:r>
              <a:r>
                <a:rPr lang="zh-CN" altLang="en-US" sz="2800" b="1" u="none" dirty="0">
                  <a:solidFill>
                    <a:schemeClr val="tx1"/>
                  </a:solidFill>
                  <a:latin typeface="Arial" panose="020B0604020202020204" pitchFamily="34" charset="0"/>
                </a:rPr>
                <a:t>即</a:t>
              </a:r>
              <a:r>
                <a:rPr lang="zh-CN" altLang="en-US"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FIRST(</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a:t>
              </a:r>
              <a:r>
                <a:rPr lang="zh-CN" altLang="en-US" sz="2800" b="1" u="none" dirty="0">
                  <a:solidFill>
                    <a:schemeClr val="tx1"/>
                  </a:solidFill>
                  <a:latin typeface="Arial" panose="020B0604020202020204" pitchFamily="34" charset="0"/>
                </a:rPr>
                <a:t>，</a:t>
              </a:r>
              <a:endParaRPr lang="zh-CN" altLang="en-US" sz="2800" b="1" u="none" dirty="0">
                <a:solidFill>
                  <a:schemeClr val="tx1"/>
                </a:solidFill>
                <a:latin typeface="Arial" panose="020B0604020202020204" pitchFamily="34" charset="0"/>
              </a:endParaRPr>
            </a:p>
            <a:p>
              <a:pPr marL="742950" lvl="1" indent="-285750" algn="l" eaLnBrk="1" hangingPunct="1">
                <a:buClr>
                  <a:schemeClr val="accent2"/>
                </a:buClr>
                <a:buSzPct val="80000"/>
                <a:buFont typeface="Wingdings" panose="05000000000000000000" pitchFamily="2" charset="2"/>
              </a:pPr>
              <a:r>
                <a:rPr lang="zh-CN" altLang="en-US" sz="2800" b="1" u="none" dirty="0">
                  <a:solidFill>
                    <a:schemeClr val="tx1"/>
                  </a:solidFill>
                  <a:latin typeface="Arial" panose="020B0604020202020204" pitchFamily="34" charset="0"/>
                </a:rPr>
                <a:t>   则把</a:t>
              </a:r>
              <a:r>
                <a:rPr lang="en-US" altLang="zh-CN" sz="2800" b="1" u="none" dirty="0">
                  <a:solidFill>
                    <a:schemeClr val="tx1"/>
                  </a:solidFill>
                  <a:latin typeface="Arial" panose="020B0604020202020204" pitchFamily="34" charset="0"/>
                </a:rPr>
                <a:t>FOLLOW(A)</a:t>
              </a:r>
              <a:r>
                <a:rPr lang="zh-CN" altLang="en-US" sz="2800" b="1" u="none" dirty="0">
                  <a:solidFill>
                    <a:schemeClr val="tx1"/>
                  </a:solidFill>
                  <a:latin typeface="Arial" panose="020B0604020202020204" pitchFamily="34" charset="0"/>
                </a:rPr>
                <a:t>加至</a:t>
              </a:r>
              <a:r>
                <a:rPr lang="en-US" altLang="zh-CN" sz="2800" b="1" u="none" dirty="0">
                  <a:solidFill>
                    <a:schemeClr val="tx1"/>
                  </a:solidFill>
                  <a:latin typeface="Arial" panose="020B0604020202020204" pitchFamily="34" charset="0"/>
                </a:rPr>
                <a:t>FOLLOW(B)</a:t>
              </a:r>
              <a:r>
                <a:rPr lang="zh-CN" altLang="en-US" sz="2800" b="1" u="none" dirty="0">
                  <a:solidFill>
                    <a:schemeClr val="tx1"/>
                  </a:solidFill>
                  <a:latin typeface="Arial" panose="020B0604020202020204" pitchFamily="34" charset="0"/>
                </a:rPr>
                <a:t>中。</a:t>
              </a:r>
              <a:endParaRPr lang="zh-CN" altLang="en-US" sz="3200" b="1" u="none" dirty="0">
                <a:solidFill>
                  <a:schemeClr val="tx1"/>
                </a:solidFill>
                <a:latin typeface="Arial" panose="020B0604020202020204" pitchFamily="34" charset="0"/>
              </a:endParaRPr>
            </a:p>
          </p:txBody>
        </p:sp>
        <p:graphicFrame>
          <p:nvGraphicFramePr>
            <p:cNvPr id="58373" name="Object 5"/>
            <p:cNvGraphicFramePr>
              <a:graphicFrameLocks noChangeAspect="1"/>
            </p:cNvGraphicFramePr>
            <p:nvPr/>
          </p:nvGraphicFramePr>
          <p:xfrm>
            <a:off x="1973" y="2976"/>
            <a:ext cx="480" cy="672"/>
          </p:xfrm>
          <a:graphic>
            <a:graphicData uri="http://schemas.openxmlformats.org/presentationml/2006/ole">
              <mc:AlternateContent xmlns:mc="http://schemas.openxmlformats.org/markup-compatibility/2006">
                <mc:Choice xmlns:v="urn:schemas-microsoft-com:vml" Requires="v">
                  <p:oleObj spid="_x0000_s3083" name="" r:id="rId1" imgW="190500" imgH="279400" progId="Equation.3">
                    <p:embed/>
                  </p:oleObj>
                </mc:Choice>
                <mc:Fallback>
                  <p:oleObj name="" r:id="rId1" imgW="190500" imgH="279400" progId="Equation.3">
                    <p:embed/>
                    <p:pic>
                      <p:nvPicPr>
                        <p:cNvPr id="0" name="图片 3082"/>
                        <p:cNvPicPr/>
                        <p:nvPr/>
                      </p:nvPicPr>
                      <p:blipFill>
                        <a:blip r:embed="rId2"/>
                        <a:stretch>
                          <a:fillRect/>
                        </a:stretch>
                      </p:blipFill>
                      <p:spPr>
                        <a:xfrm>
                          <a:off x="1973" y="2976"/>
                          <a:ext cx="480" cy="672"/>
                        </a:xfrm>
                        <a:prstGeom prst="rect">
                          <a:avLst/>
                        </a:prstGeom>
                        <a:noFill/>
                        <a:ln w="38100">
                          <a:noFill/>
                          <a:miter/>
                        </a:ln>
                      </p:spPr>
                    </p:pic>
                  </p:oleObj>
                </mc:Fallback>
              </mc:AlternateContent>
            </a:graphicData>
          </a:graphic>
        </p:graphicFrame>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25282">
                                            <p:txEl>
                                              <p:charRg st="0" end="57"/>
                                            </p:txEl>
                                          </p:spTgt>
                                        </p:tgtEl>
                                        <p:attrNameLst>
                                          <p:attrName>style.visibility</p:attrName>
                                        </p:attrNameLst>
                                      </p:cBhvr>
                                      <p:to>
                                        <p:strVal val="visible"/>
                                      </p:to>
                                    </p:set>
                                    <p:animEffect transition="in" filter="wipe(up)">
                                      <p:cBhvr>
                                        <p:cTn id="7" dur="500"/>
                                        <p:tgtEl>
                                          <p:spTgt spid="225282">
                                            <p:txEl>
                                              <p:charRg st="0" end="57"/>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25282">
                                            <p:txEl>
                                              <p:charRg st="57" end="86"/>
                                            </p:txEl>
                                          </p:spTgt>
                                        </p:tgtEl>
                                        <p:attrNameLst>
                                          <p:attrName>style.visibility</p:attrName>
                                        </p:attrNameLst>
                                      </p:cBhvr>
                                      <p:to>
                                        <p:strVal val="visible"/>
                                      </p:to>
                                    </p:set>
                                    <p:animEffect transition="in" filter="wipe(up)">
                                      <p:cBhvr>
                                        <p:cTn id="12" dur="500"/>
                                        <p:tgtEl>
                                          <p:spTgt spid="225282">
                                            <p:txEl>
                                              <p:charRg st="57" end="8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25282">
                                            <p:txEl>
                                              <p:charRg st="86" end="130"/>
                                            </p:txEl>
                                          </p:spTgt>
                                        </p:tgtEl>
                                        <p:attrNameLst>
                                          <p:attrName>style.visibility</p:attrName>
                                        </p:attrNameLst>
                                      </p:cBhvr>
                                      <p:to>
                                        <p:strVal val="visible"/>
                                      </p:to>
                                    </p:set>
                                    <p:animEffect transition="in" filter="wipe(up)">
                                      <p:cBhvr>
                                        <p:cTn id="17" dur="500"/>
                                        <p:tgtEl>
                                          <p:spTgt spid="225282">
                                            <p:txEl>
                                              <p:charRg st="86" end="13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up)">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282" grpId="0" bldLvl="2"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3"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59394" name="Rectangle 2"/>
          <p:cNvSpPr>
            <a:spLocks noGrp="1"/>
          </p:cNvSpPr>
          <p:nvPr>
            <p:ph type="title"/>
          </p:nvPr>
        </p:nvSpPr>
        <p:spPr>
          <a:xfrm>
            <a:off x="574675" y="476250"/>
            <a:ext cx="8001000" cy="755650"/>
          </a:xfrm>
          <a:ln/>
        </p:spPr>
        <p:txBody>
          <a:bodyPr vert="horz" wrap="square" lIns="91440" tIns="45720" rIns="91440" bIns="45720" anchor="b"/>
          <a:p>
            <a:pPr algn="ctr"/>
            <a:r>
              <a:rPr lang="zh-CN" altLang="en-US" dirty="0"/>
              <a:t>两个集合求法的补充</a:t>
            </a:r>
            <a:endParaRPr lang="zh-CN" altLang="en-US" dirty="0"/>
          </a:p>
        </p:txBody>
      </p:sp>
      <p:sp>
        <p:nvSpPr>
          <p:cNvPr id="59395" name="Rectangle 3"/>
          <p:cNvSpPr>
            <a:spLocks noGrp="1"/>
          </p:cNvSpPr>
          <p:nvPr>
            <p:ph idx="1"/>
          </p:nvPr>
        </p:nvSpPr>
        <p:spPr>
          <a:ln/>
        </p:spPr>
        <p:txBody>
          <a:bodyPr vert="horz" wrap="square" lIns="91440" tIns="45720" rIns="91440" bIns="45720" anchor="t"/>
          <a:p>
            <a:pPr>
              <a:lnSpc>
                <a:spcPct val="80000"/>
              </a:lnSpc>
            </a:pPr>
            <a:r>
              <a:rPr lang="en-US" altLang="zh-CN" sz="3800" b="1" dirty="0"/>
              <a:t>FIRST</a:t>
            </a:r>
            <a:r>
              <a:rPr lang="zh-CN" altLang="en-US" sz="3800" b="1" dirty="0"/>
              <a:t>集合</a:t>
            </a:r>
            <a:endParaRPr lang="zh-CN" altLang="en-US" sz="3800" b="1" dirty="0"/>
          </a:p>
          <a:p>
            <a:pPr lvl="1" indent="-436245">
              <a:lnSpc>
                <a:spcPct val="80000"/>
              </a:lnSpc>
            </a:pPr>
            <a:r>
              <a:rPr lang="zh-CN" altLang="en-US" sz="3600" b="1" dirty="0"/>
              <a:t>主要看产生式左边</a:t>
            </a:r>
            <a:endParaRPr lang="zh-CN" altLang="en-US" sz="3600" b="1" dirty="0"/>
          </a:p>
          <a:p>
            <a:pPr lvl="1" indent="-436245">
              <a:lnSpc>
                <a:spcPct val="80000"/>
              </a:lnSpc>
            </a:pPr>
            <a:r>
              <a:rPr lang="zh-CN" altLang="en-US" sz="3600" b="1" dirty="0"/>
              <a:t>自下而上求</a:t>
            </a:r>
            <a:endParaRPr lang="zh-CN" altLang="en-US" sz="3600" b="1" dirty="0"/>
          </a:p>
          <a:p>
            <a:pPr lvl="1" indent="-436245">
              <a:lnSpc>
                <a:spcPct val="80000"/>
              </a:lnSpc>
            </a:pPr>
            <a:endParaRPr lang="zh-CN" altLang="en-US" sz="3600" b="1" dirty="0"/>
          </a:p>
          <a:p>
            <a:pPr>
              <a:lnSpc>
                <a:spcPct val="80000"/>
              </a:lnSpc>
            </a:pPr>
            <a:r>
              <a:rPr lang="en-US" altLang="zh-CN" sz="3800" b="1" dirty="0"/>
              <a:t>FOLLOW</a:t>
            </a:r>
            <a:r>
              <a:rPr lang="zh-CN" altLang="en-US" sz="3800" b="1" dirty="0"/>
              <a:t>集合</a:t>
            </a:r>
            <a:endParaRPr lang="zh-CN" altLang="en-US" sz="3800" b="1" dirty="0"/>
          </a:p>
          <a:p>
            <a:pPr lvl="1" indent="-436245">
              <a:lnSpc>
                <a:spcPct val="80000"/>
              </a:lnSpc>
            </a:pPr>
            <a:r>
              <a:rPr lang="zh-CN" altLang="en-US" sz="3600" b="1" dirty="0"/>
              <a:t>只看产生式右边</a:t>
            </a:r>
            <a:endParaRPr lang="zh-CN" altLang="en-US" sz="3600" b="1" dirty="0"/>
          </a:p>
          <a:p>
            <a:pPr lvl="1" indent="-436245">
              <a:lnSpc>
                <a:spcPct val="80000"/>
              </a:lnSpc>
            </a:pPr>
            <a:r>
              <a:rPr lang="zh-CN" altLang="en-US" sz="3600" b="1" dirty="0"/>
              <a:t>自上而下求</a:t>
            </a:r>
            <a:endParaRPr lang="zh-CN" altLang="en-US" sz="3600" b="1" dirty="0"/>
          </a:p>
        </p:txBody>
      </p:sp>
    </p:spTree>
  </p:cSld>
  <p:clrMapOvr>
    <a:masterClrMapping/>
  </p:clrMapOvr>
  <p:transition spd="med">
    <p:zoom/>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7"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226306" name="Rectangle 2"/>
          <p:cNvSpPr>
            <a:spLocks noGrp="1"/>
          </p:cNvSpPr>
          <p:nvPr>
            <p:ph type="body"/>
          </p:nvPr>
        </p:nvSpPr>
        <p:spPr>
          <a:xfrm>
            <a:off x="468313" y="598488"/>
            <a:ext cx="8610600" cy="3335337"/>
          </a:xfrm>
          <a:ln/>
        </p:spPr>
        <p:txBody>
          <a:bodyPr vert="horz" wrap="square" lIns="91440" tIns="45720" rIns="91440" bIns="45720" anchor="t"/>
          <a:p>
            <a:pPr eaLnBrk="1" hangingPunct="1">
              <a:lnSpc>
                <a:spcPct val="90000"/>
              </a:lnSpc>
            </a:pPr>
            <a:r>
              <a:rPr lang="zh-CN" altLang="en-US" b="1" dirty="0"/>
              <a:t>例</a:t>
            </a:r>
            <a:r>
              <a:rPr lang="en-US" altLang="zh-CN" b="1" dirty="0"/>
              <a:t>4.6  </a:t>
            </a:r>
            <a:r>
              <a:rPr lang="zh-CN" altLang="en-US" b="1" dirty="0"/>
              <a:t>对于文法</a:t>
            </a:r>
            <a:r>
              <a:rPr lang="en-US" altLang="zh-CN" b="1" dirty="0"/>
              <a:t>G(E)</a:t>
            </a:r>
            <a:endParaRPr lang="en-US" altLang="zh-CN" b="1" dirty="0"/>
          </a:p>
          <a:p>
            <a:pPr lvl="2" indent="-394970" eaLnBrk="1" hangingPunct="1">
              <a:lnSpc>
                <a:spcPct val="90000"/>
              </a:lnSpc>
              <a:spcBef>
                <a:spcPct val="0"/>
              </a:spcBef>
              <a:buNone/>
            </a:pPr>
            <a:r>
              <a:rPr lang="en-US" altLang="zh-CN" sz="2800" b="1" dirty="0"/>
              <a:t>E→TE</a:t>
            </a:r>
            <a:r>
              <a:rPr lang="en-US" altLang="zh-CN" sz="2800" b="1" dirty="0">
                <a:sym typeface="Symbol" panose="05050102010706020507" pitchFamily="18" charset="2"/>
              </a:rPr>
              <a:t></a:t>
            </a:r>
            <a:endParaRPr lang="en-US" altLang="zh-CN" sz="2800" b="1" dirty="0"/>
          </a:p>
          <a:p>
            <a:pPr lvl="2" indent="-394970" eaLnBrk="1" hangingPunct="1">
              <a:lnSpc>
                <a:spcPct val="90000"/>
              </a:lnSpc>
              <a:spcBef>
                <a:spcPct val="0"/>
              </a:spcBef>
              <a:buNone/>
            </a:pPr>
            <a:r>
              <a:rPr lang="en-US" altLang="zh-CN" sz="2800" b="1" dirty="0"/>
              <a:t>E</a:t>
            </a:r>
            <a:r>
              <a:rPr lang="en-US" altLang="zh-CN" sz="2800" b="1" dirty="0">
                <a:sym typeface="Symbol" panose="05050102010706020507" pitchFamily="18" charset="2"/>
              </a:rPr>
              <a:t></a:t>
            </a:r>
            <a:r>
              <a:rPr lang="en-US" altLang="zh-CN" sz="2800" b="1" dirty="0"/>
              <a:t>→+TE</a:t>
            </a:r>
            <a:r>
              <a:rPr lang="en-US" altLang="zh-CN" sz="2800" b="1" dirty="0">
                <a:sym typeface="Symbol" panose="05050102010706020507" pitchFamily="18" charset="2"/>
              </a:rPr>
              <a:t></a:t>
            </a:r>
            <a:r>
              <a:rPr lang="en-US" altLang="zh-CN" sz="2800" b="1" dirty="0"/>
              <a:t> | </a:t>
            </a:r>
            <a:r>
              <a:rPr lang="en-US" altLang="zh-CN" sz="2800" b="1" dirty="0">
                <a:sym typeface="Symbol" panose="05050102010706020507" pitchFamily="18" charset="2"/>
              </a:rPr>
              <a:t></a:t>
            </a:r>
            <a:endParaRPr lang="en-US" altLang="zh-CN" sz="2800" b="1" dirty="0"/>
          </a:p>
          <a:p>
            <a:pPr lvl="2" indent="-394970" eaLnBrk="1" hangingPunct="1">
              <a:lnSpc>
                <a:spcPct val="90000"/>
              </a:lnSpc>
              <a:spcBef>
                <a:spcPct val="0"/>
              </a:spcBef>
              <a:buNone/>
            </a:pPr>
            <a:r>
              <a:rPr lang="en-US" altLang="zh-CN" sz="2800" b="1" dirty="0"/>
              <a:t>T→FT</a:t>
            </a:r>
            <a:r>
              <a:rPr lang="en-US" altLang="zh-CN" sz="2800" b="1" dirty="0">
                <a:sym typeface="Symbol" panose="05050102010706020507" pitchFamily="18" charset="2"/>
              </a:rPr>
              <a:t></a:t>
            </a:r>
            <a:r>
              <a:rPr lang="en-US" altLang="zh-CN" sz="2800" b="1" dirty="0"/>
              <a:t>                 </a:t>
            </a:r>
            <a:endParaRPr lang="en-US" altLang="zh-CN" sz="2800" b="1" dirty="0"/>
          </a:p>
          <a:p>
            <a:pPr lvl="2" indent="-394970" eaLnBrk="1" hangingPunct="1">
              <a:lnSpc>
                <a:spcPct val="90000"/>
              </a:lnSpc>
              <a:spcBef>
                <a:spcPct val="0"/>
              </a:spcBef>
              <a:buNone/>
            </a:pPr>
            <a:r>
              <a:rPr lang="en-US" altLang="zh-CN" sz="2800" b="1" dirty="0"/>
              <a:t>T</a:t>
            </a:r>
            <a:r>
              <a:rPr lang="en-US" altLang="zh-CN" sz="2800" b="1" dirty="0">
                <a:sym typeface="Symbol" panose="05050102010706020507" pitchFamily="18" charset="2"/>
              </a:rPr>
              <a:t></a:t>
            </a:r>
            <a:r>
              <a:rPr lang="en-US" altLang="zh-CN" sz="2800" b="1" dirty="0"/>
              <a:t>→*FT</a:t>
            </a:r>
            <a:r>
              <a:rPr lang="en-US" altLang="zh-CN" sz="2800" b="1" dirty="0">
                <a:sym typeface="Symbol" panose="05050102010706020507" pitchFamily="18" charset="2"/>
              </a:rPr>
              <a:t></a:t>
            </a:r>
            <a:r>
              <a:rPr lang="en-US" altLang="zh-CN" sz="2800" b="1" dirty="0"/>
              <a:t> | </a:t>
            </a:r>
            <a:r>
              <a:rPr lang="en-US" altLang="zh-CN" sz="2800" b="1" dirty="0">
                <a:sym typeface="Symbol" panose="05050102010706020507" pitchFamily="18" charset="2"/>
              </a:rPr>
              <a:t></a:t>
            </a:r>
            <a:endParaRPr lang="en-US" altLang="zh-CN" sz="2800" b="1" dirty="0"/>
          </a:p>
          <a:p>
            <a:pPr lvl="2" indent="-394970" eaLnBrk="1" hangingPunct="1">
              <a:lnSpc>
                <a:spcPct val="90000"/>
              </a:lnSpc>
              <a:spcBef>
                <a:spcPct val="0"/>
              </a:spcBef>
              <a:buNone/>
            </a:pPr>
            <a:r>
              <a:rPr lang="en-US" altLang="zh-CN" sz="2800" b="1" dirty="0"/>
              <a:t>F→(E) | i	</a:t>
            </a:r>
            <a:endParaRPr lang="en-US" altLang="zh-CN" sz="2800" b="1" dirty="0"/>
          </a:p>
          <a:p>
            <a:pPr eaLnBrk="1" hangingPunct="1">
              <a:lnSpc>
                <a:spcPct val="90000"/>
              </a:lnSpc>
              <a:buNone/>
            </a:pPr>
            <a:r>
              <a:rPr lang="zh-CN" altLang="en-US" b="1" dirty="0"/>
              <a:t>构造每个非终结符的</a:t>
            </a:r>
            <a:r>
              <a:rPr lang="en-US" altLang="zh-CN" b="1" dirty="0"/>
              <a:t>FIRST</a:t>
            </a:r>
            <a:r>
              <a:rPr lang="zh-CN" altLang="en-US" b="1" dirty="0"/>
              <a:t>和</a:t>
            </a:r>
            <a:r>
              <a:rPr lang="en-US" altLang="zh-CN" b="1" dirty="0"/>
              <a:t>FOLLOW</a:t>
            </a:r>
            <a:r>
              <a:rPr lang="zh-CN" altLang="en-US" b="1" dirty="0"/>
              <a:t>集合：</a:t>
            </a:r>
            <a:endParaRPr lang="zh-CN" altLang="en-US" b="1" dirty="0"/>
          </a:p>
        </p:txBody>
      </p:sp>
      <p:sp>
        <p:nvSpPr>
          <p:cNvPr id="226307" name="Rectangle 3"/>
          <p:cNvSpPr/>
          <p:nvPr/>
        </p:nvSpPr>
        <p:spPr>
          <a:xfrm>
            <a:off x="468313" y="3644900"/>
            <a:ext cx="3887787" cy="2703513"/>
          </a:xfrm>
          <a:prstGeom prst="rect">
            <a:avLst/>
          </a:prstGeom>
          <a:noFill/>
          <a:ln w="9525">
            <a:noFill/>
          </a:ln>
        </p:spPr>
        <p:txBody>
          <a:bodyPr lIns="92075" tIns="46038" rIns="92075" bIns="46038" anchor="t"/>
          <a:p>
            <a:pPr marL="342900" indent="-342900">
              <a:spcBef>
                <a:spcPct val="20000"/>
              </a:spcBef>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FIRST(E) ={(,i}</a:t>
            </a:r>
            <a:endParaRPr lang="en-US" altLang="zh-CN" sz="2800" b="1" u="none" dirty="0">
              <a:solidFill>
                <a:schemeClr val="tx1"/>
              </a:solidFill>
              <a:latin typeface="Arial" panose="020B0604020202020204" pitchFamily="34" charset="0"/>
            </a:endParaRPr>
          </a:p>
          <a:p>
            <a:pPr marL="742950" lvl="1" indent="-285750" algn="l" eaLnBrk="1" hangingPunct="1">
              <a:buClr>
                <a:schemeClr val="accent2"/>
              </a:buClr>
              <a:buSzPct val="80000"/>
              <a:buFont typeface="Wingdings" panose="05000000000000000000" pitchFamily="2" charset="2"/>
            </a:pPr>
            <a:r>
              <a:rPr lang="en-US" altLang="zh-CN" sz="2800" b="1" u="none" dirty="0">
                <a:solidFill>
                  <a:schemeClr val="tx1"/>
                </a:solidFill>
                <a:latin typeface="Arial" panose="020B0604020202020204" pitchFamily="34" charset="0"/>
              </a:rPr>
              <a:t>FIRST(E</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 </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a:t>
            </a:r>
            <a:endParaRPr lang="en-US" altLang="zh-CN" sz="2800" b="1" u="none" dirty="0">
              <a:solidFill>
                <a:schemeClr val="tx1"/>
              </a:solidFill>
              <a:latin typeface="Arial" panose="020B0604020202020204" pitchFamily="34" charset="0"/>
            </a:endParaRPr>
          </a:p>
          <a:p>
            <a:pPr marL="742950" lvl="1" indent="-285750" algn="l" eaLnBrk="1" hangingPunct="1">
              <a:buClr>
                <a:schemeClr val="accent2"/>
              </a:buClr>
              <a:buSzPct val="80000"/>
              <a:buFont typeface="Wingdings" panose="05000000000000000000" pitchFamily="2" charset="2"/>
            </a:pPr>
            <a:r>
              <a:rPr lang="en-US" altLang="zh-CN" sz="2800" b="1" u="none" dirty="0">
                <a:solidFill>
                  <a:schemeClr val="tx1"/>
                </a:solidFill>
                <a:latin typeface="Arial" panose="020B0604020202020204" pitchFamily="34" charset="0"/>
              </a:rPr>
              <a:t>FIRST(T) ={(,i}</a:t>
            </a:r>
            <a:endParaRPr lang="en-US" altLang="zh-CN" sz="2800" b="1" u="none" dirty="0">
              <a:solidFill>
                <a:schemeClr val="tx1"/>
              </a:solidFill>
              <a:latin typeface="Arial" panose="020B0604020202020204" pitchFamily="34" charset="0"/>
            </a:endParaRPr>
          </a:p>
          <a:p>
            <a:pPr marL="742950" lvl="1" indent="-285750" algn="l" eaLnBrk="1" hangingPunct="1">
              <a:buClr>
                <a:schemeClr val="accent2"/>
              </a:buClr>
              <a:buSzPct val="80000"/>
              <a:buFont typeface="Wingdings" panose="05000000000000000000" pitchFamily="2" charset="2"/>
            </a:pPr>
            <a:r>
              <a:rPr lang="en-US" altLang="zh-CN" sz="2800" b="1" u="none" dirty="0">
                <a:solidFill>
                  <a:schemeClr val="tx1"/>
                </a:solidFill>
                <a:latin typeface="Arial" panose="020B0604020202020204" pitchFamily="34" charset="0"/>
              </a:rPr>
              <a:t>FIRST(T</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 </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a:t>
            </a:r>
            <a:endParaRPr lang="en-US" altLang="zh-CN" sz="2800" b="1" u="none" dirty="0">
              <a:solidFill>
                <a:schemeClr val="tx1"/>
              </a:solidFill>
              <a:latin typeface="Arial" panose="020B0604020202020204" pitchFamily="34" charset="0"/>
            </a:endParaRPr>
          </a:p>
          <a:p>
            <a:pPr marL="742950" lvl="1" indent="-285750" algn="l" eaLnBrk="1" hangingPunct="1">
              <a:buClr>
                <a:schemeClr val="accent2"/>
              </a:buClr>
              <a:buSzPct val="80000"/>
              <a:buFont typeface="Wingdings" panose="05000000000000000000" pitchFamily="2" charset="2"/>
            </a:pPr>
            <a:r>
              <a:rPr lang="en-US" altLang="zh-CN" sz="2800" b="1" u="none" dirty="0">
                <a:solidFill>
                  <a:schemeClr val="tx1"/>
                </a:solidFill>
                <a:latin typeface="Arial" panose="020B0604020202020204" pitchFamily="34" charset="0"/>
              </a:rPr>
              <a:t>FIRST(F) ={(,i}</a:t>
            </a:r>
            <a:endParaRPr lang="en-US" altLang="zh-CN" sz="2800" b="1" u="none" dirty="0">
              <a:solidFill>
                <a:schemeClr val="tx1"/>
              </a:solidFill>
              <a:latin typeface="Arial" panose="020B0604020202020204" pitchFamily="34" charset="0"/>
            </a:endParaRPr>
          </a:p>
        </p:txBody>
      </p:sp>
      <p:sp>
        <p:nvSpPr>
          <p:cNvPr id="226308" name="Rectangle 4"/>
          <p:cNvSpPr/>
          <p:nvPr/>
        </p:nvSpPr>
        <p:spPr>
          <a:xfrm>
            <a:off x="4067175" y="3678238"/>
            <a:ext cx="4643438" cy="2703512"/>
          </a:xfrm>
          <a:prstGeom prst="rect">
            <a:avLst/>
          </a:prstGeom>
          <a:noFill/>
          <a:ln w="9525">
            <a:noFill/>
          </a:ln>
        </p:spPr>
        <p:txBody>
          <a:bodyPr lIns="92075" tIns="46038" rIns="92075" bIns="46038" anchor="t"/>
          <a:p>
            <a:pPr marL="342900" indent="-342900">
              <a:spcBef>
                <a:spcPct val="20000"/>
              </a:spcBef>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FOLLOW(E) ={),#}</a:t>
            </a:r>
            <a:endParaRPr lang="en-US" altLang="zh-CN" sz="2800" b="1" u="none" dirty="0">
              <a:solidFill>
                <a:schemeClr val="tx1"/>
              </a:solidFill>
              <a:latin typeface="Arial" panose="020B0604020202020204" pitchFamily="34" charset="0"/>
            </a:endParaRPr>
          </a:p>
          <a:p>
            <a:pPr marL="742950" lvl="1" indent="-285750" algn="l" eaLnBrk="1" hangingPunct="1">
              <a:buClr>
                <a:schemeClr val="accent2"/>
              </a:buClr>
              <a:buSzPct val="80000"/>
              <a:buFont typeface="Wingdings" panose="05000000000000000000" pitchFamily="2" charset="2"/>
            </a:pPr>
            <a:r>
              <a:rPr lang="en-US" altLang="zh-CN" sz="2800" b="1" u="none" dirty="0">
                <a:solidFill>
                  <a:schemeClr val="tx1"/>
                </a:solidFill>
                <a:latin typeface="Arial" panose="020B0604020202020204" pitchFamily="34" charset="0"/>
              </a:rPr>
              <a:t>FOLLOW(E</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a:t>
            </a:r>
            <a:endParaRPr lang="en-US" altLang="zh-CN" sz="2800" b="1" u="none" dirty="0">
              <a:solidFill>
                <a:schemeClr val="tx1"/>
              </a:solidFill>
              <a:latin typeface="Arial" panose="020B0604020202020204" pitchFamily="34" charset="0"/>
            </a:endParaRPr>
          </a:p>
          <a:p>
            <a:pPr marL="742950" lvl="1" indent="-285750" algn="l" eaLnBrk="1" hangingPunct="1">
              <a:buClr>
                <a:schemeClr val="accent2"/>
              </a:buClr>
              <a:buSzPct val="80000"/>
              <a:buFont typeface="Wingdings" panose="05000000000000000000" pitchFamily="2" charset="2"/>
            </a:pPr>
            <a:r>
              <a:rPr lang="en-US" altLang="zh-CN" sz="2800" b="1" u="none" dirty="0">
                <a:solidFill>
                  <a:schemeClr val="tx1"/>
                </a:solidFill>
                <a:latin typeface="Arial" panose="020B0604020202020204" pitchFamily="34" charset="0"/>
              </a:rPr>
              <a:t>FOLLOW(T) ={+,),#}</a:t>
            </a:r>
            <a:endParaRPr lang="en-US" altLang="zh-CN" sz="2800" b="1" u="none" dirty="0">
              <a:solidFill>
                <a:schemeClr val="tx1"/>
              </a:solidFill>
              <a:latin typeface="Arial" panose="020B0604020202020204" pitchFamily="34" charset="0"/>
            </a:endParaRPr>
          </a:p>
          <a:p>
            <a:pPr marL="742950" lvl="1" indent="-285750" algn="l" eaLnBrk="1" hangingPunct="1">
              <a:buClr>
                <a:schemeClr val="accent2"/>
              </a:buClr>
              <a:buSzPct val="80000"/>
              <a:buFont typeface="Wingdings" panose="05000000000000000000" pitchFamily="2" charset="2"/>
            </a:pPr>
            <a:r>
              <a:rPr lang="en-US" altLang="zh-CN" sz="2800" b="1" u="none" dirty="0">
                <a:solidFill>
                  <a:schemeClr val="tx1"/>
                </a:solidFill>
                <a:latin typeface="Arial" panose="020B0604020202020204" pitchFamily="34" charset="0"/>
              </a:rPr>
              <a:t>FOLLOW(T</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a:t>
            </a:r>
            <a:endParaRPr lang="en-US" altLang="zh-CN" sz="2800" b="1" u="none" dirty="0">
              <a:solidFill>
                <a:schemeClr val="tx1"/>
              </a:solidFill>
              <a:latin typeface="Arial" panose="020B0604020202020204" pitchFamily="34" charset="0"/>
            </a:endParaRPr>
          </a:p>
          <a:p>
            <a:pPr marL="742950" lvl="1" indent="-285750" algn="l" eaLnBrk="1" hangingPunct="1">
              <a:buClr>
                <a:schemeClr val="accent2"/>
              </a:buClr>
              <a:buSzPct val="80000"/>
              <a:buFont typeface="Wingdings" panose="05000000000000000000" pitchFamily="2" charset="2"/>
            </a:pPr>
            <a:r>
              <a:rPr lang="en-US" altLang="zh-CN" sz="2800" b="1" u="none" dirty="0">
                <a:solidFill>
                  <a:schemeClr val="tx1"/>
                </a:solidFill>
                <a:latin typeface="Arial" panose="020B0604020202020204" pitchFamily="34" charset="0"/>
              </a:rPr>
              <a:t>FOLLOW(F) ={*,+,),#}</a:t>
            </a:r>
            <a:endParaRPr lang="en-US" altLang="zh-CN" sz="2800" b="1" u="none" dirty="0">
              <a:solidFill>
                <a:schemeClr val="tx1"/>
              </a:solidFill>
              <a:latin typeface="Arial" panose="020B0604020202020204" pitchFamily="34"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26306">
                                            <p:txEl>
                                              <p:charRg st="0" end="15"/>
                                            </p:txEl>
                                          </p:spTgt>
                                        </p:tgtEl>
                                        <p:attrNameLst>
                                          <p:attrName>style.visibility</p:attrName>
                                        </p:attrNameLst>
                                      </p:cBhvr>
                                      <p:to>
                                        <p:strVal val="visible"/>
                                      </p:to>
                                    </p:set>
                                    <p:animEffect transition="in" filter="wipe(up)">
                                      <p:cBhvr>
                                        <p:cTn id="7" dur="500"/>
                                        <p:tgtEl>
                                          <p:spTgt spid="226306">
                                            <p:txEl>
                                              <p:charRg st="0" end="15"/>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226306">
                                            <p:txEl>
                                              <p:charRg st="15" end="21"/>
                                            </p:txEl>
                                          </p:spTgt>
                                        </p:tgtEl>
                                        <p:attrNameLst>
                                          <p:attrName>style.visibility</p:attrName>
                                        </p:attrNameLst>
                                      </p:cBhvr>
                                      <p:to>
                                        <p:strVal val="visible"/>
                                      </p:to>
                                    </p:set>
                                    <p:animEffect transition="in" filter="wipe(up)">
                                      <p:cBhvr>
                                        <p:cTn id="10" dur="500"/>
                                        <p:tgtEl>
                                          <p:spTgt spid="226306">
                                            <p:txEl>
                                              <p:charRg st="15" end="21"/>
                                            </p:txEl>
                                          </p:spTgt>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226306">
                                            <p:txEl>
                                              <p:charRg st="21" end="33"/>
                                            </p:txEl>
                                          </p:spTgt>
                                        </p:tgtEl>
                                        <p:attrNameLst>
                                          <p:attrName>style.visibility</p:attrName>
                                        </p:attrNameLst>
                                      </p:cBhvr>
                                      <p:to>
                                        <p:strVal val="visible"/>
                                      </p:to>
                                    </p:set>
                                    <p:animEffect transition="in" filter="wipe(up)">
                                      <p:cBhvr>
                                        <p:cTn id="13" dur="500"/>
                                        <p:tgtEl>
                                          <p:spTgt spid="226306">
                                            <p:txEl>
                                              <p:charRg st="21" end="33"/>
                                            </p:txEl>
                                          </p:spTgt>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226306">
                                            <p:txEl>
                                              <p:charRg st="33" end="56"/>
                                            </p:txEl>
                                          </p:spTgt>
                                        </p:tgtEl>
                                        <p:attrNameLst>
                                          <p:attrName>style.visibility</p:attrName>
                                        </p:attrNameLst>
                                      </p:cBhvr>
                                      <p:to>
                                        <p:strVal val="visible"/>
                                      </p:to>
                                    </p:set>
                                    <p:animEffect transition="in" filter="wipe(up)">
                                      <p:cBhvr>
                                        <p:cTn id="16" dur="500"/>
                                        <p:tgtEl>
                                          <p:spTgt spid="226306">
                                            <p:txEl>
                                              <p:charRg st="33" end="56"/>
                                            </p:txEl>
                                          </p:spTgt>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226306">
                                            <p:txEl>
                                              <p:charRg st="56" end="68"/>
                                            </p:txEl>
                                          </p:spTgt>
                                        </p:tgtEl>
                                        <p:attrNameLst>
                                          <p:attrName>style.visibility</p:attrName>
                                        </p:attrNameLst>
                                      </p:cBhvr>
                                      <p:to>
                                        <p:strVal val="visible"/>
                                      </p:to>
                                    </p:set>
                                    <p:animEffect transition="in" filter="wipe(up)">
                                      <p:cBhvr>
                                        <p:cTn id="19" dur="500"/>
                                        <p:tgtEl>
                                          <p:spTgt spid="226306">
                                            <p:txEl>
                                              <p:charRg st="56" end="68"/>
                                            </p:txEl>
                                          </p:spTgt>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226306">
                                            <p:txEl>
                                              <p:charRg st="68" end="79"/>
                                            </p:txEl>
                                          </p:spTgt>
                                        </p:tgtEl>
                                        <p:attrNameLst>
                                          <p:attrName>style.visibility</p:attrName>
                                        </p:attrNameLst>
                                      </p:cBhvr>
                                      <p:to>
                                        <p:strVal val="visible"/>
                                      </p:to>
                                    </p:set>
                                    <p:animEffect transition="in" filter="wipe(up)">
                                      <p:cBhvr>
                                        <p:cTn id="22" dur="500"/>
                                        <p:tgtEl>
                                          <p:spTgt spid="226306">
                                            <p:txEl>
                                              <p:charRg st="68" end="79"/>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226306">
                                            <p:txEl>
                                              <p:charRg st="79" end="104"/>
                                            </p:txEl>
                                          </p:spTgt>
                                        </p:tgtEl>
                                        <p:attrNameLst>
                                          <p:attrName>style.visibility</p:attrName>
                                        </p:attrNameLst>
                                      </p:cBhvr>
                                      <p:to>
                                        <p:strVal val="visible"/>
                                      </p:to>
                                    </p:set>
                                    <p:animEffect transition="in" filter="wipe(up)">
                                      <p:cBhvr>
                                        <p:cTn id="27" dur="500"/>
                                        <p:tgtEl>
                                          <p:spTgt spid="226306">
                                            <p:txEl>
                                              <p:charRg st="79" end="10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26307"/>
                                        </p:tgtEl>
                                        <p:attrNameLst>
                                          <p:attrName>style.visibility</p:attrName>
                                        </p:attrNameLst>
                                      </p:cBhvr>
                                      <p:to>
                                        <p:strVal val="visible"/>
                                      </p:to>
                                    </p:set>
                                    <p:animEffect transition="in" filter="dissolve">
                                      <p:cBhvr>
                                        <p:cTn id="32" dur="500"/>
                                        <p:tgtEl>
                                          <p:spTgt spid="226307"/>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226308"/>
                                        </p:tgtEl>
                                        <p:attrNameLst>
                                          <p:attrName>style.visibility</p:attrName>
                                        </p:attrNameLst>
                                      </p:cBhvr>
                                      <p:to>
                                        <p:strVal val="visible"/>
                                      </p:to>
                                    </p:set>
                                    <p:animEffect transition="in" filter="dissolve">
                                      <p:cBhvr>
                                        <p:cTn id="37" dur="500"/>
                                        <p:tgtEl>
                                          <p:spTgt spid="2263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306" grpId="0" bldLvl="2" build="p"/>
      <p:bldP spid="226307" grpId="0"/>
      <p:bldP spid="226308"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1"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61442" name="Text Box 2"/>
          <p:cNvSpPr txBox="1"/>
          <p:nvPr/>
        </p:nvSpPr>
        <p:spPr>
          <a:xfrm>
            <a:off x="457200" y="3733800"/>
            <a:ext cx="1912938" cy="641350"/>
          </a:xfrm>
          <a:prstGeom prst="rect">
            <a:avLst/>
          </a:prstGeom>
          <a:noFill/>
          <a:ln w="12700">
            <a:noFill/>
          </a:ln>
        </p:spPr>
        <p:txBody>
          <a:bodyPr anchor="t">
            <a:spAutoFit/>
          </a:bodyPr>
          <a:p>
            <a:pPr algn="ctr"/>
            <a:r>
              <a:rPr lang="en-US" altLang="zh-CN" sz="3600" b="1" u="none" dirty="0">
                <a:solidFill>
                  <a:schemeClr val="tx1"/>
                </a:solidFill>
                <a:latin typeface="Times New Roman" panose="02020603050405020304" pitchFamily="18" charset="0"/>
              </a:rPr>
              <a:t>i   +   i </a:t>
            </a:r>
            <a:endParaRPr lang="en-US" altLang="zh-CN" sz="3600" b="1" u="none" dirty="0">
              <a:solidFill>
                <a:schemeClr val="tx1"/>
              </a:solidFill>
              <a:latin typeface="Times New Roman" panose="02020603050405020304" pitchFamily="18" charset="0"/>
            </a:endParaRPr>
          </a:p>
        </p:txBody>
      </p:sp>
      <p:sp>
        <p:nvSpPr>
          <p:cNvPr id="61443" name="Line 3"/>
          <p:cNvSpPr/>
          <p:nvPr/>
        </p:nvSpPr>
        <p:spPr>
          <a:xfrm flipV="1">
            <a:off x="1411288" y="4400550"/>
            <a:ext cx="0" cy="533400"/>
          </a:xfrm>
          <a:prstGeom prst="line">
            <a:avLst/>
          </a:prstGeom>
          <a:ln w="19050" cap="flat" cmpd="sng">
            <a:solidFill>
              <a:schemeClr val="tx1"/>
            </a:solidFill>
            <a:prstDash val="solid"/>
            <a:round/>
            <a:headEnd type="none" w="med" len="med"/>
            <a:tailEnd type="stealth" w="lg" len="lg"/>
          </a:ln>
        </p:spPr>
      </p:sp>
      <p:sp>
        <p:nvSpPr>
          <p:cNvPr id="61444" name="Text Box 4"/>
          <p:cNvSpPr txBox="1"/>
          <p:nvPr/>
        </p:nvSpPr>
        <p:spPr>
          <a:xfrm>
            <a:off x="1143000" y="5076825"/>
            <a:ext cx="539750" cy="519113"/>
          </a:xfrm>
          <a:prstGeom prst="rect">
            <a:avLst/>
          </a:prstGeom>
          <a:noFill/>
          <a:ln w="12700">
            <a:noFill/>
          </a:ln>
        </p:spPr>
        <p:txBody>
          <a:bodyPr wrap="none" anchor="t">
            <a:spAutoFit/>
          </a:bodyPr>
          <a:p>
            <a:pPr algn="ctr"/>
            <a:r>
              <a:rPr lang="en-US" altLang="zh-CN" sz="2800" b="1" u="none" dirty="0">
                <a:solidFill>
                  <a:schemeClr val="tx1"/>
                </a:solidFill>
                <a:latin typeface="Times New Roman" panose="02020603050405020304" pitchFamily="18" charset="0"/>
              </a:rPr>
              <a:t>IP</a:t>
            </a:r>
            <a:endParaRPr lang="en-US" altLang="zh-CN" sz="2800" b="1" u="none" dirty="0">
              <a:solidFill>
                <a:schemeClr val="tx1"/>
              </a:solidFill>
              <a:latin typeface="Times New Roman" panose="02020603050405020304" pitchFamily="18" charset="0"/>
            </a:endParaRPr>
          </a:p>
        </p:txBody>
      </p:sp>
      <p:sp>
        <p:nvSpPr>
          <p:cNvPr id="61445" name="Text Box 5"/>
          <p:cNvSpPr txBox="1"/>
          <p:nvPr/>
        </p:nvSpPr>
        <p:spPr>
          <a:xfrm>
            <a:off x="5030788" y="1809750"/>
            <a:ext cx="455612" cy="579438"/>
          </a:xfrm>
          <a:prstGeom prst="rect">
            <a:avLst/>
          </a:prstGeom>
          <a:noFill/>
          <a:ln w="12700">
            <a:noFill/>
          </a:ln>
        </p:spPr>
        <p:txBody>
          <a:bodyPr wrap="none" anchor="t">
            <a:spAutoFit/>
          </a:bodyPr>
          <a:p>
            <a:pPr algn="ctr"/>
            <a:r>
              <a:rPr lang="en-US" altLang="zh-CN" sz="3200" b="1" u="none" dirty="0">
                <a:solidFill>
                  <a:schemeClr val="tx1"/>
                </a:solidFill>
                <a:latin typeface="Times New Roman" panose="02020603050405020304" pitchFamily="18" charset="0"/>
              </a:rPr>
              <a:t>E</a:t>
            </a:r>
            <a:endParaRPr lang="en-US" altLang="zh-CN" sz="3200" b="1" u="none" dirty="0">
              <a:solidFill>
                <a:schemeClr val="tx1"/>
              </a:solidFill>
              <a:latin typeface="Times New Roman" panose="02020603050405020304" pitchFamily="18" charset="0"/>
            </a:endParaRPr>
          </a:p>
        </p:txBody>
      </p:sp>
      <p:sp>
        <p:nvSpPr>
          <p:cNvPr id="61446" name="Line 6"/>
          <p:cNvSpPr/>
          <p:nvPr/>
        </p:nvSpPr>
        <p:spPr>
          <a:xfrm flipH="1">
            <a:off x="4038600" y="2312988"/>
            <a:ext cx="1143000" cy="685800"/>
          </a:xfrm>
          <a:prstGeom prst="line">
            <a:avLst/>
          </a:prstGeom>
          <a:ln w="19050" cap="flat" cmpd="sng">
            <a:solidFill>
              <a:schemeClr val="tx1"/>
            </a:solidFill>
            <a:prstDash val="solid"/>
            <a:round/>
            <a:headEnd type="none" w="med" len="med"/>
            <a:tailEnd type="none" w="lg" len="lg"/>
          </a:ln>
        </p:spPr>
      </p:sp>
      <p:sp>
        <p:nvSpPr>
          <p:cNvPr id="61447" name="Line 7"/>
          <p:cNvSpPr/>
          <p:nvPr/>
        </p:nvSpPr>
        <p:spPr>
          <a:xfrm>
            <a:off x="5334000" y="2312988"/>
            <a:ext cx="1295400" cy="685800"/>
          </a:xfrm>
          <a:prstGeom prst="line">
            <a:avLst/>
          </a:prstGeom>
          <a:ln w="19050" cap="flat" cmpd="sng">
            <a:solidFill>
              <a:schemeClr val="tx1"/>
            </a:solidFill>
            <a:prstDash val="solid"/>
            <a:round/>
            <a:headEnd type="none" w="med" len="med"/>
            <a:tailEnd type="none" w="lg" len="lg"/>
          </a:ln>
        </p:spPr>
      </p:sp>
      <p:sp>
        <p:nvSpPr>
          <p:cNvPr id="61448" name="Text Box 8"/>
          <p:cNvSpPr txBox="1"/>
          <p:nvPr/>
        </p:nvSpPr>
        <p:spPr>
          <a:xfrm>
            <a:off x="3810000" y="2998788"/>
            <a:ext cx="455613" cy="579437"/>
          </a:xfrm>
          <a:prstGeom prst="rect">
            <a:avLst/>
          </a:prstGeom>
          <a:noFill/>
          <a:ln w="12700">
            <a:noFill/>
          </a:ln>
        </p:spPr>
        <p:txBody>
          <a:bodyPr wrap="none" anchor="t">
            <a:spAutoFit/>
          </a:bodyPr>
          <a:p>
            <a:pPr algn="ctr"/>
            <a:r>
              <a:rPr lang="en-US" altLang="zh-CN" sz="3200" b="1" u="none" dirty="0">
                <a:solidFill>
                  <a:schemeClr val="tx1"/>
                </a:solidFill>
                <a:latin typeface="Times New Roman" panose="02020603050405020304" pitchFamily="18" charset="0"/>
              </a:rPr>
              <a:t>T</a:t>
            </a:r>
            <a:endParaRPr lang="en-US" altLang="zh-CN" sz="3200" b="1" u="none" dirty="0">
              <a:solidFill>
                <a:schemeClr val="tx1"/>
              </a:solidFill>
              <a:latin typeface="Times New Roman" panose="02020603050405020304" pitchFamily="18" charset="0"/>
            </a:endParaRPr>
          </a:p>
        </p:txBody>
      </p:sp>
      <p:sp>
        <p:nvSpPr>
          <p:cNvPr id="61449" name="Text Box 9"/>
          <p:cNvSpPr txBox="1"/>
          <p:nvPr/>
        </p:nvSpPr>
        <p:spPr>
          <a:xfrm>
            <a:off x="6257925" y="2998788"/>
            <a:ext cx="590550" cy="579437"/>
          </a:xfrm>
          <a:prstGeom prst="rect">
            <a:avLst/>
          </a:prstGeom>
          <a:noFill/>
          <a:ln w="12700">
            <a:noFill/>
          </a:ln>
        </p:spPr>
        <p:txBody>
          <a:bodyPr wrap="none" anchor="t">
            <a:spAutoFit/>
          </a:bodyPr>
          <a:p>
            <a:pPr algn="ctr"/>
            <a:r>
              <a:rPr lang="en-US" altLang="zh-CN" sz="3200" b="1" u="none" dirty="0">
                <a:solidFill>
                  <a:schemeClr val="tx1"/>
                </a:solidFill>
                <a:latin typeface="Times New Roman" panose="02020603050405020304" pitchFamily="18" charset="0"/>
              </a:rPr>
              <a:t>E’</a:t>
            </a:r>
            <a:endParaRPr lang="en-US" altLang="zh-CN" sz="3200" b="1" u="none" dirty="0">
              <a:solidFill>
                <a:schemeClr val="tx1"/>
              </a:solidFill>
              <a:latin typeface="Times New Roman" panose="02020603050405020304" pitchFamily="18" charset="0"/>
            </a:endParaRPr>
          </a:p>
        </p:txBody>
      </p:sp>
      <p:sp>
        <p:nvSpPr>
          <p:cNvPr id="61450" name="Line 10"/>
          <p:cNvSpPr/>
          <p:nvPr/>
        </p:nvSpPr>
        <p:spPr>
          <a:xfrm flipH="1">
            <a:off x="3200400" y="3455988"/>
            <a:ext cx="762000" cy="762000"/>
          </a:xfrm>
          <a:prstGeom prst="line">
            <a:avLst/>
          </a:prstGeom>
          <a:ln w="19050" cap="flat" cmpd="sng">
            <a:solidFill>
              <a:schemeClr val="tx1"/>
            </a:solidFill>
            <a:prstDash val="solid"/>
            <a:round/>
            <a:headEnd type="none" w="med" len="med"/>
            <a:tailEnd type="none" w="lg" len="lg"/>
          </a:ln>
        </p:spPr>
      </p:sp>
      <p:sp>
        <p:nvSpPr>
          <p:cNvPr id="61451" name="Line 11"/>
          <p:cNvSpPr/>
          <p:nvPr/>
        </p:nvSpPr>
        <p:spPr>
          <a:xfrm>
            <a:off x="4038600" y="3455988"/>
            <a:ext cx="685800" cy="762000"/>
          </a:xfrm>
          <a:prstGeom prst="line">
            <a:avLst/>
          </a:prstGeom>
          <a:ln w="19050" cap="flat" cmpd="sng">
            <a:solidFill>
              <a:schemeClr val="tx1"/>
            </a:solidFill>
            <a:prstDash val="solid"/>
            <a:round/>
            <a:headEnd type="none" w="med" len="med"/>
            <a:tailEnd type="none" w="lg" len="lg"/>
          </a:ln>
        </p:spPr>
      </p:sp>
      <p:sp>
        <p:nvSpPr>
          <p:cNvPr id="61452" name="Text Box 12"/>
          <p:cNvSpPr txBox="1"/>
          <p:nvPr/>
        </p:nvSpPr>
        <p:spPr>
          <a:xfrm>
            <a:off x="2921000" y="4248150"/>
            <a:ext cx="431800" cy="579438"/>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F</a:t>
            </a:r>
            <a:endParaRPr lang="en-US" altLang="zh-CN" sz="3200" b="1" u="none" dirty="0">
              <a:solidFill>
                <a:schemeClr val="tx1"/>
              </a:solidFill>
              <a:latin typeface="Times New Roman" panose="02020603050405020304" pitchFamily="18" charset="0"/>
            </a:endParaRPr>
          </a:p>
        </p:txBody>
      </p:sp>
      <p:sp>
        <p:nvSpPr>
          <p:cNvPr id="61453" name="Text Box 13"/>
          <p:cNvSpPr txBox="1"/>
          <p:nvPr/>
        </p:nvSpPr>
        <p:spPr>
          <a:xfrm>
            <a:off x="4495800" y="4248150"/>
            <a:ext cx="590550" cy="579438"/>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T’</a:t>
            </a:r>
            <a:endParaRPr lang="en-US" altLang="zh-CN" sz="3200" b="1" u="none" dirty="0">
              <a:solidFill>
                <a:schemeClr val="tx1"/>
              </a:solidFill>
              <a:latin typeface="Times New Roman" panose="02020603050405020304" pitchFamily="18" charset="0"/>
            </a:endParaRPr>
          </a:p>
        </p:txBody>
      </p:sp>
      <p:sp>
        <p:nvSpPr>
          <p:cNvPr id="61454" name="Line 14"/>
          <p:cNvSpPr/>
          <p:nvPr/>
        </p:nvSpPr>
        <p:spPr>
          <a:xfrm>
            <a:off x="3135313" y="4751388"/>
            <a:ext cx="0" cy="838200"/>
          </a:xfrm>
          <a:prstGeom prst="line">
            <a:avLst/>
          </a:prstGeom>
          <a:ln w="19050" cap="flat" cmpd="sng">
            <a:solidFill>
              <a:schemeClr val="tx1"/>
            </a:solidFill>
            <a:prstDash val="solid"/>
            <a:round/>
            <a:headEnd type="none" w="med" len="med"/>
            <a:tailEnd type="none" w="lg" len="lg"/>
          </a:ln>
        </p:spPr>
      </p:sp>
      <p:sp>
        <p:nvSpPr>
          <p:cNvPr id="61455" name="Text Box 15"/>
          <p:cNvSpPr txBox="1"/>
          <p:nvPr/>
        </p:nvSpPr>
        <p:spPr>
          <a:xfrm>
            <a:off x="2982913" y="5589588"/>
            <a:ext cx="296862" cy="579437"/>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i</a:t>
            </a:r>
            <a:endParaRPr lang="en-US" altLang="zh-CN" sz="3200" b="1" u="none" dirty="0">
              <a:solidFill>
                <a:schemeClr val="tx1"/>
              </a:solidFill>
              <a:latin typeface="Times New Roman" panose="02020603050405020304" pitchFamily="18" charset="0"/>
            </a:endParaRPr>
          </a:p>
        </p:txBody>
      </p:sp>
      <p:grpSp>
        <p:nvGrpSpPr>
          <p:cNvPr id="2" name="Group 24"/>
          <p:cNvGrpSpPr/>
          <p:nvPr/>
        </p:nvGrpSpPr>
        <p:grpSpPr>
          <a:xfrm>
            <a:off x="4529138" y="4827588"/>
            <a:ext cx="363537" cy="1409700"/>
            <a:chOff x="2853" y="2045"/>
            <a:chExt cx="229" cy="888"/>
          </a:xfrm>
        </p:grpSpPr>
        <p:sp>
          <p:nvSpPr>
            <p:cNvPr id="61457" name="Line 16"/>
            <p:cNvSpPr/>
            <p:nvPr/>
          </p:nvSpPr>
          <p:spPr>
            <a:xfrm>
              <a:off x="2970" y="2045"/>
              <a:ext cx="0" cy="528"/>
            </a:xfrm>
            <a:prstGeom prst="line">
              <a:avLst/>
            </a:prstGeom>
            <a:ln w="19050" cap="flat" cmpd="sng">
              <a:solidFill>
                <a:schemeClr val="tx1"/>
              </a:solidFill>
              <a:prstDash val="solid"/>
              <a:round/>
              <a:headEnd type="none" w="med" len="med"/>
              <a:tailEnd type="none" w="lg" len="lg"/>
            </a:ln>
          </p:spPr>
        </p:sp>
        <p:sp>
          <p:nvSpPr>
            <p:cNvPr id="61458" name="Text Box 17"/>
            <p:cNvSpPr txBox="1"/>
            <p:nvPr/>
          </p:nvSpPr>
          <p:spPr>
            <a:xfrm>
              <a:off x="2853" y="2568"/>
              <a:ext cx="229" cy="365"/>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sym typeface="Symbol" panose="05050102010706020507" pitchFamily="18" charset="2"/>
                </a:rPr>
                <a:t></a:t>
              </a:r>
              <a:endParaRPr lang="en-US" altLang="zh-CN" sz="3200" b="1" u="none" dirty="0">
                <a:solidFill>
                  <a:schemeClr val="tx1"/>
                </a:solidFill>
                <a:latin typeface="Times New Roman" panose="02020603050405020304" pitchFamily="18" charset="0"/>
              </a:endParaRPr>
            </a:p>
          </p:txBody>
        </p:sp>
      </p:grpSp>
      <p:sp>
        <p:nvSpPr>
          <p:cNvPr id="61459" name="Line 18"/>
          <p:cNvSpPr/>
          <p:nvPr/>
        </p:nvSpPr>
        <p:spPr>
          <a:xfrm flipH="1">
            <a:off x="5715000" y="3497263"/>
            <a:ext cx="801688" cy="796925"/>
          </a:xfrm>
          <a:prstGeom prst="line">
            <a:avLst/>
          </a:prstGeom>
          <a:ln w="19050" cap="flat" cmpd="sng">
            <a:solidFill>
              <a:schemeClr val="tx1"/>
            </a:solidFill>
            <a:prstDash val="solid"/>
            <a:round/>
            <a:headEnd type="none" w="med" len="med"/>
            <a:tailEnd type="none" w="lg" len="lg"/>
          </a:ln>
        </p:spPr>
      </p:sp>
      <p:sp>
        <p:nvSpPr>
          <p:cNvPr id="61460" name="Line 19"/>
          <p:cNvSpPr/>
          <p:nvPr/>
        </p:nvSpPr>
        <p:spPr>
          <a:xfrm>
            <a:off x="6629400" y="3532188"/>
            <a:ext cx="228600" cy="685800"/>
          </a:xfrm>
          <a:prstGeom prst="line">
            <a:avLst/>
          </a:prstGeom>
          <a:ln w="19050" cap="flat" cmpd="sng">
            <a:solidFill>
              <a:schemeClr val="tx1"/>
            </a:solidFill>
            <a:prstDash val="solid"/>
            <a:round/>
            <a:headEnd type="none" w="med" len="med"/>
            <a:tailEnd type="none" w="lg" len="lg"/>
          </a:ln>
        </p:spPr>
      </p:sp>
      <p:sp>
        <p:nvSpPr>
          <p:cNvPr id="61461" name="Line 20"/>
          <p:cNvSpPr/>
          <p:nvPr/>
        </p:nvSpPr>
        <p:spPr>
          <a:xfrm>
            <a:off x="6705600" y="3455988"/>
            <a:ext cx="1524000" cy="838200"/>
          </a:xfrm>
          <a:prstGeom prst="line">
            <a:avLst/>
          </a:prstGeom>
          <a:ln w="19050" cap="flat" cmpd="sng">
            <a:solidFill>
              <a:schemeClr val="tx1"/>
            </a:solidFill>
            <a:prstDash val="solid"/>
            <a:round/>
            <a:headEnd type="none" w="med" len="med"/>
            <a:tailEnd type="none" w="lg" len="lg"/>
          </a:ln>
        </p:spPr>
      </p:sp>
      <p:sp>
        <p:nvSpPr>
          <p:cNvPr id="61462" name="Text Box 21"/>
          <p:cNvSpPr txBox="1"/>
          <p:nvPr/>
        </p:nvSpPr>
        <p:spPr>
          <a:xfrm>
            <a:off x="5486400" y="4294188"/>
            <a:ext cx="415925" cy="579437"/>
          </a:xfrm>
          <a:prstGeom prst="rect">
            <a:avLst/>
          </a:prstGeom>
          <a:noFill/>
          <a:ln w="19050">
            <a:noFill/>
          </a:ln>
        </p:spPr>
        <p:txBody>
          <a:bodyPr wrap="none" anchor="t">
            <a:spAutoFit/>
          </a:bodyPr>
          <a:p>
            <a:pPr algn="ctr"/>
            <a:r>
              <a:rPr lang="en-US" altLang="zh-CN" sz="3200" b="1" u="none" dirty="0">
                <a:solidFill>
                  <a:srgbClr val="FF0000"/>
                </a:solidFill>
                <a:latin typeface="Times New Roman" panose="02020603050405020304" pitchFamily="18" charset="0"/>
              </a:rPr>
              <a:t>+</a:t>
            </a:r>
            <a:endParaRPr lang="en-US" altLang="zh-CN" sz="3200" b="1" u="none" dirty="0">
              <a:solidFill>
                <a:srgbClr val="FF0000"/>
              </a:solidFill>
              <a:latin typeface="Times New Roman" panose="02020603050405020304" pitchFamily="18" charset="0"/>
            </a:endParaRPr>
          </a:p>
        </p:txBody>
      </p:sp>
      <p:sp>
        <p:nvSpPr>
          <p:cNvPr id="61463" name="Text Box 22"/>
          <p:cNvSpPr txBox="1"/>
          <p:nvPr/>
        </p:nvSpPr>
        <p:spPr>
          <a:xfrm>
            <a:off x="6629400" y="4294188"/>
            <a:ext cx="455613" cy="579437"/>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T</a:t>
            </a:r>
            <a:endParaRPr lang="en-US" altLang="zh-CN" sz="3200" b="1" u="none" dirty="0">
              <a:solidFill>
                <a:schemeClr val="tx1"/>
              </a:solidFill>
              <a:latin typeface="Times New Roman" panose="02020603050405020304" pitchFamily="18" charset="0"/>
            </a:endParaRPr>
          </a:p>
        </p:txBody>
      </p:sp>
      <p:sp>
        <p:nvSpPr>
          <p:cNvPr id="61464" name="Text Box 23"/>
          <p:cNvSpPr txBox="1"/>
          <p:nvPr/>
        </p:nvSpPr>
        <p:spPr>
          <a:xfrm>
            <a:off x="8010525" y="4294188"/>
            <a:ext cx="590550" cy="579437"/>
          </a:xfrm>
          <a:prstGeom prst="rect">
            <a:avLst/>
          </a:prstGeom>
          <a:noFill/>
          <a:ln w="19050">
            <a:noFill/>
          </a:ln>
        </p:spPr>
        <p:txBody>
          <a:bodyPr wrap="none" anchor="t">
            <a:spAutoFit/>
          </a:bodyPr>
          <a:p>
            <a:pPr algn="ctr"/>
            <a:r>
              <a:rPr lang="en-US" altLang="zh-CN" sz="3200" b="1" u="none" dirty="0">
                <a:solidFill>
                  <a:schemeClr val="tx1"/>
                </a:solidFill>
                <a:latin typeface="Times New Roman" panose="02020603050405020304" pitchFamily="18" charset="0"/>
              </a:rPr>
              <a:t>E’</a:t>
            </a:r>
            <a:endParaRPr lang="en-US" altLang="zh-CN" sz="3200" b="1" u="none" dirty="0">
              <a:solidFill>
                <a:schemeClr val="tx1"/>
              </a:solidFill>
              <a:latin typeface="Times New Roman" panose="02020603050405020304" pitchFamily="18" charset="0"/>
            </a:endParaRPr>
          </a:p>
        </p:txBody>
      </p:sp>
      <p:sp>
        <p:nvSpPr>
          <p:cNvPr id="61465" name="Rectangle 25"/>
          <p:cNvSpPr/>
          <p:nvPr/>
        </p:nvSpPr>
        <p:spPr>
          <a:xfrm>
            <a:off x="5292725" y="3570288"/>
            <a:ext cx="3600450" cy="1439862"/>
          </a:xfrm>
          <a:prstGeom prst="rect">
            <a:avLst/>
          </a:prstGeom>
          <a:noFill/>
          <a:ln w="25400" cap="flat" cmpd="sng">
            <a:solidFill>
              <a:schemeClr val="tx1"/>
            </a:solidFill>
            <a:prstDash val="dash"/>
            <a:miter/>
            <a:headEnd type="none" w="med" len="med"/>
            <a:tailEnd type="none" w="lg" len="lg"/>
          </a:ln>
        </p:spPr>
        <p:txBody>
          <a:bodyPr wrap="none" anchor="ctr"/>
          <a:p>
            <a:endParaRPr lang="zh-CN" altLang="en-US" u="none" dirty="0">
              <a:solidFill>
                <a:schemeClr val="tx1"/>
              </a:solidFill>
              <a:latin typeface="Arial" panose="020B0604020202020204" pitchFamily="34" charset="0"/>
            </a:endParaRPr>
          </a:p>
        </p:txBody>
      </p:sp>
      <p:sp>
        <p:nvSpPr>
          <p:cNvPr id="61466" name="Text Box 26"/>
          <p:cNvSpPr txBox="1"/>
          <p:nvPr/>
        </p:nvSpPr>
        <p:spPr>
          <a:xfrm>
            <a:off x="395288" y="620713"/>
            <a:ext cx="4052887" cy="3009900"/>
          </a:xfrm>
          <a:prstGeom prst="rect">
            <a:avLst/>
          </a:prstGeom>
          <a:noFill/>
          <a:ln w="12700">
            <a:noFill/>
          </a:ln>
        </p:spPr>
        <p:txBody>
          <a:bodyPr anchor="t">
            <a:spAutoFit/>
          </a:bodyPr>
          <a:p>
            <a:pPr>
              <a:lnSpc>
                <a:spcPct val="90000"/>
              </a:lnSpc>
              <a:buClr>
                <a:schemeClr val="bg2"/>
              </a:buClr>
              <a:buSzPct val="75000"/>
              <a:buFont typeface="Wingdings" panose="05000000000000000000" pitchFamily="2" charset="2"/>
              <a:buChar char="n"/>
            </a:pPr>
            <a:r>
              <a:rPr lang="en-US" altLang="zh-CN" sz="3200" b="1" u="none" dirty="0">
                <a:solidFill>
                  <a:schemeClr val="tx1"/>
                </a:solidFill>
                <a:latin typeface="Arial" panose="020B0604020202020204" pitchFamily="34" charset="0"/>
              </a:rPr>
              <a:t> </a:t>
            </a:r>
            <a:r>
              <a:rPr lang="zh-CN" altLang="en-US" sz="3200" b="1" u="none" dirty="0">
                <a:solidFill>
                  <a:schemeClr val="tx1"/>
                </a:solidFill>
                <a:latin typeface="Arial" panose="020B0604020202020204" pitchFamily="34" charset="0"/>
              </a:rPr>
              <a:t>回顾前面例子：</a:t>
            </a:r>
            <a:endParaRPr lang="zh-CN" altLang="en-US" sz="32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buChar char="n"/>
            </a:pPr>
            <a:r>
              <a:rPr lang="en-US" altLang="zh-CN" sz="3200" b="1" u="none" dirty="0">
                <a:solidFill>
                  <a:schemeClr val="tx1"/>
                </a:solidFill>
                <a:latin typeface="Arial" panose="020B0604020202020204" pitchFamily="34" charset="0"/>
              </a:rPr>
              <a:t>  E→TE</a:t>
            </a:r>
            <a:r>
              <a:rPr lang="en-US" altLang="zh-CN" sz="3200" b="1" u="none" dirty="0">
                <a:solidFill>
                  <a:schemeClr val="tx1"/>
                </a:solidFill>
                <a:latin typeface="Arial" panose="020B0604020202020204" pitchFamily="34" charset="0"/>
                <a:sym typeface="Symbol" panose="05050102010706020507" pitchFamily="18" charset="2"/>
              </a:rPr>
              <a:t></a:t>
            </a:r>
            <a:endParaRPr lang="en-US" altLang="zh-CN" sz="32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3200" b="1" u="none" dirty="0">
                <a:solidFill>
                  <a:schemeClr val="tx1"/>
                </a:solidFill>
                <a:latin typeface="Arial" panose="020B0604020202020204" pitchFamily="34" charset="0"/>
              </a:rPr>
              <a:t>    E</a:t>
            </a:r>
            <a:r>
              <a:rPr lang="en-US" altLang="zh-CN" sz="3200" b="1" u="none" dirty="0">
                <a:solidFill>
                  <a:schemeClr val="tx1"/>
                </a:solidFill>
                <a:latin typeface="Arial" panose="020B0604020202020204" pitchFamily="34" charset="0"/>
                <a:sym typeface="Symbol" panose="05050102010706020507" pitchFamily="18" charset="2"/>
              </a:rPr>
              <a:t></a:t>
            </a:r>
            <a:r>
              <a:rPr lang="en-US" altLang="zh-CN" sz="3200" b="1" u="none" dirty="0">
                <a:solidFill>
                  <a:schemeClr val="tx1"/>
                </a:solidFill>
                <a:latin typeface="Arial" panose="020B0604020202020204" pitchFamily="34" charset="0"/>
              </a:rPr>
              <a:t>→+TE</a:t>
            </a:r>
            <a:r>
              <a:rPr lang="en-US" altLang="zh-CN" sz="3200" b="1" u="none" dirty="0">
                <a:solidFill>
                  <a:schemeClr val="tx1"/>
                </a:solidFill>
                <a:latin typeface="Arial" panose="020B0604020202020204" pitchFamily="34" charset="0"/>
                <a:sym typeface="Symbol" panose="05050102010706020507" pitchFamily="18" charset="2"/>
              </a:rPr>
              <a:t></a:t>
            </a:r>
            <a:r>
              <a:rPr lang="en-US" altLang="zh-CN" sz="3200" b="1" u="none" dirty="0">
                <a:solidFill>
                  <a:schemeClr val="tx1"/>
                </a:solidFill>
                <a:latin typeface="Arial" panose="020B0604020202020204" pitchFamily="34" charset="0"/>
              </a:rPr>
              <a:t> | </a:t>
            </a:r>
            <a:r>
              <a:rPr lang="en-US" altLang="zh-CN" sz="3200" b="1" u="none" dirty="0">
                <a:solidFill>
                  <a:schemeClr val="tx1"/>
                </a:solidFill>
                <a:latin typeface="Arial" panose="020B0604020202020204" pitchFamily="34" charset="0"/>
                <a:sym typeface="Symbol" panose="05050102010706020507" pitchFamily="18" charset="2"/>
              </a:rPr>
              <a:t></a:t>
            </a:r>
            <a:endParaRPr lang="en-US" altLang="zh-CN" sz="32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3200" b="1" u="none" dirty="0">
                <a:solidFill>
                  <a:schemeClr val="tx1"/>
                </a:solidFill>
                <a:latin typeface="Arial" panose="020B0604020202020204" pitchFamily="34" charset="0"/>
              </a:rPr>
              <a:t>    T→FT</a:t>
            </a:r>
            <a:r>
              <a:rPr lang="en-US" altLang="zh-CN" sz="3200" b="1" u="none" dirty="0">
                <a:solidFill>
                  <a:schemeClr val="tx1"/>
                </a:solidFill>
                <a:latin typeface="Arial" panose="020B0604020202020204" pitchFamily="34" charset="0"/>
                <a:sym typeface="Symbol" panose="05050102010706020507" pitchFamily="18" charset="2"/>
              </a:rPr>
              <a:t></a:t>
            </a:r>
            <a:endParaRPr lang="en-US" altLang="zh-CN" sz="32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3200" b="1" u="none" dirty="0">
                <a:solidFill>
                  <a:schemeClr val="tx1"/>
                </a:solidFill>
                <a:latin typeface="Arial" panose="020B0604020202020204" pitchFamily="34" charset="0"/>
              </a:rPr>
              <a:t>    </a:t>
            </a:r>
            <a:r>
              <a:rPr lang="en-US" altLang="zh-CN" sz="3200" b="1" u="none" dirty="0">
                <a:solidFill>
                  <a:srgbClr val="3366CC"/>
                </a:solidFill>
                <a:latin typeface="Arial" panose="020B0604020202020204" pitchFamily="34" charset="0"/>
              </a:rPr>
              <a:t>T</a:t>
            </a:r>
            <a:r>
              <a:rPr lang="en-US" altLang="zh-CN" sz="3200" b="1" u="none" dirty="0">
                <a:solidFill>
                  <a:srgbClr val="3366CC"/>
                </a:solidFill>
                <a:latin typeface="Arial" panose="020B0604020202020204" pitchFamily="34" charset="0"/>
                <a:sym typeface="Symbol" panose="05050102010706020507" pitchFamily="18" charset="2"/>
              </a:rPr>
              <a:t></a:t>
            </a:r>
            <a:r>
              <a:rPr lang="en-US" altLang="zh-CN" sz="3200" b="1" u="none" dirty="0">
                <a:solidFill>
                  <a:srgbClr val="3366CC"/>
                </a:solidFill>
                <a:latin typeface="Arial" panose="020B0604020202020204" pitchFamily="34" charset="0"/>
              </a:rPr>
              <a:t>→*FT</a:t>
            </a:r>
            <a:r>
              <a:rPr lang="en-US" altLang="zh-CN" sz="3200" b="1" u="none" dirty="0">
                <a:solidFill>
                  <a:srgbClr val="3366CC"/>
                </a:solidFill>
                <a:latin typeface="Arial" panose="020B0604020202020204" pitchFamily="34" charset="0"/>
                <a:sym typeface="Symbol" panose="05050102010706020507" pitchFamily="18" charset="2"/>
              </a:rPr>
              <a:t></a:t>
            </a:r>
            <a:r>
              <a:rPr lang="en-US" altLang="zh-CN" sz="3200" b="1" u="none" dirty="0">
                <a:solidFill>
                  <a:srgbClr val="3366CC"/>
                </a:solidFill>
                <a:latin typeface="Arial" panose="020B0604020202020204" pitchFamily="34" charset="0"/>
              </a:rPr>
              <a:t> | </a:t>
            </a:r>
            <a:r>
              <a:rPr lang="en-US" altLang="zh-CN" sz="3200" b="1" u="none" dirty="0">
                <a:solidFill>
                  <a:srgbClr val="3366CC"/>
                </a:solidFill>
                <a:latin typeface="Arial" panose="020B0604020202020204" pitchFamily="34" charset="0"/>
                <a:sym typeface="Symbol" panose="05050102010706020507" pitchFamily="18" charset="2"/>
              </a:rPr>
              <a:t></a:t>
            </a:r>
            <a:endParaRPr lang="en-US" altLang="zh-CN" sz="3200" b="1" u="none" dirty="0">
              <a:solidFill>
                <a:srgbClr val="3366CC"/>
              </a:solidFill>
              <a:latin typeface="Arial" panose="020B0604020202020204" pitchFamily="34" charset="0"/>
            </a:endParaRPr>
          </a:p>
          <a:p>
            <a:pPr>
              <a:lnSpc>
                <a:spcPct val="90000"/>
              </a:lnSpc>
              <a:buClr>
                <a:schemeClr val="bg2"/>
              </a:buClr>
              <a:buSzPct val="75000"/>
              <a:buFont typeface="Wingdings" panose="05000000000000000000" pitchFamily="2" charset="2"/>
            </a:pPr>
            <a:r>
              <a:rPr lang="en-US" altLang="zh-CN" sz="3200" b="1" u="none" dirty="0">
                <a:solidFill>
                  <a:schemeClr val="tx1"/>
                </a:solidFill>
                <a:latin typeface="Arial" panose="020B0604020202020204" pitchFamily="34" charset="0"/>
              </a:rPr>
              <a:t>    F→(E) | i</a:t>
            </a:r>
            <a:endParaRPr lang="en-US" altLang="zh-CN" sz="3200" b="1" u="none" dirty="0">
              <a:solidFill>
                <a:schemeClr val="tx1"/>
              </a:solidFill>
              <a:latin typeface="Arial" panose="020B0604020202020204" pitchFamily="34" charset="0"/>
            </a:endParaRPr>
          </a:p>
          <a:p>
            <a:pPr>
              <a:lnSpc>
                <a:spcPct val="90000"/>
              </a:lnSpc>
              <a:buClr>
                <a:schemeClr val="bg2"/>
              </a:buClr>
              <a:buSzPct val="75000"/>
              <a:buFont typeface="Wingdings" panose="05000000000000000000" pitchFamily="2" charset="2"/>
            </a:pPr>
            <a:endParaRPr lang="en-GB" altLang="zh-CN" sz="3200" b="1" u="none" baseline="-25000" dirty="0">
              <a:solidFill>
                <a:schemeClr val="tx1"/>
              </a:solidFill>
              <a:latin typeface="Arial" panose="020B0604020202020204" pitchFamily="34"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nodeType="clickEffect">
                                  <p:stCondLst>
                                    <p:cond delay="0"/>
                                  </p:stCondLst>
                                  <p:childTnLst>
                                    <p:animEffect transition="out" filter="wipe(down)">
                                      <p:cBhvr>
                                        <p:cTn id="11" dur="500"/>
                                        <p:tgtEl>
                                          <p:spTgt spid="2"/>
                                        </p:tgtEl>
                                      </p:cBhvr>
                                    </p:animEffect>
                                    <p:set>
                                      <p:cBhvr>
                                        <p:cTn id="12"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5"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62466" name="Rectangle 2"/>
          <p:cNvSpPr>
            <a:spLocks noGrp="1"/>
          </p:cNvSpPr>
          <p:nvPr>
            <p:ph type="title"/>
          </p:nvPr>
        </p:nvSpPr>
        <p:spPr>
          <a:xfrm>
            <a:off x="796925" y="304800"/>
            <a:ext cx="7556500" cy="1012825"/>
          </a:xfrm>
          <a:ln/>
        </p:spPr>
        <p:txBody>
          <a:bodyPr vert="horz" wrap="square" lIns="91440" tIns="45720" rIns="91440" bIns="45720" anchor="ctr"/>
          <a:p>
            <a:pPr eaLnBrk="1" hangingPunct="1"/>
            <a:r>
              <a:rPr lang="en-US" altLang="zh-CN" b="1" dirty="0"/>
              <a:t>4.4  </a:t>
            </a:r>
            <a:r>
              <a:rPr lang="zh-CN" altLang="en-US" b="1" dirty="0"/>
              <a:t>递归下降分析</a:t>
            </a:r>
            <a:r>
              <a:rPr lang="zh-CN" altLang="en-US" b="1" dirty="0">
                <a:latin typeface="宋体" panose="02010600030101010101" pitchFamily="2" charset="-122"/>
              </a:rPr>
              <a:t>程序构造</a:t>
            </a:r>
            <a:endParaRPr lang="zh-CN" altLang="en-US" b="1" dirty="0">
              <a:latin typeface="宋体" panose="02010600030101010101" pitchFamily="2" charset="-122"/>
            </a:endParaRPr>
          </a:p>
        </p:txBody>
      </p:sp>
      <p:sp>
        <p:nvSpPr>
          <p:cNvPr id="181251" name="Rectangle 3"/>
          <p:cNvSpPr>
            <a:spLocks noGrp="1"/>
          </p:cNvSpPr>
          <p:nvPr>
            <p:ph type="body"/>
          </p:nvPr>
        </p:nvSpPr>
        <p:spPr>
          <a:xfrm>
            <a:off x="685800" y="1752600"/>
            <a:ext cx="7848600" cy="2286000"/>
          </a:xfrm>
          <a:ln/>
        </p:spPr>
        <p:txBody>
          <a:bodyPr vert="horz" wrap="square" lIns="91440" tIns="45720" rIns="91440" bIns="45720" anchor="t"/>
          <a:p>
            <a:pPr eaLnBrk="1" hangingPunct="1">
              <a:spcBef>
                <a:spcPts val="1300"/>
              </a:spcBef>
              <a:spcAft>
                <a:spcPts val="1300"/>
              </a:spcAft>
            </a:pPr>
            <a:r>
              <a:rPr lang="zh-CN" altLang="en-US" b="1" dirty="0"/>
              <a:t>构造不带回溯的自上而下分析程序</a:t>
            </a:r>
            <a:endParaRPr lang="zh-CN" altLang="en-US" b="1" dirty="0"/>
          </a:p>
          <a:p>
            <a:pPr lvl="1" indent="-436245" eaLnBrk="1" hangingPunct="1">
              <a:spcBef>
                <a:spcPct val="40000"/>
              </a:spcBef>
            </a:pPr>
            <a:r>
              <a:rPr lang="zh-CN" altLang="en-US" b="1" dirty="0"/>
              <a:t>要消除文法的左递归性</a:t>
            </a:r>
            <a:endParaRPr lang="zh-CN" altLang="en-US" b="1" dirty="0"/>
          </a:p>
          <a:p>
            <a:pPr lvl="1" indent="-436245" eaLnBrk="1" hangingPunct="1">
              <a:spcBef>
                <a:spcPct val="40000"/>
              </a:spcBef>
            </a:pPr>
            <a:r>
              <a:rPr lang="zh-CN" altLang="en-US" b="1" dirty="0"/>
              <a:t>克服回溯</a:t>
            </a:r>
            <a:endParaRPr lang="zh-CN" altLang="en-US" b="1"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1251">
                                            <p:txEl>
                                              <p:charRg st="0" end="16"/>
                                            </p:txEl>
                                          </p:spTgt>
                                        </p:tgtEl>
                                        <p:attrNameLst>
                                          <p:attrName>style.visibility</p:attrName>
                                        </p:attrNameLst>
                                      </p:cBhvr>
                                      <p:to>
                                        <p:strVal val="visible"/>
                                      </p:to>
                                    </p:set>
                                    <p:animEffect transition="in" filter="wipe(left)">
                                      <p:cBhvr>
                                        <p:cTn id="7" dur="500"/>
                                        <p:tgtEl>
                                          <p:spTgt spid="181251">
                                            <p:txEl>
                                              <p:charRg st="0" end="16"/>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1251">
                                            <p:txEl>
                                              <p:charRg st="16" end="27"/>
                                            </p:txEl>
                                          </p:spTgt>
                                        </p:tgtEl>
                                        <p:attrNameLst>
                                          <p:attrName>style.visibility</p:attrName>
                                        </p:attrNameLst>
                                      </p:cBhvr>
                                      <p:to>
                                        <p:strVal val="visible"/>
                                      </p:to>
                                    </p:set>
                                    <p:animEffect transition="in" filter="wipe(left)">
                                      <p:cBhvr>
                                        <p:cTn id="12" dur="500"/>
                                        <p:tgtEl>
                                          <p:spTgt spid="181251">
                                            <p:txEl>
                                              <p:charRg st="16" end="2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1251">
                                            <p:txEl>
                                              <p:charRg st="27" end="32"/>
                                            </p:txEl>
                                          </p:spTgt>
                                        </p:tgtEl>
                                        <p:attrNameLst>
                                          <p:attrName>style.visibility</p:attrName>
                                        </p:attrNameLst>
                                      </p:cBhvr>
                                      <p:to>
                                        <p:strVal val="visible"/>
                                      </p:to>
                                    </p:set>
                                    <p:animEffect transition="in" filter="wipe(left)">
                                      <p:cBhvr>
                                        <p:cTn id="17" dur="500"/>
                                        <p:tgtEl>
                                          <p:spTgt spid="181251">
                                            <p:txEl>
                                              <p:charRg st="27" end="3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251"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89"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122883" name="Rectangle 3"/>
          <p:cNvSpPr>
            <a:spLocks noGrp="1"/>
          </p:cNvSpPr>
          <p:nvPr>
            <p:ph type="body"/>
          </p:nvPr>
        </p:nvSpPr>
        <p:spPr>
          <a:xfrm>
            <a:off x="685800" y="908050"/>
            <a:ext cx="7924800" cy="5187950"/>
          </a:xfrm>
          <a:ln/>
        </p:spPr>
        <p:txBody>
          <a:bodyPr vert="horz" wrap="square" lIns="91440" tIns="45720" rIns="91440" bIns="45720" anchor="t"/>
          <a:p>
            <a:pPr eaLnBrk="1" hangingPunct="1">
              <a:lnSpc>
                <a:spcPct val="90000"/>
              </a:lnSpc>
            </a:pPr>
            <a:r>
              <a:rPr lang="zh-CN" altLang="en-US" b="1" dirty="0">
                <a:latin typeface="宋体" panose="02010600030101010101" pitchFamily="2" charset="-122"/>
              </a:rPr>
              <a:t>构造不带回溯的自上而下分析器</a:t>
            </a:r>
            <a:endParaRPr lang="zh-CN" altLang="en-US" b="1" dirty="0">
              <a:latin typeface="宋体" panose="02010600030101010101" pitchFamily="2" charset="-122"/>
            </a:endParaRPr>
          </a:p>
          <a:p>
            <a:pPr eaLnBrk="1" hangingPunct="1">
              <a:lnSpc>
                <a:spcPct val="90000"/>
              </a:lnSpc>
            </a:pPr>
            <a:r>
              <a:rPr lang="zh-CN" altLang="en-US" b="1" dirty="0">
                <a:latin typeface="宋体" panose="02010600030101010101" pitchFamily="2" charset="-122"/>
              </a:rPr>
              <a:t>分析程序由一组递归过程组成，文法中每个非终结符对应一个过程；所以这样的分析程序称为递归下降分析器。</a:t>
            </a:r>
            <a:r>
              <a:rPr lang="en-US" altLang="zh-CN" b="1" dirty="0">
                <a:latin typeface="宋体" panose="02010600030101010101" pitchFamily="2" charset="-122"/>
              </a:rPr>
              <a:t>(</a:t>
            </a:r>
            <a:r>
              <a:rPr lang="zh-CN" altLang="en-US" b="1" dirty="0">
                <a:latin typeface="宋体" panose="02010600030101010101" pitchFamily="2" charset="-122"/>
              </a:rPr>
              <a:t>因为文法的定义通常是递归的</a:t>
            </a:r>
            <a:r>
              <a:rPr lang="en-US" altLang="zh-CN" b="1" dirty="0">
                <a:latin typeface="宋体" panose="02010600030101010101" pitchFamily="2" charset="-122"/>
              </a:rPr>
              <a:t>)</a:t>
            </a:r>
            <a:endParaRPr lang="en-US" altLang="zh-CN" b="1" dirty="0">
              <a:latin typeface="宋体" panose="02010600030101010101" pitchFamily="2" charset="-122"/>
            </a:endParaRPr>
          </a:p>
          <a:p>
            <a:pPr eaLnBrk="1" hangingPunct="1">
              <a:lnSpc>
                <a:spcPct val="90000"/>
              </a:lnSpc>
              <a:spcBef>
                <a:spcPct val="55000"/>
              </a:spcBef>
            </a:pPr>
            <a:r>
              <a:rPr lang="zh-CN" altLang="en-US" b="1" dirty="0">
                <a:latin typeface="宋体" panose="02010600030101010101" pitchFamily="2" charset="-122"/>
              </a:rPr>
              <a:t>几个全局过程和变量：</a:t>
            </a:r>
            <a:endParaRPr lang="zh-CN" altLang="en-US" b="1" dirty="0">
              <a:latin typeface="宋体" panose="02010600030101010101" pitchFamily="2" charset="-122"/>
            </a:endParaRPr>
          </a:p>
          <a:p>
            <a:pPr lvl="1" indent="-436245" eaLnBrk="1" hangingPunct="1">
              <a:lnSpc>
                <a:spcPct val="90000"/>
              </a:lnSpc>
            </a:pPr>
            <a:r>
              <a:rPr lang="en-US" altLang="zh-CN" b="1" dirty="0"/>
              <a:t>ADVANCE</a:t>
            </a:r>
            <a:r>
              <a:rPr lang="zh-CN" altLang="en-US" b="1" dirty="0"/>
              <a:t>，把输入串指示器</a:t>
            </a:r>
            <a:r>
              <a:rPr lang="en-US" altLang="zh-CN" b="1" dirty="0"/>
              <a:t>IP</a:t>
            </a:r>
            <a:r>
              <a:rPr lang="zh-CN" altLang="en-US" b="1" dirty="0"/>
              <a:t>指向下一个输入符号，即读入一个单字符号</a:t>
            </a:r>
            <a:endParaRPr lang="zh-CN" altLang="en-US" b="1" dirty="0"/>
          </a:p>
          <a:p>
            <a:pPr lvl="1" indent="-436245" eaLnBrk="1" hangingPunct="1">
              <a:lnSpc>
                <a:spcPct val="90000"/>
              </a:lnSpc>
            </a:pPr>
            <a:r>
              <a:rPr lang="en-US" altLang="zh-CN" b="1" dirty="0"/>
              <a:t>SYM</a:t>
            </a:r>
            <a:r>
              <a:rPr lang="zh-CN" altLang="en-US" b="1" dirty="0"/>
              <a:t>，</a:t>
            </a:r>
            <a:r>
              <a:rPr lang="en-US" altLang="zh-CN" b="1" dirty="0"/>
              <a:t>IP</a:t>
            </a:r>
            <a:r>
              <a:rPr lang="zh-CN" altLang="en-US" b="1" dirty="0"/>
              <a:t>当前所指的输入符号</a:t>
            </a:r>
            <a:endParaRPr lang="zh-CN" altLang="en-US" b="1" dirty="0"/>
          </a:p>
          <a:p>
            <a:pPr lvl="1" indent="-436245" eaLnBrk="1" hangingPunct="1">
              <a:lnSpc>
                <a:spcPct val="90000"/>
              </a:lnSpc>
            </a:pPr>
            <a:r>
              <a:rPr lang="en-US" altLang="zh-CN" b="1" dirty="0"/>
              <a:t>ERROR</a:t>
            </a:r>
            <a:r>
              <a:rPr lang="zh-CN" altLang="en-US" b="1" dirty="0"/>
              <a:t>，出错处理子程序</a:t>
            </a:r>
            <a:endParaRPr lang="zh-CN" altLang="en-US" b="1" dirty="0">
              <a:latin typeface="宋体" panose="02010600030101010101" pitchFamily="2"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2883">
                                            <p:txEl>
                                              <p:charRg st="0" end="15"/>
                                            </p:txEl>
                                          </p:spTgt>
                                        </p:tgtEl>
                                        <p:attrNameLst>
                                          <p:attrName>style.visibility</p:attrName>
                                        </p:attrNameLst>
                                      </p:cBhvr>
                                      <p:to>
                                        <p:strVal val="visible"/>
                                      </p:to>
                                    </p:set>
                                    <p:animEffect transition="in" filter="wipe(left)">
                                      <p:cBhvr>
                                        <p:cTn id="7" dur="500"/>
                                        <p:tgtEl>
                                          <p:spTgt spid="122883">
                                            <p:txEl>
                                              <p:charRg st="0" end="1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22883">
                                            <p:txEl>
                                              <p:charRg st="15" end="80"/>
                                            </p:txEl>
                                          </p:spTgt>
                                        </p:tgtEl>
                                        <p:attrNameLst>
                                          <p:attrName>style.visibility</p:attrName>
                                        </p:attrNameLst>
                                      </p:cBhvr>
                                      <p:to>
                                        <p:strVal val="visible"/>
                                      </p:to>
                                    </p:set>
                                    <p:animEffect transition="in" filter="wipe(up)">
                                      <p:cBhvr>
                                        <p:cTn id="12" dur="500"/>
                                        <p:tgtEl>
                                          <p:spTgt spid="122883">
                                            <p:txEl>
                                              <p:charRg st="15" end="8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2883">
                                            <p:txEl>
                                              <p:charRg st="80" end="91"/>
                                            </p:txEl>
                                          </p:spTgt>
                                        </p:tgtEl>
                                        <p:attrNameLst>
                                          <p:attrName>style.visibility</p:attrName>
                                        </p:attrNameLst>
                                      </p:cBhvr>
                                      <p:to>
                                        <p:strVal val="visible"/>
                                      </p:to>
                                    </p:set>
                                    <p:animEffect transition="in" filter="wipe(left)">
                                      <p:cBhvr>
                                        <p:cTn id="17" dur="500"/>
                                        <p:tgtEl>
                                          <p:spTgt spid="122883">
                                            <p:txEl>
                                              <p:charRg st="80" end="9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2883">
                                            <p:txEl>
                                              <p:charRg st="91" end="128"/>
                                            </p:txEl>
                                          </p:spTgt>
                                        </p:tgtEl>
                                        <p:attrNameLst>
                                          <p:attrName>style.visibility</p:attrName>
                                        </p:attrNameLst>
                                      </p:cBhvr>
                                      <p:to>
                                        <p:strVal val="visible"/>
                                      </p:to>
                                    </p:set>
                                    <p:animEffect transition="in" filter="wipe(left)">
                                      <p:cBhvr>
                                        <p:cTn id="22" dur="500"/>
                                        <p:tgtEl>
                                          <p:spTgt spid="122883">
                                            <p:txEl>
                                              <p:charRg st="91" end="128"/>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2883">
                                            <p:txEl>
                                              <p:charRg st="128" end="144"/>
                                            </p:txEl>
                                          </p:spTgt>
                                        </p:tgtEl>
                                        <p:attrNameLst>
                                          <p:attrName>style.visibility</p:attrName>
                                        </p:attrNameLst>
                                      </p:cBhvr>
                                      <p:to>
                                        <p:strVal val="visible"/>
                                      </p:to>
                                    </p:set>
                                    <p:animEffect transition="in" filter="wipe(left)">
                                      <p:cBhvr>
                                        <p:cTn id="27" dur="500"/>
                                        <p:tgtEl>
                                          <p:spTgt spid="122883">
                                            <p:txEl>
                                              <p:charRg st="128" end="14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22883">
                                            <p:txEl>
                                              <p:charRg st="144" end="158"/>
                                            </p:txEl>
                                          </p:spTgt>
                                        </p:tgtEl>
                                        <p:attrNameLst>
                                          <p:attrName>style.visibility</p:attrName>
                                        </p:attrNameLst>
                                      </p:cBhvr>
                                      <p:to>
                                        <p:strVal val="visible"/>
                                      </p:to>
                                    </p:set>
                                    <p:animEffect transition="in" filter="wipe(left)">
                                      <p:cBhvr>
                                        <p:cTn id="32" dur="500"/>
                                        <p:tgtEl>
                                          <p:spTgt spid="122883">
                                            <p:txEl>
                                              <p:charRg st="144" end="15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3" grpId="0" bldLvl="2"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3"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123907" name="Rectangle 3"/>
          <p:cNvSpPr>
            <a:spLocks noGrp="1"/>
          </p:cNvSpPr>
          <p:nvPr>
            <p:ph type="body"/>
          </p:nvPr>
        </p:nvSpPr>
        <p:spPr>
          <a:xfrm>
            <a:off x="685800" y="609600"/>
            <a:ext cx="7772400" cy="5486400"/>
          </a:xfrm>
          <a:ln/>
        </p:spPr>
        <p:txBody>
          <a:bodyPr vert="horz" wrap="square" lIns="91440" tIns="45720" rIns="91440" bIns="45720" anchor="t"/>
          <a:p>
            <a:pPr eaLnBrk="1" hangingPunct="1"/>
            <a:r>
              <a:rPr lang="zh-CN" altLang="en-US" b="1" dirty="0">
                <a:latin typeface="宋体" panose="02010600030101010101" pitchFamily="2" charset="-122"/>
              </a:rPr>
              <a:t>例</a:t>
            </a:r>
            <a:r>
              <a:rPr lang="en-US" altLang="zh-CN" b="1" dirty="0">
                <a:latin typeface="宋体" panose="02010600030101010101" pitchFamily="2" charset="-122"/>
              </a:rPr>
              <a:t>:</a:t>
            </a:r>
            <a:r>
              <a:rPr lang="zh-CN" altLang="en-US" b="1" dirty="0">
                <a:latin typeface="宋体" panose="02010600030101010101" pitchFamily="2" charset="-122"/>
              </a:rPr>
              <a:t>文法</a:t>
            </a:r>
            <a:r>
              <a:rPr lang="en-US" altLang="zh-CN" b="1" dirty="0">
                <a:latin typeface="宋体" panose="02010600030101010101" pitchFamily="2" charset="-122"/>
              </a:rPr>
              <a:t>G(E):</a:t>
            </a:r>
            <a:endParaRPr lang="en-US" altLang="zh-CN" b="1" dirty="0">
              <a:latin typeface="宋体" panose="02010600030101010101" pitchFamily="2" charset="-122"/>
            </a:endParaRPr>
          </a:p>
          <a:p>
            <a:pPr lvl="1" indent="-436245" eaLnBrk="1" hangingPunct="1">
              <a:spcBef>
                <a:spcPct val="0"/>
              </a:spcBef>
              <a:buNone/>
            </a:pPr>
            <a:r>
              <a:rPr lang="en-US" altLang="zh-CN" b="1" dirty="0"/>
              <a:t>E→TE</a:t>
            </a:r>
            <a:r>
              <a:rPr lang="en-US" altLang="zh-CN" b="1" dirty="0">
                <a:sym typeface="Symbol" panose="05050102010706020507" pitchFamily="18" charset="2"/>
              </a:rPr>
              <a:t></a:t>
            </a:r>
            <a:endParaRPr lang="en-US" altLang="zh-CN" b="1" dirty="0"/>
          </a:p>
          <a:p>
            <a:pPr lvl="1" indent="-436245" eaLnBrk="1" hangingPunct="1">
              <a:spcBef>
                <a:spcPct val="0"/>
              </a:spcBef>
              <a:buNone/>
            </a:pPr>
            <a:r>
              <a:rPr lang="en-US" altLang="zh-CN" b="1" dirty="0"/>
              <a:t>E</a:t>
            </a:r>
            <a:r>
              <a:rPr lang="en-US" altLang="zh-CN" b="1" dirty="0">
                <a:sym typeface="Symbol" panose="05050102010706020507" pitchFamily="18" charset="2"/>
              </a:rPr>
              <a:t></a:t>
            </a:r>
            <a:r>
              <a:rPr lang="en-US" altLang="zh-CN" b="1" dirty="0"/>
              <a:t>→+TE</a:t>
            </a:r>
            <a:r>
              <a:rPr lang="en-US" altLang="zh-CN" b="1" dirty="0">
                <a:sym typeface="Symbol" panose="05050102010706020507" pitchFamily="18" charset="2"/>
              </a:rPr>
              <a:t></a:t>
            </a:r>
            <a:r>
              <a:rPr lang="en-US" altLang="zh-CN" b="1" dirty="0"/>
              <a:t> | </a:t>
            </a:r>
            <a:r>
              <a:rPr lang="en-US" altLang="zh-CN" b="1" dirty="0">
                <a:sym typeface="Symbol" panose="05050102010706020507" pitchFamily="18" charset="2"/>
              </a:rPr>
              <a:t></a:t>
            </a:r>
            <a:endParaRPr lang="en-US" altLang="zh-CN" b="1" dirty="0"/>
          </a:p>
          <a:p>
            <a:pPr lvl="1" indent="-436245" eaLnBrk="1" hangingPunct="1">
              <a:spcBef>
                <a:spcPct val="0"/>
              </a:spcBef>
              <a:buNone/>
            </a:pPr>
            <a:r>
              <a:rPr lang="en-US" altLang="zh-CN" b="1" dirty="0"/>
              <a:t>T→FT</a:t>
            </a:r>
            <a:r>
              <a:rPr lang="en-US" altLang="zh-CN" b="1" dirty="0">
                <a:sym typeface="Symbol" panose="05050102010706020507" pitchFamily="18" charset="2"/>
              </a:rPr>
              <a:t></a:t>
            </a:r>
            <a:r>
              <a:rPr lang="en-US" altLang="zh-CN" b="1" dirty="0"/>
              <a:t>                         </a:t>
            </a:r>
            <a:endParaRPr lang="en-US" altLang="zh-CN" b="1" dirty="0"/>
          </a:p>
          <a:p>
            <a:pPr lvl="1" indent="-436245" eaLnBrk="1" hangingPunct="1">
              <a:spcBef>
                <a:spcPct val="0"/>
              </a:spcBef>
              <a:buNone/>
            </a:pPr>
            <a:r>
              <a:rPr lang="en-US" altLang="zh-CN" b="1" dirty="0"/>
              <a:t>T</a:t>
            </a:r>
            <a:r>
              <a:rPr lang="en-US" altLang="zh-CN" b="1" dirty="0">
                <a:sym typeface="Symbol" panose="05050102010706020507" pitchFamily="18" charset="2"/>
              </a:rPr>
              <a:t></a:t>
            </a:r>
            <a:r>
              <a:rPr lang="en-US" altLang="zh-CN" b="1" dirty="0"/>
              <a:t>→*FT</a:t>
            </a:r>
            <a:r>
              <a:rPr lang="en-US" altLang="zh-CN" b="1" dirty="0">
                <a:sym typeface="Symbol" panose="05050102010706020507" pitchFamily="18" charset="2"/>
              </a:rPr>
              <a:t></a:t>
            </a:r>
            <a:r>
              <a:rPr lang="en-US" altLang="zh-CN" b="1" dirty="0"/>
              <a:t> | </a:t>
            </a:r>
            <a:r>
              <a:rPr lang="en-US" altLang="zh-CN" b="1" dirty="0">
                <a:sym typeface="Symbol" panose="05050102010706020507" pitchFamily="18" charset="2"/>
              </a:rPr>
              <a:t></a:t>
            </a:r>
            <a:endParaRPr lang="en-US" altLang="zh-CN" b="1" dirty="0"/>
          </a:p>
          <a:p>
            <a:pPr lvl="1" indent="-436245" eaLnBrk="1" hangingPunct="1">
              <a:spcBef>
                <a:spcPct val="0"/>
              </a:spcBef>
              <a:buNone/>
            </a:pPr>
            <a:r>
              <a:rPr lang="en-US" altLang="zh-CN" b="1" dirty="0"/>
              <a:t>F→(E) | i		</a:t>
            </a:r>
            <a:endParaRPr lang="en-US" altLang="zh-CN" b="1" dirty="0">
              <a:latin typeface="宋体" panose="02010600030101010101" pitchFamily="2" charset="-122"/>
            </a:endParaRPr>
          </a:p>
          <a:p>
            <a:pPr eaLnBrk="1" hangingPunct="1"/>
            <a:r>
              <a:rPr lang="zh-CN" altLang="en-US" b="1" dirty="0">
                <a:latin typeface="宋体" panose="02010600030101010101" pitchFamily="2" charset="-122"/>
              </a:rPr>
              <a:t>每个非终结符有对应的子程序的定义，首先在分析过程中，当需要从某个非终结符出发进行展开</a:t>
            </a:r>
            <a:r>
              <a:rPr lang="en-US" altLang="zh-CN" b="1" dirty="0">
                <a:latin typeface="宋体" panose="02010600030101010101" pitchFamily="2" charset="-122"/>
              </a:rPr>
              <a:t>(</a:t>
            </a:r>
            <a:r>
              <a:rPr lang="zh-CN" altLang="en-US" b="1" dirty="0">
                <a:latin typeface="宋体" panose="02010600030101010101" pitchFamily="2" charset="-122"/>
              </a:rPr>
              <a:t>推导</a:t>
            </a:r>
            <a:r>
              <a:rPr lang="en-US" altLang="zh-CN" b="1" dirty="0">
                <a:latin typeface="宋体" panose="02010600030101010101" pitchFamily="2" charset="-122"/>
              </a:rPr>
              <a:t>)</a:t>
            </a:r>
            <a:r>
              <a:rPr lang="zh-CN" altLang="en-US" b="1" dirty="0">
                <a:latin typeface="宋体" panose="02010600030101010101" pitchFamily="2" charset="-122"/>
              </a:rPr>
              <a:t>时，就调用这个非终结符对应的子程序。</a:t>
            </a:r>
            <a:endParaRPr lang="zh-CN" altLang="en-US" b="1" dirty="0">
              <a:latin typeface="宋体" panose="02010600030101010101" pitchFamily="2"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3907">
                                            <p:txEl>
                                              <p:charRg st="0" end="10"/>
                                            </p:txEl>
                                          </p:spTgt>
                                        </p:tgtEl>
                                        <p:attrNameLst>
                                          <p:attrName>style.visibility</p:attrName>
                                        </p:attrNameLst>
                                      </p:cBhvr>
                                      <p:to>
                                        <p:strVal val="visible"/>
                                      </p:to>
                                    </p:set>
                                    <p:anim calcmode="lin" valueType="num">
                                      <p:cBhvr additive="base">
                                        <p:cTn id="7" dur="500" fill="hold"/>
                                        <p:tgtEl>
                                          <p:spTgt spid="123907">
                                            <p:txEl>
                                              <p:charRg st="0" end="1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23907">
                                            <p:txEl>
                                              <p:charRg st="0" end="1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23907">
                                            <p:txEl>
                                              <p:charRg st="10" end="16"/>
                                            </p:txEl>
                                          </p:spTgt>
                                        </p:tgtEl>
                                        <p:attrNameLst>
                                          <p:attrName>style.visibility</p:attrName>
                                        </p:attrNameLst>
                                      </p:cBhvr>
                                      <p:to>
                                        <p:strVal val="visible"/>
                                      </p:to>
                                    </p:set>
                                    <p:anim calcmode="lin" valueType="num">
                                      <p:cBhvr additive="base">
                                        <p:cTn id="11" dur="500" fill="hold"/>
                                        <p:tgtEl>
                                          <p:spTgt spid="123907">
                                            <p:txEl>
                                              <p:charRg st="10" end="16"/>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123907">
                                            <p:txEl>
                                              <p:charRg st="10" end="16"/>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23907">
                                            <p:txEl>
                                              <p:charRg st="16" end="28"/>
                                            </p:txEl>
                                          </p:spTgt>
                                        </p:tgtEl>
                                        <p:attrNameLst>
                                          <p:attrName>style.visibility</p:attrName>
                                        </p:attrNameLst>
                                      </p:cBhvr>
                                      <p:to>
                                        <p:strVal val="visible"/>
                                      </p:to>
                                    </p:set>
                                    <p:anim calcmode="lin" valueType="num">
                                      <p:cBhvr additive="base">
                                        <p:cTn id="15" dur="500" fill="hold"/>
                                        <p:tgtEl>
                                          <p:spTgt spid="123907">
                                            <p:txEl>
                                              <p:charRg st="16" end="28"/>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123907">
                                            <p:txEl>
                                              <p:charRg st="16" end="28"/>
                                            </p:txEl>
                                          </p:spTgt>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123907">
                                            <p:txEl>
                                              <p:charRg st="28" end="59"/>
                                            </p:txEl>
                                          </p:spTgt>
                                        </p:tgtEl>
                                        <p:attrNameLst>
                                          <p:attrName>style.visibility</p:attrName>
                                        </p:attrNameLst>
                                      </p:cBhvr>
                                      <p:to>
                                        <p:strVal val="visible"/>
                                      </p:to>
                                    </p:set>
                                    <p:anim calcmode="lin" valueType="num">
                                      <p:cBhvr additive="base">
                                        <p:cTn id="19" dur="500" fill="hold"/>
                                        <p:tgtEl>
                                          <p:spTgt spid="123907">
                                            <p:txEl>
                                              <p:charRg st="28" end="59"/>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23907">
                                            <p:txEl>
                                              <p:charRg st="28" end="59"/>
                                            </p:txEl>
                                          </p:spTgt>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123907">
                                            <p:txEl>
                                              <p:charRg st="59" end="71"/>
                                            </p:txEl>
                                          </p:spTgt>
                                        </p:tgtEl>
                                        <p:attrNameLst>
                                          <p:attrName>style.visibility</p:attrName>
                                        </p:attrNameLst>
                                      </p:cBhvr>
                                      <p:to>
                                        <p:strVal val="visible"/>
                                      </p:to>
                                    </p:set>
                                    <p:anim calcmode="lin" valueType="num">
                                      <p:cBhvr additive="base">
                                        <p:cTn id="23" dur="500" fill="hold"/>
                                        <p:tgtEl>
                                          <p:spTgt spid="123907">
                                            <p:txEl>
                                              <p:charRg st="59" end="71"/>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123907">
                                            <p:txEl>
                                              <p:charRg st="59" end="71"/>
                                            </p:txEl>
                                          </p:spTgt>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23907">
                                            <p:txEl>
                                              <p:charRg st="71" end="83"/>
                                            </p:txEl>
                                          </p:spTgt>
                                        </p:tgtEl>
                                        <p:attrNameLst>
                                          <p:attrName>style.visibility</p:attrName>
                                        </p:attrNameLst>
                                      </p:cBhvr>
                                      <p:to>
                                        <p:strVal val="visible"/>
                                      </p:to>
                                    </p:set>
                                    <p:anim calcmode="lin" valueType="num">
                                      <p:cBhvr additive="base">
                                        <p:cTn id="27" dur="500" fill="hold"/>
                                        <p:tgtEl>
                                          <p:spTgt spid="123907">
                                            <p:txEl>
                                              <p:charRg st="71" end="83"/>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123907">
                                            <p:txEl>
                                              <p:charRg st="71" end="83"/>
                                            </p:txEl>
                                          </p:spTgt>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123907">
                                            <p:txEl>
                                              <p:charRg st="83" end="148"/>
                                            </p:txEl>
                                          </p:spTgt>
                                        </p:tgtEl>
                                        <p:attrNameLst>
                                          <p:attrName>style.visibility</p:attrName>
                                        </p:attrNameLst>
                                      </p:cBhvr>
                                      <p:to>
                                        <p:strVal val="visible"/>
                                      </p:to>
                                    </p:set>
                                    <p:anim calcmode="lin" valueType="num">
                                      <p:cBhvr additive="base">
                                        <p:cTn id="33" dur="500" fill="hold"/>
                                        <p:tgtEl>
                                          <p:spTgt spid="123907">
                                            <p:txEl>
                                              <p:charRg st="83" end="148"/>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123907">
                                            <p:txEl>
                                              <p:charRg st="83" end="14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7"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7"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65538" name="Rectangle 3"/>
          <p:cNvSpPr>
            <a:spLocks noGrp="1"/>
          </p:cNvSpPr>
          <p:nvPr>
            <p:ph type="body"/>
          </p:nvPr>
        </p:nvSpPr>
        <p:spPr>
          <a:xfrm>
            <a:off x="539750" y="333375"/>
            <a:ext cx="8207375" cy="2311400"/>
          </a:xfrm>
          <a:ln/>
        </p:spPr>
        <p:txBody>
          <a:bodyPr vert="horz" wrap="square" lIns="91440" tIns="45720" rIns="91440" bIns="45720" anchor="t"/>
          <a:p>
            <a:pPr eaLnBrk="1" hangingPunct="1"/>
            <a:r>
              <a:rPr lang="zh-CN" altLang="en-US" b="1" dirty="0">
                <a:latin typeface="宋体" panose="02010600030101010101" pitchFamily="2" charset="-122"/>
              </a:rPr>
              <a:t>例</a:t>
            </a:r>
            <a:r>
              <a:rPr lang="en-US" altLang="zh-CN" b="1" dirty="0">
                <a:latin typeface="宋体" panose="02010600030101010101" pitchFamily="2" charset="-122"/>
              </a:rPr>
              <a:t>:</a:t>
            </a:r>
            <a:r>
              <a:rPr lang="zh-CN" altLang="en-US" b="1" dirty="0">
                <a:latin typeface="宋体" panose="02010600030101010101" pitchFamily="2" charset="-122"/>
              </a:rPr>
              <a:t>文法</a:t>
            </a:r>
            <a:r>
              <a:rPr lang="en-US" altLang="zh-CN" b="1" dirty="0">
                <a:latin typeface="宋体" panose="02010600030101010101" pitchFamily="2" charset="-122"/>
              </a:rPr>
              <a:t>G(E):</a:t>
            </a:r>
            <a:endParaRPr lang="en-US" altLang="zh-CN" b="1" dirty="0">
              <a:latin typeface="宋体" panose="02010600030101010101" pitchFamily="2" charset="-122"/>
            </a:endParaRPr>
          </a:p>
          <a:p>
            <a:pPr lvl="1" indent="-436245" eaLnBrk="1" hangingPunct="1">
              <a:spcBef>
                <a:spcPct val="0"/>
              </a:spcBef>
              <a:buNone/>
            </a:pPr>
            <a:r>
              <a:rPr lang="en-US" altLang="zh-CN" b="1" dirty="0">
                <a:solidFill>
                  <a:srgbClr val="FF0000"/>
                </a:solidFill>
              </a:rPr>
              <a:t>E→TE</a:t>
            </a:r>
            <a:r>
              <a:rPr lang="en-US" altLang="zh-CN" b="1" dirty="0">
                <a:solidFill>
                  <a:srgbClr val="FF0000"/>
                </a:solidFill>
                <a:sym typeface="Symbol" panose="05050102010706020507" pitchFamily="18" charset="2"/>
              </a:rPr>
              <a:t></a:t>
            </a:r>
            <a:endParaRPr lang="en-US" altLang="zh-CN" b="1" dirty="0">
              <a:solidFill>
                <a:srgbClr val="FF0000"/>
              </a:solidFill>
            </a:endParaRPr>
          </a:p>
          <a:p>
            <a:pPr lvl="1" indent="-436245" eaLnBrk="1" hangingPunct="1">
              <a:spcBef>
                <a:spcPct val="0"/>
              </a:spcBef>
              <a:buNone/>
            </a:pPr>
            <a:r>
              <a:rPr lang="en-US" altLang="zh-CN" b="1" dirty="0">
                <a:solidFill>
                  <a:srgbClr val="FF0000"/>
                </a:solidFill>
              </a:rPr>
              <a:t>E</a:t>
            </a:r>
            <a:r>
              <a:rPr lang="en-US" altLang="zh-CN" b="1" dirty="0">
                <a:solidFill>
                  <a:srgbClr val="FF0000"/>
                </a:solidFill>
                <a:sym typeface="Symbol" panose="05050102010706020507" pitchFamily="18" charset="2"/>
              </a:rPr>
              <a:t></a:t>
            </a:r>
            <a:r>
              <a:rPr lang="en-US" altLang="zh-CN" b="1" dirty="0">
                <a:solidFill>
                  <a:srgbClr val="FF0000"/>
                </a:solidFill>
              </a:rPr>
              <a:t>→+TE</a:t>
            </a:r>
            <a:r>
              <a:rPr lang="en-US" altLang="zh-CN" b="1" dirty="0">
                <a:solidFill>
                  <a:srgbClr val="FF0000"/>
                </a:solidFill>
                <a:sym typeface="Symbol" panose="05050102010706020507" pitchFamily="18" charset="2"/>
              </a:rPr>
              <a:t></a:t>
            </a:r>
            <a:r>
              <a:rPr lang="en-US" altLang="zh-CN" b="1" dirty="0">
                <a:solidFill>
                  <a:srgbClr val="FF0000"/>
                </a:solidFill>
              </a:rPr>
              <a:t> | </a:t>
            </a:r>
            <a:r>
              <a:rPr lang="en-US" altLang="zh-CN" b="1" dirty="0">
                <a:solidFill>
                  <a:srgbClr val="FF0000"/>
                </a:solidFill>
                <a:sym typeface="Symbol" panose="05050102010706020507" pitchFamily="18" charset="2"/>
              </a:rPr>
              <a:t></a:t>
            </a:r>
            <a:endParaRPr lang="en-US" altLang="zh-CN" b="1" dirty="0">
              <a:solidFill>
                <a:srgbClr val="FF0000"/>
              </a:solidFill>
            </a:endParaRPr>
          </a:p>
          <a:p>
            <a:pPr lvl="1" indent="-436245" eaLnBrk="1" hangingPunct="1">
              <a:spcBef>
                <a:spcPct val="0"/>
              </a:spcBef>
              <a:buNone/>
            </a:pPr>
            <a:r>
              <a:rPr lang="en-US" altLang="zh-CN" b="1" dirty="0"/>
              <a:t>T→FT</a:t>
            </a:r>
            <a:r>
              <a:rPr lang="en-US" altLang="zh-CN" b="1" dirty="0">
                <a:sym typeface="Symbol" panose="05050102010706020507" pitchFamily="18" charset="2"/>
              </a:rPr>
              <a:t></a:t>
            </a:r>
            <a:r>
              <a:rPr lang="en-US" altLang="zh-CN" b="1" dirty="0"/>
              <a:t>                         </a:t>
            </a:r>
            <a:endParaRPr lang="en-US" altLang="zh-CN" b="1" dirty="0"/>
          </a:p>
          <a:p>
            <a:pPr lvl="1" indent="-436245" eaLnBrk="1" hangingPunct="1">
              <a:spcBef>
                <a:spcPct val="0"/>
              </a:spcBef>
              <a:buNone/>
            </a:pPr>
            <a:r>
              <a:rPr lang="en-US" altLang="zh-CN" b="1" dirty="0"/>
              <a:t>T</a:t>
            </a:r>
            <a:r>
              <a:rPr lang="en-US" altLang="zh-CN" b="1" dirty="0">
                <a:sym typeface="Symbol" panose="05050102010706020507" pitchFamily="18" charset="2"/>
              </a:rPr>
              <a:t></a:t>
            </a:r>
            <a:r>
              <a:rPr lang="en-US" altLang="zh-CN" b="1" dirty="0"/>
              <a:t>→*FT</a:t>
            </a:r>
            <a:r>
              <a:rPr lang="en-US" altLang="zh-CN" b="1" dirty="0">
                <a:sym typeface="Symbol" panose="05050102010706020507" pitchFamily="18" charset="2"/>
              </a:rPr>
              <a:t></a:t>
            </a:r>
            <a:r>
              <a:rPr lang="en-US" altLang="zh-CN" b="1" dirty="0"/>
              <a:t> | </a:t>
            </a:r>
            <a:r>
              <a:rPr lang="en-US" altLang="zh-CN" b="1" dirty="0">
                <a:sym typeface="Symbol" panose="05050102010706020507" pitchFamily="18" charset="2"/>
              </a:rPr>
              <a:t></a:t>
            </a:r>
            <a:endParaRPr lang="en-US" altLang="zh-CN" b="1" dirty="0"/>
          </a:p>
          <a:p>
            <a:pPr lvl="1" indent="-436245" eaLnBrk="1" hangingPunct="1">
              <a:spcBef>
                <a:spcPct val="0"/>
              </a:spcBef>
              <a:buNone/>
            </a:pPr>
            <a:r>
              <a:rPr lang="en-US" altLang="zh-CN" b="1" dirty="0"/>
              <a:t>F→(E) | i</a:t>
            </a:r>
            <a:endParaRPr lang="en-US" altLang="zh-CN" b="1" dirty="0"/>
          </a:p>
          <a:p>
            <a:pPr eaLnBrk="1" hangingPunct="1">
              <a:spcBef>
                <a:spcPct val="0"/>
              </a:spcBef>
            </a:pPr>
            <a:r>
              <a:rPr lang="zh-CN" altLang="en-US" sz="2600" b="1" dirty="0">
                <a:latin typeface="宋体" panose="02010600030101010101" pitchFamily="2" charset="-122"/>
              </a:rPr>
              <a:t>对应的递归下降子程序为</a:t>
            </a:r>
            <a:r>
              <a:rPr lang="en-US" altLang="zh-CN" sz="2600" b="1" dirty="0">
                <a:latin typeface="宋体" panose="02010600030101010101" pitchFamily="2" charset="-122"/>
              </a:rPr>
              <a:t>:</a:t>
            </a:r>
            <a:endParaRPr lang="en-US" altLang="zh-CN" sz="2600" b="1" dirty="0">
              <a:latin typeface="宋体" panose="02010600030101010101" pitchFamily="2" charset="-122"/>
            </a:endParaRPr>
          </a:p>
          <a:p>
            <a:pPr eaLnBrk="1" hangingPunct="1">
              <a:lnSpc>
                <a:spcPct val="80000"/>
              </a:lnSpc>
              <a:spcBef>
                <a:spcPct val="0"/>
              </a:spcBef>
              <a:buNone/>
            </a:pPr>
            <a:r>
              <a:rPr lang="en-US" altLang="zh-CN" sz="2600" b="1" dirty="0"/>
              <a:t>    </a:t>
            </a:r>
            <a:endParaRPr lang="en-US" altLang="zh-CN" sz="2600" b="1" dirty="0"/>
          </a:p>
        </p:txBody>
      </p:sp>
      <p:sp>
        <p:nvSpPr>
          <p:cNvPr id="124932" name="Rectangle 4"/>
          <p:cNvSpPr/>
          <p:nvPr/>
        </p:nvSpPr>
        <p:spPr>
          <a:xfrm>
            <a:off x="827088" y="3933825"/>
            <a:ext cx="3505200" cy="2057400"/>
          </a:xfrm>
          <a:prstGeom prst="rect">
            <a:avLst/>
          </a:prstGeom>
          <a:noFill/>
          <a:ln w="9525">
            <a:noFill/>
          </a:ln>
        </p:spPr>
        <p:txBody>
          <a:bodyPr anchor="t"/>
          <a:p>
            <a:pPr eaLnBrk="0" hangingPunct="0"/>
            <a:r>
              <a:rPr lang="en-US" altLang="zh-CN" sz="2800" b="1" u="none" dirty="0">
                <a:solidFill>
                  <a:schemeClr val="tx1"/>
                </a:solidFill>
                <a:latin typeface="Times New Roman" panose="02020603050405020304" pitchFamily="18" charset="0"/>
              </a:rPr>
              <a:t>PROCEDURE  E</a:t>
            </a:r>
            <a:r>
              <a:rPr lang="zh-CN" altLang="en-US" sz="2800" b="1" u="none" dirty="0">
                <a:solidFill>
                  <a:schemeClr val="tx1"/>
                </a:solidFill>
                <a:latin typeface="Times New Roman" panose="02020603050405020304" pitchFamily="18" charset="0"/>
              </a:rPr>
              <a:t>；</a:t>
            </a:r>
            <a:endParaRPr lang="zh-CN" altLang="en-US" sz="2800" b="1" u="none" dirty="0">
              <a:solidFill>
                <a:schemeClr val="tx1"/>
              </a:solidFill>
              <a:latin typeface="Times New Roman" panose="02020603050405020304" pitchFamily="18" charset="0"/>
            </a:endParaRPr>
          </a:p>
          <a:p>
            <a:pPr eaLnBrk="0" hangingPunct="0"/>
            <a:r>
              <a:rPr lang="en-US" altLang="zh-CN" sz="2800" b="1" u="none" dirty="0">
                <a:solidFill>
                  <a:schemeClr val="tx1"/>
                </a:solidFill>
                <a:latin typeface="Times New Roman" panose="02020603050405020304" pitchFamily="18" charset="0"/>
              </a:rPr>
              <a:t>BEGIN	</a:t>
            </a:r>
            <a:endParaRPr lang="en-US" altLang="zh-CN" sz="2800" b="1" u="none" dirty="0">
              <a:solidFill>
                <a:schemeClr val="tx1"/>
              </a:solidFill>
              <a:latin typeface="Times New Roman" panose="02020603050405020304" pitchFamily="18" charset="0"/>
            </a:endParaRPr>
          </a:p>
          <a:p>
            <a:pPr eaLnBrk="0" hangingPunct="0"/>
            <a:r>
              <a:rPr lang="en-US" altLang="zh-CN" sz="2800" b="1" u="none" dirty="0">
                <a:solidFill>
                  <a:schemeClr val="tx1"/>
                </a:solidFill>
                <a:latin typeface="Times New Roman" panose="02020603050405020304" pitchFamily="18" charset="0"/>
              </a:rPr>
              <a:t>           T</a:t>
            </a:r>
            <a:r>
              <a:rPr lang="zh-CN" altLang="en-US" sz="2800" b="1" u="none" dirty="0">
                <a:solidFill>
                  <a:schemeClr val="tx1"/>
                </a:solidFill>
                <a:latin typeface="Times New Roman" panose="02020603050405020304" pitchFamily="18" charset="0"/>
              </a:rPr>
              <a:t>；</a:t>
            </a:r>
            <a:r>
              <a:rPr lang="en-US" altLang="zh-CN" sz="2800" b="1" u="none" dirty="0">
                <a:solidFill>
                  <a:schemeClr val="tx1"/>
                </a:solidFill>
                <a:latin typeface="Times New Roman" panose="02020603050405020304" pitchFamily="18" charset="0"/>
              </a:rPr>
              <a:t>E</a:t>
            </a:r>
            <a:r>
              <a:rPr lang="en-US" altLang="zh-CN" sz="2800" b="1" u="none" dirty="0">
                <a:solidFill>
                  <a:schemeClr val="tx1"/>
                </a:solidFill>
                <a:latin typeface="Times New Roman" panose="02020603050405020304" pitchFamily="18" charset="0"/>
                <a:sym typeface="Symbol" panose="05050102010706020507" pitchFamily="18" charset="2"/>
              </a:rPr>
              <a:t></a:t>
            </a:r>
            <a:endParaRPr lang="en-US" altLang="zh-CN" sz="2800" b="1" u="none" dirty="0">
              <a:solidFill>
                <a:schemeClr val="tx1"/>
              </a:solidFill>
              <a:latin typeface="Times New Roman" panose="02020603050405020304" pitchFamily="18" charset="0"/>
            </a:endParaRPr>
          </a:p>
          <a:p>
            <a:pPr eaLnBrk="0" hangingPunct="0"/>
            <a:r>
              <a:rPr lang="en-US" altLang="zh-CN" sz="2800" b="1" u="none" dirty="0">
                <a:solidFill>
                  <a:schemeClr val="tx1"/>
                </a:solidFill>
                <a:latin typeface="Times New Roman" panose="02020603050405020304" pitchFamily="18" charset="0"/>
              </a:rPr>
              <a:t>END</a:t>
            </a:r>
            <a:r>
              <a:rPr lang="zh-CN" altLang="en-US" sz="2800" b="1" u="none" dirty="0">
                <a:solidFill>
                  <a:schemeClr val="tx1"/>
                </a:solidFill>
                <a:latin typeface="Times New Roman" panose="02020603050405020304" pitchFamily="18" charset="0"/>
              </a:rPr>
              <a:t>；</a:t>
            </a:r>
            <a:endParaRPr lang="zh-CN" altLang="en-US" sz="2800" b="1" u="none" dirty="0">
              <a:solidFill>
                <a:schemeClr val="tx1"/>
              </a:solidFill>
              <a:latin typeface="Times New Roman" panose="02020603050405020304" pitchFamily="18" charset="0"/>
            </a:endParaRPr>
          </a:p>
          <a:p>
            <a:pPr eaLnBrk="0" hangingPunct="0"/>
            <a:r>
              <a:rPr lang="zh-CN" altLang="en-US" sz="2800" b="1" u="none" dirty="0">
                <a:solidFill>
                  <a:schemeClr val="tx1"/>
                </a:solidFill>
                <a:latin typeface="Times New Roman" panose="02020603050405020304" pitchFamily="18" charset="0"/>
              </a:rPr>
              <a:t>	</a:t>
            </a:r>
            <a:endParaRPr lang="zh-CN" altLang="en-US" sz="2800" b="1" u="none" dirty="0">
              <a:solidFill>
                <a:schemeClr val="tx1"/>
              </a:solidFill>
              <a:latin typeface="Times New Roman" panose="02020603050405020304" pitchFamily="18" charset="0"/>
            </a:endParaRPr>
          </a:p>
        </p:txBody>
      </p:sp>
      <p:sp>
        <p:nvSpPr>
          <p:cNvPr id="124934" name="Rectangle 6"/>
          <p:cNvSpPr/>
          <p:nvPr/>
        </p:nvSpPr>
        <p:spPr>
          <a:xfrm>
            <a:off x="5105400" y="3716338"/>
            <a:ext cx="4038600" cy="2819400"/>
          </a:xfrm>
          <a:prstGeom prst="rect">
            <a:avLst/>
          </a:prstGeom>
          <a:noFill/>
          <a:ln w="9525">
            <a:noFill/>
          </a:ln>
        </p:spPr>
        <p:txBody>
          <a:bodyPr anchor="t"/>
          <a:p>
            <a:pPr eaLnBrk="0" hangingPunct="0"/>
            <a:r>
              <a:rPr lang="en-US" altLang="zh-CN" sz="2800" b="1" u="none" dirty="0">
                <a:solidFill>
                  <a:schemeClr val="tx1"/>
                </a:solidFill>
                <a:latin typeface="Times New Roman" panose="02020603050405020304" pitchFamily="18" charset="0"/>
              </a:rPr>
              <a:t>PROCEDURE  E</a:t>
            </a:r>
            <a:r>
              <a:rPr lang="en-US" altLang="zh-CN" sz="2800" b="1" u="none" dirty="0">
                <a:solidFill>
                  <a:schemeClr val="tx1"/>
                </a:solidFill>
                <a:latin typeface="Times New Roman" panose="02020603050405020304" pitchFamily="18" charset="0"/>
                <a:sym typeface="Symbol" panose="05050102010706020507" pitchFamily="18" charset="2"/>
              </a:rPr>
              <a:t></a:t>
            </a:r>
            <a:r>
              <a:rPr lang="zh-CN" altLang="en-US" sz="2800" b="1" u="none" dirty="0">
                <a:solidFill>
                  <a:schemeClr val="tx1"/>
                </a:solidFill>
                <a:latin typeface="Times New Roman" panose="02020603050405020304" pitchFamily="18" charset="0"/>
              </a:rPr>
              <a:t>；</a:t>
            </a:r>
            <a:endParaRPr lang="zh-CN" altLang="en-US" sz="2800" b="1" u="none" dirty="0">
              <a:solidFill>
                <a:schemeClr val="tx1"/>
              </a:solidFill>
              <a:latin typeface="Times New Roman" panose="02020603050405020304" pitchFamily="18" charset="0"/>
            </a:endParaRPr>
          </a:p>
          <a:p>
            <a:pPr eaLnBrk="0" hangingPunct="0"/>
            <a:r>
              <a:rPr lang="zh-CN" altLang="en-US" sz="2800" b="1" u="none" dirty="0">
                <a:solidFill>
                  <a:schemeClr val="tx1"/>
                </a:solidFill>
                <a:latin typeface="Times New Roman" panose="02020603050405020304" pitchFamily="18" charset="0"/>
              </a:rPr>
              <a:t>     </a:t>
            </a:r>
            <a:r>
              <a:rPr lang="en-US" altLang="zh-CN" sz="2800" b="1" u="none" dirty="0">
                <a:solidFill>
                  <a:schemeClr val="tx1"/>
                </a:solidFill>
                <a:latin typeface="Times New Roman" panose="02020603050405020304" pitchFamily="18" charset="0"/>
              </a:rPr>
              <a:t>IF SYM=‘+’ THEN	    </a:t>
            </a:r>
            <a:endParaRPr lang="en-US" altLang="zh-CN" sz="2800" b="1" u="none" dirty="0">
              <a:solidFill>
                <a:schemeClr val="tx1"/>
              </a:solidFill>
              <a:latin typeface="Times New Roman" panose="02020603050405020304" pitchFamily="18" charset="0"/>
            </a:endParaRPr>
          </a:p>
          <a:p>
            <a:pPr eaLnBrk="0" hangingPunct="0"/>
            <a:r>
              <a:rPr lang="en-US" altLang="zh-CN" sz="2800" b="1" u="none" dirty="0">
                <a:solidFill>
                  <a:schemeClr val="tx1"/>
                </a:solidFill>
                <a:latin typeface="Times New Roman" panose="02020603050405020304" pitchFamily="18" charset="0"/>
              </a:rPr>
              <a:t>     BEGIN	</a:t>
            </a:r>
            <a:endParaRPr lang="en-US" altLang="zh-CN" sz="2800" b="1" u="none" dirty="0">
              <a:solidFill>
                <a:schemeClr val="tx1"/>
              </a:solidFill>
              <a:latin typeface="Times New Roman" panose="02020603050405020304" pitchFamily="18" charset="0"/>
            </a:endParaRPr>
          </a:p>
          <a:p>
            <a:pPr eaLnBrk="0" hangingPunct="0"/>
            <a:r>
              <a:rPr lang="en-US" altLang="zh-CN" sz="2800" b="1" u="none" dirty="0">
                <a:solidFill>
                  <a:schemeClr val="tx1"/>
                </a:solidFill>
                <a:latin typeface="Times New Roman" panose="02020603050405020304" pitchFamily="18" charset="0"/>
              </a:rPr>
              <a:t>	ADVANCE</a:t>
            </a:r>
            <a:r>
              <a:rPr lang="zh-CN" altLang="en-US" sz="2800" b="1" u="none" dirty="0">
                <a:solidFill>
                  <a:schemeClr val="tx1"/>
                </a:solidFill>
                <a:latin typeface="Times New Roman" panose="02020603050405020304" pitchFamily="18" charset="0"/>
              </a:rPr>
              <a:t>；</a:t>
            </a:r>
            <a:endParaRPr lang="zh-CN" altLang="en-US" sz="2800" b="1" u="none" dirty="0">
              <a:solidFill>
                <a:schemeClr val="tx1"/>
              </a:solidFill>
              <a:latin typeface="Times New Roman" panose="02020603050405020304" pitchFamily="18" charset="0"/>
            </a:endParaRPr>
          </a:p>
          <a:p>
            <a:pPr eaLnBrk="0" hangingPunct="0"/>
            <a:r>
              <a:rPr lang="zh-CN" altLang="en-US" sz="2800" b="1" u="none" dirty="0">
                <a:solidFill>
                  <a:schemeClr val="tx1"/>
                </a:solidFill>
                <a:latin typeface="Times New Roman" panose="02020603050405020304" pitchFamily="18" charset="0"/>
              </a:rPr>
              <a:t>          </a:t>
            </a:r>
            <a:r>
              <a:rPr lang="en-US" altLang="zh-CN" sz="2800" b="1" u="none" dirty="0">
                <a:solidFill>
                  <a:schemeClr val="tx1"/>
                </a:solidFill>
                <a:latin typeface="Times New Roman" panose="02020603050405020304" pitchFamily="18" charset="0"/>
              </a:rPr>
              <a:t>T</a:t>
            </a:r>
            <a:r>
              <a:rPr lang="zh-CN" altLang="en-US" sz="2800" b="1" u="none" dirty="0">
                <a:solidFill>
                  <a:schemeClr val="tx1"/>
                </a:solidFill>
                <a:latin typeface="Times New Roman" panose="02020603050405020304" pitchFamily="18" charset="0"/>
              </a:rPr>
              <a:t>；</a:t>
            </a:r>
            <a:r>
              <a:rPr lang="en-US" altLang="zh-CN" sz="2800" b="1" u="none" dirty="0">
                <a:solidFill>
                  <a:schemeClr val="tx1"/>
                </a:solidFill>
                <a:latin typeface="Times New Roman" panose="02020603050405020304" pitchFamily="18" charset="0"/>
              </a:rPr>
              <a:t>E</a:t>
            </a:r>
            <a:r>
              <a:rPr lang="en-US" altLang="zh-CN" sz="2800" b="1" u="none" dirty="0">
                <a:solidFill>
                  <a:schemeClr val="tx1"/>
                </a:solidFill>
                <a:latin typeface="Times New Roman" panose="02020603050405020304" pitchFamily="18" charset="0"/>
                <a:sym typeface="Symbol" panose="05050102010706020507" pitchFamily="18" charset="2"/>
              </a:rPr>
              <a:t></a:t>
            </a:r>
            <a:r>
              <a:rPr lang="en-US" altLang="zh-CN" sz="2800" b="1" u="none" dirty="0">
                <a:solidFill>
                  <a:schemeClr val="tx1"/>
                </a:solidFill>
                <a:latin typeface="Times New Roman" panose="02020603050405020304" pitchFamily="18" charset="0"/>
              </a:rPr>
              <a:t>	</a:t>
            </a:r>
            <a:endParaRPr lang="en-US" altLang="zh-CN" sz="2800" b="1" u="none" dirty="0">
              <a:solidFill>
                <a:schemeClr val="tx1"/>
              </a:solidFill>
              <a:latin typeface="Times New Roman" panose="02020603050405020304" pitchFamily="18" charset="0"/>
            </a:endParaRPr>
          </a:p>
          <a:p>
            <a:pPr eaLnBrk="0" hangingPunct="0"/>
            <a:r>
              <a:rPr lang="en-US" altLang="zh-CN" sz="2800" b="1" u="none" dirty="0">
                <a:solidFill>
                  <a:schemeClr val="tx1"/>
                </a:solidFill>
                <a:latin typeface="Times New Roman" panose="02020603050405020304" pitchFamily="18" charset="0"/>
              </a:rPr>
              <a:t>     END</a:t>
            </a:r>
            <a:endParaRPr lang="en-US" altLang="zh-CN" sz="2800" b="1" u="none" dirty="0">
              <a:solidFill>
                <a:schemeClr val="tx1"/>
              </a:solidFill>
              <a:latin typeface="Times New Roman" panose="02020603050405020304" pitchFamily="18"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124932"/>
                                        </p:tgtEl>
                                        <p:attrNameLst>
                                          <p:attrName>style.visibility</p:attrName>
                                        </p:attrNameLst>
                                      </p:cBhvr>
                                      <p:to>
                                        <p:strVal val="visible"/>
                                      </p:to>
                                    </p:set>
                                    <p:animEffect transition="in" filter="blinds(vertical)">
                                      <p:cBhvr>
                                        <p:cTn id="7" dur="500"/>
                                        <p:tgtEl>
                                          <p:spTgt spid="12493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124934"/>
                                        </p:tgtEl>
                                        <p:attrNameLst>
                                          <p:attrName>style.visibility</p:attrName>
                                        </p:attrNameLst>
                                      </p:cBhvr>
                                      <p:to>
                                        <p:strVal val="visible"/>
                                      </p:to>
                                    </p:set>
                                    <p:animEffect transition="in" filter="blinds(vertical)">
                                      <p:cBhvr>
                                        <p:cTn id="12" dur="500"/>
                                        <p:tgtEl>
                                          <p:spTgt spid="1249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32" grpId="0"/>
      <p:bldP spid="124934"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1"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258052" name="Rectangle 4"/>
          <p:cNvSpPr/>
          <p:nvPr/>
        </p:nvSpPr>
        <p:spPr>
          <a:xfrm>
            <a:off x="539750" y="3933825"/>
            <a:ext cx="3657600" cy="1752600"/>
          </a:xfrm>
          <a:prstGeom prst="rect">
            <a:avLst/>
          </a:prstGeom>
          <a:noFill/>
          <a:ln w="9525">
            <a:noFill/>
          </a:ln>
        </p:spPr>
        <p:txBody>
          <a:bodyPr anchor="t"/>
          <a:p>
            <a:pPr eaLnBrk="0" hangingPunct="0"/>
            <a:r>
              <a:rPr lang="en-US" altLang="zh-CN" sz="2800" b="1" u="none" dirty="0">
                <a:solidFill>
                  <a:schemeClr val="tx1"/>
                </a:solidFill>
                <a:latin typeface="Times New Roman" panose="02020603050405020304" pitchFamily="18" charset="0"/>
              </a:rPr>
              <a:t>PROCEDURE  T</a:t>
            </a:r>
            <a:r>
              <a:rPr lang="zh-CN" altLang="en-US" sz="2800" b="1" u="none" dirty="0">
                <a:solidFill>
                  <a:schemeClr val="tx1"/>
                </a:solidFill>
                <a:latin typeface="Times New Roman" panose="02020603050405020304" pitchFamily="18" charset="0"/>
              </a:rPr>
              <a:t>；</a:t>
            </a:r>
            <a:endParaRPr lang="zh-CN" altLang="en-US" sz="2800" b="1" u="none" dirty="0">
              <a:solidFill>
                <a:schemeClr val="tx1"/>
              </a:solidFill>
              <a:latin typeface="Times New Roman" panose="02020603050405020304" pitchFamily="18" charset="0"/>
            </a:endParaRPr>
          </a:p>
          <a:p>
            <a:pPr eaLnBrk="0" hangingPunct="0"/>
            <a:r>
              <a:rPr lang="en-US" altLang="zh-CN" sz="2800" b="1" u="none" dirty="0">
                <a:solidFill>
                  <a:schemeClr val="tx1"/>
                </a:solidFill>
                <a:latin typeface="Times New Roman" panose="02020603050405020304" pitchFamily="18" charset="0"/>
              </a:rPr>
              <a:t>BEGIN</a:t>
            </a:r>
            <a:endParaRPr lang="en-US" altLang="zh-CN" sz="2800" b="1" u="none" dirty="0">
              <a:solidFill>
                <a:schemeClr val="tx1"/>
              </a:solidFill>
              <a:latin typeface="Times New Roman" panose="02020603050405020304" pitchFamily="18" charset="0"/>
            </a:endParaRPr>
          </a:p>
          <a:p>
            <a:pPr eaLnBrk="0" hangingPunct="0"/>
            <a:r>
              <a:rPr lang="en-US" altLang="zh-CN" sz="2800" b="1" u="none" dirty="0">
                <a:solidFill>
                  <a:schemeClr val="tx1"/>
                </a:solidFill>
                <a:latin typeface="Times New Roman" panose="02020603050405020304" pitchFamily="18" charset="0"/>
              </a:rPr>
              <a:t>	   F</a:t>
            </a:r>
            <a:r>
              <a:rPr lang="zh-CN" altLang="en-US" sz="2800" b="1" u="none" dirty="0">
                <a:solidFill>
                  <a:schemeClr val="tx1"/>
                </a:solidFill>
                <a:latin typeface="Times New Roman" panose="02020603050405020304" pitchFamily="18" charset="0"/>
              </a:rPr>
              <a:t>；</a:t>
            </a:r>
            <a:r>
              <a:rPr lang="en-US" altLang="zh-CN" sz="2800" b="1" u="none" dirty="0">
                <a:solidFill>
                  <a:schemeClr val="tx1"/>
                </a:solidFill>
                <a:latin typeface="Times New Roman" panose="02020603050405020304" pitchFamily="18" charset="0"/>
              </a:rPr>
              <a:t>T</a:t>
            </a:r>
            <a:r>
              <a:rPr lang="en-US" altLang="zh-CN" sz="2800" b="1" u="none" dirty="0">
                <a:solidFill>
                  <a:schemeClr val="tx1"/>
                </a:solidFill>
                <a:latin typeface="Times New Roman" panose="02020603050405020304" pitchFamily="18" charset="0"/>
                <a:sym typeface="Symbol" panose="05050102010706020507" pitchFamily="18" charset="2"/>
              </a:rPr>
              <a:t></a:t>
            </a:r>
            <a:endParaRPr lang="en-US" altLang="zh-CN" sz="2800" b="1" u="none" dirty="0">
              <a:solidFill>
                <a:schemeClr val="tx1"/>
              </a:solidFill>
              <a:latin typeface="Times New Roman" panose="02020603050405020304" pitchFamily="18" charset="0"/>
            </a:endParaRPr>
          </a:p>
          <a:p>
            <a:pPr eaLnBrk="0" hangingPunct="0"/>
            <a:r>
              <a:rPr lang="en-US" altLang="zh-CN" sz="2800" b="1" u="none" dirty="0">
                <a:solidFill>
                  <a:schemeClr val="tx1"/>
                </a:solidFill>
                <a:latin typeface="Times New Roman" panose="02020603050405020304" pitchFamily="18" charset="0"/>
              </a:rPr>
              <a:t>END</a:t>
            </a:r>
            <a:endParaRPr lang="en-US" altLang="zh-CN" sz="2800" b="1" u="none" dirty="0">
              <a:solidFill>
                <a:schemeClr val="tx1"/>
              </a:solidFill>
              <a:latin typeface="Times New Roman" panose="02020603050405020304" pitchFamily="18" charset="0"/>
            </a:endParaRPr>
          </a:p>
          <a:p>
            <a:pPr eaLnBrk="0" hangingPunct="0"/>
            <a:endParaRPr lang="en-US" altLang="zh-CN" sz="2800" b="1" u="none" dirty="0">
              <a:solidFill>
                <a:schemeClr val="tx1"/>
              </a:solidFill>
              <a:latin typeface="Times New Roman" panose="02020603050405020304" pitchFamily="18" charset="0"/>
            </a:endParaRPr>
          </a:p>
        </p:txBody>
      </p:sp>
      <p:sp>
        <p:nvSpPr>
          <p:cNvPr id="258054" name="Rectangle 6"/>
          <p:cNvSpPr/>
          <p:nvPr/>
        </p:nvSpPr>
        <p:spPr>
          <a:xfrm>
            <a:off x="4572000" y="3581400"/>
            <a:ext cx="3810000" cy="3048000"/>
          </a:xfrm>
          <a:prstGeom prst="rect">
            <a:avLst/>
          </a:prstGeom>
          <a:noFill/>
          <a:ln w="9525">
            <a:noFill/>
          </a:ln>
        </p:spPr>
        <p:txBody>
          <a:bodyPr anchor="t"/>
          <a:p>
            <a:pPr eaLnBrk="0" hangingPunct="0"/>
            <a:r>
              <a:rPr lang="en-US" altLang="zh-CN" sz="2800" b="1" u="none" dirty="0">
                <a:solidFill>
                  <a:schemeClr val="tx1"/>
                </a:solidFill>
                <a:latin typeface="Times New Roman" panose="02020603050405020304" pitchFamily="18" charset="0"/>
              </a:rPr>
              <a:t>PROCEDURE  T</a:t>
            </a:r>
            <a:r>
              <a:rPr lang="en-US" altLang="zh-CN" sz="2800" b="1" u="none" dirty="0">
                <a:solidFill>
                  <a:schemeClr val="tx1"/>
                </a:solidFill>
                <a:latin typeface="Times New Roman" panose="02020603050405020304" pitchFamily="18" charset="0"/>
                <a:sym typeface="Symbol" panose="05050102010706020507" pitchFamily="18" charset="2"/>
              </a:rPr>
              <a:t></a:t>
            </a:r>
            <a:r>
              <a:rPr lang="zh-CN" altLang="en-US" sz="2800" b="1" u="none" dirty="0">
                <a:solidFill>
                  <a:schemeClr val="tx1"/>
                </a:solidFill>
                <a:latin typeface="Times New Roman" panose="02020603050405020304" pitchFamily="18" charset="0"/>
              </a:rPr>
              <a:t>；</a:t>
            </a:r>
            <a:endParaRPr lang="zh-CN" altLang="en-US" sz="2800" b="1" u="none" dirty="0">
              <a:solidFill>
                <a:schemeClr val="tx1"/>
              </a:solidFill>
              <a:latin typeface="Times New Roman" panose="02020603050405020304" pitchFamily="18" charset="0"/>
            </a:endParaRPr>
          </a:p>
          <a:p>
            <a:pPr eaLnBrk="0" hangingPunct="0"/>
            <a:r>
              <a:rPr lang="en-US" altLang="zh-CN" sz="2800" b="1" u="none" dirty="0">
                <a:solidFill>
                  <a:schemeClr val="tx1"/>
                </a:solidFill>
                <a:latin typeface="Times New Roman" panose="02020603050405020304" pitchFamily="18" charset="0"/>
              </a:rPr>
              <a:t>IF SYM=‘*’ THEN</a:t>
            </a:r>
            <a:endParaRPr lang="en-US" altLang="zh-CN" sz="2800" b="1" u="none" dirty="0">
              <a:solidFill>
                <a:schemeClr val="tx1"/>
              </a:solidFill>
              <a:latin typeface="Times New Roman" panose="02020603050405020304" pitchFamily="18" charset="0"/>
            </a:endParaRPr>
          </a:p>
          <a:p>
            <a:pPr eaLnBrk="0" hangingPunct="0"/>
            <a:r>
              <a:rPr lang="en-US" altLang="zh-CN" sz="2800" b="1" u="none" dirty="0">
                <a:solidFill>
                  <a:schemeClr val="tx1"/>
                </a:solidFill>
                <a:latin typeface="Times New Roman" panose="02020603050405020304" pitchFamily="18" charset="0"/>
              </a:rPr>
              <a:t>BEGIN</a:t>
            </a:r>
            <a:endParaRPr lang="en-US" altLang="zh-CN" sz="2800" b="1" u="none" dirty="0">
              <a:solidFill>
                <a:schemeClr val="tx1"/>
              </a:solidFill>
              <a:latin typeface="Times New Roman" panose="02020603050405020304" pitchFamily="18" charset="0"/>
            </a:endParaRPr>
          </a:p>
          <a:p>
            <a:pPr eaLnBrk="0" hangingPunct="0"/>
            <a:r>
              <a:rPr lang="en-US" altLang="zh-CN" sz="2800" b="1" u="none" dirty="0">
                <a:solidFill>
                  <a:schemeClr val="tx1"/>
                </a:solidFill>
                <a:latin typeface="Times New Roman" panose="02020603050405020304" pitchFamily="18" charset="0"/>
              </a:rPr>
              <a:t>    ADVANCE</a:t>
            </a:r>
            <a:r>
              <a:rPr lang="zh-CN" altLang="en-US" sz="2800" b="1" u="none" dirty="0">
                <a:solidFill>
                  <a:schemeClr val="tx1"/>
                </a:solidFill>
                <a:latin typeface="Times New Roman" panose="02020603050405020304" pitchFamily="18" charset="0"/>
              </a:rPr>
              <a:t>；</a:t>
            </a:r>
            <a:endParaRPr lang="zh-CN" altLang="en-US" sz="2800" b="1" u="none" dirty="0">
              <a:solidFill>
                <a:schemeClr val="tx1"/>
              </a:solidFill>
              <a:latin typeface="Times New Roman" panose="02020603050405020304" pitchFamily="18" charset="0"/>
            </a:endParaRPr>
          </a:p>
          <a:p>
            <a:pPr eaLnBrk="0" hangingPunct="0"/>
            <a:r>
              <a:rPr lang="zh-CN" altLang="en-US" sz="2800" b="1" u="none" dirty="0">
                <a:solidFill>
                  <a:schemeClr val="tx1"/>
                </a:solidFill>
                <a:latin typeface="Times New Roman" panose="02020603050405020304" pitchFamily="18" charset="0"/>
              </a:rPr>
              <a:t>    </a:t>
            </a:r>
            <a:r>
              <a:rPr lang="en-US" altLang="zh-CN" sz="2800" b="1" u="none" dirty="0">
                <a:solidFill>
                  <a:schemeClr val="tx1"/>
                </a:solidFill>
                <a:latin typeface="Times New Roman" panose="02020603050405020304" pitchFamily="18" charset="0"/>
              </a:rPr>
              <a:t>F</a:t>
            </a:r>
            <a:r>
              <a:rPr lang="zh-CN" altLang="en-US" sz="2800" b="1" u="none" dirty="0">
                <a:solidFill>
                  <a:schemeClr val="tx1"/>
                </a:solidFill>
                <a:latin typeface="Times New Roman" panose="02020603050405020304" pitchFamily="18" charset="0"/>
              </a:rPr>
              <a:t>；</a:t>
            </a:r>
            <a:r>
              <a:rPr lang="en-US" altLang="zh-CN" sz="2800" b="1" u="none" dirty="0">
                <a:solidFill>
                  <a:schemeClr val="tx1"/>
                </a:solidFill>
                <a:latin typeface="Times New Roman" panose="02020603050405020304" pitchFamily="18" charset="0"/>
              </a:rPr>
              <a:t>T</a:t>
            </a:r>
            <a:r>
              <a:rPr lang="en-US" altLang="zh-CN" sz="2800" b="1" u="none" dirty="0">
                <a:solidFill>
                  <a:schemeClr val="tx1"/>
                </a:solidFill>
                <a:latin typeface="Times New Roman" panose="02020603050405020304" pitchFamily="18" charset="0"/>
                <a:sym typeface="Symbol" panose="05050102010706020507" pitchFamily="18" charset="2"/>
              </a:rPr>
              <a:t></a:t>
            </a:r>
            <a:endParaRPr lang="en-US" altLang="zh-CN" sz="2800" b="1" u="none" dirty="0">
              <a:solidFill>
                <a:schemeClr val="tx1"/>
              </a:solidFill>
              <a:latin typeface="Times New Roman" panose="02020603050405020304" pitchFamily="18" charset="0"/>
            </a:endParaRPr>
          </a:p>
          <a:p>
            <a:pPr eaLnBrk="0" hangingPunct="0"/>
            <a:r>
              <a:rPr lang="en-US" altLang="zh-CN" sz="2800" b="1" u="none" dirty="0">
                <a:solidFill>
                  <a:schemeClr val="tx1"/>
                </a:solidFill>
                <a:latin typeface="Times New Roman" panose="02020603050405020304" pitchFamily="18" charset="0"/>
              </a:rPr>
              <a:t>END</a:t>
            </a:r>
            <a:r>
              <a:rPr lang="zh-CN" altLang="en-US" sz="2800" b="1" u="none" dirty="0">
                <a:solidFill>
                  <a:schemeClr val="tx1"/>
                </a:solidFill>
                <a:latin typeface="Times New Roman" panose="02020603050405020304" pitchFamily="18" charset="0"/>
              </a:rPr>
              <a:t>；</a:t>
            </a:r>
            <a:endParaRPr lang="zh-CN" altLang="en-US" sz="2800" b="1" u="none" dirty="0">
              <a:solidFill>
                <a:schemeClr val="tx1"/>
              </a:solidFill>
              <a:latin typeface="Times New Roman" panose="02020603050405020304" pitchFamily="18" charset="0"/>
            </a:endParaRPr>
          </a:p>
        </p:txBody>
      </p:sp>
      <p:sp>
        <p:nvSpPr>
          <p:cNvPr id="66564" name="Rectangle 8"/>
          <p:cNvSpPr/>
          <p:nvPr/>
        </p:nvSpPr>
        <p:spPr>
          <a:xfrm>
            <a:off x="539750" y="333375"/>
            <a:ext cx="8207375" cy="2311400"/>
          </a:xfrm>
          <a:prstGeom prst="rect">
            <a:avLst/>
          </a:prstGeom>
          <a:noFill/>
          <a:ln w="9525">
            <a:noFill/>
          </a:ln>
        </p:spPr>
        <p:txBody>
          <a:bodyPr anchor="t"/>
          <a:p>
            <a:pPr marL="342900" indent="-342900">
              <a:spcBef>
                <a:spcPct val="20000"/>
              </a:spcBef>
              <a:buClr>
                <a:schemeClr val="bg2"/>
              </a:buClr>
              <a:buSzPct val="75000"/>
              <a:buFont typeface="Wingdings" panose="05000000000000000000" pitchFamily="2" charset="2"/>
              <a:buChar char="n"/>
            </a:pPr>
            <a:r>
              <a:rPr lang="zh-CN" altLang="en-US" sz="3200" b="1" u="none" dirty="0">
                <a:solidFill>
                  <a:schemeClr val="tx1"/>
                </a:solidFill>
                <a:latin typeface="宋体" panose="02010600030101010101" pitchFamily="2" charset="-122"/>
              </a:rPr>
              <a:t>例</a:t>
            </a:r>
            <a:r>
              <a:rPr lang="en-US" altLang="zh-CN" sz="3200" b="1" u="none" dirty="0">
                <a:solidFill>
                  <a:schemeClr val="tx1"/>
                </a:solidFill>
                <a:latin typeface="宋体" panose="02010600030101010101" pitchFamily="2" charset="-122"/>
              </a:rPr>
              <a:t>:</a:t>
            </a:r>
            <a:r>
              <a:rPr lang="zh-CN" altLang="en-US" sz="3200" b="1" u="none" dirty="0">
                <a:solidFill>
                  <a:schemeClr val="tx1"/>
                </a:solidFill>
                <a:latin typeface="宋体" panose="02010600030101010101" pitchFamily="2" charset="-122"/>
              </a:rPr>
              <a:t>文法</a:t>
            </a:r>
            <a:r>
              <a:rPr lang="en-US" altLang="zh-CN" sz="3200" b="1" u="none" dirty="0">
                <a:solidFill>
                  <a:schemeClr val="tx1"/>
                </a:solidFill>
                <a:latin typeface="宋体" panose="02010600030101010101" pitchFamily="2" charset="-122"/>
              </a:rPr>
              <a:t>G(E):</a:t>
            </a:r>
            <a:endParaRPr lang="en-US" altLang="zh-CN" sz="3200" b="1" u="none" dirty="0">
              <a:solidFill>
                <a:schemeClr val="tx1"/>
              </a:solidFill>
              <a:latin typeface="宋体" panose="02010600030101010101" pitchFamily="2" charset="-122"/>
            </a:endParaRPr>
          </a:p>
          <a:p>
            <a:pPr marL="742950" lvl="1" indent="-285750" algn="l" eaLnBrk="1" hangingPunct="1">
              <a:buClr>
                <a:schemeClr val="accent2"/>
              </a:buClr>
              <a:buSzPct val="80000"/>
              <a:buFont typeface="Wingdings" panose="05000000000000000000" pitchFamily="2" charset="2"/>
            </a:pPr>
            <a:r>
              <a:rPr lang="en-US" altLang="zh-CN" sz="2800" b="1" u="none" dirty="0">
                <a:solidFill>
                  <a:schemeClr val="tx1"/>
                </a:solidFill>
                <a:latin typeface="Arial" panose="020B0604020202020204" pitchFamily="34" charset="0"/>
              </a:rPr>
              <a:t>E→TE</a:t>
            </a:r>
            <a:r>
              <a:rPr lang="en-US" altLang="zh-CN" sz="2800" b="1" u="none" dirty="0">
                <a:solidFill>
                  <a:schemeClr val="tx1"/>
                </a:solidFill>
                <a:latin typeface="Arial" panose="020B0604020202020204" pitchFamily="34" charset="0"/>
                <a:sym typeface="Symbol" panose="05050102010706020507" pitchFamily="18" charset="2"/>
              </a:rPr>
              <a:t></a:t>
            </a:r>
            <a:endParaRPr lang="en-US" altLang="zh-CN" sz="2800" b="1" u="none" dirty="0">
              <a:solidFill>
                <a:schemeClr val="tx1"/>
              </a:solidFill>
              <a:latin typeface="Arial" panose="020B0604020202020204" pitchFamily="34" charset="0"/>
            </a:endParaRPr>
          </a:p>
          <a:p>
            <a:pPr marL="742950" lvl="1" indent="-285750" algn="l" eaLnBrk="1" hangingPunct="1">
              <a:buClr>
                <a:schemeClr val="accent2"/>
              </a:buClr>
              <a:buSzPct val="80000"/>
              <a:buFont typeface="Wingdings" panose="05000000000000000000" pitchFamily="2" charset="2"/>
            </a:pPr>
            <a:r>
              <a:rPr lang="en-US" altLang="zh-CN" sz="2800" b="1" u="none" dirty="0">
                <a:solidFill>
                  <a:schemeClr val="tx1"/>
                </a:solidFill>
                <a:latin typeface="Arial" panose="020B0604020202020204" pitchFamily="34" charset="0"/>
              </a:rPr>
              <a:t>E</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→+TE</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 | </a:t>
            </a:r>
            <a:r>
              <a:rPr lang="en-US" altLang="zh-CN" sz="2800" b="1" u="none" dirty="0">
                <a:solidFill>
                  <a:schemeClr val="tx1"/>
                </a:solidFill>
                <a:latin typeface="Arial" panose="020B0604020202020204" pitchFamily="34" charset="0"/>
                <a:sym typeface="Symbol" panose="05050102010706020507" pitchFamily="18" charset="2"/>
              </a:rPr>
              <a:t></a:t>
            </a:r>
            <a:endParaRPr lang="en-US" altLang="zh-CN" sz="2800" b="1" u="none" dirty="0">
              <a:solidFill>
                <a:schemeClr val="tx1"/>
              </a:solidFill>
              <a:latin typeface="Arial" panose="020B0604020202020204" pitchFamily="34" charset="0"/>
            </a:endParaRPr>
          </a:p>
          <a:p>
            <a:pPr marL="742950" lvl="1" indent="-285750" algn="l" eaLnBrk="1" hangingPunct="1">
              <a:buClr>
                <a:schemeClr val="accent2"/>
              </a:buClr>
              <a:buSzPct val="80000"/>
              <a:buFont typeface="Wingdings" panose="05000000000000000000" pitchFamily="2" charset="2"/>
            </a:pPr>
            <a:r>
              <a:rPr lang="en-US" altLang="zh-CN" sz="2800" b="1" u="none" dirty="0">
                <a:solidFill>
                  <a:srgbClr val="FF0000"/>
                </a:solidFill>
                <a:latin typeface="Arial" panose="020B0604020202020204" pitchFamily="34" charset="0"/>
              </a:rPr>
              <a:t>T→FT</a:t>
            </a:r>
            <a:r>
              <a:rPr lang="en-US" altLang="zh-CN" sz="2800" b="1" u="none" dirty="0">
                <a:solidFill>
                  <a:srgbClr val="FF0000"/>
                </a:solidFill>
                <a:latin typeface="Arial" panose="020B0604020202020204" pitchFamily="34" charset="0"/>
                <a:sym typeface="Symbol" panose="05050102010706020507" pitchFamily="18" charset="2"/>
              </a:rPr>
              <a:t></a:t>
            </a:r>
            <a:r>
              <a:rPr lang="en-US" altLang="zh-CN" sz="2800" b="1" u="none" dirty="0">
                <a:solidFill>
                  <a:srgbClr val="FF0000"/>
                </a:solidFill>
                <a:latin typeface="Arial" panose="020B0604020202020204" pitchFamily="34" charset="0"/>
              </a:rPr>
              <a:t>                         </a:t>
            </a:r>
            <a:endParaRPr lang="en-US" altLang="zh-CN" sz="2800" b="1" u="none" dirty="0">
              <a:solidFill>
                <a:srgbClr val="FF0000"/>
              </a:solidFill>
              <a:latin typeface="Arial" panose="020B0604020202020204" pitchFamily="34" charset="0"/>
            </a:endParaRPr>
          </a:p>
          <a:p>
            <a:pPr marL="742950" lvl="1" indent="-285750" algn="l" eaLnBrk="1" hangingPunct="1">
              <a:buClr>
                <a:schemeClr val="accent2"/>
              </a:buClr>
              <a:buSzPct val="80000"/>
              <a:buFont typeface="Wingdings" panose="05000000000000000000" pitchFamily="2" charset="2"/>
            </a:pPr>
            <a:r>
              <a:rPr lang="en-US" altLang="zh-CN" sz="2800" b="1" u="none" dirty="0">
                <a:solidFill>
                  <a:srgbClr val="FF0000"/>
                </a:solidFill>
                <a:latin typeface="Arial" panose="020B0604020202020204" pitchFamily="34" charset="0"/>
              </a:rPr>
              <a:t>T</a:t>
            </a:r>
            <a:r>
              <a:rPr lang="en-US" altLang="zh-CN" sz="2800" b="1" u="none" dirty="0">
                <a:solidFill>
                  <a:srgbClr val="FF0000"/>
                </a:solidFill>
                <a:latin typeface="Arial" panose="020B0604020202020204" pitchFamily="34" charset="0"/>
                <a:sym typeface="Symbol" panose="05050102010706020507" pitchFamily="18" charset="2"/>
              </a:rPr>
              <a:t></a:t>
            </a:r>
            <a:r>
              <a:rPr lang="en-US" altLang="zh-CN" sz="2800" b="1" u="none" dirty="0">
                <a:solidFill>
                  <a:srgbClr val="FF0000"/>
                </a:solidFill>
                <a:latin typeface="Arial" panose="020B0604020202020204" pitchFamily="34" charset="0"/>
              </a:rPr>
              <a:t>→*FT</a:t>
            </a:r>
            <a:r>
              <a:rPr lang="en-US" altLang="zh-CN" sz="2800" b="1" u="none" dirty="0">
                <a:solidFill>
                  <a:srgbClr val="FF0000"/>
                </a:solidFill>
                <a:latin typeface="Arial" panose="020B0604020202020204" pitchFamily="34" charset="0"/>
                <a:sym typeface="Symbol" panose="05050102010706020507" pitchFamily="18" charset="2"/>
              </a:rPr>
              <a:t></a:t>
            </a:r>
            <a:r>
              <a:rPr lang="en-US" altLang="zh-CN" sz="2800" b="1" u="none" dirty="0">
                <a:solidFill>
                  <a:srgbClr val="FF0000"/>
                </a:solidFill>
                <a:latin typeface="Arial" panose="020B0604020202020204" pitchFamily="34" charset="0"/>
              </a:rPr>
              <a:t> | </a:t>
            </a:r>
            <a:r>
              <a:rPr lang="en-US" altLang="zh-CN" sz="2800" b="1" u="none" dirty="0">
                <a:solidFill>
                  <a:srgbClr val="FF0000"/>
                </a:solidFill>
                <a:latin typeface="Arial" panose="020B0604020202020204" pitchFamily="34" charset="0"/>
                <a:sym typeface="Symbol" panose="05050102010706020507" pitchFamily="18" charset="2"/>
              </a:rPr>
              <a:t></a:t>
            </a:r>
            <a:endParaRPr lang="en-US" altLang="zh-CN" sz="2800" b="1" u="none" dirty="0">
              <a:solidFill>
                <a:srgbClr val="FF0000"/>
              </a:solidFill>
              <a:latin typeface="Arial" panose="020B0604020202020204" pitchFamily="34" charset="0"/>
            </a:endParaRPr>
          </a:p>
          <a:p>
            <a:pPr marL="742950" lvl="1" indent="-285750" algn="l" eaLnBrk="1" hangingPunct="1">
              <a:buClr>
                <a:schemeClr val="accent2"/>
              </a:buClr>
              <a:buSzPct val="80000"/>
              <a:buFont typeface="Wingdings" panose="05000000000000000000" pitchFamily="2" charset="2"/>
            </a:pPr>
            <a:r>
              <a:rPr lang="en-US" altLang="zh-CN" sz="2800" b="1" u="none" dirty="0">
                <a:solidFill>
                  <a:schemeClr val="tx1"/>
                </a:solidFill>
                <a:latin typeface="Arial" panose="020B0604020202020204" pitchFamily="34" charset="0"/>
              </a:rPr>
              <a:t>F→(E) | i</a:t>
            </a:r>
            <a:endParaRPr lang="en-US" altLang="zh-CN" sz="2800" b="1" u="none" dirty="0">
              <a:solidFill>
                <a:schemeClr val="tx1"/>
              </a:solidFill>
              <a:latin typeface="Arial" panose="020B0604020202020204" pitchFamily="34" charset="0"/>
            </a:endParaRPr>
          </a:p>
          <a:p>
            <a:pPr marL="342900" indent="-342900">
              <a:buClr>
                <a:schemeClr val="bg2"/>
              </a:buClr>
              <a:buSzPct val="75000"/>
              <a:buFont typeface="Wingdings" panose="05000000000000000000" pitchFamily="2" charset="2"/>
              <a:buChar char="n"/>
            </a:pPr>
            <a:r>
              <a:rPr lang="zh-CN" altLang="en-US" sz="2800" b="1" u="none" dirty="0">
                <a:solidFill>
                  <a:schemeClr val="tx1"/>
                </a:solidFill>
                <a:latin typeface="宋体" panose="02010600030101010101" pitchFamily="2" charset="-122"/>
              </a:rPr>
              <a:t>对应的递归下降子程序为</a:t>
            </a:r>
            <a:r>
              <a:rPr lang="en-US" altLang="zh-CN" sz="2800" b="1" u="none" dirty="0">
                <a:solidFill>
                  <a:schemeClr val="tx1"/>
                </a:solidFill>
                <a:latin typeface="宋体" panose="02010600030101010101" pitchFamily="2" charset="-122"/>
              </a:rPr>
              <a:t>:</a:t>
            </a:r>
            <a:endParaRPr lang="en-US" altLang="zh-CN" sz="2800" b="1" u="none" dirty="0">
              <a:solidFill>
                <a:schemeClr val="tx1"/>
              </a:solidFill>
              <a:latin typeface="宋体" panose="02010600030101010101" pitchFamily="2" charset="-122"/>
            </a:endParaRPr>
          </a:p>
          <a:p>
            <a:pPr marL="342900" indent="-342900">
              <a:lnSpc>
                <a:spcPct val="8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a:t>
            </a:r>
            <a:endParaRPr lang="en-US" altLang="zh-CN" sz="2800" b="1" u="none" dirty="0">
              <a:solidFill>
                <a:schemeClr val="tx1"/>
              </a:solidFill>
              <a:latin typeface="Arial" panose="020B0604020202020204" pitchFamily="34"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258052"/>
                                        </p:tgtEl>
                                        <p:attrNameLst>
                                          <p:attrName>style.visibility</p:attrName>
                                        </p:attrNameLst>
                                      </p:cBhvr>
                                      <p:to>
                                        <p:strVal val="visible"/>
                                      </p:to>
                                    </p:set>
                                    <p:animEffect transition="in" filter="blinds(vertical)">
                                      <p:cBhvr>
                                        <p:cTn id="7" dur="500"/>
                                        <p:tgtEl>
                                          <p:spTgt spid="25805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258054"/>
                                        </p:tgtEl>
                                        <p:attrNameLst>
                                          <p:attrName>style.visibility</p:attrName>
                                        </p:attrNameLst>
                                      </p:cBhvr>
                                      <p:to>
                                        <p:strVal val="visible"/>
                                      </p:to>
                                    </p:set>
                                    <p:animEffect transition="in" filter="blinds(vertical)">
                                      <p:cBhvr>
                                        <p:cTn id="12" dur="500"/>
                                        <p:tgtEl>
                                          <p:spTgt spid="2580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8052" grpId="0"/>
      <p:bldP spid="258054"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5"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67586" name="Rectangle 8"/>
          <p:cNvSpPr/>
          <p:nvPr/>
        </p:nvSpPr>
        <p:spPr>
          <a:xfrm>
            <a:off x="323850" y="188913"/>
            <a:ext cx="8208963" cy="3024187"/>
          </a:xfrm>
          <a:prstGeom prst="rect">
            <a:avLst/>
          </a:prstGeom>
          <a:noFill/>
          <a:ln w="9525">
            <a:noFill/>
          </a:ln>
        </p:spPr>
        <p:txBody>
          <a:bodyPr anchor="t"/>
          <a:p>
            <a:pPr marL="342900" indent="-342900">
              <a:spcBef>
                <a:spcPct val="20000"/>
              </a:spcBef>
              <a:buClr>
                <a:schemeClr val="bg2"/>
              </a:buClr>
              <a:buSzPct val="75000"/>
              <a:buFont typeface="Wingdings" panose="05000000000000000000" pitchFamily="2" charset="2"/>
              <a:buChar char="n"/>
            </a:pPr>
            <a:r>
              <a:rPr lang="zh-CN" altLang="en-US" sz="3200" b="1" u="none" dirty="0">
                <a:solidFill>
                  <a:schemeClr val="tx1"/>
                </a:solidFill>
                <a:latin typeface="宋体" panose="02010600030101010101" pitchFamily="2" charset="-122"/>
              </a:rPr>
              <a:t>例</a:t>
            </a:r>
            <a:r>
              <a:rPr lang="en-US" altLang="zh-CN" sz="3200" b="1" u="none" dirty="0">
                <a:solidFill>
                  <a:schemeClr val="tx1"/>
                </a:solidFill>
                <a:latin typeface="宋体" panose="02010600030101010101" pitchFamily="2" charset="-122"/>
              </a:rPr>
              <a:t>:</a:t>
            </a:r>
            <a:r>
              <a:rPr lang="zh-CN" altLang="en-US" sz="3200" b="1" u="none" dirty="0">
                <a:solidFill>
                  <a:schemeClr val="tx1"/>
                </a:solidFill>
                <a:latin typeface="宋体" panose="02010600030101010101" pitchFamily="2" charset="-122"/>
              </a:rPr>
              <a:t>文法</a:t>
            </a:r>
            <a:r>
              <a:rPr lang="en-US" altLang="zh-CN" sz="3200" b="1" u="none" dirty="0">
                <a:solidFill>
                  <a:schemeClr val="tx1"/>
                </a:solidFill>
                <a:latin typeface="宋体" panose="02010600030101010101" pitchFamily="2" charset="-122"/>
              </a:rPr>
              <a:t>G(E):</a:t>
            </a:r>
            <a:endParaRPr lang="en-US" altLang="zh-CN" sz="3200" b="1" u="none" dirty="0">
              <a:solidFill>
                <a:schemeClr val="tx1"/>
              </a:solidFill>
              <a:latin typeface="宋体" panose="02010600030101010101" pitchFamily="2" charset="-122"/>
            </a:endParaRPr>
          </a:p>
          <a:p>
            <a:pPr marL="742950" lvl="1" indent="-285750" algn="l" eaLnBrk="1" hangingPunct="1">
              <a:buClr>
                <a:schemeClr val="accent2"/>
              </a:buClr>
              <a:buSzPct val="80000"/>
              <a:buFont typeface="Wingdings" panose="05000000000000000000" pitchFamily="2" charset="2"/>
            </a:pPr>
            <a:r>
              <a:rPr lang="en-US" altLang="zh-CN" sz="2800" b="1" u="none" dirty="0">
                <a:solidFill>
                  <a:schemeClr val="tx1"/>
                </a:solidFill>
                <a:latin typeface="Arial" panose="020B0604020202020204" pitchFamily="34" charset="0"/>
              </a:rPr>
              <a:t>E→TE</a:t>
            </a:r>
            <a:r>
              <a:rPr lang="en-US" altLang="zh-CN" sz="2800" b="1" u="none" dirty="0">
                <a:solidFill>
                  <a:schemeClr val="tx1"/>
                </a:solidFill>
                <a:latin typeface="Arial" panose="020B0604020202020204" pitchFamily="34" charset="0"/>
                <a:sym typeface="Symbol" panose="05050102010706020507" pitchFamily="18" charset="2"/>
              </a:rPr>
              <a:t></a:t>
            </a:r>
            <a:endParaRPr lang="en-US" altLang="zh-CN" sz="2800" b="1" u="none" dirty="0">
              <a:solidFill>
                <a:schemeClr val="tx1"/>
              </a:solidFill>
              <a:latin typeface="Arial" panose="020B0604020202020204" pitchFamily="34" charset="0"/>
            </a:endParaRPr>
          </a:p>
          <a:p>
            <a:pPr marL="742950" lvl="1" indent="-285750" algn="l" eaLnBrk="1" hangingPunct="1">
              <a:buClr>
                <a:schemeClr val="accent2"/>
              </a:buClr>
              <a:buSzPct val="80000"/>
              <a:buFont typeface="Wingdings" panose="05000000000000000000" pitchFamily="2" charset="2"/>
            </a:pPr>
            <a:r>
              <a:rPr lang="en-US" altLang="zh-CN" sz="2800" b="1" u="none" dirty="0">
                <a:solidFill>
                  <a:schemeClr val="tx1"/>
                </a:solidFill>
                <a:latin typeface="Arial" panose="020B0604020202020204" pitchFamily="34" charset="0"/>
              </a:rPr>
              <a:t>E</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→+TE</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 | </a:t>
            </a:r>
            <a:r>
              <a:rPr lang="en-US" altLang="zh-CN" sz="2800" b="1" u="none" dirty="0">
                <a:solidFill>
                  <a:schemeClr val="tx1"/>
                </a:solidFill>
                <a:latin typeface="Arial" panose="020B0604020202020204" pitchFamily="34" charset="0"/>
                <a:sym typeface="Symbol" panose="05050102010706020507" pitchFamily="18" charset="2"/>
              </a:rPr>
              <a:t></a:t>
            </a:r>
            <a:endParaRPr lang="en-US" altLang="zh-CN" sz="2800" b="1" u="none" dirty="0">
              <a:solidFill>
                <a:schemeClr val="tx1"/>
              </a:solidFill>
              <a:latin typeface="Arial" panose="020B0604020202020204" pitchFamily="34" charset="0"/>
            </a:endParaRPr>
          </a:p>
          <a:p>
            <a:pPr marL="742950" lvl="1" indent="-285750" algn="l" eaLnBrk="1" hangingPunct="1">
              <a:buClr>
                <a:schemeClr val="accent2"/>
              </a:buClr>
              <a:buSzPct val="80000"/>
              <a:buFont typeface="Wingdings" panose="05000000000000000000" pitchFamily="2" charset="2"/>
            </a:pPr>
            <a:r>
              <a:rPr lang="en-US" altLang="zh-CN" sz="2800" b="1" u="none" dirty="0">
                <a:solidFill>
                  <a:schemeClr val="tx1"/>
                </a:solidFill>
                <a:latin typeface="Arial" panose="020B0604020202020204" pitchFamily="34" charset="0"/>
              </a:rPr>
              <a:t>T→FT</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                         </a:t>
            </a:r>
            <a:endParaRPr lang="en-US" altLang="zh-CN" sz="2800" b="1" u="none" dirty="0">
              <a:solidFill>
                <a:schemeClr val="tx1"/>
              </a:solidFill>
              <a:latin typeface="Arial" panose="020B0604020202020204" pitchFamily="34" charset="0"/>
            </a:endParaRPr>
          </a:p>
          <a:p>
            <a:pPr marL="742950" lvl="1" indent="-285750" algn="l" eaLnBrk="1" hangingPunct="1">
              <a:buClr>
                <a:schemeClr val="accent2"/>
              </a:buClr>
              <a:buSzPct val="80000"/>
              <a:buFont typeface="Wingdings" panose="05000000000000000000" pitchFamily="2" charset="2"/>
            </a:pPr>
            <a:r>
              <a:rPr lang="en-US" altLang="zh-CN" sz="2800" b="1" u="none" dirty="0">
                <a:solidFill>
                  <a:schemeClr val="tx1"/>
                </a:solidFill>
                <a:latin typeface="Arial" panose="020B0604020202020204" pitchFamily="34" charset="0"/>
              </a:rPr>
              <a:t>T</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→*FT</a:t>
            </a:r>
            <a:r>
              <a:rPr lang="en-US" altLang="zh-CN" sz="2800" b="1" u="none" dirty="0">
                <a:solidFill>
                  <a:schemeClr val="tx1"/>
                </a:solidFill>
                <a:latin typeface="Arial" panose="020B0604020202020204" pitchFamily="34" charset="0"/>
                <a:sym typeface="Symbol" panose="05050102010706020507" pitchFamily="18" charset="2"/>
              </a:rPr>
              <a:t></a:t>
            </a:r>
            <a:r>
              <a:rPr lang="en-US" altLang="zh-CN" sz="2800" b="1" u="none" dirty="0">
                <a:solidFill>
                  <a:schemeClr val="tx1"/>
                </a:solidFill>
                <a:latin typeface="Arial" panose="020B0604020202020204" pitchFamily="34" charset="0"/>
              </a:rPr>
              <a:t> | </a:t>
            </a:r>
            <a:r>
              <a:rPr lang="en-US" altLang="zh-CN" sz="2800" b="1" u="none" dirty="0">
                <a:solidFill>
                  <a:schemeClr val="tx1"/>
                </a:solidFill>
                <a:latin typeface="Arial" panose="020B0604020202020204" pitchFamily="34" charset="0"/>
                <a:sym typeface="Symbol" panose="05050102010706020507" pitchFamily="18" charset="2"/>
              </a:rPr>
              <a:t></a:t>
            </a:r>
            <a:endParaRPr lang="en-US" altLang="zh-CN" sz="2800" b="1" u="none" dirty="0">
              <a:solidFill>
                <a:schemeClr val="tx1"/>
              </a:solidFill>
              <a:latin typeface="Arial" panose="020B0604020202020204" pitchFamily="34" charset="0"/>
            </a:endParaRPr>
          </a:p>
          <a:p>
            <a:pPr marL="742950" lvl="1" indent="-285750" algn="l" eaLnBrk="1" hangingPunct="1">
              <a:buClr>
                <a:schemeClr val="accent2"/>
              </a:buClr>
              <a:buSzPct val="80000"/>
              <a:buFont typeface="Wingdings" panose="05000000000000000000" pitchFamily="2" charset="2"/>
            </a:pPr>
            <a:r>
              <a:rPr lang="en-US" altLang="zh-CN" sz="2800" b="1" u="none" dirty="0">
                <a:solidFill>
                  <a:srgbClr val="FF0000"/>
                </a:solidFill>
                <a:latin typeface="Arial" panose="020B0604020202020204" pitchFamily="34" charset="0"/>
              </a:rPr>
              <a:t>F→(E) | i</a:t>
            </a:r>
            <a:endParaRPr lang="en-US" altLang="zh-CN" sz="2800" b="1" u="none" dirty="0">
              <a:solidFill>
                <a:srgbClr val="FF0000"/>
              </a:solidFill>
              <a:latin typeface="Arial" panose="020B0604020202020204" pitchFamily="34" charset="0"/>
            </a:endParaRPr>
          </a:p>
          <a:p>
            <a:pPr marL="342900" indent="-342900">
              <a:buClr>
                <a:schemeClr val="bg2"/>
              </a:buClr>
              <a:buSzPct val="75000"/>
              <a:buFont typeface="Wingdings" panose="05000000000000000000" pitchFamily="2" charset="2"/>
              <a:buChar char="n"/>
            </a:pPr>
            <a:r>
              <a:rPr lang="zh-CN" altLang="en-US" sz="2800" b="1" u="none" dirty="0">
                <a:solidFill>
                  <a:schemeClr val="tx1"/>
                </a:solidFill>
                <a:latin typeface="宋体" panose="02010600030101010101" pitchFamily="2" charset="-122"/>
              </a:rPr>
              <a:t>对应的递归下降子程序为</a:t>
            </a:r>
            <a:r>
              <a:rPr lang="en-US" altLang="zh-CN" sz="2800" b="1" u="none" dirty="0">
                <a:solidFill>
                  <a:schemeClr val="tx1"/>
                </a:solidFill>
                <a:latin typeface="宋体" panose="02010600030101010101" pitchFamily="2" charset="-122"/>
              </a:rPr>
              <a:t>:</a:t>
            </a:r>
            <a:endParaRPr lang="en-US" altLang="zh-CN" sz="2800" b="1" u="none" dirty="0">
              <a:solidFill>
                <a:schemeClr val="tx1"/>
              </a:solidFill>
              <a:latin typeface="宋体" panose="02010600030101010101" pitchFamily="2" charset="-122"/>
            </a:endParaRPr>
          </a:p>
          <a:p>
            <a:pPr marL="342900" indent="-342900">
              <a:lnSpc>
                <a:spcPct val="80000"/>
              </a:lnSpc>
              <a:buClr>
                <a:schemeClr val="bg2"/>
              </a:buClr>
              <a:buSzPct val="75000"/>
              <a:buFont typeface="Wingdings" panose="05000000000000000000" pitchFamily="2" charset="2"/>
            </a:pPr>
            <a:r>
              <a:rPr lang="en-US" altLang="zh-CN" sz="2800" b="1" u="none" dirty="0">
                <a:solidFill>
                  <a:schemeClr val="tx1"/>
                </a:solidFill>
                <a:latin typeface="Arial" panose="020B0604020202020204" pitchFamily="34" charset="0"/>
              </a:rPr>
              <a:t>    </a:t>
            </a:r>
            <a:endParaRPr lang="en-US" altLang="zh-CN" sz="2800" b="1" u="none" dirty="0">
              <a:solidFill>
                <a:schemeClr val="tx1"/>
              </a:solidFill>
              <a:latin typeface="Arial" panose="020B0604020202020204" pitchFamily="34" charset="0"/>
            </a:endParaRPr>
          </a:p>
        </p:txBody>
      </p:sp>
      <p:sp>
        <p:nvSpPr>
          <p:cNvPr id="125955" name="Rectangle 3"/>
          <p:cNvSpPr>
            <a:spLocks noGrp="1"/>
          </p:cNvSpPr>
          <p:nvPr>
            <p:ph type="body"/>
          </p:nvPr>
        </p:nvSpPr>
        <p:spPr>
          <a:xfrm>
            <a:off x="2916238" y="1700213"/>
            <a:ext cx="6048375" cy="4824412"/>
          </a:xfrm>
          <a:solidFill>
            <a:srgbClr val="FFFF99"/>
          </a:solidFill>
          <a:ln>
            <a:solidFill>
              <a:srgbClr val="FF0000"/>
            </a:solidFill>
            <a:miter/>
          </a:ln>
        </p:spPr>
        <p:txBody>
          <a:bodyPr vert="horz" wrap="square" lIns="91440" tIns="45720" rIns="91440" bIns="45720" anchor="t"/>
          <a:p>
            <a:pPr eaLnBrk="1" hangingPunct="1">
              <a:spcBef>
                <a:spcPct val="0"/>
              </a:spcBef>
              <a:buNone/>
            </a:pPr>
            <a:r>
              <a:rPr lang="en-US" altLang="zh-CN" sz="2600" b="1" dirty="0"/>
              <a:t>   PROCEDURE  F</a:t>
            </a:r>
            <a:r>
              <a:rPr lang="zh-CN" altLang="en-US" sz="2600" b="1" dirty="0"/>
              <a:t>；</a:t>
            </a:r>
            <a:endParaRPr lang="zh-CN" altLang="en-US" sz="2600" b="1" dirty="0"/>
          </a:p>
          <a:p>
            <a:pPr eaLnBrk="1" hangingPunct="1">
              <a:spcBef>
                <a:spcPct val="0"/>
              </a:spcBef>
              <a:buNone/>
            </a:pPr>
            <a:r>
              <a:rPr lang="zh-CN" altLang="en-US" sz="2600" b="1" dirty="0"/>
              <a:t>   </a:t>
            </a:r>
            <a:r>
              <a:rPr lang="en-US" altLang="zh-CN" sz="2600" b="1" dirty="0"/>
              <a:t>IF SYM=‘i’ THEN ADVANCE</a:t>
            </a:r>
            <a:endParaRPr lang="en-US" altLang="zh-CN" sz="2600" b="1" dirty="0"/>
          </a:p>
          <a:p>
            <a:pPr eaLnBrk="1" hangingPunct="1">
              <a:spcBef>
                <a:spcPct val="0"/>
              </a:spcBef>
              <a:buNone/>
            </a:pPr>
            <a:r>
              <a:rPr lang="en-US" altLang="zh-CN" sz="2600" b="1" dirty="0"/>
              <a:t>   ELSE</a:t>
            </a:r>
            <a:endParaRPr lang="en-US" altLang="zh-CN" sz="2600" b="1" dirty="0"/>
          </a:p>
          <a:p>
            <a:pPr eaLnBrk="1" hangingPunct="1">
              <a:spcBef>
                <a:spcPct val="0"/>
              </a:spcBef>
              <a:buNone/>
            </a:pPr>
            <a:r>
              <a:rPr lang="en-US" altLang="zh-CN" sz="2600" b="1" dirty="0"/>
              <a:t>	   IF SYM=‘(’ THEN</a:t>
            </a:r>
            <a:endParaRPr lang="en-US" altLang="zh-CN" sz="2600" b="1" dirty="0"/>
          </a:p>
          <a:p>
            <a:pPr eaLnBrk="1" hangingPunct="1">
              <a:spcBef>
                <a:spcPct val="0"/>
              </a:spcBef>
              <a:buNone/>
            </a:pPr>
            <a:r>
              <a:rPr lang="en-US" altLang="zh-CN" sz="2600" b="1" dirty="0"/>
              <a:t>	   BEGIN</a:t>
            </a:r>
            <a:endParaRPr lang="en-US" altLang="zh-CN" sz="2600" b="1" dirty="0"/>
          </a:p>
          <a:p>
            <a:pPr eaLnBrk="1" hangingPunct="1">
              <a:spcBef>
                <a:spcPct val="0"/>
              </a:spcBef>
              <a:buNone/>
            </a:pPr>
            <a:r>
              <a:rPr lang="en-US" altLang="zh-CN" sz="2600" b="1" dirty="0"/>
              <a:t>	       ADVANCE;</a:t>
            </a:r>
            <a:endParaRPr lang="en-US" altLang="zh-CN" sz="2600" b="1" dirty="0"/>
          </a:p>
          <a:p>
            <a:pPr eaLnBrk="1" hangingPunct="1">
              <a:spcBef>
                <a:spcPct val="0"/>
              </a:spcBef>
              <a:buNone/>
            </a:pPr>
            <a:r>
              <a:rPr lang="en-US" altLang="zh-CN" sz="2600" b="1" dirty="0"/>
              <a:t>		 E</a:t>
            </a:r>
            <a:r>
              <a:rPr lang="zh-CN" altLang="en-US" sz="2600" b="1" dirty="0"/>
              <a:t>；</a:t>
            </a:r>
            <a:endParaRPr lang="zh-CN" altLang="en-US" sz="2600" b="1" dirty="0"/>
          </a:p>
          <a:p>
            <a:pPr eaLnBrk="1" hangingPunct="1">
              <a:spcBef>
                <a:spcPct val="0"/>
              </a:spcBef>
              <a:buNone/>
            </a:pPr>
            <a:r>
              <a:rPr lang="zh-CN" altLang="en-US" sz="2600" b="1" dirty="0"/>
              <a:t>		 </a:t>
            </a:r>
            <a:r>
              <a:rPr lang="en-US" altLang="zh-CN" sz="2600" b="1" dirty="0"/>
              <a:t>IF SYM=‘)’ THEN ADVANCE</a:t>
            </a:r>
            <a:endParaRPr lang="en-US" altLang="zh-CN" sz="2600" b="1" dirty="0"/>
          </a:p>
          <a:p>
            <a:pPr eaLnBrk="1" hangingPunct="1">
              <a:spcBef>
                <a:spcPct val="0"/>
              </a:spcBef>
              <a:buNone/>
            </a:pPr>
            <a:r>
              <a:rPr lang="en-US" altLang="zh-CN" sz="2600" b="1" dirty="0"/>
              <a:t>		     ELSE ERROR</a:t>
            </a:r>
            <a:endParaRPr lang="en-US" altLang="zh-CN" sz="2600" b="1" dirty="0"/>
          </a:p>
          <a:p>
            <a:pPr eaLnBrk="1" hangingPunct="1">
              <a:spcBef>
                <a:spcPct val="0"/>
              </a:spcBef>
              <a:buNone/>
            </a:pPr>
            <a:r>
              <a:rPr lang="en-US" altLang="zh-CN" sz="2600" b="1" dirty="0"/>
              <a:t>	   END</a:t>
            </a:r>
            <a:endParaRPr lang="en-US" altLang="zh-CN" sz="2600" b="1" dirty="0"/>
          </a:p>
          <a:p>
            <a:pPr eaLnBrk="1" hangingPunct="1">
              <a:spcBef>
                <a:spcPct val="0"/>
              </a:spcBef>
              <a:buNone/>
            </a:pPr>
            <a:r>
              <a:rPr lang="en-US" altLang="zh-CN" sz="2600" b="1" dirty="0"/>
              <a:t>	   ELSE ERROR;</a:t>
            </a:r>
            <a:endParaRPr lang="en-US" altLang="zh-CN" sz="2600" b="1"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5955"/>
                                        </p:tgtEl>
                                        <p:attrNameLst>
                                          <p:attrName>style.visibility</p:attrName>
                                        </p:attrNameLst>
                                      </p:cBhvr>
                                      <p:to>
                                        <p:strVal val="visible"/>
                                      </p:to>
                                    </p:set>
                                    <p:animEffect transition="in" filter="dissolve">
                                      <p:cBhvr>
                                        <p:cTn id="7" dur="500"/>
                                        <p:tgtEl>
                                          <p:spTgt spid="12595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25955">
                                            <p:txEl>
                                              <p:charRg st="0" end="17"/>
                                            </p:txEl>
                                          </p:spTgt>
                                        </p:tgtEl>
                                        <p:attrNameLst>
                                          <p:attrName>style.visibility</p:attrName>
                                        </p:attrNameLst>
                                      </p:cBhvr>
                                      <p:to>
                                        <p:strVal val="visible"/>
                                      </p:to>
                                    </p:set>
                                    <p:animEffect transition="in" filter="dissolve">
                                      <p:cBhvr>
                                        <p:cTn id="12" dur="500"/>
                                        <p:tgtEl>
                                          <p:spTgt spid="125955">
                                            <p:txEl>
                                              <p:charRg st="0" end="1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25955">
                                            <p:txEl>
                                              <p:charRg st="17" end="44"/>
                                            </p:txEl>
                                          </p:spTgt>
                                        </p:tgtEl>
                                        <p:attrNameLst>
                                          <p:attrName>style.visibility</p:attrName>
                                        </p:attrNameLst>
                                      </p:cBhvr>
                                      <p:to>
                                        <p:strVal val="visible"/>
                                      </p:to>
                                    </p:set>
                                    <p:animEffect transition="in" filter="dissolve">
                                      <p:cBhvr>
                                        <p:cTn id="17" dur="500"/>
                                        <p:tgtEl>
                                          <p:spTgt spid="125955">
                                            <p:txEl>
                                              <p:charRg st="17" end="4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25955">
                                            <p:txEl>
                                              <p:charRg st="44" end="52"/>
                                            </p:txEl>
                                          </p:spTgt>
                                        </p:tgtEl>
                                        <p:attrNameLst>
                                          <p:attrName>style.visibility</p:attrName>
                                        </p:attrNameLst>
                                      </p:cBhvr>
                                      <p:to>
                                        <p:strVal val="visible"/>
                                      </p:to>
                                    </p:set>
                                    <p:animEffect transition="in" filter="dissolve">
                                      <p:cBhvr>
                                        <p:cTn id="22" dur="500"/>
                                        <p:tgtEl>
                                          <p:spTgt spid="125955">
                                            <p:txEl>
                                              <p:charRg st="44" end="5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25955">
                                            <p:txEl>
                                              <p:charRg st="52" end="72"/>
                                            </p:txEl>
                                          </p:spTgt>
                                        </p:tgtEl>
                                        <p:attrNameLst>
                                          <p:attrName>style.visibility</p:attrName>
                                        </p:attrNameLst>
                                      </p:cBhvr>
                                      <p:to>
                                        <p:strVal val="visible"/>
                                      </p:to>
                                    </p:set>
                                    <p:animEffect transition="in" filter="dissolve">
                                      <p:cBhvr>
                                        <p:cTn id="27" dur="500"/>
                                        <p:tgtEl>
                                          <p:spTgt spid="125955">
                                            <p:txEl>
                                              <p:charRg st="52" end="7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25955">
                                            <p:txEl>
                                              <p:charRg st="72" end="82"/>
                                            </p:txEl>
                                          </p:spTgt>
                                        </p:tgtEl>
                                        <p:attrNameLst>
                                          <p:attrName>style.visibility</p:attrName>
                                        </p:attrNameLst>
                                      </p:cBhvr>
                                      <p:to>
                                        <p:strVal val="visible"/>
                                      </p:to>
                                    </p:set>
                                    <p:animEffect transition="in" filter="dissolve">
                                      <p:cBhvr>
                                        <p:cTn id="32" dur="500"/>
                                        <p:tgtEl>
                                          <p:spTgt spid="125955">
                                            <p:txEl>
                                              <p:charRg st="72" end="8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25955">
                                            <p:txEl>
                                              <p:charRg st="82" end="99"/>
                                            </p:txEl>
                                          </p:spTgt>
                                        </p:tgtEl>
                                        <p:attrNameLst>
                                          <p:attrName>style.visibility</p:attrName>
                                        </p:attrNameLst>
                                      </p:cBhvr>
                                      <p:to>
                                        <p:strVal val="visible"/>
                                      </p:to>
                                    </p:set>
                                    <p:animEffect transition="in" filter="dissolve">
                                      <p:cBhvr>
                                        <p:cTn id="37" dur="500"/>
                                        <p:tgtEl>
                                          <p:spTgt spid="125955">
                                            <p:txEl>
                                              <p:charRg st="82" end="9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25955">
                                            <p:txEl>
                                              <p:charRg st="99" end="105"/>
                                            </p:txEl>
                                          </p:spTgt>
                                        </p:tgtEl>
                                        <p:attrNameLst>
                                          <p:attrName>style.visibility</p:attrName>
                                        </p:attrNameLst>
                                      </p:cBhvr>
                                      <p:to>
                                        <p:strVal val="visible"/>
                                      </p:to>
                                    </p:set>
                                    <p:animEffect transition="in" filter="dissolve">
                                      <p:cBhvr>
                                        <p:cTn id="42" dur="500"/>
                                        <p:tgtEl>
                                          <p:spTgt spid="125955">
                                            <p:txEl>
                                              <p:charRg st="99" end="105"/>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25955">
                                            <p:txEl>
                                              <p:charRg st="105" end="132"/>
                                            </p:txEl>
                                          </p:spTgt>
                                        </p:tgtEl>
                                        <p:attrNameLst>
                                          <p:attrName>style.visibility</p:attrName>
                                        </p:attrNameLst>
                                      </p:cBhvr>
                                      <p:to>
                                        <p:strVal val="visible"/>
                                      </p:to>
                                    </p:set>
                                    <p:animEffect transition="in" filter="dissolve">
                                      <p:cBhvr>
                                        <p:cTn id="47" dur="500"/>
                                        <p:tgtEl>
                                          <p:spTgt spid="125955">
                                            <p:txEl>
                                              <p:charRg st="105" end="13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125955">
                                            <p:txEl>
                                              <p:charRg st="132" end="150"/>
                                            </p:txEl>
                                          </p:spTgt>
                                        </p:tgtEl>
                                        <p:attrNameLst>
                                          <p:attrName>style.visibility</p:attrName>
                                        </p:attrNameLst>
                                      </p:cBhvr>
                                      <p:to>
                                        <p:strVal val="visible"/>
                                      </p:to>
                                    </p:set>
                                    <p:animEffect transition="in" filter="dissolve">
                                      <p:cBhvr>
                                        <p:cTn id="52" dur="500"/>
                                        <p:tgtEl>
                                          <p:spTgt spid="125955">
                                            <p:txEl>
                                              <p:charRg st="132" end="15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125955">
                                            <p:txEl>
                                              <p:charRg st="150" end="158"/>
                                            </p:txEl>
                                          </p:spTgt>
                                        </p:tgtEl>
                                        <p:attrNameLst>
                                          <p:attrName>style.visibility</p:attrName>
                                        </p:attrNameLst>
                                      </p:cBhvr>
                                      <p:to>
                                        <p:strVal val="visible"/>
                                      </p:to>
                                    </p:set>
                                    <p:animEffect transition="in" filter="dissolve">
                                      <p:cBhvr>
                                        <p:cTn id="57" dur="500"/>
                                        <p:tgtEl>
                                          <p:spTgt spid="125955">
                                            <p:txEl>
                                              <p:charRg st="150" end="158"/>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125955">
                                            <p:txEl>
                                              <p:charRg st="158" end="174"/>
                                            </p:txEl>
                                          </p:spTgt>
                                        </p:tgtEl>
                                        <p:attrNameLst>
                                          <p:attrName>style.visibility</p:attrName>
                                        </p:attrNameLst>
                                      </p:cBhvr>
                                      <p:to>
                                        <p:strVal val="visible"/>
                                      </p:to>
                                    </p:set>
                                    <p:animEffect transition="in" filter="dissolve">
                                      <p:cBhvr>
                                        <p:cTn id="62" dur="500"/>
                                        <p:tgtEl>
                                          <p:spTgt spid="125955">
                                            <p:txEl>
                                              <p:charRg st="158" end="17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5" grpId="0" animBg="1"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09"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68610" name="Rectangle 2"/>
          <p:cNvSpPr/>
          <p:nvPr/>
        </p:nvSpPr>
        <p:spPr>
          <a:xfrm>
            <a:off x="1676400" y="1524000"/>
            <a:ext cx="4953000" cy="3124200"/>
          </a:xfrm>
          <a:prstGeom prst="rect">
            <a:avLst/>
          </a:prstGeom>
          <a:noFill/>
          <a:ln w="9525">
            <a:noFill/>
          </a:ln>
        </p:spPr>
        <p:txBody>
          <a:bodyPr anchor="t"/>
          <a:p>
            <a:pPr eaLnBrk="0" hangingPunct="0"/>
            <a:r>
              <a:rPr lang="" altLang="en-US" sz="3000" b="1" u="none" dirty="0">
                <a:solidFill>
                  <a:schemeClr val="tx1"/>
                </a:solidFill>
                <a:latin typeface="Times New Roman" panose="02020603050405020304" pitchFamily="18" charset="0"/>
              </a:rPr>
              <a:t>主程序:</a:t>
            </a:r>
            <a:endParaRPr lang="" altLang="en-US" sz="3000" b="1" u="none" dirty="0">
              <a:solidFill>
                <a:schemeClr val="tx1"/>
              </a:solidFill>
              <a:latin typeface="Times New Roman" panose="02020603050405020304" pitchFamily="18" charset="0"/>
            </a:endParaRPr>
          </a:p>
          <a:p>
            <a:pPr eaLnBrk="0" hangingPunct="0"/>
            <a:r>
              <a:rPr lang="" altLang="zh-CN" sz="3000" b="1" u="none" dirty="0">
                <a:solidFill>
                  <a:schemeClr val="tx1"/>
                </a:solidFill>
                <a:latin typeface="Times New Roman" panose="02020603050405020304" pitchFamily="18" charset="0"/>
              </a:rPr>
              <a:t>PROGRAM PARSER;</a:t>
            </a:r>
            <a:endParaRPr lang="" altLang="zh-CN" sz="3000" b="1" u="none" dirty="0">
              <a:solidFill>
                <a:schemeClr val="tx1"/>
              </a:solidFill>
              <a:latin typeface="Times New Roman" panose="02020603050405020304" pitchFamily="18" charset="0"/>
            </a:endParaRPr>
          </a:p>
          <a:p>
            <a:pPr eaLnBrk="0" hangingPunct="0"/>
            <a:r>
              <a:rPr lang="" altLang="zh-CN" sz="3000" b="1" u="none" dirty="0">
                <a:solidFill>
                  <a:schemeClr val="tx1"/>
                </a:solidFill>
                <a:latin typeface="Times New Roman" panose="02020603050405020304" pitchFamily="18" charset="0"/>
              </a:rPr>
              <a:t>BEGIN</a:t>
            </a:r>
            <a:endParaRPr lang="" altLang="zh-CN" sz="3000" b="1" u="none" dirty="0">
              <a:solidFill>
                <a:schemeClr val="tx1"/>
              </a:solidFill>
              <a:latin typeface="Times New Roman" panose="02020603050405020304" pitchFamily="18" charset="0"/>
            </a:endParaRPr>
          </a:p>
          <a:p>
            <a:pPr eaLnBrk="0" hangingPunct="0"/>
            <a:r>
              <a:rPr lang="" altLang="zh-CN" sz="3000" b="1" u="none" dirty="0">
                <a:solidFill>
                  <a:schemeClr val="tx1"/>
                </a:solidFill>
                <a:latin typeface="Times New Roman" panose="02020603050405020304" pitchFamily="18" charset="0"/>
              </a:rPr>
              <a:t>    ADVANCE;</a:t>
            </a:r>
            <a:endParaRPr lang="" altLang="zh-CN" sz="3000" b="1" u="none" dirty="0">
              <a:solidFill>
                <a:schemeClr val="tx1"/>
              </a:solidFill>
              <a:latin typeface="Times New Roman" panose="02020603050405020304" pitchFamily="18" charset="0"/>
            </a:endParaRPr>
          </a:p>
          <a:p>
            <a:pPr eaLnBrk="0" hangingPunct="0"/>
            <a:r>
              <a:rPr lang="" altLang="zh-CN" sz="3000" b="1" u="none" dirty="0">
                <a:solidFill>
                  <a:schemeClr val="tx1"/>
                </a:solidFill>
                <a:latin typeface="Times New Roman" panose="02020603050405020304" pitchFamily="18" charset="0"/>
              </a:rPr>
              <a:t>    E;</a:t>
            </a:r>
            <a:endParaRPr lang="" altLang="zh-CN" sz="3000" b="1" u="none" dirty="0">
              <a:solidFill>
                <a:schemeClr val="tx1"/>
              </a:solidFill>
              <a:latin typeface="Times New Roman" panose="02020603050405020304" pitchFamily="18" charset="0"/>
            </a:endParaRPr>
          </a:p>
          <a:p>
            <a:pPr eaLnBrk="0" hangingPunct="0"/>
            <a:r>
              <a:rPr lang="" altLang="zh-CN" sz="3000" b="1" u="none" dirty="0">
                <a:solidFill>
                  <a:schemeClr val="tx1"/>
                </a:solidFill>
                <a:latin typeface="Times New Roman" panose="02020603050405020304" pitchFamily="18" charset="0"/>
              </a:rPr>
              <a:t>    IF SYM &lt;&gt;’#’ THEN </a:t>
            </a:r>
            <a:endParaRPr lang="" altLang="zh-CN" sz="3000" b="1" u="none" dirty="0">
              <a:solidFill>
                <a:schemeClr val="tx1"/>
              </a:solidFill>
              <a:latin typeface="Times New Roman" panose="02020603050405020304" pitchFamily="18" charset="0"/>
            </a:endParaRPr>
          </a:p>
          <a:p>
            <a:pPr eaLnBrk="0" hangingPunct="0"/>
            <a:r>
              <a:rPr lang="" altLang="zh-CN" sz="3000" b="1" u="none" dirty="0">
                <a:solidFill>
                  <a:schemeClr val="tx1"/>
                </a:solidFill>
                <a:latin typeface="Times New Roman" panose="02020603050405020304" pitchFamily="18" charset="0"/>
              </a:rPr>
              <a:t>        ERROR</a:t>
            </a:r>
            <a:endParaRPr lang="" altLang="zh-CN" sz="3000" b="1" u="none" dirty="0">
              <a:solidFill>
                <a:schemeClr val="tx1"/>
              </a:solidFill>
              <a:latin typeface="Times New Roman" panose="02020603050405020304" pitchFamily="18" charset="0"/>
            </a:endParaRPr>
          </a:p>
          <a:p>
            <a:pPr eaLnBrk="0" hangingPunct="0"/>
            <a:r>
              <a:rPr lang="" altLang="zh-CN" sz="3000" b="1" u="none" dirty="0">
                <a:solidFill>
                  <a:schemeClr val="tx1"/>
                </a:solidFill>
                <a:latin typeface="Times New Roman" panose="02020603050405020304" pitchFamily="18" charset="0"/>
              </a:rPr>
              <a:t>END;</a:t>
            </a:r>
            <a:endParaRPr lang="" altLang="zh-CN" sz="3000" b="1" u="none" dirty="0">
              <a:solidFill>
                <a:schemeClr val="tx1"/>
              </a:solidFill>
              <a:latin typeface="Times New Roman" panose="02020603050405020304" pitchFamily="18" charset="0"/>
            </a:endParaRPr>
          </a:p>
        </p:txBody>
      </p:sp>
    </p:spTree>
  </p:cSld>
  <p:clrMapOvr>
    <a:masterClrMapping/>
  </p:clrMapOvr>
  <p:transition spd="med">
    <p:zoom/>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3"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69634" name="Rectangle 2"/>
          <p:cNvSpPr>
            <a:spLocks noGrp="1"/>
          </p:cNvSpPr>
          <p:nvPr>
            <p:ph type="body"/>
          </p:nvPr>
        </p:nvSpPr>
        <p:spPr>
          <a:xfrm>
            <a:off x="685800" y="685800"/>
            <a:ext cx="7543800" cy="685800"/>
          </a:xfrm>
          <a:ln/>
        </p:spPr>
        <p:txBody>
          <a:bodyPr vert="horz" wrap="square" lIns="91440" tIns="45720" rIns="91440" bIns="45720" anchor="t"/>
          <a:p>
            <a:pPr eaLnBrk="1" hangingPunct="1">
              <a:lnSpc>
                <a:spcPct val="90000"/>
              </a:lnSpc>
            </a:pPr>
            <a:r>
              <a:rPr lang="zh-CN" altLang="en-US" sz="2600" b="1" dirty="0">
                <a:latin typeface="宋体" panose="02010600030101010101" pitchFamily="2" charset="-122"/>
              </a:rPr>
              <a:t>对应的递归下降子程序为</a:t>
            </a:r>
            <a:r>
              <a:rPr lang="en-US" altLang="zh-CN" sz="2600" b="1" dirty="0">
                <a:latin typeface="宋体" panose="02010600030101010101" pitchFamily="2" charset="-122"/>
              </a:rPr>
              <a:t>:</a:t>
            </a:r>
            <a:endParaRPr lang="en-US" altLang="zh-CN" sz="2600" b="1" dirty="0">
              <a:latin typeface="宋体" panose="02010600030101010101" pitchFamily="2" charset="-122"/>
            </a:endParaRPr>
          </a:p>
          <a:p>
            <a:pPr eaLnBrk="1" hangingPunct="1">
              <a:lnSpc>
                <a:spcPct val="90000"/>
              </a:lnSpc>
              <a:spcBef>
                <a:spcPct val="0"/>
              </a:spcBef>
              <a:buNone/>
            </a:pPr>
            <a:r>
              <a:rPr lang="en-US" altLang="zh-CN" sz="2600" b="1" dirty="0"/>
              <a:t>    </a:t>
            </a:r>
            <a:endParaRPr lang="en-US" altLang="zh-CN" sz="2100" b="1" dirty="0"/>
          </a:p>
        </p:txBody>
      </p:sp>
      <p:sp>
        <p:nvSpPr>
          <p:cNvPr id="174083" name="Rectangle 3"/>
          <p:cNvSpPr/>
          <p:nvPr/>
        </p:nvSpPr>
        <p:spPr>
          <a:xfrm>
            <a:off x="762000" y="1752600"/>
            <a:ext cx="8001000" cy="4343400"/>
          </a:xfrm>
          <a:prstGeom prst="rect">
            <a:avLst/>
          </a:prstGeom>
          <a:noFill/>
          <a:ln w="9525">
            <a:noFill/>
          </a:ln>
        </p:spPr>
        <p:txBody>
          <a:bodyPr anchor="t"/>
          <a:p>
            <a:pPr eaLnBrk="0" hangingPunct="0"/>
            <a:r>
              <a:rPr lang="en-US" altLang="zh-CN" sz="3200" b="1" u="none" dirty="0">
                <a:solidFill>
                  <a:schemeClr val="tx1"/>
                </a:solidFill>
                <a:latin typeface="Times New Roman" panose="02020603050405020304" pitchFamily="18" charset="0"/>
              </a:rPr>
              <a:t>E→TE</a:t>
            </a:r>
            <a:r>
              <a:rPr lang="en-US" altLang="zh-CN" sz="3200" b="1" u="none" dirty="0">
                <a:solidFill>
                  <a:schemeClr val="tx1"/>
                </a:solidFill>
                <a:latin typeface="Times New Roman" panose="02020603050405020304" pitchFamily="18" charset="0"/>
                <a:sym typeface="Symbol" panose="05050102010706020507" pitchFamily="18" charset="2"/>
              </a:rPr>
              <a:t></a:t>
            </a:r>
            <a:r>
              <a:rPr lang="en-US" altLang="zh-CN" sz="3200" b="1" u="none" dirty="0">
                <a:solidFill>
                  <a:schemeClr val="tx1"/>
                </a:solidFill>
                <a:latin typeface="Times New Roman" panose="02020603050405020304" pitchFamily="18" charset="0"/>
              </a:rPr>
              <a:t> | BC</a:t>
            </a:r>
            <a:endParaRPr lang="en-US" altLang="zh-CN" sz="2800" b="1" u="none" dirty="0">
              <a:solidFill>
                <a:schemeClr val="tx1"/>
              </a:solidFill>
              <a:latin typeface="Times New Roman" panose="02020603050405020304" pitchFamily="18" charset="0"/>
            </a:endParaRPr>
          </a:p>
          <a:p>
            <a:pPr eaLnBrk="0" hangingPunct="0"/>
            <a:r>
              <a:rPr lang="en-US" altLang="zh-CN" sz="2800" b="1" u="none" dirty="0">
                <a:solidFill>
                  <a:schemeClr val="tx1"/>
                </a:solidFill>
                <a:latin typeface="Times New Roman" panose="02020603050405020304" pitchFamily="18" charset="0"/>
              </a:rPr>
              <a:t>PROCEDURE  E</a:t>
            </a:r>
            <a:r>
              <a:rPr lang="zh-CN" altLang="en-US" sz="2800" b="1" u="none" dirty="0">
                <a:solidFill>
                  <a:schemeClr val="tx1"/>
                </a:solidFill>
                <a:latin typeface="Times New Roman" panose="02020603050405020304" pitchFamily="18" charset="0"/>
              </a:rPr>
              <a:t>；</a:t>
            </a:r>
            <a:endParaRPr lang="zh-CN" altLang="en-US" sz="2800" b="1" u="none" dirty="0">
              <a:solidFill>
                <a:schemeClr val="tx1"/>
              </a:solidFill>
              <a:latin typeface="Times New Roman" panose="02020603050405020304" pitchFamily="18" charset="0"/>
            </a:endParaRPr>
          </a:p>
          <a:p>
            <a:pPr eaLnBrk="0" hangingPunct="0"/>
            <a:r>
              <a:rPr lang="en-US" altLang="zh-CN" sz="2800" b="1" u="none" dirty="0">
                <a:solidFill>
                  <a:schemeClr val="tx1"/>
                </a:solidFill>
                <a:latin typeface="Times New Roman" panose="02020603050405020304" pitchFamily="18" charset="0"/>
              </a:rPr>
              <a:t>BEGIN</a:t>
            </a:r>
            <a:endParaRPr lang="en-US" altLang="zh-CN" sz="2800" b="1" u="none" dirty="0">
              <a:solidFill>
                <a:schemeClr val="tx1"/>
              </a:solidFill>
              <a:latin typeface="Times New Roman" panose="02020603050405020304" pitchFamily="18" charset="0"/>
            </a:endParaRPr>
          </a:p>
          <a:p>
            <a:pPr eaLnBrk="0" hangingPunct="0"/>
            <a:r>
              <a:rPr lang="en-US" altLang="zh-CN" sz="2800" b="1" u="none" dirty="0">
                <a:solidFill>
                  <a:schemeClr val="tx1"/>
                </a:solidFill>
                <a:latin typeface="Times New Roman" panose="02020603050405020304" pitchFamily="18" charset="0"/>
              </a:rPr>
              <a:t>	IF  SYM </a:t>
            </a:r>
            <a:r>
              <a:rPr lang="en-US" altLang="zh-CN" sz="2800" b="1" u="none" dirty="0">
                <a:solidFill>
                  <a:schemeClr val="tx1"/>
                </a:solidFill>
                <a:latin typeface="Times New Roman" panose="02020603050405020304" pitchFamily="18" charset="0"/>
                <a:sym typeface="Symbol" panose="05050102010706020507" pitchFamily="18" charset="2"/>
              </a:rPr>
              <a:t>FIRST(TE’)</a:t>
            </a:r>
            <a:r>
              <a:rPr lang="en-US" altLang="zh-CN" sz="2800" b="1" u="none" dirty="0">
                <a:solidFill>
                  <a:schemeClr val="tx1"/>
                </a:solidFill>
                <a:latin typeface="Times New Roman" panose="02020603050405020304" pitchFamily="18" charset="0"/>
              </a:rPr>
              <a:t>	THEN</a:t>
            </a:r>
            <a:endParaRPr lang="en-US" altLang="zh-CN" sz="2800" b="1" u="none" dirty="0">
              <a:solidFill>
                <a:schemeClr val="tx1"/>
              </a:solidFill>
              <a:latin typeface="Times New Roman" panose="02020603050405020304" pitchFamily="18" charset="0"/>
            </a:endParaRPr>
          </a:p>
          <a:p>
            <a:pPr eaLnBrk="0" hangingPunct="0"/>
            <a:r>
              <a:rPr lang="en-US" altLang="zh-CN" sz="2800" b="1" u="none" dirty="0">
                <a:solidFill>
                  <a:schemeClr val="tx1"/>
                </a:solidFill>
                <a:latin typeface="Times New Roman" panose="02020603050405020304" pitchFamily="18" charset="0"/>
              </a:rPr>
              <a:t>           	T</a:t>
            </a:r>
            <a:r>
              <a:rPr lang="zh-CN" altLang="en-US" sz="2800" b="1" u="none" dirty="0">
                <a:solidFill>
                  <a:schemeClr val="tx1"/>
                </a:solidFill>
                <a:latin typeface="Times New Roman" panose="02020603050405020304" pitchFamily="18" charset="0"/>
              </a:rPr>
              <a:t>；</a:t>
            </a:r>
            <a:r>
              <a:rPr lang="en-US" altLang="zh-CN" sz="2800" b="1" u="none" dirty="0">
                <a:solidFill>
                  <a:schemeClr val="tx1"/>
                </a:solidFill>
                <a:latin typeface="Times New Roman" panose="02020603050405020304" pitchFamily="18" charset="0"/>
              </a:rPr>
              <a:t>E</a:t>
            </a:r>
            <a:r>
              <a:rPr lang="en-US" altLang="zh-CN" sz="2800" b="1" u="none" dirty="0">
                <a:solidFill>
                  <a:schemeClr val="tx1"/>
                </a:solidFill>
                <a:latin typeface="Times New Roman" panose="02020603050405020304" pitchFamily="18" charset="0"/>
                <a:sym typeface="Symbol" panose="05050102010706020507" pitchFamily="18" charset="2"/>
              </a:rPr>
              <a:t></a:t>
            </a:r>
            <a:endParaRPr lang="en-US" altLang="zh-CN" sz="2800" b="1" u="none" dirty="0">
              <a:solidFill>
                <a:schemeClr val="tx1"/>
              </a:solidFill>
              <a:latin typeface="Times New Roman" panose="02020603050405020304" pitchFamily="18" charset="0"/>
              <a:sym typeface="Symbol" panose="05050102010706020507" pitchFamily="18" charset="2"/>
            </a:endParaRPr>
          </a:p>
          <a:p>
            <a:pPr eaLnBrk="0" hangingPunct="0"/>
            <a:r>
              <a:rPr lang="en-US" altLang="zh-CN" sz="2800" b="1" u="none" dirty="0">
                <a:solidFill>
                  <a:schemeClr val="tx1"/>
                </a:solidFill>
                <a:latin typeface="Times New Roman" panose="02020603050405020304" pitchFamily="18" charset="0"/>
                <a:sym typeface="Symbol" panose="05050102010706020507" pitchFamily="18" charset="2"/>
              </a:rPr>
              <a:t>	ELSE </a:t>
            </a:r>
            <a:r>
              <a:rPr lang="en-US" altLang="zh-CN" sz="2800" b="1" u="none" dirty="0">
                <a:solidFill>
                  <a:schemeClr val="tx1"/>
                </a:solidFill>
                <a:latin typeface="Times New Roman" panose="02020603050405020304" pitchFamily="18" charset="0"/>
              </a:rPr>
              <a:t>IF  SYM </a:t>
            </a:r>
            <a:r>
              <a:rPr lang="en-US" altLang="zh-CN" sz="2800" b="1" u="none" dirty="0">
                <a:solidFill>
                  <a:schemeClr val="tx1"/>
                </a:solidFill>
                <a:latin typeface="Times New Roman" panose="02020603050405020304" pitchFamily="18" charset="0"/>
                <a:sym typeface="Symbol" panose="05050102010706020507" pitchFamily="18" charset="2"/>
              </a:rPr>
              <a:t>FIRST(BC)</a:t>
            </a:r>
            <a:r>
              <a:rPr lang="en-US" altLang="zh-CN" sz="2800" b="1" u="none" dirty="0">
                <a:solidFill>
                  <a:schemeClr val="tx1"/>
                </a:solidFill>
                <a:latin typeface="Times New Roman" panose="02020603050405020304" pitchFamily="18" charset="0"/>
              </a:rPr>
              <a:t>	THEN</a:t>
            </a:r>
            <a:endParaRPr lang="en-US" altLang="zh-CN" sz="2800" b="1" u="none" dirty="0">
              <a:solidFill>
                <a:schemeClr val="tx1"/>
              </a:solidFill>
              <a:latin typeface="Times New Roman" panose="02020603050405020304" pitchFamily="18" charset="0"/>
            </a:endParaRPr>
          </a:p>
          <a:p>
            <a:pPr eaLnBrk="0" hangingPunct="0"/>
            <a:r>
              <a:rPr lang="en-US" altLang="zh-CN" sz="2800" b="1" u="none" dirty="0">
                <a:solidFill>
                  <a:schemeClr val="tx1"/>
                </a:solidFill>
                <a:latin typeface="Times New Roman" panose="02020603050405020304" pitchFamily="18" charset="0"/>
              </a:rPr>
              <a:t>		B; C</a:t>
            </a:r>
            <a:endParaRPr lang="en-US" altLang="zh-CN" sz="2800" b="1" u="none" dirty="0">
              <a:solidFill>
                <a:schemeClr val="tx1"/>
              </a:solidFill>
              <a:latin typeface="Times New Roman" panose="02020603050405020304" pitchFamily="18" charset="0"/>
              <a:sym typeface="Symbol" panose="05050102010706020507" pitchFamily="18" charset="2"/>
            </a:endParaRPr>
          </a:p>
          <a:p>
            <a:pPr eaLnBrk="0" hangingPunct="0"/>
            <a:r>
              <a:rPr lang="en-US" altLang="zh-CN" sz="2800" b="1" u="none" dirty="0">
                <a:solidFill>
                  <a:schemeClr val="tx1"/>
                </a:solidFill>
                <a:latin typeface="Times New Roman" panose="02020603050405020304" pitchFamily="18" charset="0"/>
                <a:sym typeface="Symbol" panose="05050102010706020507" pitchFamily="18" charset="2"/>
              </a:rPr>
              <a:t>	ELSE ERROR</a:t>
            </a:r>
            <a:endParaRPr lang="en-US" altLang="zh-CN" sz="2800" b="1" u="none" dirty="0">
              <a:solidFill>
                <a:schemeClr val="tx1"/>
              </a:solidFill>
              <a:latin typeface="Times New Roman" panose="02020603050405020304" pitchFamily="18" charset="0"/>
            </a:endParaRPr>
          </a:p>
          <a:p>
            <a:pPr eaLnBrk="0" hangingPunct="0"/>
            <a:r>
              <a:rPr lang="en-US" altLang="zh-CN" sz="2800" b="1" u="none" dirty="0">
                <a:solidFill>
                  <a:schemeClr val="tx1"/>
                </a:solidFill>
                <a:latin typeface="Times New Roman" panose="02020603050405020304" pitchFamily="18" charset="0"/>
              </a:rPr>
              <a:t>END</a:t>
            </a:r>
            <a:r>
              <a:rPr lang="zh-CN" altLang="en-US" sz="2800" b="1" u="none" dirty="0">
                <a:solidFill>
                  <a:schemeClr val="tx1"/>
                </a:solidFill>
                <a:latin typeface="Times New Roman" panose="02020603050405020304" pitchFamily="18" charset="0"/>
              </a:rPr>
              <a:t>；</a:t>
            </a:r>
            <a:endParaRPr lang="zh-CN" altLang="en-US" sz="2800" b="1" u="none" dirty="0">
              <a:solidFill>
                <a:schemeClr val="tx1"/>
              </a:solidFill>
              <a:latin typeface="Times New Roman" panose="02020603050405020304" pitchFamily="18" charset="0"/>
            </a:endParaRPr>
          </a:p>
          <a:p>
            <a:pPr eaLnBrk="0" hangingPunct="0"/>
            <a:r>
              <a:rPr lang="en-US" altLang="zh-CN" sz="2800" b="1" u="none" dirty="0">
                <a:solidFill>
                  <a:schemeClr val="tx1"/>
                </a:solidFill>
                <a:latin typeface="Times New Roman" panose="02020603050405020304" pitchFamily="18" charset="0"/>
              </a:rPr>
              <a:t>(</a:t>
            </a:r>
            <a:r>
              <a:rPr lang="zh-CN" altLang="en-US" sz="2800" b="1" u="none" dirty="0">
                <a:solidFill>
                  <a:schemeClr val="tx1"/>
                </a:solidFill>
                <a:latin typeface="Times New Roman" panose="02020603050405020304" pitchFamily="18" charset="0"/>
              </a:rPr>
              <a:t>考虑到</a:t>
            </a:r>
            <a:r>
              <a:rPr lang="en-US" altLang="zh-CN" sz="2800" b="1" u="none" dirty="0">
                <a:solidFill>
                  <a:schemeClr val="tx1"/>
                </a:solidFill>
                <a:latin typeface="Times New Roman" panose="02020603050405020304" pitchFamily="18" charset="0"/>
              </a:rPr>
              <a:t>FIRST</a:t>
            </a:r>
            <a:r>
              <a:rPr lang="zh-CN" altLang="en-US" sz="2800" b="1" u="none" dirty="0">
                <a:solidFill>
                  <a:schemeClr val="tx1"/>
                </a:solidFill>
                <a:latin typeface="Times New Roman" panose="02020603050405020304" pitchFamily="18" charset="0"/>
              </a:rPr>
              <a:t>集</a:t>
            </a:r>
            <a:r>
              <a:rPr lang="en-US" altLang="zh-CN" sz="2800" b="1" u="none" dirty="0">
                <a:solidFill>
                  <a:schemeClr val="tx1"/>
                </a:solidFill>
                <a:latin typeface="Times New Roman" panose="02020603050405020304" pitchFamily="18" charset="0"/>
              </a:rPr>
              <a:t>)</a:t>
            </a:r>
            <a:endParaRPr lang="en-US" altLang="zh-CN" sz="2800" b="1" u="none" dirty="0">
              <a:solidFill>
                <a:schemeClr val="tx1"/>
              </a:solidFill>
              <a:latin typeface="Times New Roman" panose="02020603050405020304" pitchFamily="18" charset="0"/>
            </a:endParaRPr>
          </a:p>
          <a:p>
            <a:pPr eaLnBrk="0" hangingPunct="0"/>
            <a:r>
              <a:rPr lang="zh-CN" altLang="en-US" sz="2800" b="1" u="none" dirty="0">
                <a:solidFill>
                  <a:schemeClr val="tx1"/>
                </a:solidFill>
                <a:latin typeface="Times New Roman" panose="02020603050405020304" pitchFamily="18" charset="0"/>
              </a:rPr>
              <a:t>	</a:t>
            </a:r>
            <a:endParaRPr lang="zh-CN" altLang="en-US" sz="2800" b="1" u="none" dirty="0">
              <a:solidFill>
                <a:schemeClr val="tx1"/>
              </a:solidFill>
              <a:latin typeface="Times New Roman" panose="02020603050405020304" pitchFamily="18"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174083"/>
                                        </p:tgtEl>
                                        <p:attrNameLst>
                                          <p:attrName>style.visibility</p:attrName>
                                        </p:attrNameLst>
                                      </p:cBhvr>
                                      <p:to>
                                        <p:strVal val="visible"/>
                                      </p:to>
                                    </p:set>
                                    <p:animEffect transition="in" filter="blinds(vertical)">
                                      <p:cBhvr>
                                        <p:cTn id="7" dur="500"/>
                                        <p:tgtEl>
                                          <p:spTgt spid="1740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083"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7"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70658" name="Rectangle 2"/>
          <p:cNvSpPr>
            <a:spLocks noGrp="1"/>
          </p:cNvSpPr>
          <p:nvPr>
            <p:ph type="body"/>
          </p:nvPr>
        </p:nvSpPr>
        <p:spPr>
          <a:xfrm>
            <a:off x="762000" y="404813"/>
            <a:ext cx="7543800" cy="2808287"/>
          </a:xfrm>
          <a:ln/>
        </p:spPr>
        <p:txBody>
          <a:bodyPr vert="horz" wrap="square" lIns="91440" tIns="45720" rIns="91440" bIns="45720" anchor="t"/>
          <a:p>
            <a:pPr lvl="1" indent="-436245" eaLnBrk="1" hangingPunct="1">
              <a:lnSpc>
                <a:spcPct val="90000"/>
              </a:lnSpc>
              <a:spcBef>
                <a:spcPct val="0"/>
              </a:spcBef>
              <a:buFont typeface="Symbol" panose="05050102010706020507" pitchFamily="18" charset="2"/>
              <a:buChar char="¨"/>
            </a:pPr>
            <a:r>
              <a:rPr lang="en-US" altLang="zh-CN" b="1" dirty="0">
                <a:solidFill>
                  <a:srgbClr val="FF0000"/>
                </a:solidFill>
              </a:rPr>
              <a:t>E→TE</a:t>
            </a:r>
            <a:r>
              <a:rPr lang="en-US" altLang="zh-CN" b="1" dirty="0">
                <a:solidFill>
                  <a:srgbClr val="FF0000"/>
                </a:solidFill>
                <a:sym typeface="Symbol" panose="05050102010706020507" pitchFamily="18" charset="2"/>
              </a:rPr>
              <a:t></a:t>
            </a:r>
            <a:endParaRPr lang="en-US" altLang="zh-CN" b="1" dirty="0">
              <a:solidFill>
                <a:srgbClr val="FF0000"/>
              </a:solidFill>
            </a:endParaRPr>
          </a:p>
          <a:p>
            <a:pPr lvl="1" indent="-436245" eaLnBrk="1" hangingPunct="1">
              <a:lnSpc>
                <a:spcPct val="90000"/>
              </a:lnSpc>
              <a:spcBef>
                <a:spcPct val="0"/>
              </a:spcBef>
              <a:buNone/>
            </a:pPr>
            <a:r>
              <a:rPr lang="en-US" altLang="zh-CN" b="1" dirty="0"/>
              <a:t>   E</a:t>
            </a:r>
            <a:r>
              <a:rPr lang="en-US" altLang="zh-CN" b="1" dirty="0">
                <a:sym typeface="Symbol" panose="05050102010706020507" pitchFamily="18" charset="2"/>
              </a:rPr>
              <a:t></a:t>
            </a:r>
            <a:r>
              <a:rPr lang="en-US" altLang="zh-CN" b="1" dirty="0"/>
              <a:t>→+TE</a:t>
            </a:r>
            <a:r>
              <a:rPr lang="en-US" altLang="zh-CN" b="1" dirty="0">
                <a:sym typeface="Symbol" panose="05050102010706020507" pitchFamily="18" charset="2"/>
              </a:rPr>
              <a:t></a:t>
            </a:r>
            <a:r>
              <a:rPr lang="en-US" altLang="zh-CN" b="1" dirty="0"/>
              <a:t> | </a:t>
            </a:r>
            <a:r>
              <a:rPr lang="en-US" altLang="zh-CN" b="1" dirty="0">
                <a:sym typeface="Symbol" panose="05050102010706020507" pitchFamily="18" charset="2"/>
              </a:rPr>
              <a:t></a:t>
            </a:r>
            <a:endParaRPr lang="en-US" altLang="zh-CN" b="1" dirty="0"/>
          </a:p>
          <a:p>
            <a:pPr lvl="1" indent="-436245" eaLnBrk="1" hangingPunct="1">
              <a:lnSpc>
                <a:spcPct val="90000"/>
              </a:lnSpc>
              <a:spcBef>
                <a:spcPct val="0"/>
              </a:spcBef>
              <a:buNone/>
            </a:pPr>
            <a:r>
              <a:rPr lang="en-US" altLang="zh-CN" b="1" dirty="0">
                <a:solidFill>
                  <a:srgbClr val="FF0000"/>
                </a:solidFill>
              </a:rPr>
              <a:t>   T→FT</a:t>
            </a:r>
            <a:r>
              <a:rPr lang="en-US" altLang="zh-CN" b="1" dirty="0">
                <a:solidFill>
                  <a:srgbClr val="FF0000"/>
                </a:solidFill>
                <a:sym typeface="Symbol" panose="05050102010706020507" pitchFamily="18" charset="2"/>
              </a:rPr>
              <a:t></a:t>
            </a:r>
            <a:r>
              <a:rPr lang="en-US" altLang="zh-CN" b="1" dirty="0"/>
              <a:t>                         </a:t>
            </a:r>
            <a:endParaRPr lang="en-US" altLang="zh-CN" b="1" dirty="0"/>
          </a:p>
          <a:p>
            <a:pPr lvl="1" indent="-436245" eaLnBrk="1" hangingPunct="1">
              <a:lnSpc>
                <a:spcPct val="90000"/>
              </a:lnSpc>
              <a:spcBef>
                <a:spcPct val="0"/>
              </a:spcBef>
              <a:buNone/>
            </a:pPr>
            <a:r>
              <a:rPr lang="en-US" altLang="zh-CN" b="1" dirty="0"/>
              <a:t>   T</a:t>
            </a:r>
            <a:r>
              <a:rPr lang="en-US" altLang="zh-CN" b="1" dirty="0">
                <a:sym typeface="Symbol" panose="05050102010706020507" pitchFamily="18" charset="2"/>
              </a:rPr>
              <a:t></a:t>
            </a:r>
            <a:r>
              <a:rPr lang="en-US" altLang="zh-CN" b="1" dirty="0"/>
              <a:t>→*FT</a:t>
            </a:r>
            <a:r>
              <a:rPr lang="en-US" altLang="zh-CN" b="1" dirty="0">
                <a:sym typeface="Symbol" panose="05050102010706020507" pitchFamily="18" charset="2"/>
              </a:rPr>
              <a:t></a:t>
            </a:r>
            <a:r>
              <a:rPr lang="en-US" altLang="zh-CN" b="1" dirty="0"/>
              <a:t> | </a:t>
            </a:r>
            <a:r>
              <a:rPr lang="en-US" altLang="zh-CN" b="1" dirty="0">
                <a:sym typeface="Symbol" panose="05050102010706020507" pitchFamily="18" charset="2"/>
              </a:rPr>
              <a:t> </a:t>
            </a:r>
            <a:endParaRPr lang="en-US" altLang="zh-CN" b="1" dirty="0"/>
          </a:p>
          <a:p>
            <a:pPr lvl="1" indent="-436245" eaLnBrk="1" hangingPunct="1">
              <a:lnSpc>
                <a:spcPct val="90000"/>
              </a:lnSpc>
              <a:spcBef>
                <a:spcPct val="0"/>
              </a:spcBef>
              <a:buNone/>
            </a:pPr>
            <a:r>
              <a:rPr lang="en-US" altLang="zh-CN" b="1" dirty="0"/>
              <a:t>   F→(E) | I</a:t>
            </a:r>
            <a:endParaRPr lang="en-US" altLang="zh-CN" b="1" dirty="0"/>
          </a:p>
          <a:p>
            <a:pPr lvl="1" indent="-436245" eaLnBrk="1" hangingPunct="1">
              <a:lnSpc>
                <a:spcPct val="90000"/>
              </a:lnSpc>
              <a:spcBef>
                <a:spcPct val="0"/>
              </a:spcBef>
              <a:buNone/>
            </a:pPr>
            <a:r>
              <a:rPr lang="zh-CN" altLang="en-US" b="1" dirty="0">
                <a:latin typeface="宋体" panose="02010600030101010101" pitchFamily="2" charset="-122"/>
              </a:rPr>
              <a:t>对应的递归下降子程序为</a:t>
            </a:r>
            <a:r>
              <a:rPr lang="en-US" altLang="zh-CN" b="1" dirty="0">
                <a:latin typeface="宋体" panose="02010600030101010101" pitchFamily="2" charset="-122"/>
              </a:rPr>
              <a:t>:</a:t>
            </a:r>
            <a:endParaRPr lang="en-US" altLang="zh-CN" b="1" dirty="0">
              <a:latin typeface="宋体" panose="02010600030101010101" pitchFamily="2" charset="-122"/>
            </a:endParaRPr>
          </a:p>
          <a:p>
            <a:pPr eaLnBrk="1" hangingPunct="1">
              <a:lnSpc>
                <a:spcPct val="90000"/>
              </a:lnSpc>
              <a:spcBef>
                <a:spcPct val="0"/>
              </a:spcBef>
              <a:buNone/>
            </a:pPr>
            <a:r>
              <a:rPr lang="en-US" altLang="zh-CN" b="1" dirty="0"/>
              <a:t>    </a:t>
            </a:r>
            <a:endParaRPr lang="en-US" altLang="zh-CN" b="1" dirty="0"/>
          </a:p>
        </p:txBody>
      </p:sp>
      <p:sp>
        <p:nvSpPr>
          <p:cNvPr id="175107" name="Rectangle 3"/>
          <p:cNvSpPr/>
          <p:nvPr/>
        </p:nvSpPr>
        <p:spPr>
          <a:xfrm>
            <a:off x="685800" y="3810000"/>
            <a:ext cx="3505200" cy="2057400"/>
          </a:xfrm>
          <a:prstGeom prst="rect">
            <a:avLst/>
          </a:prstGeom>
          <a:noFill/>
          <a:ln w="9525">
            <a:noFill/>
          </a:ln>
        </p:spPr>
        <p:txBody>
          <a:bodyPr anchor="t"/>
          <a:p>
            <a:pPr eaLnBrk="0" hangingPunct="0"/>
            <a:r>
              <a:rPr lang="en-US" altLang="zh-CN" sz="2800" b="1" u="none" dirty="0">
                <a:solidFill>
                  <a:schemeClr val="tx1"/>
                </a:solidFill>
                <a:latin typeface="Times New Roman" panose="02020603050405020304" pitchFamily="18" charset="0"/>
              </a:rPr>
              <a:t>PROCEDURE  E</a:t>
            </a:r>
            <a:r>
              <a:rPr lang="zh-CN" altLang="en-US" sz="2800" b="1" u="none" dirty="0">
                <a:solidFill>
                  <a:schemeClr val="tx1"/>
                </a:solidFill>
                <a:latin typeface="Times New Roman" panose="02020603050405020304" pitchFamily="18" charset="0"/>
              </a:rPr>
              <a:t>；</a:t>
            </a:r>
            <a:endParaRPr lang="zh-CN" altLang="en-US" sz="2800" b="1" u="none" dirty="0">
              <a:solidFill>
                <a:schemeClr val="tx1"/>
              </a:solidFill>
              <a:latin typeface="Times New Roman" panose="02020603050405020304" pitchFamily="18" charset="0"/>
            </a:endParaRPr>
          </a:p>
          <a:p>
            <a:pPr eaLnBrk="0" hangingPunct="0"/>
            <a:r>
              <a:rPr lang="en-US" altLang="zh-CN" sz="2800" b="1" u="none" dirty="0">
                <a:solidFill>
                  <a:schemeClr val="tx1"/>
                </a:solidFill>
                <a:latin typeface="Times New Roman" panose="02020603050405020304" pitchFamily="18" charset="0"/>
              </a:rPr>
              <a:t>BEGIN	</a:t>
            </a:r>
            <a:endParaRPr lang="en-US" altLang="zh-CN" sz="2800" b="1" u="none" dirty="0">
              <a:solidFill>
                <a:schemeClr val="tx1"/>
              </a:solidFill>
              <a:latin typeface="Times New Roman" panose="02020603050405020304" pitchFamily="18" charset="0"/>
            </a:endParaRPr>
          </a:p>
          <a:p>
            <a:pPr eaLnBrk="0" hangingPunct="0"/>
            <a:r>
              <a:rPr lang="en-US" altLang="zh-CN" sz="2800" b="1" u="none" dirty="0">
                <a:solidFill>
                  <a:schemeClr val="tx1"/>
                </a:solidFill>
                <a:latin typeface="Times New Roman" panose="02020603050405020304" pitchFamily="18" charset="0"/>
              </a:rPr>
              <a:t>           T</a:t>
            </a:r>
            <a:r>
              <a:rPr lang="zh-CN" altLang="en-US" sz="2800" b="1" u="none" dirty="0">
                <a:solidFill>
                  <a:schemeClr val="tx1"/>
                </a:solidFill>
                <a:latin typeface="Times New Roman" panose="02020603050405020304" pitchFamily="18" charset="0"/>
              </a:rPr>
              <a:t>；</a:t>
            </a:r>
            <a:r>
              <a:rPr lang="en-US" altLang="zh-CN" sz="2800" b="1" u="none" dirty="0">
                <a:solidFill>
                  <a:schemeClr val="tx1"/>
                </a:solidFill>
                <a:latin typeface="Times New Roman" panose="02020603050405020304" pitchFamily="18" charset="0"/>
              </a:rPr>
              <a:t>E</a:t>
            </a:r>
            <a:r>
              <a:rPr lang="en-US" altLang="zh-CN" sz="2800" b="1" u="none" dirty="0">
                <a:solidFill>
                  <a:schemeClr val="tx1"/>
                </a:solidFill>
                <a:latin typeface="Times New Roman" panose="02020603050405020304" pitchFamily="18" charset="0"/>
                <a:sym typeface="Symbol" panose="05050102010706020507" pitchFamily="18" charset="2"/>
              </a:rPr>
              <a:t></a:t>
            </a:r>
            <a:endParaRPr lang="en-US" altLang="zh-CN" sz="2800" b="1" u="none" dirty="0">
              <a:solidFill>
                <a:schemeClr val="tx1"/>
              </a:solidFill>
              <a:latin typeface="Times New Roman" panose="02020603050405020304" pitchFamily="18" charset="0"/>
            </a:endParaRPr>
          </a:p>
          <a:p>
            <a:pPr eaLnBrk="0" hangingPunct="0"/>
            <a:r>
              <a:rPr lang="en-US" altLang="zh-CN" sz="2800" b="1" u="none" dirty="0">
                <a:solidFill>
                  <a:schemeClr val="tx1"/>
                </a:solidFill>
                <a:latin typeface="Times New Roman" panose="02020603050405020304" pitchFamily="18" charset="0"/>
              </a:rPr>
              <a:t>END</a:t>
            </a:r>
            <a:r>
              <a:rPr lang="zh-CN" altLang="en-US" sz="2800" b="1" u="none" dirty="0">
                <a:solidFill>
                  <a:schemeClr val="tx1"/>
                </a:solidFill>
                <a:latin typeface="Times New Roman" panose="02020603050405020304" pitchFamily="18" charset="0"/>
              </a:rPr>
              <a:t>；</a:t>
            </a:r>
            <a:endParaRPr lang="zh-CN" altLang="en-US" sz="2800" b="1" u="none" dirty="0">
              <a:solidFill>
                <a:schemeClr val="tx1"/>
              </a:solidFill>
              <a:latin typeface="Times New Roman" panose="02020603050405020304" pitchFamily="18" charset="0"/>
            </a:endParaRPr>
          </a:p>
          <a:p>
            <a:pPr eaLnBrk="0" hangingPunct="0"/>
            <a:r>
              <a:rPr lang="zh-CN" altLang="en-US" sz="2800" b="1" u="none" dirty="0">
                <a:solidFill>
                  <a:schemeClr val="tx1"/>
                </a:solidFill>
                <a:latin typeface="Times New Roman" panose="02020603050405020304" pitchFamily="18" charset="0"/>
              </a:rPr>
              <a:t>	</a:t>
            </a:r>
            <a:endParaRPr lang="zh-CN" altLang="en-US" sz="2800" b="1" u="none" dirty="0">
              <a:solidFill>
                <a:schemeClr val="tx1"/>
              </a:solidFill>
              <a:latin typeface="Times New Roman" panose="02020603050405020304" pitchFamily="18" charset="0"/>
            </a:endParaRPr>
          </a:p>
        </p:txBody>
      </p:sp>
      <p:sp>
        <p:nvSpPr>
          <p:cNvPr id="175108" name="Rectangle 4"/>
          <p:cNvSpPr/>
          <p:nvPr/>
        </p:nvSpPr>
        <p:spPr>
          <a:xfrm>
            <a:off x="4500563" y="3860800"/>
            <a:ext cx="3657600" cy="1752600"/>
          </a:xfrm>
          <a:prstGeom prst="rect">
            <a:avLst/>
          </a:prstGeom>
          <a:noFill/>
          <a:ln w="9525">
            <a:noFill/>
          </a:ln>
        </p:spPr>
        <p:txBody>
          <a:bodyPr anchor="t"/>
          <a:p>
            <a:pPr eaLnBrk="0" hangingPunct="0"/>
            <a:r>
              <a:rPr lang="en-US" altLang="zh-CN" sz="2800" b="1" u="none" dirty="0">
                <a:solidFill>
                  <a:schemeClr val="tx1"/>
                </a:solidFill>
                <a:latin typeface="Times New Roman" panose="02020603050405020304" pitchFamily="18" charset="0"/>
              </a:rPr>
              <a:t>PROCEDURE  T</a:t>
            </a:r>
            <a:r>
              <a:rPr lang="zh-CN" altLang="en-US" sz="2800" b="1" u="none" dirty="0">
                <a:solidFill>
                  <a:schemeClr val="tx1"/>
                </a:solidFill>
                <a:latin typeface="Times New Roman" panose="02020603050405020304" pitchFamily="18" charset="0"/>
              </a:rPr>
              <a:t>；</a:t>
            </a:r>
            <a:endParaRPr lang="zh-CN" altLang="en-US" sz="2800" b="1" u="none" dirty="0">
              <a:solidFill>
                <a:schemeClr val="tx1"/>
              </a:solidFill>
              <a:latin typeface="Times New Roman" panose="02020603050405020304" pitchFamily="18" charset="0"/>
            </a:endParaRPr>
          </a:p>
          <a:p>
            <a:pPr eaLnBrk="0" hangingPunct="0"/>
            <a:r>
              <a:rPr lang="en-US" altLang="zh-CN" sz="2800" b="1" u="none" dirty="0">
                <a:solidFill>
                  <a:schemeClr val="tx1"/>
                </a:solidFill>
                <a:latin typeface="Times New Roman" panose="02020603050405020304" pitchFamily="18" charset="0"/>
              </a:rPr>
              <a:t>BEGIN</a:t>
            </a:r>
            <a:endParaRPr lang="en-US" altLang="zh-CN" sz="2800" b="1" u="none" dirty="0">
              <a:solidFill>
                <a:schemeClr val="tx1"/>
              </a:solidFill>
              <a:latin typeface="Times New Roman" panose="02020603050405020304" pitchFamily="18" charset="0"/>
            </a:endParaRPr>
          </a:p>
          <a:p>
            <a:pPr eaLnBrk="0" hangingPunct="0"/>
            <a:r>
              <a:rPr lang="en-US" altLang="zh-CN" sz="2800" b="1" u="none" dirty="0">
                <a:solidFill>
                  <a:schemeClr val="tx1"/>
                </a:solidFill>
                <a:latin typeface="Times New Roman" panose="02020603050405020304" pitchFamily="18" charset="0"/>
              </a:rPr>
              <a:t>	   F</a:t>
            </a:r>
            <a:r>
              <a:rPr lang="zh-CN" altLang="en-US" sz="2800" b="1" u="none" dirty="0">
                <a:solidFill>
                  <a:schemeClr val="tx1"/>
                </a:solidFill>
                <a:latin typeface="Times New Roman" panose="02020603050405020304" pitchFamily="18" charset="0"/>
              </a:rPr>
              <a:t>；</a:t>
            </a:r>
            <a:r>
              <a:rPr lang="en-US" altLang="zh-CN" sz="2800" b="1" u="none" dirty="0">
                <a:solidFill>
                  <a:schemeClr val="tx1"/>
                </a:solidFill>
                <a:latin typeface="Times New Roman" panose="02020603050405020304" pitchFamily="18" charset="0"/>
              </a:rPr>
              <a:t>T</a:t>
            </a:r>
            <a:r>
              <a:rPr lang="en-US" altLang="zh-CN" sz="2800" b="1" u="none" dirty="0">
                <a:solidFill>
                  <a:schemeClr val="tx1"/>
                </a:solidFill>
                <a:latin typeface="Times New Roman" panose="02020603050405020304" pitchFamily="18" charset="0"/>
                <a:sym typeface="Symbol" panose="05050102010706020507" pitchFamily="18" charset="2"/>
              </a:rPr>
              <a:t></a:t>
            </a:r>
            <a:endParaRPr lang="en-US" altLang="zh-CN" sz="2800" b="1" u="none" dirty="0">
              <a:solidFill>
                <a:schemeClr val="tx1"/>
              </a:solidFill>
              <a:latin typeface="Times New Roman" panose="02020603050405020304" pitchFamily="18" charset="0"/>
            </a:endParaRPr>
          </a:p>
          <a:p>
            <a:pPr eaLnBrk="0" hangingPunct="0"/>
            <a:r>
              <a:rPr lang="en-US" altLang="zh-CN" sz="2800" b="1" u="none" dirty="0">
                <a:solidFill>
                  <a:schemeClr val="tx1"/>
                </a:solidFill>
                <a:latin typeface="Times New Roman" panose="02020603050405020304" pitchFamily="18" charset="0"/>
              </a:rPr>
              <a:t>END</a:t>
            </a:r>
            <a:endParaRPr lang="en-US" altLang="zh-CN" sz="2800" b="1" u="none" dirty="0">
              <a:solidFill>
                <a:schemeClr val="tx1"/>
              </a:solidFill>
              <a:latin typeface="Times New Roman" panose="02020603050405020304" pitchFamily="18" charset="0"/>
            </a:endParaRPr>
          </a:p>
          <a:p>
            <a:pPr eaLnBrk="0" hangingPunct="0"/>
            <a:endParaRPr lang="en-US" altLang="zh-CN" sz="2800" b="1" u="none" dirty="0">
              <a:solidFill>
                <a:schemeClr val="tx1"/>
              </a:solidFill>
              <a:latin typeface="Times New Roman" panose="02020603050405020304" pitchFamily="18"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175107"/>
                                        </p:tgtEl>
                                        <p:attrNameLst>
                                          <p:attrName>style.visibility</p:attrName>
                                        </p:attrNameLst>
                                      </p:cBhvr>
                                      <p:to>
                                        <p:strVal val="visible"/>
                                      </p:to>
                                    </p:set>
                                    <p:animEffect transition="in" filter="blinds(vertical)">
                                      <p:cBhvr>
                                        <p:cTn id="7" dur="500"/>
                                        <p:tgtEl>
                                          <p:spTgt spid="17510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175108"/>
                                        </p:tgtEl>
                                        <p:attrNameLst>
                                          <p:attrName>style.visibility</p:attrName>
                                        </p:attrNameLst>
                                      </p:cBhvr>
                                      <p:to>
                                        <p:strVal val="visible"/>
                                      </p:to>
                                    </p:set>
                                    <p:animEffect transition="in" filter="blinds(vertical)">
                                      <p:cBhvr>
                                        <p:cTn id="12" dur="500"/>
                                        <p:tgtEl>
                                          <p:spTgt spid="175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107" grpId="0"/>
      <p:bldP spid="175108"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1"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71682" name="Rectangle 2"/>
          <p:cNvSpPr>
            <a:spLocks noGrp="1"/>
          </p:cNvSpPr>
          <p:nvPr>
            <p:ph type="body"/>
          </p:nvPr>
        </p:nvSpPr>
        <p:spPr>
          <a:xfrm>
            <a:off x="755650" y="71438"/>
            <a:ext cx="7543800" cy="3429000"/>
          </a:xfrm>
          <a:ln/>
        </p:spPr>
        <p:txBody>
          <a:bodyPr vert="horz" wrap="square" lIns="91440" tIns="45720" rIns="91440" bIns="45720" anchor="t"/>
          <a:p>
            <a:pPr lvl="1" indent="-436245" eaLnBrk="1" hangingPunct="1">
              <a:lnSpc>
                <a:spcPct val="90000"/>
              </a:lnSpc>
              <a:spcBef>
                <a:spcPct val="0"/>
              </a:spcBef>
              <a:buFont typeface="Symbol" panose="05050102010706020507" pitchFamily="18" charset="2"/>
              <a:buChar char="¨"/>
            </a:pPr>
            <a:r>
              <a:rPr lang="en-US" altLang="zh-CN" b="1" dirty="0"/>
              <a:t>E→TE</a:t>
            </a:r>
            <a:r>
              <a:rPr lang="en-US" altLang="zh-CN" b="1" dirty="0">
                <a:sym typeface="Symbol" panose="05050102010706020507" pitchFamily="18" charset="2"/>
              </a:rPr>
              <a:t></a:t>
            </a:r>
            <a:endParaRPr lang="en-US" altLang="zh-CN" b="1" dirty="0"/>
          </a:p>
          <a:p>
            <a:pPr lvl="1" indent="-436245" eaLnBrk="1" hangingPunct="1">
              <a:lnSpc>
                <a:spcPct val="90000"/>
              </a:lnSpc>
              <a:spcBef>
                <a:spcPct val="0"/>
              </a:spcBef>
              <a:buNone/>
            </a:pPr>
            <a:r>
              <a:rPr lang="en-US" altLang="zh-CN" b="1" dirty="0">
                <a:solidFill>
                  <a:srgbClr val="FF0000"/>
                </a:solidFill>
              </a:rPr>
              <a:t>   E</a:t>
            </a:r>
            <a:r>
              <a:rPr lang="en-US" altLang="zh-CN" b="1" dirty="0">
                <a:solidFill>
                  <a:srgbClr val="FF0000"/>
                </a:solidFill>
                <a:sym typeface="Symbol" panose="05050102010706020507" pitchFamily="18" charset="2"/>
              </a:rPr>
              <a:t></a:t>
            </a:r>
            <a:r>
              <a:rPr lang="en-US" altLang="zh-CN" b="1" dirty="0">
                <a:solidFill>
                  <a:srgbClr val="FF0000"/>
                </a:solidFill>
              </a:rPr>
              <a:t>→+TE</a:t>
            </a:r>
            <a:r>
              <a:rPr lang="en-US" altLang="zh-CN" b="1" dirty="0">
                <a:solidFill>
                  <a:srgbClr val="FF0000"/>
                </a:solidFill>
                <a:sym typeface="Symbol" panose="05050102010706020507" pitchFamily="18" charset="2"/>
              </a:rPr>
              <a:t></a:t>
            </a:r>
            <a:r>
              <a:rPr lang="en-US" altLang="zh-CN" b="1" dirty="0">
                <a:solidFill>
                  <a:srgbClr val="FF0000"/>
                </a:solidFill>
              </a:rPr>
              <a:t> | </a:t>
            </a:r>
            <a:r>
              <a:rPr lang="en-US" altLang="zh-CN" b="1" dirty="0">
                <a:solidFill>
                  <a:srgbClr val="FF0000"/>
                </a:solidFill>
                <a:sym typeface="Symbol" panose="05050102010706020507" pitchFamily="18" charset="2"/>
              </a:rPr>
              <a:t></a:t>
            </a:r>
            <a:endParaRPr lang="en-US" altLang="zh-CN" b="1" dirty="0">
              <a:solidFill>
                <a:srgbClr val="FF0000"/>
              </a:solidFill>
            </a:endParaRPr>
          </a:p>
          <a:p>
            <a:pPr lvl="1" indent="-436245" eaLnBrk="1" hangingPunct="1">
              <a:lnSpc>
                <a:spcPct val="90000"/>
              </a:lnSpc>
              <a:spcBef>
                <a:spcPct val="0"/>
              </a:spcBef>
              <a:buNone/>
            </a:pPr>
            <a:r>
              <a:rPr lang="en-US" altLang="zh-CN" b="1" dirty="0"/>
              <a:t>   T→FT</a:t>
            </a:r>
            <a:r>
              <a:rPr lang="en-US" altLang="zh-CN" b="1" dirty="0">
                <a:sym typeface="Symbol" panose="05050102010706020507" pitchFamily="18" charset="2"/>
              </a:rPr>
              <a:t></a:t>
            </a:r>
            <a:r>
              <a:rPr lang="en-US" altLang="zh-CN" b="1" dirty="0"/>
              <a:t>                         </a:t>
            </a:r>
            <a:endParaRPr lang="en-US" altLang="zh-CN" b="1" dirty="0"/>
          </a:p>
          <a:p>
            <a:pPr lvl="1" indent="-436245" eaLnBrk="1" hangingPunct="1">
              <a:lnSpc>
                <a:spcPct val="90000"/>
              </a:lnSpc>
              <a:spcBef>
                <a:spcPct val="0"/>
              </a:spcBef>
              <a:buNone/>
            </a:pPr>
            <a:r>
              <a:rPr lang="en-US" altLang="zh-CN" b="1" dirty="0"/>
              <a:t>   T</a:t>
            </a:r>
            <a:r>
              <a:rPr lang="en-US" altLang="zh-CN" b="1" dirty="0">
                <a:sym typeface="Symbol" panose="05050102010706020507" pitchFamily="18" charset="2"/>
              </a:rPr>
              <a:t></a:t>
            </a:r>
            <a:r>
              <a:rPr lang="en-US" altLang="zh-CN" b="1" dirty="0"/>
              <a:t>→*FT</a:t>
            </a:r>
            <a:r>
              <a:rPr lang="en-US" altLang="zh-CN" b="1" dirty="0">
                <a:sym typeface="Symbol" panose="05050102010706020507" pitchFamily="18" charset="2"/>
              </a:rPr>
              <a:t></a:t>
            </a:r>
            <a:r>
              <a:rPr lang="en-US" altLang="zh-CN" b="1" dirty="0"/>
              <a:t> | </a:t>
            </a:r>
            <a:r>
              <a:rPr lang="en-US" altLang="zh-CN" b="1" dirty="0">
                <a:sym typeface="Symbol" panose="05050102010706020507" pitchFamily="18" charset="2"/>
              </a:rPr>
              <a:t> </a:t>
            </a:r>
            <a:endParaRPr lang="en-US" altLang="zh-CN" b="1" dirty="0"/>
          </a:p>
          <a:p>
            <a:pPr lvl="1" indent="-436245" eaLnBrk="1" hangingPunct="1">
              <a:lnSpc>
                <a:spcPct val="90000"/>
              </a:lnSpc>
              <a:spcBef>
                <a:spcPct val="0"/>
              </a:spcBef>
              <a:buNone/>
            </a:pPr>
            <a:r>
              <a:rPr lang="en-US" altLang="zh-CN" b="1" dirty="0"/>
              <a:t>   F→(E) | I</a:t>
            </a:r>
            <a:endParaRPr lang="en-US" altLang="zh-CN" b="1" dirty="0"/>
          </a:p>
          <a:p>
            <a:pPr lvl="1" indent="-436245" eaLnBrk="1" hangingPunct="1">
              <a:lnSpc>
                <a:spcPct val="90000"/>
              </a:lnSpc>
              <a:spcBef>
                <a:spcPct val="0"/>
              </a:spcBef>
              <a:buNone/>
            </a:pPr>
            <a:r>
              <a:rPr lang="zh-CN" altLang="en-US" b="1" dirty="0">
                <a:latin typeface="宋体" panose="02010600030101010101" pitchFamily="2" charset="-122"/>
              </a:rPr>
              <a:t>对应的递归下降子程序为</a:t>
            </a:r>
            <a:r>
              <a:rPr lang="en-US" altLang="zh-CN" b="1" dirty="0">
                <a:latin typeface="宋体" panose="02010600030101010101" pitchFamily="2" charset="-122"/>
              </a:rPr>
              <a:t>:</a:t>
            </a:r>
            <a:endParaRPr lang="en-US" altLang="zh-CN" b="1" dirty="0">
              <a:latin typeface="宋体" panose="02010600030101010101" pitchFamily="2" charset="-122"/>
            </a:endParaRPr>
          </a:p>
          <a:p>
            <a:pPr eaLnBrk="1" hangingPunct="1">
              <a:lnSpc>
                <a:spcPct val="90000"/>
              </a:lnSpc>
              <a:spcBef>
                <a:spcPct val="0"/>
              </a:spcBef>
              <a:buNone/>
            </a:pPr>
            <a:r>
              <a:rPr lang="en-US" altLang="zh-CN" b="1" dirty="0"/>
              <a:t>    </a:t>
            </a:r>
            <a:endParaRPr lang="en-US" altLang="zh-CN" b="1" dirty="0"/>
          </a:p>
        </p:txBody>
      </p:sp>
      <p:sp>
        <p:nvSpPr>
          <p:cNvPr id="245763" name="Rectangle 3"/>
          <p:cNvSpPr/>
          <p:nvPr/>
        </p:nvSpPr>
        <p:spPr>
          <a:xfrm>
            <a:off x="179388" y="2420938"/>
            <a:ext cx="9361487" cy="4032250"/>
          </a:xfrm>
          <a:prstGeom prst="rect">
            <a:avLst/>
          </a:prstGeom>
          <a:noFill/>
          <a:ln w="9525">
            <a:noFill/>
          </a:ln>
        </p:spPr>
        <p:txBody>
          <a:bodyPr anchor="t"/>
          <a:p>
            <a:pPr eaLnBrk="0" hangingPunct="0"/>
            <a:r>
              <a:rPr lang="en-US" altLang="zh-CN" sz="2800" b="1" u="none" dirty="0">
                <a:solidFill>
                  <a:schemeClr val="tx1"/>
                </a:solidFill>
                <a:latin typeface="Times New Roman" panose="02020603050405020304" pitchFamily="18" charset="0"/>
              </a:rPr>
              <a:t>PROCEDURE  E</a:t>
            </a:r>
            <a:r>
              <a:rPr lang="en-US" altLang="zh-CN" sz="2800" b="1" u="none" dirty="0">
                <a:solidFill>
                  <a:schemeClr val="tx1"/>
                </a:solidFill>
                <a:latin typeface="Times New Roman" panose="02020603050405020304" pitchFamily="18" charset="0"/>
                <a:sym typeface="Symbol" panose="05050102010706020507" pitchFamily="18" charset="2"/>
              </a:rPr>
              <a:t></a:t>
            </a:r>
            <a:r>
              <a:rPr lang="zh-CN" altLang="en-US" sz="2800" b="1" u="none" dirty="0">
                <a:solidFill>
                  <a:schemeClr val="tx1"/>
                </a:solidFill>
                <a:latin typeface="Times New Roman" panose="02020603050405020304" pitchFamily="18" charset="0"/>
              </a:rPr>
              <a:t>；</a:t>
            </a:r>
            <a:endParaRPr lang="zh-CN" altLang="en-US" sz="2800" b="1" u="none" dirty="0">
              <a:solidFill>
                <a:schemeClr val="tx1"/>
              </a:solidFill>
              <a:latin typeface="Times New Roman" panose="02020603050405020304" pitchFamily="18" charset="0"/>
            </a:endParaRPr>
          </a:p>
          <a:p>
            <a:pPr eaLnBrk="0" hangingPunct="0"/>
            <a:r>
              <a:rPr lang="zh-CN" altLang="en-US" sz="2800" b="1" u="none" dirty="0">
                <a:solidFill>
                  <a:schemeClr val="tx1"/>
                </a:solidFill>
                <a:latin typeface="Times New Roman" panose="02020603050405020304" pitchFamily="18" charset="0"/>
              </a:rPr>
              <a:t>     </a:t>
            </a:r>
            <a:r>
              <a:rPr lang="en-US" altLang="zh-CN" sz="2800" b="1" u="none" dirty="0">
                <a:solidFill>
                  <a:schemeClr val="tx1"/>
                </a:solidFill>
                <a:latin typeface="Times New Roman" panose="02020603050405020304" pitchFamily="18" charset="0"/>
              </a:rPr>
              <a:t>IF SYM=‘+’ THEN	    </a:t>
            </a:r>
            <a:endParaRPr lang="en-US" altLang="zh-CN" sz="2800" b="1" u="none" dirty="0">
              <a:solidFill>
                <a:schemeClr val="tx1"/>
              </a:solidFill>
              <a:latin typeface="Times New Roman" panose="02020603050405020304" pitchFamily="18" charset="0"/>
            </a:endParaRPr>
          </a:p>
          <a:p>
            <a:pPr eaLnBrk="0" hangingPunct="0"/>
            <a:r>
              <a:rPr lang="en-US" altLang="zh-CN" sz="2800" b="1" u="none" dirty="0">
                <a:solidFill>
                  <a:schemeClr val="tx1"/>
                </a:solidFill>
                <a:latin typeface="Times New Roman" panose="02020603050405020304" pitchFamily="18" charset="0"/>
              </a:rPr>
              <a:t>     BEGIN	</a:t>
            </a:r>
            <a:endParaRPr lang="en-US" altLang="zh-CN" sz="2800" b="1" u="none" dirty="0">
              <a:solidFill>
                <a:schemeClr val="tx1"/>
              </a:solidFill>
              <a:latin typeface="Times New Roman" panose="02020603050405020304" pitchFamily="18" charset="0"/>
            </a:endParaRPr>
          </a:p>
          <a:p>
            <a:pPr eaLnBrk="0" hangingPunct="0"/>
            <a:r>
              <a:rPr lang="en-US" altLang="zh-CN" sz="2800" b="1" u="none" dirty="0">
                <a:solidFill>
                  <a:schemeClr val="tx1"/>
                </a:solidFill>
                <a:latin typeface="Times New Roman" panose="02020603050405020304" pitchFamily="18" charset="0"/>
              </a:rPr>
              <a:t>	ADVANCE</a:t>
            </a:r>
            <a:r>
              <a:rPr lang="zh-CN" altLang="en-US" sz="2800" b="1" u="none" dirty="0">
                <a:solidFill>
                  <a:schemeClr val="tx1"/>
                </a:solidFill>
                <a:latin typeface="Times New Roman" panose="02020603050405020304" pitchFamily="18" charset="0"/>
              </a:rPr>
              <a:t>；</a:t>
            </a:r>
            <a:endParaRPr lang="zh-CN" altLang="en-US" sz="2800" b="1" u="none" dirty="0">
              <a:solidFill>
                <a:schemeClr val="tx1"/>
              </a:solidFill>
              <a:latin typeface="Times New Roman" panose="02020603050405020304" pitchFamily="18" charset="0"/>
            </a:endParaRPr>
          </a:p>
          <a:p>
            <a:pPr eaLnBrk="0" hangingPunct="0"/>
            <a:r>
              <a:rPr lang="zh-CN" altLang="en-US" sz="2800" b="1" u="none" dirty="0">
                <a:solidFill>
                  <a:schemeClr val="tx1"/>
                </a:solidFill>
                <a:latin typeface="Times New Roman" panose="02020603050405020304" pitchFamily="18" charset="0"/>
              </a:rPr>
              <a:t>          </a:t>
            </a:r>
            <a:r>
              <a:rPr lang="en-US" altLang="zh-CN" sz="2800" b="1" u="none" dirty="0">
                <a:solidFill>
                  <a:schemeClr val="tx1"/>
                </a:solidFill>
                <a:latin typeface="Times New Roman" panose="02020603050405020304" pitchFamily="18" charset="0"/>
              </a:rPr>
              <a:t>T</a:t>
            </a:r>
            <a:r>
              <a:rPr lang="zh-CN" altLang="en-US" sz="2800" b="1" u="none" dirty="0">
                <a:solidFill>
                  <a:schemeClr val="tx1"/>
                </a:solidFill>
                <a:latin typeface="Times New Roman" panose="02020603050405020304" pitchFamily="18" charset="0"/>
              </a:rPr>
              <a:t>；</a:t>
            </a:r>
            <a:r>
              <a:rPr lang="en-US" altLang="zh-CN" sz="2800" b="1" u="none" dirty="0">
                <a:solidFill>
                  <a:schemeClr val="tx1"/>
                </a:solidFill>
                <a:latin typeface="Times New Roman" panose="02020603050405020304" pitchFamily="18" charset="0"/>
              </a:rPr>
              <a:t>E</a:t>
            </a:r>
            <a:r>
              <a:rPr lang="en-US" altLang="zh-CN" sz="2800" b="1" u="none" dirty="0">
                <a:solidFill>
                  <a:schemeClr val="tx1"/>
                </a:solidFill>
                <a:latin typeface="Times New Roman" panose="02020603050405020304" pitchFamily="18" charset="0"/>
                <a:sym typeface="Symbol" panose="05050102010706020507" pitchFamily="18" charset="2"/>
              </a:rPr>
              <a:t></a:t>
            </a:r>
            <a:r>
              <a:rPr lang="en-US" altLang="zh-CN" sz="2800" b="1" u="none" dirty="0">
                <a:solidFill>
                  <a:schemeClr val="tx1"/>
                </a:solidFill>
                <a:latin typeface="Times New Roman" panose="02020603050405020304" pitchFamily="18" charset="0"/>
              </a:rPr>
              <a:t>	</a:t>
            </a:r>
            <a:endParaRPr lang="en-US" altLang="zh-CN" sz="2800" b="1" u="none" dirty="0">
              <a:solidFill>
                <a:schemeClr val="tx1"/>
              </a:solidFill>
              <a:latin typeface="Times New Roman" panose="02020603050405020304" pitchFamily="18" charset="0"/>
            </a:endParaRPr>
          </a:p>
          <a:p>
            <a:pPr eaLnBrk="0" hangingPunct="0"/>
            <a:r>
              <a:rPr lang="en-US" altLang="zh-CN" sz="2800" b="1" u="none" dirty="0">
                <a:solidFill>
                  <a:schemeClr val="tx1"/>
                </a:solidFill>
                <a:latin typeface="Times New Roman" panose="02020603050405020304" pitchFamily="18" charset="0"/>
              </a:rPr>
              <a:t>     END</a:t>
            </a:r>
            <a:endParaRPr lang="en-US" altLang="zh-CN" sz="2800" b="1" u="none" dirty="0">
              <a:solidFill>
                <a:schemeClr val="tx1"/>
              </a:solidFill>
              <a:latin typeface="Times New Roman" panose="02020603050405020304" pitchFamily="18" charset="0"/>
            </a:endParaRPr>
          </a:p>
          <a:p>
            <a:pPr eaLnBrk="0" hangingPunct="0"/>
            <a:r>
              <a:rPr lang="en-US" altLang="zh-CN" sz="2800" b="1" u="none" dirty="0">
                <a:solidFill>
                  <a:schemeClr val="tx1"/>
                </a:solidFill>
                <a:latin typeface="Times New Roman" panose="02020603050405020304" pitchFamily="18" charset="0"/>
              </a:rPr>
              <a:t>     ELSE  IF SYM&lt;&gt;‘#’ AND SYM&lt;&gt;’)’ THEN ERROR</a:t>
            </a:r>
            <a:endParaRPr lang="en-US" altLang="zh-CN" sz="2800" b="1" u="none" dirty="0">
              <a:solidFill>
                <a:schemeClr val="tx1"/>
              </a:solidFill>
              <a:latin typeface="Times New Roman" panose="02020603050405020304" pitchFamily="18" charset="0"/>
            </a:endParaRPr>
          </a:p>
          <a:p>
            <a:pPr eaLnBrk="0" hangingPunct="0"/>
            <a:endParaRPr lang="en-US" altLang="zh-CN" sz="2800" b="1" u="none" dirty="0">
              <a:solidFill>
                <a:schemeClr val="tx1"/>
              </a:solidFill>
              <a:latin typeface="Times New Roman" panose="02020603050405020304" pitchFamily="18" charset="0"/>
            </a:endParaRPr>
          </a:p>
          <a:p>
            <a:pPr eaLnBrk="0" hangingPunct="0"/>
            <a:r>
              <a:rPr lang="en-US" altLang="zh-CN" sz="2800" b="1" u="none" dirty="0">
                <a:solidFill>
                  <a:schemeClr val="tx1"/>
                </a:solidFill>
                <a:latin typeface="Times New Roman" panose="02020603050405020304" pitchFamily="18" charset="0"/>
              </a:rPr>
              <a:t>    (</a:t>
            </a:r>
            <a:r>
              <a:rPr lang="zh-CN" altLang="en-US" sz="2800" b="1" u="none" dirty="0">
                <a:solidFill>
                  <a:schemeClr val="tx1"/>
                </a:solidFill>
                <a:latin typeface="Times New Roman" panose="02020603050405020304" pitchFamily="18" charset="0"/>
              </a:rPr>
              <a:t>对于</a:t>
            </a:r>
            <a:r>
              <a:rPr lang="en-US" altLang="zh-CN" sz="2800" b="1" u="none" dirty="0">
                <a:solidFill>
                  <a:schemeClr val="tx1"/>
                </a:solidFill>
                <a:latin typeface="Verdana" panose="020B0604030504040204" pitchFamily="34" charset="0"/>
                <a:sym typeface="Symbol" panose="05050102010706020507" pitchFamily="18" charset="2"/>
              </a:rPr>
              <a:t></a:t>
            </a:r>
            <a:r>
              <a:rPr lang="zh-CN" altLang="en-US" sz="2800" b="1" u="none" dirty="0">
                <a:solidFill>
                  <a:schemeClr val="tx1"/>
                </a:solidFill>
                <a:latin typeface="Verdana" panose="020B0604030504040204" pitchFamily="34" charset="0"/>
                <a:sym typeface="Symbol" panose="05050102010706020507" pitchFamily="18" charset="2"/>
              </a:rPr>
              <a:t>的情形</a:t>
            </a:r>
            <a:r>
              <a:rPr lang="en-US" altLang="zh-CN" sz="2800" b="1" u="none" dirty="0">
                <a:solidFill>
                  <a:schemeClr val="tx1"/>
                </a:solidFill>
                <a:latin typeface="Verdana" panose="020B0604030504040204" pitchFamily="34" charset="0"/>
                <a:sym typeface="Symbol" panose="05050102010706020507" pitchFamily="18" charset="2"/>
              </a:rPr>
              <a:t>,</a:t>
            </a:r>
            <a:r>
              <a:rPr lang="zh-CN" altLang="en-US" sz="2800" b="1" u="none" dirty="0">
                <a:solidFill>
                  <a:schemeClr val="tx1"/>
                </a:solidFill>
                <a:latin typeface="Times New Roman" panose="02020603050405020304" pitchFamily="18" charset="0"/>
              </a:rPr>
              <a:t>考虑到</a:t>
            </a:r>
            <a:r>
              <a:rPr lang="en-US" altLang="zh-CN" sz="2800" b="1" u="none" dirty="0">
                <a:solidFill>
                  <a:schemeClr val="tx1"/>
                </a:solidFill>
                <a:latin typeface="Times New Roman" panose="02020603050405020304" pitchFamily="18" charset="0"/>
              </a:rPr>
              <a:t>FOLLOW</a:t>
            </a:r>
            <a:r>
              <a:rPr lang="zh-CN" altLang="en-US" sz="2800" b="1" u="none" dirty="0">
                <a:solidFill>
                  <a:schemeClr val="tx1"/>
                </a:solidFill>
                <a:latin typeface="Times New Roman" panose="02020603050405020304" pitchFamily="18" charset="0"/>
              </a:rPr>
              <a:t>集</a:t>
            </a:r>
            <a:r>
              <a:rPr lang="en-US" altLang="zh-CN" sz="2800" b="1" u="none" dirty="0">
                <a:solidFill>
                  <a:schemeClr val="tx1"/>
                </a:solidFill>
                <a:latin typeface="Times New Roman" panose="02020603050405020304" pitchFamily="18" charset="0"/>
              </a:rPr>
              <a:t>)</a:t>
            </a:r>
            <a:endParaRPr lang="en-US" altLang="zh-CN" sz="2800" b="1" u="none" dirty="0">
              <a:solidFill>
                <a:schemeClr val="tx1"/>
              </a:solidFill>
              <a:latin typeface="Times New Roman" panose="02020603050405020304" pitchFamily="18"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245763"/>
                                        </p:tgtEl>
                                        <p:attrNameLst>
                                          <p:attrName>style.visibility</p:attrName>
                                        </p:attrNameLst>
                                      </p:cBhvr>
                                      <p:to>
                                        <p:strVal val="visible"/>
                                      </p:to>
                                    </p:set>
                                    <p:animEffect transition="in" filter="blinds(vertical)">
                                      <p:cBhvr>
                                        <p:cTn id="7" dur="500"/>
                                        <p:tgtEl>
                                          <p:spTgt spid="2457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63"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5"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72706" name="Rectangle 2"/>
          <p:cNvSpPr>
            <a:spLocks noGrp="1"/>
          </p:cNvSpPr>
          <p:nvPr>
            <p:ph type="body"/>
          </p:nvPr>
        </p:nvSpPr>
        <p:spPr>
          <a:xfrm>
            <a:off x="762000" y="457200"/>
            <a:ext cx="7543800" cy="3429000"/>
          </a:xfrm>
          <a:ln/>
        </p:spPr>
        <p:txBody>
          <a:bodyPr vert="horz" wrap="square" lIns="91440" tIns="45720" rIns="91440" bIns="45720" anchor="t"/>
          <a:p>
            <a:pPr lvl="1" indent="-436245" eaLnBrk="1" hangingPunct="1">
              <a:lnSpc>
                <a:spcPct val="90000"/>
              </a:lnSpc>
              <a:spcBef>
                <a:spcPct val="0"/>
              </a:spcBef>
              <a:buFont typeface="Symbol" panose="05050102010706020507" pitchFamily="18" charset="2"/>
              <a:buChar char="¨"/>
            </a:pPr>
            <a:r>
              <a:rPr lang="en-US" altLang="zh-CN" b="1" dirty="0"/>
              <a:t>E→TE</a:t>
            </a:r>
            <a:r>
              <a:rPr lang="en-US" altLang="zh-CN" b="1" dirty="0">
                <a:sym typeface="Symbol" panose="05050102010706020507" pitchFamily="18" charset="2"/>
              </a:rPr>
              <a:t></a:t>
            </a:r>
            <a:endParaRPr lang="en-US" altLang="zh-CN" b="1" dirty="0"/>
          </a:p>
          <a:p>
            <a:pPr lvl="1" indent="-436245" eaLnBrk="1" hangingPunct="1">
              <a:lnSpc>
                <a:spcPct val="90000"/>
              </a:lnSpc>
              <a:spcBef>
                <a:spcPct val="0"/>
              </a:spcBef>
              <a:buNone/>
            </a:pPr>
            <a:r>
              <a:rPr lang="en-US" altLang="zh-CN" b="1" dirty="0"/>
              <a:t>   E</a:t>
            </a:r>
            <a:r>
              <a:rPr lang="en-US" altLang="zh-CN" b="1" dirty="0">
                <a:sym typeface="Symbol" panose="05050102010706020507" pitchFamily="18" charset="2"/>
              </a:rPr>
              <a:t></a:t>
            </a:r>
            <a:r>
              <a:rPr lang="en-US" altLang="zh-CN" b="1" dirty="0"/>
              <a:t>→+TE</a:t>
            </a:r>
            <a:r>
              <a:rPr lang="en-US" altLang="zh-CN" b="1" dirty="0">
                <a:sym typeface="Symbol" panose="05050102010706020507" pitchFamily="18" charset="2"/>
              </a:rPr>
              <a:t></a:t>
            </a:r>
            <a:r>
              <a:rPr lang="en-US" altLang="zh-CN" b="1" dirty="0"/>
              <a:t> | </a:t>
            </a:r>
            <a:r>
              <a:rPr lang="en-US" altLang="zh-CN" b="1" dirty="0">
                <a:sym typeface="Symbol" panose="05050102010706020507" pitchFamily="18" charset="2"/>
              </a:rPr>
              <a:t></a:t>
            </a:r>
            <a:endParaRPr lang="en-US" altLang="zh-CN" b="1" dirty="0"/>
          </a:p>
          <a:p>
            <a:pPr lvl="1" indent="-436245" eaLnBrk="1" hangingPunct="1">
              <a:lnSpc>
                <a:spcPct val="90000"/>
              </a:lnSpc>
              <a:spcBef>
                <a:spcPct val="0"/>
              </a:spcBef>
              <a:buNone/>
            </a:pPr>
            <a:r>
              <a:rPr lang="en-US" altLang="zh-CN" b="1" dirty="0"/>
              <a:t>   T→FT</a:t>
            </a:r>
            <a:r>
              <a:rPr lang="en-US" altLang="zh-CN" b="1" dirty="0">
                <a:sym typeface="Symbol" panose="05050102010706020507" pitchFamily="18" charset="2"/>
              </a:rPr>
              <a:t></a:t>
            </a:r>
            <a:r>
              <a:rPr lang="en-US" altLang="zh-CN" b="1" dirty="0"/>
              <a:t>                         </a:t>
            </a:r>
            <a:endParaRPr lang="en-US" altLang="zh-CN" b="1" dirty="0"/>
          </a:p>
          <a:p>
            <a:pPr lvl="1" indent="-436245" eaLnBrk="1" hangingPunct="1">
              <a:lnSpc>
                <a:spcPct val="90000"/>
              </a:lnSpc>
              <a:spcBef>
                <a:spcPct val="0"/>
              </a:spcBef>
              <a:buNone/>
            </a:pPr>
            <a:r>
              <a:rPr lang="en-US" altLang="zh-CN" b="1" dirty="0">
                <a:solidFill>
                  <a:srgbClr val="FF0000"/>
                </a:solidFill>
              </a:rPr>
              <a:t>   T</a:t>
            </a:r>
            <a:r>
              <a:rPr lang="en-US" altLang="zh-CN" b="1" dirty="0">
                <a:solidFill>
                  <a:srgbClr val="FF0000"/>
                </a:solidFill>
                <a:sym typeface="Symbol" panose="05050102010706020507" pitchFamily="18" charset="2"/>
              </a:rPr>
              <a:t></a:t>
            </a:r>
            <a:r>
              <a:rPr lang="en-US" altLang="zh-CN" b="1" dirty="0">
                <a:solidFill>
                  <a:srgbClr val="FF0000"/>
                </a:solidFill>
              </a:rPr>
              <a:t>→*FT</a:t>
            </a:r>
            <a:r>
              <a:rPr lang="en-US" altLang="zh-CN" b="1" dirty="0">
                <a:solidFill>
                  <a:srgbClr val="FF0000"/>
                </a:solidFill>
                <a:sym typeface="Symbol" panose="05050102010706020507" pitchFamily="18" charset="2"/>
              </a:rPr>
              <a:t></a:t>
            </a:r>
            <a:r>
              <a:rPr lang="en-US" altLang="zh-CN" b="1" dirty="0">
                <a:solidFill>
                  <a:srgbClr val="FF0000"/>
                </a:solidFill>
              </a:rPr>
              <a:t> | </a:t>
            </a:r>
            <a:r>
              <a:rPr lang="en-US" altLang="zh-CN" b="1" dirty="0">
                <a:solidFill>
                  <a:srgbClr val="FF0000"/>
                </a:solidFill>
                <a:sym typeface="Symbol" panose="05050102010706020507" pitchFamily="18" charset="2"/>
              </a:rPr>
              <a:t> </a:t>
            </a:r>
            <a:endParaRPr lang="en-US" altLang="zh-CN" b="1" dirty="0">
              <a:solidFill>
                <a:srgbClr val="FF0000"/>
              </a:solidFill>
            </a:endParaRPr>
          </a:p>
          <a:p>
            <a:pPr lvl="1" indent="-436245" eaLnBrk="1" hangingPunct="1">
              <a:lnSpc>
                <a:spcPct val="90000"/>
              </a:lnSpc>
              <a:spcBef>
                <a:spcPct val="0"/>
              </a:spcBef>
              <a:buNone/>
            </a:pPr>
            <a:r>
              <a:rPr lang="en-US" altLang="zh-CN" b="1" dirty="0"/>
              <a:t>   F→(E) | I</a:t>
            </a:r>
            <a:endParaRPr lang="en-US" altLang="zh-CN" b="1" dirty="0"/>
          </a:p>
          <a:p>
            <a:pPr lvl="1" indent="-436245" eaLnBrk="1" hangingPunct="1">
              <a:lnSpc>
                <a:spcPct val="90000"/>
              </a:lnSpc>
              <a:spcBef>
                <a:spcPct val="0"/>
              </a:spcBef>
              <a:buNone/>
            </a:pPr>
            <a:r>
              <a:rPr lang="zh-CN" altLang="en-US" b="1" dirty="0">
                <a:latin typeface="宋体" panose="02010600030101010101" pitchFamily="2" charset="-122"/>
              </a:rPr>
              <a:t>对应的递归下降子程序为</a:t>
            </a:r>
            <a:r>
              <a:rPr lang="en-US" altLang="zh-CN" b="1" dirty="0">
                <a:latin typeface="宋体" panose="02010600030101010101" pitchFamily="2" charset="-122"/>
              </a:rPr>
              <a:t>:</a:t>
            </a:r>
            <a:endParaRPr lang="en-US" altLang="zh-CN" b="1" dirty="0">
              <a:latin typeface="宋体" panose="02010600030101010101" pitchFamily="2" charset="-122"/>
            </a:endParaRPr>
          </a:p>
          <a:p>
            <a:pPr eaLnBrk="1" hangingPunct="1">
              <a:lnSpc>
                <a:spcPct val="90000"/>
              </a:lnSpc>
              <a:spcBef>
                <a:spcPct val="0"/>
              </a:spcBef>
              <a:buNone/>
            </a:pPr>
            <a:r>
              <a:rPr lang="en-US" altLang="zh-CN" b="1" dirty="0"/>
              <a:t>    </a:t>
            </a:r>
            <a:endParaRPr lang="en-US" altLang="zh-CN" b="1" dirty="0"/>
          </a:p>
        </p:txBody>
      </p:sp>
      <p:sp>
        <p:nvSpPr>
          <p:cNvPr id="246787" name="Rectangle 3"/>
          <p:cNvSpPr/>
          <p:nvPr/>
        </p:nvSpPr>
        <p:spPr>
          <a:xfrm>
            <a:off x="0" y="2924175"/>
            <a:ext cx="9144000" cy="3024188"/>
          </a:xfrm>
          <a:prstGeom prst="rect">
            <a:avLst/>
          </a:prstGeom>
          <a:noFill/>
          <a:ln w="9525">
            <a:noFill/>
          </a:ln>
        </p:spPr>
        <p:txBody>
          <a:bodyPr anchor="t"/>
          <a:p>
            <a:pPr eaLnBrk="0" hangingPunct="0">
              <a:lnSpc>
                <a:spcPct val="90000"/>
              </a:lnSpc>
            </a:pPr>
            <a:r>
              <a:rPr lang="en-US" altLang="zh-CN" sz="2800" b="1" u="none" dirty="0">
                <a:solidFill>
                  <a:schemeClr val="tx1"/>
                </a:solidFill>
                <a:latin typeface="Times New Roman" panose="02020603050405020304" pitchFamily="18" charset="0"/>
              </a:rPr>
              <a:t>PROCEDURE  T</a:t>
            </a:r>
            <a:r>
              <a:rPr lang="en-US" altLang="zh-CN" sz="2800" b="1" u="none" dirty="0">
                <a:solidFill>
                  <a:schemeClr val="tx1"/>
                </a:solidFill>
                <a:latin typeface="Times New Roman" panose="02020603050405020304" pitchFamily="18" charset="0"/>
                <a:sym typeface="Symbol" panose="05050102010706020507" pitchFamily="18" charset="2"/>
              </a:rPr>
              <a:t></a:t>
            </a:r>
            <a:r>
              <a:rPr lang="zh-CN" altLang="en-US" sz="2800" b="1" u="none" dirty="0">
                <a:solidFill>
                  <a:schemeClr val="tx1"/>
                </a:solidFill>
                <a:latin typeface="Times New Roman" panose="02020603050405020304" pitchFamily="18" charset="0"/>
              </a:rPr>
              <a:t>；</a:t>
            </a:r>
            <a:endParaRPr lang="zh-CN" altLang="en-US" sz="2800" b="1" u="none" dirty="0">
              <a:solidFill>
                <a:schemeClr val="tx1"/>
              </a:solidFill>
              <a:latin typeface="Times New Roman" panose="02020603050405020304" pitchFamily="18" charset="0"/>
            </a:endParaRPr>
          </a:p>
          <a:p>
            <a:pPr eaLnBrk="0" hangingPunct="0">
              <a:lnSpc>
                <a:spcPct val="90000"/>
              </a:lnSpc>
            </a:pPr>
            <a:r>
              <a:rPr lang="zh-CN" altLang="en-US" sz="2800" b="1" u="none" dirty="0">
                <a:solidFill>
                  <a:schemeClr val="tx1"/>
                </a:solidFill>
                <a:latin typeface="Times New Roman" panose="02020603050405020304" pitchFamily="18" charset="0"/>
              </a:rPr>
              <a:t>      </a:t>
            </a:r>
            <a:r>
              <a:rPr lang="en-US" altLang="zh-CN" sz="2800" b="1" u="none" dirty="0">
                <a:solidFill>
                  <a:schemeClr val="tx1"/>
                </a:solidFill>
                <a:latin typeface="Times New Roman" panose="02020603050405020304" pitchFamily="18" charset="0"/>
              </a:rPr>
              <a:t>IF SYM=‘*’ THEN</a:t>
            </a:r>
            <a:endParaRPr lang="en-US" altLang="zh-CN" sz="2800" b="1" u="none" dirty="0">
              <a:solidFill>
                <a:schemeClr val="tx1"/>
              </a:solidFill>
              <a:latin typeface="Times New Roman" panose="02020603050405020304" pitchFamily="18" charset="0"/>
            </a:endParaRPr>
          </a:p>
          <a:p>
            <a:pPr eaLnBrk="0" hangingPunct="0">
              <a:lnSpc>
                <a:spcPct val="90000"/>
              </a:lnSpc>
            </a:pPr>
            <a:r>
              <a:rPr lang="en-US" altLang="zh-CN" sz="2800" b="1" u="none" dirty="0">
                <a:solidFill>
                  <a:schemeClr val="tx1"/>
                </a:solidFill>
                <a:latin typeface="Times New Roman" panose="02020603050405020304" pitchFamily="18" charset="0"/>
              </a:rPr>
              <a:t>      BEGIN</a:t>
            </a:r>
            <a:endParaRPr lang="en-US" altLang="zh-CN" sz="2800" b="1" u="none" dirty="0">
              <a:solidFill>
                <a:schemeClr val="tx1"/>
              </a:solidFill>
              <a:latin typeface="Times New Roman" panose="02020603050405020304" pitchFamily="18" charset="0"/>
            </a:endParaRPr>
          </a:p>
          <a:p>
            <a:pPr eaLnBrk="0" hangingPunct="0">
              <a:lnSpc>
                <a:spcPct val="90000"/>
              </a:lnSpc>
            </a:pPr>
            <a:r>
              <a:rPr lang="en-US" altLang="zh-CN" sz="2800" b="1" u="none" dirty="0">
                <a:solidFill>
                  <a:schemeClr val="tx1"/>
                </a:solidFill>
                <a:latin typeface="Times New Roman" panose="02020603050405020304" pitchFamily="18" charset="0"/>
              </a:rPr>
              <a:t>           ADVANCE</a:t>
            </a:r>
            <a:r>
              <a:rPr lang="zh-CN" altLang="en-US" sz="2800" b="1" u="none" dirty="0">
                <a:solidFill>
                  <a:schemeClr val="tx1"/>
                </a:solidFill>
                <a:latin typeface="Times New Roman" panose="02020603050405020304" pitchFamily="18" charset="0"/>
              </a:rPr>
              <a:t>；</a:t>
            </a:r>
            <a:endParaRPr lang="zh-CN" altLang="en-US" sz="2800" b="1" u="none" dirty="0">
              <a:solidFill>
                <a:schemeClr val="tx1"/>
              </a:solidFill>
              <a:latin typeface="Times New Roman" panose="02020603050405020304" pitchFamily="18" charset="0"/>
            </a:endParaRPr>
          </a:p>
          <a:p>
            <a:pPr eaLnBrk="0" hangingPunct="0">
              <a:lnSpc>
                <a:spcPct val="90000"/>
              </a:lnSpc>
            </a:pPr>
            <a:r>
              <a:rPr lang="zh-CN" altLang="en-US" sz="2800" b="1" u="none" dirty="0">
                <a:solidFill>
                  <a:schemeClr val="tx1"/>
                </a:solidFill>
                <a:latin typeface="Times New Roman" panose="02020603050405020304" pitchFamily="18" charset="0"/>
              </a:rPr>
              <a:t>           </a:t>
            </a:r>
            <a:r>
              <a:rPr lang="en-US" altLang="zh-CN" sz="2800" b="1" u="none" dirty="0">
                <a:solidFill>
                  <a:schemeClr val="tx1"/>
                </a:solidFill>
                <a:latin typeface="Times New Roman" panose="02020603050405020304" pitchFamily="18" charset="0"/>
              </a:rPr>
              <a:t>F</a:t>
            </a:r>
            <a:r>
              <a:rPr lang="zh-CN" altLang="en-US" sz="2800" b="1" u="none" dirty="0">
                <a:solidFill>
                  <a:schemeClr val="tx1"/>
                </a:solidFill>
                <a:latin typeface="Times New Roman" panose="02020603050405020304" pitchFamily="18" charset="0"/>
              </a:rPr>
              <a:t>；</a:t>
            </a:r>
            <a:r>
              <a:rPr lang="en-US" altLang="zh-CN" sz="2800" b="1" u="none" dirty="0">
                <a:solidFill>
                  <a:schemeClr val="tx1"/>
                </a:solidFill>
                <a:latin typeface="Times New Roman" panose="02020603050405020304" pitchFamily="18" charset="0"/>
              </a:rPr>
              <a:t>T</a:t>
            </a:r>
            <a:r>
              <a:rPr lang="en-US" altLang="zh-CN" sz="2800" b="1" u="none" dirty="0">
                <a:solidFill>
                  <a:schemeClr val="tx1"/>
                </a:solidFill>
                <a:latin typeface="Times New Roman" panose="02020603050405020304" pitchFamily="18" charset="0"/>
                <a:sym typeface="Symbol" panose="05050102010706020507" pitchFamily="18" charset="2"/>
              </a:rPr>
              <a:t></a:t>
            </a:r>
            <a:endParaRPr lang="en-US" altLang="zh-CN" sz="2800" b="1" u="none" dirty="0">
              <a:solidFill>
                <a:schemeClr val="tx1"/>
              </a:solidFill>
              <a:latin typeface="Times New Roman" panose="02020603050405020304" pitchFamily="18" charset="0"/>
            </a:endParaRPr>
          </a:p>
          <a:p>
            <a:pPr eaLnBrk="0" hangingPunct="0">
              <a:lnSpc>
                <a:spcPct val="90000"/>
              </a:lnSpc>
            </a:pPr>
            <a:r>
              <a:rPr lang="en-US" altLang="zh-CN" sz="2800" b="1" u="none" dirty="0">
                <a:solidFill>
                  <a:schemeClr val="tx1"/>
                </a:solidFill>
                <a:latin typeface="Times New Roman" panose="02020603050405020304" pitchFamily="18" charset="0"/>
              </a:rPr>
              <a:t>      END</a:t>
            </a:r>
            <a:endParaRPr lang="en-US" altLang="zh-CN" sz="2800" b="1" u="none" dirty="0">
              <a:solidFill>
                <a:schemeClr val="tx1"/>
              </a:solidFill>
              <a:latin typeface="Times New Roman" panose="02020603050405020304" pitchFamily="18" charset="0"/>
            </a:endParaRPr>
          </a:p>
          <a:p>
            <a:pPr eaLnBrk="0" hangingPunct="0">
              <a:lnSpc>
                <a:spcPct val="90000"/>
              </a:lnSpc>
            </a:pPr>
            <a:r>
              <a:rPr lang="en-US" altLang="zh-CN" sz="2800" b="1" u="none" dirty="0">
                <a:solidFill>
                  <a:schemeClr val="tx1"/>
                </a:solidFill>
                <a:latin typeface="Times New Roman" panose="02020603050405020304" pitchFamily="18" charset="0"/>
              </a:rPr>
              <a:t>      ELSE  IF SYM&lt;&gt;‘#’  AND </a:t>
            </a:r>
            <a:endParaRPr lang="en-US" altLang="zh-CN" sz="2800" b="1" u="none" dirty="0">
              <a:solidFill>
                <a:schemeClr val="tx1"/>
              </a:solidFill>
              <a:latin typeface="Times New Roman" panose="02020603050405020304" pitchFamily="18" charset="0"/>
            </a:endParaRPr>
          </a:p>
          <a:p>
            <a:pPr eaLnBrk="0" hangingPunct="0">
              <a:lnSpc>
                <a:spcPct val="90000"/>
              </a:lnSpc>
            </a:pPr>
            <a:r>
              <a:rPr lang="en-US" altLang="zh-CN" sz="2800" b="1" u="none" dirty="0">
                <a:solidFill>
                  <a:schemeClr val="tx1"/>
                </a:solidFill>
                <a:latin typeface="Times New Roman" panose="02020603050405020304" pitchFamily="18" charset="0"/>
              </a:rPr>
              <a:t>                       SYM&lt;&gt;’)’ AND SYM&lt;&gt;’+’ THEN  ERROR</a:t>
            </a:r>
            <a:endParaRPr lang="en-US" altLang="zh-CN" sz="2800" b="1" u="none" dirty="0">
              <a:solidFill>
                <a:schemeClr val="tx1"/>
              </a:solidFill>
              <a:latin typeface="Times New Roman" panose="02020603050405020304" pitchFamily="18"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246787"/>
                                        </p:tgtEl>
                                        <p:attrNameLst>
                                          <p:attrName>style.visibility</p:attrName>
                                        </p:attrNameLst>
                                      </p:cBhvr>
                                      <p:to>
                                        <p:strVal val="visible"/>
                                      </p:to>
                                    </p:set>
                                    <p:animEffect transition="in" filter="blinds(vertical)">
                                      <p:cBhvr>
                                        <p:cTn id="7" dur="500"/>
                                        <p:tgtEl>
                                          <p:spTgt spid="2467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787"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29"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73730" name="Rectangle 2"/>
          <p:cNvSpPr>
            <a:spLocks noGrp="1"/>
          </p:cNvSpPr>
          <p:nvPr>
            <p:ph type="body"/>
          </p:nvPr>
        </p:nvSpPr>
        <p:spPr>
          <a:xfrm>
            <a:off x="762000" y="457200"/>
            <a:ext cx="7543800" cy="3429000"/>
          </a:xfrm>
          <a:ln/>
        </p:spPr>
        <p:txBody>
          <a:bodyPr vert="horz" wrap="square" lIns="91440" tIns="45720" rIns="91440" bIns="45720" anchor="t"/>
          <a:p>
            <a:pPr lvl="1" indent="-436245" eaLnBrk="1" hangingPunct="1">
              <a:lnSpc>
                <a:spcPct val="90000"/>
              </a:lnSpc>
              <a:spcBef>
                <a:spcPct val="0"/>
              </a:spcBef>
              <a:buFont typeface="Symbol" panose="05050102010706020507" pitchFamily="18" charset="2"/>
              <a:buChar char="¨"/>
            </a:pPr>
            <a:r>
              <a:rPr lang="en-US" altLang="zh-CN" b="1" dirty="0"/>
              <a:t>E→TE</a:t>
            </a:r>
            <a:r>
              <a:rPr lang="en-US" altLang="zh-CN" b="1" dirty="0">
                <a:sym typeface="Symbol" panose="05050102010706020507" pitchFamily="18" charset="2"/>
              </a:rPr>
              <a:t></a:t>
            </a:r>
            <a:endParaRPr lang="en-US" altLang="zh-CN" b="1" dirty="0"/>
          </a:p>
          <a:p>
            <a:pPr lvl="1" indent="-436245" eaLnBrk="1" hangingPunct="1">
              <a:lnSpc>
                <a:spcPct val="90000"/>
              </a:lnSpc>
              <a:spcBef>
                <a:spcPct val="0"/>
              </a:spcBef>
              <a:buNone/>
            </a:pPr>
            <a:r>
              <a:rPr lang="en-US" altLang="zh-CN" b="1" dirty="0"/>
              <a:t>   E</a:t>
            </a:r>
            <a:r>
              <a:rPr lang="en-US" altLang="zh-CN" b="1" dirty="0">
                <a:sym typeface="Symbol" panose="05050102010706020507" pitchFamily="18" charset="2"/>
              </a:rPr>
              <a:t></a:t>
            </a:r>
            <a:r>
              <a:rPr lang="en-US" altLang="zh-CN" b="1" dirty="0"/>
              <a:t>→+TE</a:t>
            </a:r>
            <a:r>
              <a:rPr lang="en-US" altLang="zh-CN" b="1" dirty="0">
                <a:sym typeface="Symbol" panose="05050102010706020507" pitchFamily="18" charset="2"/>
              </a:rPr>
              <a:t></a:t>
            </a:r>
            <a:r>
              <a:rPr lang="en-US" altLang="zh-CN" b="1" dirty="0"/>
              <a:t> | </a:t>
            </a:r>
            <a:r>
              <a:rPr lang="en-US" altLang="zh-CN" b="1" dirty="0">
                <a:sym typeface="Symbol" panose="05050102010706020507" pitchFamily="18" charset="2"/>
              </a:rPr>
              <a:t></a:t>
            </a:r>
            <a:endParaRPr lang="en-US" altLang="zh-CN" b="1" dirty="0"/>
          </a:p>
          <a:p>
            <a:pPr lvl="1" indent="-436245" eaLnBrk="1" hangingPunct="1">
              <a:lnSpc>
                <a:spcPct val="90000"/>
              </a:lnSpc>
              <a:spcBef>
                <a:spcPct val="0"/>
              </a:spcBef>
              <a:buNone/>
            </a:pPr>
            <a:r>
              <a:rPr lang="en-US" altLang="zh-CN" b="1" dirty="0"/>
              <a:t>   T→FT</a:t>
            </a:r>
            <a:r>
              <a:rPr lang="en-US" altLang="zh-CN" b="1" dirty="0">
                <a:sym typeface="Symbol" panose="05050102010706020507" pitchFamily="18" charset="2"/>
              </a:rPr>
              <a:t></a:t>
            </a:r>
            <a:r>
              <a:rPr lang="en-US" altLang="zh-CN" b="1" dirty="0"/>
              <a:t>                         </a:t>
            </a:r>
            <a:endParaRPr lang="en-US" altLang="zh-CN" b="1" dirty="0"/>
          </a:p>
          <a:p>
            <a:pPr lvl="1" indent="-436245" eaLnBrk="1" hangingPunct="1">
              <a:lnSpc>
                <a:spcPct val="90000"/>
              </a:lnSpc>
              <a:spcBef>
                <a:spcPct val="0"/>
              </a:spcBef>
              <a:buNone/>
            </a:pPr>
            <a:r>
              <a:rPr lang="en-US" altLang="zh-CN" b="1" dirty="0"/>
              <a:t>   T</a:t>
            </a:r>
            <a:r>
              <a:rPr lang="en-US" altLang="zh-CN" b="1" dirty="0">
                <a:sym typeface="Symbol" panose="05050102010706020507" pitchFamily="18" charset="2"/>
              </a:rPr>
              <a:t></a:t>
            </a:r>
            <a:r>
              <a:rPr lang="en-US" altLang="zh-CN" b="1" dirty="0"/>
              <a:t>→*FT</a:t>
            </a:r>
            <a:r>
              <a:rPr lang="en-US" altLang="zh-CN" b="1" dirty="0">
                <a:sym typeface="Symbol" panose="05050102010706020507" pitchFamily="18" charset="2"/>
              </a:rPr>
              <a:t></a:t>
            </a:r>
            <a:r>
              <a:rPr lang="en-US" altLang="zh-CN" b="1" dirty="0"/>
              <a:t> | </a:t>
            </a:r>
            <a:r>
              <a:rPr lang="en-US" altLang="zh-CN" b="1" dirty="0">
                <a:sym typeface="Symbol" panose="05050102010706020507" pitchFamily="18" charset="2"/>
              </a:rPr>
              <a:t> </a:t>
            </a:r>
            <a:endParaRPr lang="en-US" altLang="zh-CN" b="1" dirty="0"/>
          </a:p>
          <a:p>
            <a:pPr lvl="1" indent="-436245" eaLnBrk="1" hangingPunct="1">
              <a:lnSpc>
                <a:spcPct val="90000"/>
              </a:lnSpc>
              <a:spcBef>
                <a:spcPct val="0"/>
              </a:spcBef>
              <a:buNone/>
            </a:pPr>
            <a:r>
              <a:rPr lang="en-US" altLang="zh-CN" b="1" dirty="0">
                <a:solidFill>
                  <a:srgbClr val="FF0000"/>
                </a:solidFill>
              </a:rPr>
              <a:t>   F→(E) | i</a:t>
            </a:r>
            <a:endParaRPr lang="en-US" altLang="zh-CN" b="1" dirty="0">
              <a:solidFill>
                <a:srgbClr val="FF0000"/>
              </a:solidFill>
            </a:endParaRPr>
          </a:p>
          <a:p>
            <a:pPr lvl="1" indent="-436245" eaLnBrk="1" hangingPunct="1">
              <a:lnSpc>
                <a:spcPct val="90000"/>
              </a:lnSpc>
              <a:spcBef>
                <a:spcPct val="0"/>
              </a:spcBef>
              <a:buNone/>
            </a:pPr>
            <a:r>
              <a:rPr lang="zh-CN" altLang="en-US" b="1" dirty="0">
                <a:latin typeface="宋体" panose="02010600030101010101" pitchFamily="2" charset="-122"/>
              </a:rPr>
              <a:t>对应的递归下降子程序为</a:t>
            </a:r>
            <a:r>
              <a:rPr lang="en-US" altLang="zh-CN" b="1" dirty="0">
                <a:latin typeface="宋体" panose="02010600030101010101" pitchFamily="2" charset="-122"/>
              </a:rPr>
              <a:t>:</a:t>
            </a:r>
            <a:endParaRPr lang="en-US" altLang="zh-CN" b="1" dirty="0">
              <a:latin typeface="宋体" panose="02010600030101010101" pitchFamily="2" charset="-122"/>
            </a:endParaRPr>
          </a:p>
          <a:p>
            <a:pPr eaLnBrk="1" hangingPunct="1">
              <a:lnSpc>
                <a:spcPct val="90000"/>
              </a:lnSpc>
              <a:spcBef>
                <a:spcPct val="0"/>
              </a:spcBef>
              <a:buNone/>
            </a:pPr>
            <a:r>
              <a:rPr lang="en-US" altLang="zh-CN" b="1" dirty="0"/>
              <a:t>    </a:t>
            </a:r>
            <a:endParaRPr lang="en-US" altLang="zh-CN" b="1" dirty="0"/>
          </a:p>
        </p:txBody>
      </p:sp>
      <p:sp>
        <p:nvSpPr>
          <p:cNvPr id="247811" name="Rectangle 3"/>
          <p:cNvSpPr/>
          <p:nvPr/>
        </p:nvSpPr>
        <p:spPr>
          <a:xfrm>
            <a:off x="971550" y="2997200"/>
            <a:ext cx="7129463" cy="3311525"/>
          </a:xfrm>
          <a:prstGeom prst="rect">
            <a:avLst/>
          </a:prstGeom>
          <a:noFill/>
          <a:ln w="9525">
            <a:noFill/>
          </a:ln>
        </p:spPr>
        <p:txBody>
          <a:bodyPr anchor="t"/>
          <a:p>
            <a:pPr>
              <a:lnSpc>
                <a:spcPct val="80000"/>
              </a:lnSpc>
            </a:pPr>
            <a:r>
              <a:rPr lang="en-US" altLang="zh-CN" sz="2400" b="1" u="none" dirty="0">
                <a:solidFill>
                  <a:schemeClr val="tx1"/>
                </a:solidFill>
                <a:latin typeface="Arial" panose="020B0604020202020204" pitchFamily="34" charset="0"/>
              </a:rPr>
              <a:t>PROCEDURE  F</a:t>
            </a:r>
            <a:r>
              <a:rPr lang="zh-CN" altLang="en-US" sz="2400" b="1" u="none" dirty="0">
                <a:solidFill>
                  <a:schemeClr val="tx1"/>
                </a:solidFill>
                <a:latin typeface="Arial" panose="020B0604020202020204" pitchFamily="34" charset="0"/>
              </a:rPr>
              <a:t>；</a:t>
            </a:r>
            <a:endParaRPr lang="zh-CN" altLang="en-US" sz="2400" b="1" u="none" dirty="0">
              <a:solidFill>
                <a:schemeClr val="tx1"/>
              </a:solidFill>
              <a:latin typeface="Arial" panose="020B0604020202020204" pitchFamily="34" charset="0"/>
            </a:endParaRPr>
          </a:p>
          <a:p>
            <a:pPr>
              <a:lnSpc>
                <a:spcPct val="80000"/>
              </a:lnSpc>
            </a:pPr>
            <a:r>
              <a:rPr lang="zh-CN" altLang="en-US" sz="2400" b="1" u="none" dirty="0">
                <a:solidFill>
                  <a:schemeClr val="tx1"/>
                </a:solidFill>
                <a:latin typeface="Arial" panose="020B0604020202020204" pitchFamily="34" charset="0"/>
              </a:rPr>
              <a:t>   </a:t>
            </a:r>
            <a:r>
              <a:rPr lang="en-US" altLang="zh-CN" sz="2400" b="1" u="none" dirty="0">
                <a:solidFill>
                  <a:schemeClr val="tx1"/>
                </a:solidFill>
                <a:latin typeface="Arial" panose="020B0604020202020204" pitchFamily="34" charset="0"/>
              </a:rPr>
              <a:t>IF SYM=‘i’ THEN ADVANCE</a:t>
            </a:r>
            <a:endParaRPr lang="en-US" altLang="zh-CN" sz="2400" b="1" u="none" dirty="0">
              <a:solidFill>
                <a:schemeClr val="tx1"/>
              </a:solidFill>
              <a:latin typeface="Arial" panose="020B0604020202020204" pitchFamily="34" charset="0"/>
            </a:endParaRPr>
          </a:p>
          <a:p>
            <a:pPr>
              <a:lnSpc>
                <a:spcPct val="80000"/>
              </a:lnSpc>
            </a:pPr>
            <a:r>
              <a:rPr lang="en-US" altLang="zh-CN" sz="2400" b="1" u="none" dirty="0">
                <a:solidFill>
                  <a:schemeClr val="tx1"/>
                </a:solidFill>
                <a:latin typeface="Arial" panose="020B0604020202020204" pitchFamily="34" charset="0"/>
              </a:rPr>
              <a:t>   ELSE</a:t>
            </a:r>
            <a:endParaRPr lang="en-US" altLang="zh-CN" sz="2400" b="1" u="none" dirty="0">
              <a:solidFill>
                <a:schemeClr val="tx1"/>
              </a:solidFill>
              <a:latin typeface="Arial" panose="020B0604020202020204" pitchFamily="34" charset="0"/>
            </a:endParaRPr>
          </a:p>
          <a:p>
            <a:pPr>
              <a:lnSpc>
                <a:spcPct val="80000"/>
              </a:lnSpc>
            </a:pPr>
            <a:r>
              <a:rPr lang="en-US" altLang="zh-CN" sz="2400" b="1" u="none" dirty="0">
                <a:solidFill>
                  <a:schemeClr val="tx1"/>
                </a:solidFill>
                <a:latin typeface="Arial" panose="020B0604020202020204" pitchFamily="34" charset="0"/>
              </a:rPr>
              <a:t>	   IF SYM=‘(’ THEN</a:t>
            </a:r>
            <a:endParaRPr lang="en-US" altLang="zh-CN" sz="2400" b="1" u="none" dirty="0">
              <a:solidFill>
                <a:schemeClr val="tx1"/>
              </a:solidFill>
              <a:latin typeface="Arial" panose="020B0604020202020204" pitchFamily="34" charset="0"/>
            </a:endParaRPr>
          </a:p>
          <a:p>
            <a:pPr>
              <a:lnSpc>
                <a:spcPct val="80000"/>
              </a:lnSpc>
            </a:pPr>
            <a:r>
              <a:rPr lang="en-US" altLang="zh-CN" sz="2400" b="1" u="none" dirty="0">
                <a:solidFill>
                  <a:schemeClr val="tx1"/>
                </a:solidFill>
                <a:latin typeface="Arial" panose="020B0604020202020204" pitchFamily="34" charset="0"/>
              </a:rPr>
              <a:t>	   BEGIN</a:t>
            </a:r>
            <a:endParaRPr lang="en-US" altLang="zh-CN" sz="2400" b="1" u="none" dirty="0">
              <a:solidFill>
                <a:schemeClr val="tx1"/>
              </a:solidFill>
              <a:latin typeface="Arial" panose="020B0604020202020204" pitchFamily="34" charset="0"/>
            </a:endParaRPr>
          </a:p>
          <a:p>
            <a:pPr>
              <a:lnSpc>
                <a:spcPct val="80000"/>
              </a:lnSpc>
            </a:pPr>
            <a:r>
              <a:rPr lang="en-US" altLang="zh-CN" sz="2400" b="1" u="none" dirty="0">
                <a:solidFill>
                  <a:schemeClr val="tx1"/>
                </a:solidFill>
                <a:latin typeface="Arial" panose="020B0604020202020204" pitchFamily="34" charset="0"/>
              </a:rPr>
              <a:t>	       ADVANCE;</a:t>
            </a:r>
            <a:endParaRPr lang="en-US" altLang="zh-CN" sz="2400" b="1" u="none" dirty="0">
              <a:solidFill>
                <a:schemeClr val="tx1"/>
              </a:solidFill>
              <a:latin typeface="Arial" panose="020B0604020202020204" pitchFamily="34" charset="0"/>
            </a:endParaRPr>
          </a:p>
          <a:p>
            <a:pPr>
              <a:lnSpc>
                <a:spcPct val="80000"/>
              </a:lnSpc>
            </a:pPr>
            <a:r>
              <a:rPr lang="en-US" altLang="zh-CN" sz="2400" b="1" u="none" dirty="0">
                <a:solidFill>
                  <a:schemeClr val="tx1"/>
                </a:solidFill>
                <a:latin typeface="Arial" panose="020B0604020202020204" pitchFamily="34" charset="0"/>
              </a:rPr>
              <a:t>		 E</a:t>
            </a:r>
            <a:r>
              <a:rPr lang="zh-CN" altLang="en-US" sz="2400" b="1" u="none" dirty="0">
                <a:solidFill>
                  <a:schemeClr val="tx1"/>
                </a:solidFill>
                <a:latin typeface="Arial" panose="020B0604020202020204" pitchFamily="34" charset="0"/>
              </a:rPr>
              <a:t>；</a:t>
            </a:r>
            <a:endParaRPr lang="zh-CN" altLang="en-US" sz="2400" b="1" u="none" dirty="0">
              <a:solidFill>
                <a:schemeClr val="tx1"/>
              </a:solidFill>
              <a:latin typeface="Arial" panose="020B0604020202020204" pitchFamily="34" charset="0"/>
            </a:endParaRPr>
          </a:p>
          <a:p>
            <a:pPr>
              <a:lnSpc>
                <a:spcPct val="80000"/>
              </a:lnSpc>
            </a:pPr>
            <a:r>
              <a:rPr lang="zh-CN" altLang="en-US" sz="2400" b="1" u="none" dirty="0">
                <a:solidFill>
                  <a:schemeClr val="tx1"/>
                </a:solidFill>
                <a:latin typeface="Arial" panose="020B0604020202020204" pitchFamily="34" charset="0"/>
              </a:rPr>
              <a:t>		 </a:t>
            </a:r>
            <a:r>
              <a:rPr lang="en-US" altLang="zh-CN" sz="2400" b="1" u="none" dirty="0">
                <a:solidFill>
                  <a:schemeClr val="tx1"/>
                </a:solidFill>
                <a:latin typeface="Arial" panose="020B0604020202020204" pitchFamily="34" charset="0"/>
              </a:rPr>
              <a:t>IF SYM=‘)’ THEN ADVANCE</a:t>
            </a:r>
            <a:endParaRPr lang="en-US" altLang="zh-CN" sz="2400" b="1" u="none" dirty="0">
              <a:solidFill>
                <a:schemeClr val="tx1"/>
              </a:solidFill>
              <a:latin typeface="Arial" panose="020B0604020202020204" pitchFamily="34" charset="0"/>
            </a:endParaRPr>
          </a:p>
          <a:p>
            <a:pPr>
              <a:lnSpc>
                <a:spcPct val="80000"/>
              </a:lnSpc>
            </a:pPr>
            <a:r>
              <a:rPr lang="en-US" altLang="zh-CN" sz="2400" b="1" u="none" dirty="0">
                <a:solidFill>
                  <a:schemeClr val="tx1"/>
                </a:solidFill>
                <a:latin typeface="Arial" panose="020B0604020202020204" pitchFamily="34" charset="0"/>
              </a:rPr>
              <a:t>		     ELSE ERROR</a:t>
            </a:r>
            <a:endParaRPr lang="en-US" altLang="zh-CN" sz="2400" b="1" u="none" dirty="0">
              <a:solidFill>
                <a:schemeClr val="tx1"/>
              </a:solidFill>
              <a:latin typeface="Arial" panose="020B0604020202020204" pitchFamily="34" charset="0"/>
            </a:endParaRPr>
          </a:p>
          <a:p>
            <a:pPr>
              <a:lnSpc>
                <a:spcPct val="80000"/>
              </a:lnSpc>
            </a:pPr>
            <a:r>
              <a:rPr lang="en-US" altLang="zh-CN" sz="2400" b="1" u="none" dirty="0">
                <a:solidFill>
                  <a:schemeClr val="tx1"/>
                </a:solidFill>
                <a:latin typeface="Arial" panose="020B0604020202020204" pitchFamily="34" charset="0"/>
              </a:rPr>
              <a:t>	   END</a:t>
            </a:r>
            <a:endParaRPr lang="en-US" altLang="zh-CN" sz="2400" b="1" u="none" dirty="0">
              <a:solidFill>
                <a:schemeClr val="tx1"/>
              </a:solidFill>
              <a:latin typeface="Arial" panose="020B0604020202020204" pitchFamily="34" charset="0"/>
            </a:endParaRPr>
          </a:p>
          <a:p>
            <a:pPr>
              <a:lnSpc>
                <a:spcPct val="80000"/>
              </a:lnSpc>
            </a:pPr>
            <a:r>
              <a:rPr lang="en-US" altLang="zh-CN" sz="2400" b="1" u="none" dirty="0">
                <a:solidFill>
                  <a:schemeClr val="tx1"/>
                </a:solidFill>
                <a:latin typeface="Arial" panose="020B0604020202020204" pitchFamily="34" charset="0"/>
              </a:rPr>
              <a:t>	   ELSE ERROR;</a:t>
            </a:r>
            <a:endParaRPr lang="en-US" altLang="zh-CN" sz="2400" b="1" u="none" dirty="0">
              <a:solidFill>
                <a:schemeClr val="tx1"/>
              </a:solidFill>
              <a:latin typeface="Arial" panose="020B0604020202020204" pitchFamily="34"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247811"/>
                                        </p:tgtEl>
                                        <p:attrNameLst>
                                          <p:attrName>style.visibility</p:attrName>
                                        </p:attrNameLst>
                                      </p:cBhvr>
                                      <p:to>
                                        <p:strVal val="visible"/>
                                      </p:to>
                                    </p:set>
                                    <p:animEffect transition="in" filter="blinds(vertical)">
                                      <p:cBhvr>
                                        <p:cTn id="7" dur="500"/>
                                        <p:tgtEl>
                                          <p:spTgt spid="2478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7811"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3"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74754" name="Rectangle 2"/>
          <p:cNvSpPr>
            <a:spLocks noGrp="1"/>
          </p:cNvSpPr>
          <p:nvPr>
            <p:ph type="body"/>
          </p:nvPr>
        </p:nvSpPr>
        <p:spPr>
          <a:xfrm>
            <a:off x="762000" y="457200"/>
            <a:ext cx="7543800" cy="3429000"/>
          </a:xfrm>
          <a:ln/>
        </p:spPr>
        <p:txBody>
          <a:bodyPr vert="horz" wrap="square" lIns="91440" tIns="45720" rIns="91440" bIns="45720" anchor="t"/>
          <a:p>
            <a:pPr lvl="1" indent="-436245" eaLnBrk="1" hangingPunct="1">
              <a:lnSpc>
                <a:spcPct val="90000"/>
              </a:lnSpc>
              <a:spcBef>
                <a:spcPct val="0"/>
              </a:spcBef>
              <a:buFont typeface="Symbol" panose="05050102010706020507" pitchFamily="18" charset="2"/>
              <a:buChar char="¨"/>
            </a:pPr>
            <a:r>
              <a:rPr lang="en-US" altLang="zh-CN" b="1" dirty="0"/>
              <a:t>E→TE</a:t>
            </a:r>
            <a:r>
              <a:rPr lang="en-US" altLang="zh-CN" b="1" dirty="0">
                <a:sym typeface="Symbol" panose="05050102010706020507" pitchFamily="18" charset="2"/>
              </a:rPr>
              <a:t></a:t>
            </a:r>
            <a:endParaRPr lang="en-US" altLang="zh-CN" b="1" dirty="0"/>
          </a:p>
          <a:p>
            <a:pPr lvl="1" indent="-436245" eaLnBrk="1" hangingPunct="1">
              <a:lnSpc>
                <a:spcPct val="90000"/>
              </a:lnSpc>
              <a:spcBef>
                <a:spcPct val="0"/>
              </a:spcBef>
              <a:buNone/>
            </a:pPr>
            <a:r>
              <a:rPr lang="en-US" altLang="zh-CN" b="1" dirty="0"/>
              <a:t>   E</a:t>
            </a:r>
            <a:r>
              <a:rPr lang="en-US" altLang="zh-CN" b="1" dirty="0">
                <a:sym typeface="Symbol" panose="05050102010706020507" pitchFamily="18" charset="2"/>
              </a:rPr>
              <a:t></a:t>
            </a:r>
            <a:r>
              <a:rPr lang="en-US" altLang="zh-CN" b="1" dirty="0"/>
              <a:t>→+TE</a:t>
            </a:r>
            <a:r>
              <a:rPr lang="en-US" altLang="zh-CN" b="1" dirty="0">
                <a:sym typeface="Symbol" panose="05050102010706020507" pitchFamily="18" charset="2"/>
              </a:rPr>
              <a:t></a:t>
            </a:r>
            <a:r>
              <a:rPr lang="en-US" altLang="zh-CN" b="1" dirty="0"/>
              <a:t> | </a:t>
            </a:r>
            <a:r>
              <a:rPr lang="en-US" altLang="zh-CN" b="1" dirty="0">
                <a:sym typeface="Symbol" panose="05050102010706020507" pitchFamily="18" charset="2"/>
              </a:rPr>
              <a:t></a:t>
            </a:r>
            <a:endParaRPr lang="en-US" altLang="zh-CN" b="1" dirty="0"/>
          </a:p>
          <a:p>
            <a:pPr lvl="1" indent="-436245" eaLnBrk="1" hangingPunct="1">
              <a:lnSpc>
                <a:spcPct val="90000"/>
              </a:lnSpc>
              <a:spcBef>
                <a:spcPct val="0"/>
              </a:spcBef>
              <a:buNone/>
            </a:pPr>
            <a:r>
              <a:rPr lang="en-US" altLang="zh-CN" b="1" dirty="0"/>
              <a:t>   T→FT</a:t>
            </a:r>
            <a:r>
              <a:rPr lang="en-US" altLang="zh-CN" b="1" dirty="0">
                <a:sym typeface="Symbol" panose="05050102010706020507" pitchFamily="18" charset="2"/>
              </a:rPr>
              <a:t></a:t>
            </a:r>
            <a:r>
              <a:rPr lang="en-US" altLang="zh-CN" b="1" dirty="0"/>
              <a:t>                         </a:t>
            </a:r>
            <a:endParaRPr lang="en-US" altLang="zh-CN" b="1" dirty="0"/>
          </a:p>
          <a:p>
            <a:pPr lvl="1" indent="-436245" eaLnBrk="1" hangingPunct="1">
              <a:lnSpc>
                <a:spcPct val="90000"/>
              </a:lnSpc>
              <a:spcBef>
                <a:spcPct val="0"/>
              </a:spcBef>
              <a:buNone/>
            </a:pPr>
            <a:r>
              <a:rPr lang="en-US" altLang="zh-CN" b="1" dirty="0"/>
              <a:t>   T</a:t>
            </a:r>
            <a:r>
              <a:rPr lang="en-US" altLang="zh-CN" b="1" dirty="0">
                <a:sym typeface="Symbol" panose="05050102010706020507" pitchFamily="18" charset="2"/>
              </a:rPr>
              <a:t></a:t>
            </a:r>
            <a:r>
              <a:rPr lang="en-US" altLang="zh-CN" b="1" dirty="0"/>
              <a:t>→*FT</a:t>
            </a:r>
            <a:r>
              <a:rPr lang="en-US" altLang="zh-CN" b="1" dirty="0">
                <a:sym typeface="Symbol" panose="05050102010706020507" pitchFamily="18" charset="2"/>
              </a:rPr>
              <a:t></a:t>
            </a:r>
            <a:r>
              <a:rPr lang="en-US" altLang="zh-CN" b="1" dirty="0"/>
              <a:t> | </a:t>
            </a:r>
            <a:r>
              <a:rPr lang="en-US" altLang="zh-CN" b="1" dirty="0">
                <a:sym typeface="Symbol" panose="05050102010706020507" pitchFamily="18" charset="2"/>
              </a:rPr>
              <a:t> </a:t>
            </a:r>
            <a:endParaRPr lang="en-US" altLang="zh-CN" b="1" dirty="0"/>
          </a:p>
          <a:p>
            <a:pPr lvl="1" indent="-436245" eaLnBrk="1" hangingPunct="1">
              <a:lnSpc>
                <a:spcPct val="90000"/>
              </a:lnSpc>
              <a:spcBef>
                <a:spcPct val="0"/>
              </a:spcBef>
              <a:buNone/>
            </a:pPr>
            <a:r>
              <a:rPr lang="en-US" altLang="zh-CN" b="1" dirty="0"/>
              <a:t>   F→(E) | i</a:t>
            </a:r>
            <a:endParaRPr lang="en-US" altLang="zh-CN" b="1" dirty="0"/>
          </a:p>
          <a:p>
            <a:pPr lvl="1" indent="-436245" eaLnBrk="1" hangingPunct="1">
              <a:lnSpc>
                <a:spcPct val="90000"/>
              </a:lnSpc>
              <a:spcBef>
                <a:spcPct val="0"/>
              </a:spcBef>
              <a:buNone/>
            </a:pPr>
            <a:r>
              <a:rPr lang="zh-CN" altLang="en-US" b="1" dirty="0">
                <a:latin typeface="宋体" panose="02010600030101010101" pitchFamily="2" charset="-122"/>
              </a:rPr>
              <a:t>对应的递归下降子程序为</a:t>
            </a:r>
            <a:r>
              <a:rPr lang="en-US" altLang="zh-CN" b="1" dirty="0">
                <a:latin typeface="宋体" panose="02010600030101010101" pitchFamily="2" charset="-122"/>
              </a:rPr>
              <a:t>:</a:t>
            </a:r>
            <a:endParaRPr lang="en-US" altLang="zh-CN" b="1" dirty="0">
              <a:latin typeface="宋体" panose="02010600030101010101" pitchFamily="2" charset="-122"/>
            </a:endParaRPr>
          </a:p>
          <a:p>
            <a:pPr eaLnBrk="1" hangingPunct="1">
              <a:lnSpc>
                <a:spcPct val="90000"/>
              </a:lnSpc>
              <a:spcBef>
                <a:spcPct val="0"/>
              </a:spcBef>
              <a:buNone/>
            </a:pPr>
            <a:r>
              <a:rPr lang="en-US" altLang="zh-CN" b="1" dirty="0"/>
              <a:t>    </a:t>
            </a:r>
            <a:endParaRPr lang="en-US" altLang="zh-CN" b="1" dirty="0"/>
          </a:p>
        </p:txBody>
      </p:sp>
      <p:sp>
        <p:nvSpPr>
          <p:cNvPr id="248835" name="Rectangle 3"/>
          <p:cNvSpPr/>
          <p:nvPr/>
        </p:nvSpPr>
        <p:spPr>
          <a:xfrm>
            <a:off x="971550" y="3213100"/>
            <a:ext cx="7129463" cy="2447925"/>
          </a:xfrm>
          <a:prstGeom prst="rect">
            <a:avLst/>
          </a:prstGeom>
          <a:noFill/>
          <a:ln w="9525">
            <a:noFill/>
          </a:ln>
        </p:spPr>
        <p:txBody>
          <a:bodyPr anchor="t"/>
          <a:p>
            <a:r>
              <a:rPr lang="en-US" altLang="en-US" sz="3200" b="1" u="none" dirty="0">
                <a:solidFill>
                  <a:schemeClr val="tx1"/>
                </a:solidFill>
                <a:latin typeface="Times New Roman" panose="02020603050405020304" pitchFamily="18" charset="0"/>
              </a:rPr>
              <a:t>主程序:</a:t>
            </a:r>
            <a:endParaRPr lang="en-US" altLang="en-US" sz="3200" b="1" u="none" dirty="0">
              <a:solidFill>
                <a:schemeClr val="tx1"/>
              </a:solidFill>
              <a:latin typeface="Times New Roman" panose="02020603050405020304" pitchFamily="18" charset="0"/>
            </a:endParaRPr>
          </a:p>
          <a:p>
            <a:r>
              <a:rPr lang="en-US" altLang="en-US" sz="3200" b="1" u="none" dirty="0">
                <a:solidFill>
                  <a:schemeClr val="tx1"/>
                </a:solidFill>
                <a:latin typeface="Times New Roman" panose="02020603050405020304" pitchFamily="18" charset="0"/>
              </a:rPr>
              <a:t>PROGRAM PARSER;</a:t>
            </a:r>
            <a:endParaRPr lang="en-US" altLang="en-US" sz="3200" b="1" u="none" dirty="0">
              <a:solidFill>
                <a:schemeClr val="tx1"/>
              </a:solidFill>
              <a:latin typeface="Times New Roman" panose="02020603050405020304" pitchFamily="18" charset="0"/>
            </a:endParaRPr>
          </a:p>
          <a:p>
            <a:r>
              <a:rPr lang="en-US" altLang="en-US" sz="3200" b="1" u="none" dirty="0">
                <a:solidFill>
                  <a:schemeClr val="tx1"/>
                </a:solidFill>
                <a:latin typeface="Times New Roman" panose="02020603050405020304" pitchFamily="18" charset="0"/>
              </a:rPr>
              <a:t>BEGIN</a:t>
            </a:r>
            <a:endParaRPr lang="en-US" altLang="en-US" sz="3200" b="1" u="none" dirty="0">
              <a:solidFill>
                <a:schemeClr val="tx1"/>
              </a:solidFill>
              <a:latin typeface="Times New Roman" panose="02020603050405020304" pitchFamily="18" charset="0"/>
            </a:endParaRPr>
          </a:p>
          <a:p>
            <a:r>
              <a:rPr lang="en-US" altLang="en-US" sz="3200" b="1" u="none" dirty="0">
                <a:solidFill>
                  <a:schemeClr val="tx1"/>
                </a:solidFill>
                <a:latin typeface="Times New Roman" panose="02020603050405020304" pitchFamily="18" charset="0"/>
              </a:rPr>
              <a:t>    ADVANCE;</a:t>
            </a:r>
            <a:endParaRPr lang="en-US" altLang="en-US" sz="3200" b="1" u="none" dirty="0">
              <a:solidFill>
                <a:schemeClr val="tx1"/>
              </a:solidFill>
              <a:latin typeface="Times New Roman" panose="02020603050405020304" pitchFamily="18" charset="0"/>
            </a:endParaRPr>
          </a:p>
          <a:p>
            <a:r>
              <a:rPr lang="en-US" altLang="en-US" sz="3200" b="1" u="none" dirty="0">
                <a:solidFill>
                  <a:schemeClr val="tx1"/>
                </a:solidFill>
                <a:latin typeface="Times New Roman" panose="02020603050405020304" pitchFamily="18" charset="0"/>
              </a:rPr>
              <a:t>    E</a:t>
            </a:r>
            <a:endParaRPr lang="en-US" altLang="en-US" sz="3200" b="1" u="none" dirty="0">
              <a:solidFill>
                <a:schemeClr val="tx1"/>
              </a:solidFill>
              <a:latin typeface="Times New Roman" panose="02020603050405020304" pitchFamily="18" charset="0"/>
            </a:endParaRPr>
          </a:p>
          <a:p>
            <a:r>
              <a:rPr lang="en-US" altLang="en-US" sz="3200" b="1" u="none" dirty="0">
                <a:solidFill>
                  <a:schemeClr val="tx1"/>
                </a:solidFill>
                <a:latin typeface="Times New Roman" panose="02020603050405020304" pitchFamily="18" charset="0"/>
              </a:rPr>
              <a:t>END;</a:t>
            </a:r>
            <a:endParaRPr lang="en-US" altLang="en-US" sz="3200" b="1" u="none" dirty="0">
              <a:solidFill>
                <a:schemeClr val="tx1"/>
              </a:solidFill>
              <a:latin typeface="Times New Roman" panose="02020603050405020304" pitchFamily="18"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248835"/>
                                        </p:tgtEl>
                                        <p:attrNameLst>
                                          <p:attrName>style.visibility</p:attrName>
                                        </p:attrNameLst>
                                      </p:cBhvr>
                                      <p:to>
                                        <p:strVal val="visible"/>
                                      </p:to>
                                    </p:set>
                                    <p:animEffect transition="in" filter="blinds(vertical)">
                                      <p:cBhvr>
                                        <p:cTn id="7" dur="500"/>
                                        <p:tgtEl>
                                          <p:spTgt spid="2488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8835"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7"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126979" name="Rectangle 3"/>
          <p:cNvSpPr>
            <a:spLocks noGrp="1"/>
          </p:cNvSpPr>
          <p:nvPr>
            <p:ph type="body"/>
          </p:nvPr>
        </p:nvSpPr>
        <p:spPr>
          <a:xfrm>
            <a:off x="685800" y="1676400"/>
            <a:ext cx="7772400" cy="4419600"/>
          </a:xfrm>
          <a:ln/>
        </p:spPr>
        <p:txBody>
          <a:bodyPr vert="horz" wrap="square" lIns="91440" tIns="45720" rIns="91440" bIns="45720" anchor="t"/>
          <a:p>
            <a:pPr eaLnBrk="1" hangingPunct="1">
              <a:lnSpc>
                <a:spcPct val="90000"/>
              </a:lnSpc>
            </a:pPr>
            <a:r>
              <a:rPr lang="zh-CN" altLang="en-US" b="1" dirty="0"/>
              <a:t>在元符号“→”和“</a:t>
            </a:r>
            <a:r>
              <a:rPr lang="en-US" altLang="zh-CN" b="1" dirty="0"/>
              <a:t>|”</a:t>
            </a:r>
            <a:r>
              <a:rPr lang="zh-CN" altLang="en-US" b="1" dirty="0"/>
              <a:t>的基础上，扩充几个元语言符号：</a:t>
            </a:r>
            <a:endParaRPr lang="zh-CN" altLang="en-US" b="1" dirty="0"/>
          </a:p>
          <a:p>
            <a:pPr lvl="1" indent="-436245" eaLnBrk="1" hangingPunct="1">
              <a:lnSpc>
                <a:spcPct val="90000"/>
              </a:lnSpc>
              <a:buNone/>
            </a:pPr>
            <a:r>
              <a:rPr lang="en-US" altLang="zh-CN" b="1" dirty="0"/>
              <a:t>1. </a:t>
            </a:r>
            <a:r>
              <a:rPr lang="zh-CN" altLang="en-US" b="1" dirty="0"/>
              <a:t>用花括号</a:t>
            </a:r>
            <a:r>
              <a:rPr lang="en-US" altLang="zh-CN" b="1" dirty="0"/>
              <a:t>{</a:t>
            </a:r>
            <a:r>
              <a:rPr lang="en-US" altLang="zh-CN" b="1" dirty="0">
                <a:sym typeface="Symbol" panose="05050102010706020507" pitchFamily="18" charset="2"/>
              </a:rPr>
              <a:t></a:t>
            </a:r>
            <a:r>
              <a:rPr lang="en-US" altLang="zh-CN" b="1" dirty="0"/>
              <a:t>}</a:t>
            </a:r>
            <a:r>
              <a:rPr lang="zh-CN" altLang="en-US" b="1" dirty="0"/>
              <a:t>表示闭包运算</a:t>
            </a:r>
            <a:r>
              <a:rPr lang="zh-CN" altLang="en-US" b="1" dirty="0">
                <a:sym typeface="Symbol" panose="05050102010706020507" pitchFamily="18" charset="2"/>
              </a:rPr>
              <a:t></a:t>
            </a:r>
            <a:r>
              <a:rPr lang="zh-CN" altLang="en-US" b="1" baseline="30000" dirty="0"/>
              <a:t>*</a:t>
            </a:r>
            <a:r>
              <a:rPr lang="zh-CN" altLang="en-US" b="1" dirty="0"/>
              <a:t>。</a:t>
            </a:r>
            <a:endParaRPr lang="zh-CN" altLang="en-US" b="1" dirty="0"/>
          </a:p>
          <a:p>
            <a:pPr lvl="1" indent="-436245" eaLnBrk="1" hangingPunct="1">
              <a:lnSpc>
                <a:spcPct val="90000"/>
              </a:lnSpc>
              <a:buNone/>
            </a:pPr>
            <a:r>
              <a:rPr lang="en-US" altLang="zh-CN" b="1" dirty="0"/>
              <a:t>2. </a:t>
            </a:r>
            <a:r>
              <a:rPr lang="zh-CN" altLang="en-US" b="1" dirty="0"/>
              <a:t>用表示</a:t>
            </a:r>
            <a:r>
              <a:rPr lang="en-US" altLang="zh-CN" b="1" dirty="0"/>
              <a:t>{</a:t>
            </a:r>
            <a:r>
              <a:rPr lang="en-US" altLang="zh-CN" b="1" dirty="0">
                <a:sym typeface="Symbol" panose="05050102010706020507" pitchFamily="18" charset="2"/>
              </a:rPr>
              <a:t>}</a:t>
            </a:r>
            <a:r>
              <a:rPr lang="en-US" altLang="zh-CN" b="1" baseline="-25000" dirty="0">
                <a:sym typeface="Symbol" panose="05050102010706020507" pitchFamily="18" charset="2"/>
              </a:rPr>
              <a:t>0</a:t>
            </a:r>
            <a:r>
              <a:rPr lang="en-US" altLang="zh-CN" b="1" baseline="30000" dirty="0">
                <a:sym typeface="Symbol" panose="05050102010706020507" pitchFamily="18" charset="2"/>
              </a:rPr>
              <a:t>n</a:t>
            </a:r>
            <a:r>
              <a:rPr lang="zh-CN" altLang="en-US" b="1" dirty="0"/>
              <a:t>可任意重复</a:t>
            </a:r>
            <a:r>
              <a:rPr lang="en-US" altLang="zh-CN" b="1" dirty="0"/>
              <a:t>0</a:t>
            </a:r>
            <a:r>
              <a:rPr lang="zh-CN" altLang="en-US" b="1" dirty="0"/>
              <a:t>次至</a:t>
            </a:r>
            <a:r>
              <a:rPr lang="en-US" altLang="zh-CN" b="1" dirty="0"/>
              <a:t>n</a:t>
            </a:r>
            <a:r>
              <a:rPr lang="zh-CN" altLang="en-US" b="1" dirty="0"/>
              <a:t>次，。</a:t>
            </a:r>
            <a:endParaRPr lang="zh-CN" altLang="en-US" b="1" dirty="0"/>
          </a:p>
          <a:p>
            <a:pPr lvl="1" indent="-436245" eaLnBrk="1" hangingPunct="1">
              <a:lnSpc>
                <a:spcPct val="90000"/>
              </a:lnSpc>
              <a:buNone/>
            </a:pPr>
            <a:r>
              <a:rPr lang="en-US" altLang="zh-CN" b="1" dirty="0"/>
              <a:t>3. </a:t>
            </a:r>
            <a:r>
              <a:rPr lang="zh-CN" altLang="en-US" b="1" dirty="0"/>
              <a:t>用方括号</a:t>
            </a:r>
            <a:r>
              <a:rPr lang="en-US" altLang="zh-CN" b="1" dirty="0"/>
              <a:t>[</a:t>
            </a:r>
            <a:r>
              <a:rPr lang="en-US" altLang="zh-CN" b="1" dirty="0">
                <a:sym typeface="Symbol" panose="05050102010706020507" pitchFamily="18" charset="2"/>
              </a:rPr>
              <a:t></a:t>
            </a:r>
            <a:r>
              <a:rPr lang="en-US" altLang="zh-CN" b="1" dirty="0"/>
              <a:t>]</a:t>
            </a:r>
            <a:r>
              <a:rPr lang="zh-CN" altLang="en-US" b="1" dirty="0"/>
              <a:t>表示</a:t>
            </a:r>
            <a:r>
              <a:rPr lang="en-US" altLang="zh-CN" b="1" dirty="0"/>
              <a:t>{</a:t>
            </a:r>
            <a:r>
              <a:rPr lang="en-US" altLang="zh-CN" b="1" dirty="0">
                <a:sym typeface="Symbol" panose="05050102010706020507" pitchFamily="18" charset="2"/>
              </a:rPr>
              <a:t>}</a:t>
            </a:r>
            <a:r>
              <a:rPr lang="en-US" altLang="zh-CN" b="1" baseline="-25000" dirty="0">
                <a:sym typeface="Symbol" panose="05050102010706020507" pitchFamily="18" charset="2"/>
              </a:rPr>
              <a:t>0</a:t>
            </a:r>
            <a:r>
              <a:rPr lang="en-US" altLang="en-US" b="1" baseline="30000" dirty="0">
                <a:sym typeface="Symbol" panose="05050102010706020507" pitchFamily="18" charset="2"/>
              </a:rPr>
              <a:t>1</a:t>
            </a:r>
            <a:r>
              <a:rPr lang="en-US" altLang="zh-CN" b="1" dirty="0"/>
              <a:t> </a:t>
            </a:r>
            <a:r>
              <a:rPr lang="zh-CN" altLang="en-US" b="1" dirty="0"/>
              <a:t>，即表示</a:t>
            </a:r>
            <a:r>
              <a:rPr lang="zh-CN" altLang="en-US" b="1" dirty="0">
                <a:sym typeface="Symbol" panose="05050102010706020507" pitchFamily="18" charset="2"/>
              </a:rPr>
              <a:t></a:t>
            </a:r>
            <a:r>
              <a:rPr lang="zh-CN" altLang="en-US" b="1" dirty="0"/>
              <a:t>的出现可有可无</a:t>
            </a:r>
            <a:r>
              <a:rPr lang="en-US" altLang="zh-CN" b="1" dirty="0"/>
              <a:t>(</a:t>
            </a:r>
            <a:r>
              <a:rPr lang="zh-CN" altLang="en-US" b="1" dirty="0"/>
              <a:t>等价于</a:t>
            </a:r>
            <a:r>
              <a:rPr lang="zh-CN" altLang="en-US" b="1" dirty="0">
                <a:sym typeface="Symbol" panose="05050102010706020507" pitchFamily="18" charset="2"/>
              </a:rPr>
              <a:t></a:t>
            </a:r>
            <a:r>
              <a:rPr lang="en-US" altLang="zh-CN" b="1" dirty="0"/>
              <a:t>|</a:t>
            </a:r>
            <a:r>
              <a:rPr lang="en-US" altLang="zh-CN" b="1" dirty="0">
                <a:sym typeface="Symbol" panose="05050102010706020507" pitchFamily="18" charset="2"/>
              </a:rPr>
              <a:t></a:t>
            </a:r>
            <a:r>
              <a:rPr lang="en-US" altLang="zh-CN" b="1" dirty="0"/>
              <a:t>)</a:t>
            </a:r>
            <a:r>
              <a:rPr lang="zh-CN" altLang="en-US" b="1" dirty="0"/>
              <a:t>。</a:t>
            </a:r>
            <a:endParaRPr lang="zh-CN" altLang="en-US" b="1" dirty="0"/>
          </a:p>
          <a:p>
            <a:pPr eaLnBrk="1" hangingPunct="1">
              <a:lnSpc>
                <a:spcPct val="90000"/>
              </a:lnSpc>
              <a:spcBef>
                <a:spcPct val="40000"/>
              </a:spcBef>
              <a:buNone/>
            </a:pPr>
            <a:r>
              <a:rPr lang="zh-CN" altLang="en-US" b="1" dirty="0"/>
              <a:t>   引入上述元符号的文法亦称</a:t>
            </a:r>
            <a:r>
              <a:rPr lang="zh-CN" altLang="en-US" b="1" dirty="0">
                <a:solidFill>
                  <a:srgbClr val="FF0000"/>
                </a:solidFill>
                <a:ea typeface="黑体" panose="02010609060101010101" pitchFamily="49" charset="-122"/>
              </a:rPr>
              <a:t>扩充的巴科斯范式</a:t>
            </a:r>
            <a:r>
              <a:rPr lang="zh-CN" altLang="en-US" b="1" dirty="0"/>
              <a:t>。</a:t>
            </a:r>
            <a:endParaRPr lang="zh-CN" altLang="en-US" b="1" dirty="0"/>
          </a:p>
        </p:txBody>
      </p:sp>
      <p:sp>
        <p:nvSpPr>
          <p:cNvPr id="75779" name="Rectangle 4"/>
          <p:cNvSpPr>
            <a:spLocks noGrp="1"/>
          </p:cNvSpPr>
          <p:nvPr>
            <p:ph type="title"/>
          </p:nvPr>
        </p:nvSpPr>
        <p:spPr>
          <a:ln/>
        </p:spPr>
        <p:txBody>
          <a:bodyPr vert="horz" wrap="square" lIns="92075" tIns="46038" rIns="92075" bIns="46038" anchor="ctr"/>
          <a:p>
            <a:pPr eaLnBrk="1" hangingPunct="1"/>
            <a:r>
              <a:rPr lang="zh-CN" altLang="en-US" sz="3200" b="1" dirty="0"/>
              <a:t>文法的另一种表示法和转换图</a:t>
            </a:r>
            <a:endParaRPr lang="zh-CN" altLang="en-US" b="1"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6979">
                                            <p:txEl>
                                              <p:charRg st="0" end="27"/>
                                            </p:txEl>
                                          </p:spTgt>
                                        </p:tgtEl>
                                        <p:attrNameLst>
                                          <p:attrName>style.visibility</p:attrName>
                                        </p:attrNameLst>
                                      </p:cBhvr>
                                      <p:to>
                                        <p:strVal val="visible"/>
                                      </p:to>
                                    </p:set>
                                    <p:animEffect transition="in" filter="wipe(left)">
                                      <p:cBhvr>
                                        <p:cTn id="7" dur="500"/>
                                        <p:tgtEl>
                                          <p:spTgt spid="126979">
                                            <p:txEl>
                                              <p:charRg st="0" end="27"/>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6979">
                                            <p:txEl>
                                              <p:charRg st="27" end="47"/>
                                            </p:txEl>
                                          </p:spTgt>
                                        </p:tgtEl>
                                        <p:attrNameLst>
                                          <p:attrName>style.visibility</p:attrName>
                                        </p:attrNameLst>
                                      </p:cBhvr>
                                      <p:to>
                                        <p:strVal val="visible"/>
                                      </p:to>
                                    </p:set>
                                    <p:animEffect transition="in" filter="wipe(left)">
                                      <p:cBhvr>
                                        <p:cTn id="12" dur="500"/>
                                        <p:tgtEl>
                                          <p:spTgt spid="126979">
                                            <p:txEl>
                                              <p:charRg st="27" end="4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6979">
                                            <p:txEl>
                                              <p:charRg st="47" end="71"/>
                                            </p:txEl>
                                          </p:spTgt>
                                        </p:tgtEl>
                                        <p:attrNameLst>
                                          <p:attrName>style.visibility</p:attrName>
                                        </p:attrNameLst>
                                      </p:cBhvr>
                                      <p:to>
                                        <p:strVal val="visible"/>
                                      </p:to>
                                    </p:set>
                                    <p:animEffect transition="in" filter="wipe(left)">
                                      <p:cBhvr>
                                        <p:cTn id="17" dur="500"/>
                                        <p:tgtEl>
                                          <p:spTgt spid="126979">
                                            <p:txEl>
                                              <p:charRg st="47" end="7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6979">
                                            <p:txEl>
                                              <p:charRg st="71" end="111"/>
                                            </p:txEl>
                                          </p:spTgt>
                                        </p:tgtEl>
                                        <p:attrNameLst>
                                          <p:attrName>style.visibility</p:attrName>
                                        </p:attrNameLst>
                                      </p:cBhvr>
                                      <p:to>
                                        <p:strVal val="visible"/>
                                      </p:to>
                                    </p:set>
                                    <p:animEffect transition="in" filter="wipe(left)">
                                      <p:cBhvr>
                                        <p:cTn id="22" dur="500"/>
                                        <p:tgtEl>
                                          <p:spTgt spid="126979">
                                            <p:txEl>
                                              <p:charRg st="71" end="11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6979">
                                            <p:txEl>
                                              <p:charRg st="111" end="136"/>
                                            </p:txEl>
                                          </p:spTgt>
                                        </p:tgtEl>
                                        <p:attrNameLst>
                                          <p:attrName>style.visibility</p:attrName>
                                        </p:attrNameLst>
                                      </p:cBhvr>
                                      <p:to>
                                        <p:strVal val="visible"/>
                                      </p:to>
                                    </p:set>
                                    <p:animEffect transition="in" filter="wipe(left)">
                                      <p:cBhvr>
                                        <p:cTn id="27" dur="500"/>
                                        <p:tgtEl>
                                          <p:spTgt spid="126979">
                                            <p:txEl>
                                              <p:charRg st="111" end="13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79" grpId="0" bldLvl="2"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1"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128003" name="Rectangle 3"/>
          <p:cNvSpPr>
            <a:spLocks noGrp="1"/>
          </p:cNvSpPr>
          <p:nvPr>
            <p:ph type="body"/>
          </p:nvPr>
        </p:nvSpPr>
        <p:spPr>
          <a:xfrm>
            <a:off x="611188" y="1196975"/>
            <a:ext cx="8229600" cy="4191000"/>
          </a:xfrm>
          <a:ln/>
        </p:spPr>
        <p:txBody>
          <a:bodyPr vert="horz" wrap="square" lIns="91440" tIns="45720" rIns="91440" bIns="45720" anchor="t"/>
          <a:p>
            <a:pPr eaLnBrk="1" hangingPunct="1"/>
            <a:r>
              <a:rPr lang="zh-CN" altLang="en-US" b="1" dirty="0"/>
              <a:t>例如，通常的“实数”可定义为：</a:t>
            </a:r>
            <a:endParaRPr lang="zh-CN" altLang="en-US" b="1" dirty="0"/>
          </a:p>
          <a:p>
            <a:pPr eaLnBrk="1" hangingPunct="1">
              <a:buNone/>
            </a:pPr>
            <a:r>
              <a:rPr lang="zh-CN" altLang="en-US" b="1" dirty="0"/>
              <a:t>    </a:t>
            </a:r>
            <a:r>
              <a:rPr lang="en-US" altLang="zh-CN" b="1" dirty="0"/>
              <a:t>decimal→[sign]integer.{digit}[exponent]</a:t>
            </a:r>
            <a:endParaRPr lang="en-US" altLang="zh-CN" b="1" dirty="0"/>
          </a:p>
          <a:p>
            <a:pPr eaLnBrk="1" hangingPunct="1">
              <a:buNone/>
            </a:pPr>
            <a:r>
              <a:rPr lang="en-US" altLang="zh-CN" b="1" dirty="0"/>
              <a:t>    exponent→E[sign]integer</a:t>
            </a:r>
            <a:endParaRPr lang="en-US" altLang="zh-CN" b="1" dirty="0"/>
          </a:p>
          <a:p>
            <a:pPr eaLnBrk="1" hangingPunct="1">
              <a:buNone/>
            </a:pPr>
            <a:r>
              <a:rPr lang="en-US" altLang="zh-CN" b="1" dirty="0"/>
              <a:t>    integer→digit{digit}</a:t>
            </a:r>
            <a:endParaRPr lang="en-US" altLang="zh-CN" b="1" dirty="0"/>
          </a:p>
          <a:p>
            <a:pPr eaLnBrk="1" hangingPunct="1">
              <a:buNone/>
            </a:pPr>
            <a:r>
              <a:rPr lang="en-US" altLang="zh-CN" b="1" dirty="0"/>
              <a:t>    sign→ + | -</a:t>
            </a:r>
            <a:endParaRPr lang="en-US" altLang="zh-CN" b="1" dirty="0"/>
          </a:p>
          <a:p>
            <a:pPr eaLnBrk="1" hangingPunct="1">
              <a:spcBef>
                <a:spcPct val="50000"/>
              </a:spcBef>
            </a:pPr>
            <a:r>
              <a:rPr lang="zh-CN" altLang="en-US" b="1" dirty="0"/>
              <a:t>用扩充的巴科斯范式来描述语法，直观易懂，便于表示左递归消去和因子提取。</a:t>
            </a:r>
            <a:endParaRPr lang="zh-CN" altLang="en-US" b="1"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8003">
                                            <p:txEl>
                                              <p:charRg st="0" end="16"/>
                                            </p:txEl>
                                          </p:spTgt>
                                        </p:tgtEl>
                                        <p:attrNameLst>
                                          <p:attrName>style.visibility</p:attrName>
                                        </p:attrNameLst>
                                      </p:cBhvr>
                                      <p:to>
                                        <p:strVal val="visible"/>
                                      </p:to>
                                    </p:set>
                                    <p:animEffect transition="in" filter="wipe(left)">
                                      <p:cBhvr>
                                        <p:cTn id="7" dur="500"/>
                                        <p:tgtEl>
                                          <p:spTgt spid="128003">
                                            <p:txEl>
                                              <p:charRg st="0" end="16"/>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8003">
                                            <p:txEl>
                                              <p:charRg st="16" end="60"/>
                                            </p:txEl>
                                          </p:spTgt>
                                        </p:tgtEl>
                                        <p:attrNameLst>
                                          <p:attrName>style.visibility</p:attrName>
                                        </p:attrNameLst>
                                      </p:cBhvr>
                                      <p:to>
                                        <p:strVal val="visible"/>
                                      </p:to>
                                    </p:set>
                                    <p:animEffect transition="in" filter="wipe(left)">
                                      <p:cBhvr>
                                        <p:cTn id="12" dur="500"/>
                                        <p:tgtEl>
                                          <p:spTgt spid="128003">
                                            <p:txEl>
                                              <p:charRg st="16" end="60"/>
                                            </p:txEl>
                                          </p:spTgt>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28003">
                                            <p:txEl>
                                              <p:charRg st="60" end="88"/>
                                            </p:txEl>
                                          </p:spTgt>
                                        </p:tgtEl>
                                        <p:attrNameLst>
                                          <p:attrName>style.visibility</p:attrName>
                                        </p:attrNameLst>
                                      </p:cBhvr>
                                      <p:to>
                                        <p:strVal val="visible"/>
                                      </p:to>
                                    </p:set>
                                    <p:animEffect transition="in" filter="wipe(left)">
                                      <p:cBhvr>
                                        <p:cTn id="16" dur="500"/>
                                        <p:tgtEl>
                                          <p:spTgt spid="128003">
                                            <p:txEl>
                                              <p:charRg st="60" end="88"/>
                                            </p:txEl>
                                          </p:spTgt>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128003">
                                            <p:txEl>
                                              <p:charRg st="88" end="113"/>
                                            </p:txEl>
                                          </p:spTgt>
                                        </p:tgtEl>
                                        <p:attrNameLst>
                                          <p:attrName>style.visibility</p:attrName>
                                        </p:attrNameLst>
                                      </p:cBhvr>
                                      <p:to>
                                        <p:strVal val="visible"/>
                                      </p:to>
                                    </p:set>
                                    <p:animEffect transition="in" filter="wipe(left)">
                                      <p:cBhvr>
                                        <p:cTn id="20" dur="500"/>
                                        <p:tgtEl>
                                          <p:spTgt spid="128003">
                                            <p:txEl>
                                              <p:charRg st="88" end="113"/>
                                            </p:txEl>
                                          </p:spTgt>
                                        </p:tgtEl>
                                      </p:cBhvr>
                                    </p:animEffect>
                                  </p:childTnLst>
                                </p:cTn>
                              </p:par>
                            </p:childTnLst>
                          </p:cTn>
                        </p:par>
                        <p:par>
                          <p:cTn id="21" fill="hold">
                            <p:stCondLst>
                              <p:cond delay="1500"/>
                            </p:stCondLst>
                            <p:childTnLst>
                              <p:par>
                                <p:cTn id="22" presetID="22" presetClass="entr" presetSubtype="8" fill="hold" grpId="0" nodeType="afterEffect">
                                  <p:stCondLst>
                                    <p:cond delay="0"/>
                                  </p:stCondLst>
                                  <p:childTnLst>
                                    <p:set>
                                      <p:cBhvr>
                                        <p:cTn id="23" dur="1" fill="hold">
                                          <p:stCondLst>
                                            <p:cond delay="0"/>
                                          </p:stCondLst>
                                        </p:cTn>
                                        <p:tgtEl>
                                          <p:spTgt spid="128003">
                                            <p:txEl>
                                              <p:charRg st="113" end="129"/>
                                            </p:txEl>
                                          </p:spTgt>
                                        </p:tgtEl>
                                        <p:attrNameLst>
                                          <p:attrName>style.visibility</p:attrName>
                                        </p:attrNameLst>
                                      </p:cBhvr>
                                      <p:to>
                                        <p:strVal val="visible"/>
                                      </p:to>
                                    </p:set>
                                    <p:animEffect transition="in" filter="wipe(left)">
                                      <p:cBhvr>
                                        <p:cTn id="24" dur="500"/>
                                        <p:tgtEl>
                                          <p:spTgt spid="128003">
                                            <p:txEl>
                                              <p:charRg st="113" end="129"/>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28003">
                                            <p:txEl>
                                              <p:charRg st="129" end="165"/>
                                            </p:txEl>
                                          </p:spTgt>
                                        </p:tgtEl>
                                        <p:attrNameLst>
                                          <p:attrName>style.visibility</p:attrName>
                                        </p:attrNameLst>
                                      </p:cBhvr>
                                      <p:to>
                                        <p:strVal val="visible"/>
                                      </p:to>
                                    </p:set>
                                    <p:animEffect transition="in" filter="wipe(left)">
                                      <p:cBhvr>
                                        <p:cTn id="29" dur="500"/>
                                        <p:tgtEl>
                                          <p:spTgt spid="128003">
                                            <p:txEl>
                                              <p:charRg st="129" end="16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03" grpId="0" bldLvl="2"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5"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129027" name="Rectangle 3"/>
          <p:cNvSpPr>
            <a:spLocks noGrp="1"/>
          </p:cNvSpPr>
          <p:nvPr>
            <p:ph type="body"/>
          </p:nvPr>
        </p:nvSpPr>
        <p:spPr>
          <a:xfrm>
            <a:off x="685800" y="685800"/>
            <a:ext cx="7772400" cy="5410200"/>
          </a:xfrm>
          <a:ln/>
        </p:spPr>
        <p:txBody>
          <a:bodyPr vert="horz" wrap="square" lIns="91440" tIns="45720" rIns="91440" bIns="45720" anchor="t"/>
          <a:p>
            <a:pPr eaLnBrk="1" hangingPunct="1"/>
            <a:r>
              <a:rPr lang="zh-CN" altLang="en-US" b="1" dirty="0"/>
              <a:t>例</a:t>
            </a:r>
            <a:r>
              <a:rPr lang="en-US" altLang="zh-CN" b="1" dirty="0"/>
              <a:t>4.5  </a:t>
            </a:r>
            <a:r>
              <a:rPr lang="zh-CN" altLang="en-US" b="1" dirty="0"/>
              <a:t>文法</a:t>
            </a:r>
            <a:endParaRPr lang="zh-CN" altLang="en-US" b="1" dirty="0"/>
          </a:p>
          <a:p>
            <a:pPr lvl="1" indent="-436245" eaLnBrk="1" hangingPunct="1">
              <a:spcBef>
                <a:spcPct val="0"/>
              </a:spcBef>
              <a:buNone/>
            </a:pPr>
            <a:r>
              <a:rPr lang="en-US" altLang="zh-CN" b="1" dirty="0"/>
              <a:t>E→T | E+T</a:t>
            </a:r>
            <a:endParaRPr lang="en-US" altLang="zh-CN" b="1" dirty="0"/>
          </a:p>
          <a:p>
            <a:pPr lvl="1" indent="-436245" eaLnBrk="1" hangingPunct="1">
              <a:spcBef>
                <a:spcPct val="0"/>
              </a:spcBef>
              <a:buNone/>
            </a:pPr>
            <a:r>
              <a:rPr lang="en-US" altLang="zh-CN" b="1" dirty="0"/>
              <a:t>T→F | T*F</a:t>
            </a:r>
            <a:endParaRPr lang="en-US" altLang="zh-CN" b="1" dirty="0"/>
          </a:p>
          <a:p>
            <a:pPr lvl="1" indent="-436245" eaLnBrk="1" hangingPunct="1">
              <a:spcBef>
                <a:spcPct val="0"/>
              </a:spcBef>
              <a:buNone/>
            </a:pPr>
            <a:r>
              <a:rPr lang="en-US" altLang="zh-CN" b="1" dirty="0"/>
              <a:t>F→i | (E)</a:t>
            </a:r>
            <a:endParaRPr lang="en-US" altLang="zh-CN" b="1" dirty="0"/>
          </a:p>
          <a:p>
            <a:pPr eaLnBrk="1" hangingPunct="1">
              <a:buNone/>
            </a:pPr>
            <a:r>
              <a:rPr lang="zh-CN" altLang="en-US" b="1" dirty="0"/>
              <a:t>可表示成</a:t>
            </a:r>
            <a:endParaRPr lang="zh-CN" altLang="en-US" b="1" dirty="0"/>
          </a:p>
          <a:p>
            <a:pPr lvl="1" indent="-436245" eaLnBrk="1" hangingPunct="1">
              <a:buNone/>
            </a:pPr>
            <a:r>
              <a:rPr lang="en-US" altLang="zh-CN" b="1" dirty="0"/>
              <a:t>E→T{+T}</a:t>
            </a:r>
            <a:endParaRPr lang="en-US" altLang="zh-CN" b="1" dirty="0"/>
          </a:p>
          <a:p>
            <a:pPr lvl="1" indent="-436245" eaLnBrk="1" hangingPunct="1">
              <a:buNone/>
            </a:pPr>
            <a:r>
              <a:rPr lang="en-US" altLang="zh-CN" b="1" dirty="0"/>
              <a:t>T→F{*F}</a:t>
            </a:r>
            <a:endParaRPr lang="en-US" altLang="zh-CN" b="1" dirty="0"/>
          </a:p>
          <a:p>
            <a:pPr lvl="1" indent="-436245" eaLnBrk="1" hangingPunct="1">
              <a:buNone/>
            </a:pPr>
            <a:r>
              <a:rPr lang="en-US" altLang="zh-CN" b="1" dirty="0"/>
              <a:t>F→i | (E)		                 	(4.6)</a:t>
            </a:r>
            <a:endParaRPr lang="en-US" altLang="zh-CN" b="1" dirty="0"/>
          </a:p>
          <a:p>
            <a:pPr eaLnBrk="1" hangingPunct="1">
              <a:buNone/>
            </a:pPr>
            <a:endParaRPr lang="en-US" altLang="zh-CN" b="1"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9027">
                                            <p:txEl>
                                              <p:charRg st="0" end="9"/>
                                            </p:txEl>
                                          </p:spTgt>
                                        </p:tgtEl>
                                        <p:attrNameLst>
                                          <p:attrName>style.visibility</p:attrName>
                                        </p:attrNameLst>
                                      </p:cBhvr>
                                      <p:to>
                                        <p:strVal val="visible"/>
                                      </p:to>
                                    </p:set>
                                    <p:anim calcmode="lin" valueType="num">
                                      <p:cBhvr additive="base">
                                        <p:cTn id="7" dur="500" fill="hold"/>
                                        <p:tgtEl>
                                          <p:spTgt spid="129027">
                                            <p:txEl>
                                              <p:charRg st="0" end="9"/>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9027">
                                            <p:txEl>
                                              <p:charRg st="0" end="9"/>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29027">
                                            <p:txEl>
                                              <p:charRg st="9" end="19"/>
                                            </p:txEl>
                                          </p:spTgt>
                                        </p:tgtEl>
                                        <p:attrNameLst>
                                          <p:attrName>style.visibility</p:attrName>
                                        </p:attrNameLst>
                                      </p:cBhvr>
                                      <p:to>
                                        <p:strVal val="visible"/>
                                      </p:to>
                                    </p:set>
                                    <p:anim calcmode="lin" valueType="num">
                                      <p:cBhvr additive="base">
                                        <p:cTn id="11" dur="500" fill="hold"/>
                                        <p:tgtEl>
                                          <p:spTgt spid="129027">
                                            <p:txEl>
                                              <p:charRg st="9" end="19"/>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29027">
                                            <p:txEl>
                                              <p:charRg st="9" end="19"/>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29027">
                                            <p:txEl>
                                              <p:charRg st="19" end="29"/>
                                            </p:txEl>
                                          </p:spTgt>
                                        </p:tgtEl>
                                        <p:attrNameLst>
                                          <p:attrName>style.visibility</p:attrName>
                                        </p:attrNameLst>
                                      </p:cBhvr>
                                      <p:to>
                                        <p:strVal val="visible"/>
                                      </p:to>
                                    </p:set>
                                    <p:anim calcmode="lin" valueType="num">
                                      <p:cBhvr additive="base">
                                        <p:cTn id="15" dur="500" fill="hold"/>
                                        <p:tgtEl>
                                          <p:spTgt spid="129027">
                                            <p:txEl>
                                              <p:charRg st="19" end="29"/>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29027">
                                            <p:txEl>
                                              <p:charRg st="19" end="29"/>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29027">
                                            <p:txEl>
                                              <p:charRg st="29" end="39"/>
                                            </p:txEl>
                                          </p:spTgt>
                                        </p:tgtEl>
                                        <p:attrNameLst>
                                          <p:attrName>style.visibility</p:attrName>
                                        </p:attrNameLst>
                                      </p:cBhvr>
                                      <p:to>
                                        <p:strVal val="visible"/>
                                      </p:to>
                                    </p:set>
                                    <p:anim calcmode="lin" valueType="num">
                                      <p:cBhvr additive="base">
                                        <p:cTn id="19" dur="500" fill="hold"/>
                                        <p:tgtEl>
                                          <p:spTgt spid="129027">
                                            <p:txEl>
                                              <p:charRg st="29" end="39"/>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29027">
                                            <p:txEl>
                                              <p:charRg st="29" end="39"/>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29027">
                                            <p:txEl>
                                              <p:charRg st="39" end="44"/>
                                            </p:txEl>
                                          </p:spTgt>
                                        </p:tgtEl>
                                        <p:attrNameLst>
                                          <p:attrName>style.visibility</p:attrName>
                                        </p:attrNameLst>
                                      </p:cBhvr>
                                      <p:to>
                                        <p:strVal val="visible"/>
                                      </p:to>
                                    </p:set>
                                    <p:anim calcmode="lin" valueType="num">
                                      <p:cBhvr additive="base">
                                        <p:cTn id="25" dur="500" fill="hold"/>
                                        <p:tgtEl>
                                          <p:spTgt spid="129027">
                                            <p:txEl>
                                              <p:charRg st="39" end="4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29027">
                                            <p:txEl>
                                              <p:charRg st="39" end="4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29027">
                                            <p:txEl>
                                              <p:charRg st="44" end="52"/>
                                            </p:txEl>
                                          </p:spTgt>
                                        </p:tgtEl>
                                        <p:attrNameLst>
                                          <p:attrName>style.visibility</p:attrName>
                                        </p:attrNameLst>
                                      </p:cBhvr>
                                      <p:to>
                                        <p:strVal val="visible"/>
                                      </p:to>
                                    </p:set>
                                    <p:anim calcmode="lin" valueType="num">
                                      <p:cBhvr additive="base">
                                        <p:cTn id="29" dur="500" fill="hold"/>
                                        <p:tgtEl>
                                          <p:spTgt spid="129027">
                                            <p:txEl>
                                              <p:charRg st="44" end="52"/>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29027">
                                            <p:txEl>
                                              <p:charRg st="44" end="52"/>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29027">
                                            <p:txEl>
                                              <p:charRg st="52" end="60"/>
                                            </p:txEl>
                                          </p:spTgt>
                                        </p:tgtEl>
                                        <p:attrNameLst>
                                          <p:attrName>style.visibility</p:attrName>
                                        </p:attrNameLst>
                                      </p:cBhvr>
                                      <p:to>
                                        <p:strVal val="visible"/>
                                      </p:to>
                                    </p:set>
                                    <p:anim calcmode="lin" valueType="num">
                                      <p:cBhvr additive="base">
                                        <p:cTn id="33" dur="500" fill="hold"/>
                                        <p:tgtEl>
                                          <p:spTgt spid="129027">
                                            <p:txEl>
                                              <p:charRg st="52" end="60"/>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29027">
                                            <p:txEl>
                                              <p:charRg st="52" end="60"/>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29027">
                                            <p:txEl>
                                              <p:charRg st="60" end="95"/>
                                            </p:txEl>
                                          </p:spTgt>
                                        </p:tgtEl>
                                        <p:attrNameLst>
                                          <p:attrName>style.visibility</p:attrName>
                                        </p:attrNameLst>
                                      </p:cBhvr>
                                      <p:to>
                                        <p:strVal val="visible"/>
                                      </p:to>
                                    </p:set>
                                    <p:anim calcmode="lin" valueType="num">
                                      <p:cBhvr additive="base">
                                        <p:cTn id="37" dur="500" fill="hold"/>
                                        <p:tgtEl>
                                          <p:spTgt spid="129027">
                                            <p:txEl>
                                              <p:charRg st="60" end="9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29027">
                                            <p:txEl>
                                              <p:charRg st="60" end="9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27" grpId="0"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49"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168962" name="Rectangle 2"/>
          <p:cNvSpPr>
            <a:spLocks noGrp="1"/>
          </p:cNvSpPr>
          <p:nvPr>
            <p:ph type="body"/>
          </p:nvPr>
        </p:nvSpPr>
        <p:spPr>
          <a:xfrm>
            <a:off x="755650" y="404813"/>
            <a:ext cx="7924800" cy="1831975"/>
          </a:xfrm>
          <a:ln/>
        </p:spPr>
        <p:txBody>
          <a:bodyPr vert="horz" wrap="square" lIns="91440" tIns="45720" rIns="91440" bIns="45720" anchor="t"/>
          <a:p>
            <a:pPr marL="342900" indent="-342900" eaLnBrk="1" hangingPunct="1">
              <a:lnSpc>
                <a:spcPct val="90000"/>
              </a:lnSpc>
            </a:pPr>
            <a:r>
              <a:rPr lang="en-US" altLang="zh-CN" sz="2800" b="1" dirty="0"/>
              <a:t>  E→T{+T}</a:t>
            </a:r>
            <a:endParaRPr lang="en-US" altLang="zh-CN" sz="2800" b="1" dirty="0"/>
          </a:p>
          <a:p>
            <a:pPr marL="819150" lvl="1" indent="-285750" eaLnBrk="1" hangingPunct="1">
              <a:lnSpc>
                <a:spcPct val="90000"/>
              </a:lnSpc>
              <a:buNone/>
            </a:pPr>
            <a:r>
              <a:rPr lang="en-US" altLang="zh-CN" sz="3000" b="1" dirty="0"/>
              <a:t>T→F{*F}</a:t>
            </a:r>
            <a:endParaRPr lang="en-US" altLang="zh-CN" sz="3000" b="1" dirty="0"/>
          </a:p>
          <a:p>
            <a:pPr marL="819150" lvl="1" indent="-285750" eaLnBrk="1" hangingPunct="1">
              <a:lnSpc>
                <a:spcPct val="90000"/>
              </a:lnSpc>
              <a:buNone/>
            </a:pPr>
            <a:r>
              <a:rPr lang="en-US" altLang="zh-CN" sz="3000" b="1" dirty="0"/>
              <a:t>F→i | (E)</a:t>
            </a:r>
            <a:r>
              <a:rPr lang="en-US" altLang="zh-CN" b="1" dirty="0"/>
              <a:t>		                 	(4.6)</a:t>
            </a:r>
            <a:endParaRPr lang="en-US" altLang="zh-CN" b="1" dirty="0"/>
          </a:p>
          <a:p>
            <a:pPr marL="342900" indent="-342900" eaLnBrk="1" hangingPunct="1">
              <a:lnSpc>
                <a:spcPct val="90000"/>
              </a:lnSpc>
              <a:spcBef>
                <a:spcPct val="50000"/>
              </a:spcBef>
            </a:pPr>
            <a:r>
              <a:rPr lang="zh-CN" altLang="en-US" b="1" dirty="0"/>
              <a:t>可以用语法图来表示语言的文法。</a:t>
            </a:r>
            <a:endParaRPr lang="zh-CN" altLang="en-US" b="1" dirty="0"/>
          </a:p>
        </p:txBody>
      </p:sp>
      <p:grpSp>
        <p:nvGrpSpPr>
          <p:cNvPr id="2" name="Group 53"/>
          <p:cNvGrpSpPr/>
          <p:nvPr/>
        </p:nvGrpSpPr>
        <p:grpSpPr>
          <a:xfrm>
            <a:off x="1600200" y="2708275"/>
            <a:ext cx="5124450" cy="911225"/>
            <a:chOff x="288" y="2688"/>
            <a:chExt cx="3696" cy="864"/>
          </a:xfrm>
        </p:grpSpPr>
        <p:sp>
          <p:nvSpPr>
            <p:cNvPr id="78852" name="Oval 3"/>
            <p:cNvSpPr/>
            <p:nvPr/>
          </p:nvSpPr>
          <p:spPr>
            <a:xfrm>
              <a:off x="1008" y="2688"/>
              <a:ext cx="384" cy="384"/>
            </a:xfrm>
            <a:prstGeom prst="ellipse">
              <a:avLst/>
            </a:prstGeom>
            <a:noFill/>
            <a:ln w="19050" cap="sq" cmpd="sng">
              <a:solidFill>
                <a:schemeClr val="tx1"/>
              </a:solidFill>
              <a:prstDash val="solid"/>
              <a:round/>
              <a:headEnd type="none" w="sm" len="sm"/>
              <a:tailEnd type="none" w="sm" len="sm"/>
            </a:ln>
          </p:spPr>
          <p:txBody>
            <a:bodyPr wrap="none" anchor="ctr"/>
            <a:p>
              <a:pPr algn="ctr"/>
              <a:r>
                <a:rPr lang="en-US" altLang="zh-CN" sz="2800" b="1" u="none" dirty="0">
                  <a:solidFill>
                    <a:schemeClr val="tx1"/>
                  </a:solidFill>
                  <a:latin typeface="Times New Roman" panose="02020603050405020304" pitchFamily="18" charset="0"/>
                </a:rPr>
                <a:t>T</a:t>
              </a:r>
              <a:endParaRPr lang="en-US" altLang="zh-CN" sz="2400" u="none" dirty="0">
                <a:solidFill>
                  <a:schemeClr val="tx1"/>
                </a:solidFill>
                <a:latin typeface="Times New Roman" panose="02020603050405020304" pitchFamily="18" charset="0"/>
              </a:endParaRPr>
            </a:p>
          </p:txBody>
        </p:sp>
        <p:sp>
          <p:nvSpPr>
            <p:cNvPr id="78853" name="Oval 4"/>
            <p:cNvSpPr/>
            <p:nvPr/>
          </p:nvSpPr>
          <p:spPr>
            <a:xfrm>
              <a:off x="2832" y="3168"/>
              <a:ext cx="384" cy="384"/>
            </a:xfrm>
            <a:prstGeom prst="ellipse">
              <a:avLst/>
            </a:prstGeom>
            <a:noFill/>
            <a:ln w="19050" cap="sq" cmpd="sng">
              <a:solidFill>
                <a:schemeClr val="tx1"/>
              </a:solidFill>
              <a:prstDash val="solid"/>
              <a:round/>
              <a:headEnd type="none" w="sm" len="sm"/>
              <a:tailEnd type="none" w="sm" len="sm"/>
            </a:ln>
          </p:spPr>
          <p:txBody>
            <a:bodyPr wrap="none" anchor="ctr"/>
            <a:p>
              <a:pPr algn="ctr"/>
              <a:r>
                <a:rPr lang="en-US" altLang="zh-CN" sz="2800" b="1" u="none" dirty="0">
                  <a:solidFill>
                    <a:schemeClr val="tx1"/>
                  </a:solidFill>
                  <a:latin typeface="Times New Roman" panose="02020603050405020304" pitchFamily="18" charset="0"/>
                </a:rPr>
                <a:t>+</a:t>
              </a:r>
              <a:endParaRPr lang="en-US" altLang="zh-CN" sz="2400" u="none" dirty="0">
                <a:solidFill>
                  <a:schemeClr val="tx1"/>
                </a:solidFill>
                <a:latin typeface="Times New Roman" panose="02020603050405020304" pitchFamily="18" charset="0"/>
              </a:endParaRPr>
            </a:p>
          </p:txBody>
        </p:sp>
        <p:sp>
          <p:nvSpPr>
            <p:cNvPr id="78854" name="Line 6"/>
            <p:cNvSpPr/>
            <p:nvPr/>
          </p:nvSpPr>
          <p:spPr>
            <a:xfrm>
              <a:off x="528" y="2880"/>
              <a:ext cx="480" cy="0"/>
            </a:xfrm>
            <a:prstGeom prst="line">
              <a:avLst/>
            </a:prstGeom>
            <a:ln w="19050" cap="sq" cmpd="sng">
              <a:solidFill>
                <a:schemeClr val="tx1"/>
              </a:solidFill>
              <a:prstDash val="solid"/>
              <a:round/>
              <a:headEnd type="none" w="sm" len="sm"/>
              <a:tailEnd type="stealth" w="lg" len="lg"/>
            </a:ln>
          </p:spPr>
        </p:sp>
        <p:sp>
          <p:nvSpPr>
            <p:cNvPr id="78855" name="Line 7"/>
            <p:cNvSpPr/>
            <p:nvPr/>
          </p:nvSpPr>
          <p:spPr>
            <a:xfrm flipV="1">
              <a:off x="1392" y="2880"/>
              <a:ext cx="2592" cy="0"/>
            </a:xfrm>
            <a:prstGeom prst="line">
              <a:avLst/>
            </a:prstGeom>
            <a:ln w="19050" cap="sq" cmpd="sng">
              <a:solidFill>
                <a:schemeClr val="tx1"/>
              </a:solidFill>
              <a:prstDash val="solid"/>
              <a:round/>
              <a:headEnd type="none" w="sm" len="sm"/>
              <a:tailEnd type="stealth" w="lg" len="lg"/>
            </a:ln>
          </p:spPr>
        </p:sp>
        <p:sp>
          <p:nvSpPr>
            <p:cNvPr id="78856" name="Rectangle 40"/>
            <p:cNvSpPr/>
            <p:nvPr/>
          </p:nvSpPr>
          <p:spPr>
            <a:xfrm>
              <a:off x="288" y="2736"/>
              <a:ext cx="336" cy="288"/>
            </a:xfrm>
            <a:prstGeom prst="rect">
              <a:avLst/>
            </a:prstGeom>
            <a:noFill/>
            <a:ln w="19050">
              <a:noFill/>
            </a:ln>
          </p:spPr>
          <p:txBody>
            <a:bodyPr wrap="none" anchor="ctr"/>
            <a:p>
              <a:pPr algn="ctr"/>
              <a:r>
                <a:rPr lang="en-US" altLang="zh-CN" sz="2400" b="1" u="none" dirty="0">
                  <a:solidFill>
                    <a:schemeClr val="tx1"/>
                  </a:solidFill>
                  <a:latin typeface="Times New Roman" panose="02020603050405020304" pitchFamily="18" charset="0"/>
                </a:rPr>
                <a:t>E</a:t>
              </a:r>
              <a:endParaRPr lang="en-US" altLang="zh-CN" sz="2400" b="1" u="none" dirty="0">
                <a:solidFill>
                  <a:schemeClr val="tx1"/>
                </a:solidFill>
                <a:latin typeface="Times New Roman" panose="02020603050405020304" pitchFamily="18" charset="0"/>
              </a:endParaRPr>
            </a:p>
          </p:txBody>
        </p:sp>
        <p:sp>
          <p:nvSpPr>
            <p:cNvPr id="78857" name="Oval 48"/>
            <p:cNvSpPr/>
            <p:nvPr/>
          </p:nvSpPr>
          <p:spPr>
            <a:xfrm>
              <a:off x="1968" y="3168"/>
              <a:ext cx="384" cy="384"/>
            </a:xfrm>
            <a:prstGeom prst="ellipse">
              <a:avLst/>
            </a:prstGeom>
            <a:noFill/>
            <a:ln w="19050" cap="sq" cmpd="sng">
              <a:solidFill>
                <a:schemeClr val="tx1"/>
              </a:solidFill>
              <a:prstDash val="solid"/>
              <a:round/>
              <a:headEnd type="none" w="sm" len="sm"/>
              <a:tailEnd type="none" w="sm" len="sm"/>
            </a:ln>
          </p:spPr>
          <p:txBody>
            <a:bodyPr wrap="none" anchor="ctr"/>
            <a:p>
              <a:pPr algn="ctr"/>
              <a:r>
                <a:rPr lang="en-US" altLang="zh-CN" sz="2800" b="1" u="none" dirty="0">
                  <a:solidFill>
                    <a:schemeClr val="tx1"/>
                  </a:solidFill>
                  <a:latin typeface="Times New Roman" panose="02020603050405020304" pitchFamily="18" charset="0"/>
                </a:rPr>
                <a:t>T</a:t>
              </a:r>
              <a:endParaRPr lang="en-US" altLang="zh-CN" sz="2400" u="none" dirty="0">
                <a:solidFill>
                  <a:schemeClr val="tx1"/>
                </a:solidFill>
                <a:latin typeface="Times New Roman" panose="02020603050405020304" pitchFamily="18" charset="0"/>
              </a:endParaRPr>
            </a:p>
          </p:txBody>
        </p:sp>
        <p:sp>
          <p:nvSpPr>
            <p:cNvPr id="78858" name="Freeform 50"/>
            <p:cNvSpPr/>
            <p:nvPr/>
          </p:nvSpPr>
          <p:spPr>
            <a:xfrm>
              <a:off x="3216" y="2880"/>
              <a:ext cx="432" cy="528"/>
            </a:xfrm>
            <a:custGeom>
              <a:avLst/>
              <a:gdLst/>
              <a:ahLst/>
              <a:cxnLst>
                <a:cxn ang="0">
                  <a:pos x="432" y="0"/>
                </a:cxn>
                <a:cxn ang="0">
                  <a:pos x="432" y="528"/>
                </a:cxn>
                <a:cxn ang="0">
                  <a:pos x="0" y="528"/>
                </a:cxn>
              </a:cxnLst>
              <a:pathLst>
                <a:path w="432" h="528">
                  <a:moveTo>
                    <a:pt x="432" y="0"/>
                  </a:moveTo>
                  <a:lnTo>
                    <a:pt x="432" y="528"/>
                  </a:lnTo>
                  <a:lnTo>
                    <a:pt x="0" y="528"/>
                  </a:lnTo>
                </a:path>
              </a:pathLst>
            </a:custGeom>
            <a:noFill/>
            <a:ln w="19050" cap="flat" cmpd="sng">
              <a:solidFill>
                <a:schemeClr val="tx1"/>
              </a:solidFill>
              <a:prstDash val="solid"/>
              <a:round/>
              <a:headEnd type="none" w="med" len="med"/>
              <a:tailEnd type="stealth" w="lg" len="lg"/>
            </a:ln>
          </p:spPr>
          <p:txBody>
            <a:bodyPr/>
            <a:p>
              <a:endParaRPr lang="zh-CN" altLang="en-US"/>
            </a:p>
          </p:txBody>
        </p:sp>
        <p:sp>
          <p:nvSpPr>
            <p:cNvPr id="78859" name="Line 51"/>
            <p:cNvSpPr/>
            <p:nvPr/>
          </p:nvSpPr>
          <p:spPr>
            <a:xfrm flipH="1">
              <a:off x="2352" y="3408"/>
              <a:ext cx="480" cy="0"/>
            </a:xfrm>
            <a:prstGeom prst="line">
              <a:avLst/>
            </a:prstGeom>
            <a:ln w="19050" cap="flat" cmpd="sng">
              <a:solidFill>
                <a:schemeClr val="tx1"/>
              </a:solidFill>
              <a:prstDash val="solid"/>
              <a:round/>
              <a:headEnd type="none" w="med" len="med"/>
              <a:tailEnd type="stealth" w="lg" len="lg"/>
            </a:ln>
          </p:spPr>
        </p:sp>
        <p:sp>
          <p:nvSpPr>
            <p:cNvPr id="78860" name="Freeform 52"/>
            <p:cNvSpPr/>
            <p:nvPr/>
          </p:nvSpPr>
          <p:spPr>
            <a:xfrm>
              <a:off x="1584" y="2880"/>
              <a:ext cx="384" cy="528"/>
            </a:xfrm>
            <a:custGeom>
              <a:avLst/>
              <a:gdLst/>
              <a:ahLst/>
              <a:cxnLst>
                <a:cxn ang="0">
                  <a:pos x="384" y="528"/>
                </a:cxn>
                <a:cxn ang="0">
                  <a:pos x="0" y="528"/>
                </a:cxn>
                <a:cxn ang="0">
                  <a:pos x="0" y="0"/>
                </a:cxn>
              </a:cxnLst>
              <a:pathLst>
                <a:path w="384" h="528">
                  <a:moveTo>
                    <a:pt x="384" y="528"/>
                  </a:moveTo>
                  <a:lnTo>
                    <a:pt x="0" y="528"/>
                  </a:lnTo>
                  <a:lnTo>
                    <a:pt x="0" y="0"/>
                  </a:lnTo>
                </a:path>
              </a:pathLst>
            </a:custGeom>
            <a:noFill/>
            <a:ln w="19050" cap="flat" cmpd="sng">
              <a:solidFill>
                <a:schemeClr val="tx1"/>
              </a:solidFill>
              <a:prstDash val="solid"/>
              <a:round/>
              <a:headEnd type="none" w="med" len="med"/>
              <a:tailEnd type="stealth" w="lg" len="lg"/>
            </a:ln>
          </p:spPr>
          <p:txBody>
            <a:bodyPr/>
            <a:p>
              <a:endParaRPr lang="zh-CN" altLang="en-US"/>
            </a:p>
          </p:txBody>
        </p:sp>
      </p:grpSp>
      <p:grpSp>
        <p:nvGrpSpPr>
          <p:cNvPr id="3" name="Group 54"/>
          <p:cNvGrpSpPr/>
          <p:nvPr/>
        </p:nvGrpSpPr>
        <p:grpSpPr>
          <a:xfrm>
            <a:off x="1600200" y="3927475"/>
            <a:ext cx="5124450" cy="911225"/>
            <a:chOff x="288" y="2688"/>
            <a:chExt cx="3696" cy="864"/>
          </a:xfrm>
        </p:grpSpPr>
        <p:sp>
          <p:nvSpPr>
            <p:cNvPr id="78862" name="Oval 55"/>
            <p:cNvSpPr/>
            <p:nvPr/>
          </p:nvSpPr>
          <p:spPr>
            <a:xfrm>
              <a:off x="1008" y="2688"/>
              <a:ext cx="384" cy="384"/>
            </a:xfrm>
            <a:prstGeom prst="ellipse">
              <a:avLst/>
            </a:prstGeom>
            <a:noFill/>
            <a:ln w="19050" cap="sq" cmpd="sng">
              <a:solidFill>
                <a:schemeClr val="tx1"/>
              </a:solidFill>
              <a:prstDash val="solid"/>
              <a:round/>
              <a:headEnd type="none" w="sm" len="sm"/>
              <a:tailEnd type="none" w="sm" len="sm"/>
            </a:ln>
          </p:spPr>
          <p:txBody>
            <a:bodyPr wrap="none" anchor="ctr"/>
            <a:p>
              <a:pPr algn="ctr"/>
              <a:r>
                <a:rPr lang="en-US" altLang="zh-CN" sz="2800" b="1" u="none" dirty="0">
                  <a:solidFill>
                    <a:schemeClr val="tx1"/>
                  </a:solidFill>
                  <a:latin typeface="Times New Roman" panose="02020603050405020304" pitchFamily="18" charset="0"/>
                </a:rPr>
                <a:t>F</a:t>
              </a:r>
              <a:endParaRPr lang="en-US" altLang="zh-CN" sz="2400" u="none" dirty="0">
                <a:solidFill>
                  <a:schemeClr val="tx1"/>
                </a:solidFill>
                <a:latin typeface="Times New Roman" panose="02020603050405020304" pitchFamily="18" charset="0"/>
              </a:endParaRPr>
            </a:p>
          </p:txBody>
        </p:sp>
        <p:sp>
          <p:nvSpPr>
            <p:cNvPr id="78863" name="Oval 56"/>
            <p:cNvSpPr/>
            <p:nvPr/>
          </p:nvSpPr>
          <p:spPr>
            <a:xfrm>
              <a:off x="2832" y="3168"/>
              <a:ext cx="384" cy="384"/>
            </a:xfrm>
            <a:prstGeom prst="ellipse">
              <a:avLst/>
            </a:prstGeom>
            <a:noFill/>
            <a:ln w="19050" cap="sq" cmpd="sng">
              <a:solidFill>
                <a:schemeClr val="tx1"/>
              </a:solidFill>
              <a:prstDash val="solid"/>
              <a:round/>
              <a:headEnd type="none" w="sm" len="sm"/>
              <a:tailEnd type="none" w="sm" len="sm"/>
            </a:ln>
          </p:spPr>
          <p:txBody>
            <a:bodyPr wrap="none" anchor="ctr"/>
            <a:p>
              <a:pPr algn="ctr"/>
              <a:r>
                <a:rPr lang="en-US" altLang="zh-CN" sz="2800" b="1" u="none" dirty="0">
                  <a:solidFill>
                    <a:schemeClr val="tx1"/>
                  </a:solidFill>
                  <a:latin typeface="Times New Roman" panose="02020603050405020304" pitchFamily="18" charset="0"/>
                </a:rPr>
                <a:t>*</a:t>
              </a:r>
              <a:endParaRPr lang="en-US" altLang="zh-CN" sz="2400" u="none" dirty="0">
                <a:solidFill>
                  <a:schemeClr val="tx1"/>
                </a:solidFill>
                <a:latin typeface="Times New Roman" panose="02020603050405020304" pitchFamily="18" charset="0"/>
              </a:endParaRPr>
            </a:p>
          </p:txBody>
        </p:sp>
        <p:sp>
          <p:nvSpPr>
            <p:cNvPr id="78864" name="Line 57"/>
            <p:cNvSpPr/>
            <p:nvPr/>
          </p:nvSpPr>
          <p:spPr>
            <a:xfrm>
              <a:off x="528" y="2880"/>
              <a:ext cx="480" cy="0"/>
            </a:xfrm>
            <a:prstGeom prst="line">
              <a:avLst/>
            </a:prstGeom>
            <a:ln w="19050" cap="sq" cmpd="sng">
              <a:solidFill>
                <a:schemeClr val="tx1"/>
              </a:solidFill>
              <a:prstDash val="solid"/>
              <a:round/>
              <a:headEnd type="none" w="sm" len="sm"/>
              <a:tailEnd type="stealth" w="lg" len="lg"/>
            </a:ln>
          </p:spPr>
        </p:sp>
        <p:sp>
          <p:nvSpPr>
            <p:cNvPr id="78865" name="Line 58"/>
            <p:cNvSpPr/>
            <p:nvPr/>
          </p:nvSpPr>
          <p:spPr>
            <a:xfrm flipV="1">
              <a:off x="1392" y="2880"/>
              <a:ext cx="2592" cy="0"/>
            </a:xfrm>
            <a:prstGeom prst="line">
              <a:avLst/>
            </a:prstGeom>
            <a:ln w="19050" cap="sq" cmpd="sng">
              <a:solidFill>
                <a:schemeClr val="tx1"/>
              </a:solidFill>
              <a:prstDash val="solid"/>
              <a:round/>
              <a:headEnd type="none" w="sm" len="sm"/>
              <a:tailEnd type="stealth" w="lg" len="lg"/>
            </a:ln>
          </p:spPr>
        </p:sp>
        <p:sp>
          <p:nvSpPr>
            <p:cNvPr id="78866" name="Rectangle 59"/>
            <p:cNvSpPr/>
            <p:nvPr/>
          </p:nvSpPr>
          <p:spPr>
            <a:xfrm>
              <a:off x="288" y="2736"/>
              <a:ext cx="336" cy="288"/>
            </a:xfrm>
            <a:prstGeom prst="rect">
              <a:avLst/>
            </a:prstGeom>
            <a:noFill/>
            <a:ln w="19050">
              <a:noFill/>
            </a:ln>
          </p:spPr>
          <p:txBody>
            <a:bodyPr wrap="none" anchor="ctr"/>
            <a:p>
              <a:pPr algn="ctr"/>
              <a:r>
                <a:rPr lang="en-US" altLang="zh-CN" sz="2400" b="1" u="none" dirty="0">
                  <a:solidFill>
                    <a:schemeClr val="tx1"/>
                  </a:solidFill>
                  <a:latin typeface="Times New Roman" panose="02020603050405020304" pitchFamily="18" charset="0"/>
                </a:rPr>
                <a:t>T</a:t>
              </a:r>
              <a:endParaRPr lang="en-US" altLang="zh-CN" sz="2400" b="1" u="none" dirty="0">
                <a:solidFill>
                  <a:schemeClr val="tx1"/>
                </a:solidFill>
                <a:latin typeface="Times New Roman" panose="02020603050405020304" pitchFamily="18" charset="0"/>
              </a:endParaRPr>
            </a:p>
          </p:txBody>
        </p:sp>
        <p:sp>
          <p:nvSpPr>
            <p:cNvPr id="78867" name="Oval 60"/>
            <p:cNvSpPr/>
            <p:nvPr/>
          </p:nvSpPr>
          <p:spPr>
            <a:xfrm>
              <a:off x="1968" y="3168"/>
              <a:ext cx="384" cy="384"/>
            </a:xfrm>
            <a:prstGeom prst="ellipse">
              <a:avLst/>
            </a:prstGeom>
            <a:noFill/>
            <a:ln w="19050" cap="sq" cmpd="sng">
              <a:solidFill>
                <a:schemeClr val="tx1"/>
              </a:solidFill>
              <a:prstDash val="solid"/>
              <a:round/>
              <a:headEnd type="none" w="sm" len="sm"/>
              <a:tailEnd type="none" w="sm" len="sm"/>
            </a:ln>
          </p:spPr>
          <p:txBody>
            <a:bodyPr wrap="none" anchor="ctr"/>
            <a:p>
              <a:pPr algn="ctr"/>
              <a:r>
                <a:rPr lang="en-US" altLang="zh-CN" sz="2800" b="1" u="none" dirty="0">
                  <a:solidFill>
                    <a:schemeClr val="tx1"/>
                  </a:solidFill>
                  <a:latin typeface="Times New Roman" panose="02020603050405020304" pitchFamily="18" charset="0"/>
                </a:rPr>
                <a:t>F</a:t>
              </a:r>
              <a:endParaRPr lang="en-US" altLang="zh-CN" sz="2400" u="none" dirty="0">
                <a:solidFill>
                  <a:schemeClr val="tx1"/>
                </a:solidFill>
                <a:latin typeface="Times New Roman" panose="02020603050405020304" pitchFamily="18" charset="0"/>
              </a:endParaRPr>
            </a:p>
          </p:txBody>
        </p:sp>
        <p:sp>
          <p:nvSpPr>
            <p:cNvPr id="78868" name="Freeform 61"/>
            <p:cNvSpPr/>
            <p:nvPr/>
          </p:nvSpPr>
          <p:spPr>
            <a:xfrm>
              <a:off x="3216" y="2880"/>
              <a:ext cx="432" cy="528"/>
            </a:xfrm>
            <a:custGeom>
              <a:avLst/>
              <a:gdLst/>
              <a:ahLst/>
              <a:cxnLst>
                <a:cxn ang="0">
                  <a:pos x="432" y="0"/>
                </a:cxn>
                <a:cxn ang="0">
                  <a:pos x="432" y="528"/>
                </a:cxn>
                <a:cxn ang="0">
                  <a:pos x="0" y="528"/>
                </a:cxn>
              </a:cxnLst>
              <a:pathLst>
                <a:path w="432" h="528">
                  <a:moveTo>
                    <a:pt x="432" y="0"/>
                  </a:moveTo>
                  <a:lnTo>
                    <a:pt x="432" y="528"/>
                  </a:lnTo>
                  <a:lnTo>
                    <a:pt x="0" y="528"/>
                  </a:lnTo>
                </a:path>
              </a:pathLst>
            </a:custGeom>
            <a:noFill/>
            <a:ln w="19050" cap="flat" cmpd="sng">
              <a:solidFill>
                <a:schemeClr val="tx1"/>
              </a:solidFill>
              <a:prstDash val="solid"/>
              <a:round/>
              <a:headEnd type="none" w="med" len="med"/>
              <a:tailEnd type="stealth" w="lg" len="lg"/>
            </a:ln>
          </p:spPr>
          <p:txBody>
            <a:bodyPr/>
            <a:p>
              <a:endParaRPr lang="zh-CN" altLang="en-US"/>
            </a:p>
          </p:txBody>
        </p:sp>
        <p:sp>
          <p:nvSpPr>
            <p:cNvPr id="78869" name="Line 62"/>
            <p:cNvSpPr/>
            <p:nvPr/>
          </p:nvSpPr>
          <p:spPr>
            <a:xfrm flipH="1">
              <a:off x="2352" y="3408"/>
              <a:ext cx="480" cy="0"/>
            </a:xfrm>
            <a:prstGeom prst="line">
              <a:avLst/>
            </a:prstGeom>
            <a:ln w="19050" cap="flat" cmpd="sng">
              <a:solidFill>
                <a:schemeClr val="tx1"/>
              </a:solidFill>
              <a:prstDash val="solid"/>
              <a:round/>
              <a:headEnd type="none" w="med" len="med"/>
              <a:tailEnd type="stealth" w="lg" len="lg"/>
            </a:ln>
          </p:spPr>
        </p:sp>
        <p:sp>
          <p:nvSpPr>
            <p:cNvPr id="78870" name="Freeform 63"/>
            <p:cNvSpPr/>
            <p:nvPr/>
          </p:nvSpPr>
          <p:spPr>
            <a:xfrm>
              <a:off x="1584" y="2880"/>
              <a:ext cx="384" cy="528"/>
            </a:xfrm>
            <a:custGeom>
              <a:avLst/>
              <a:gdLst/>
              <a:ahLst/>
              <a:cxnLst>
                <a:cxn ang="0">
                  <a:pos x="384" y="528"/>
                </a:cxn>
                <a:cxn ang="0">
                  <a:pos x="0" y="528"/>
                </a:cxn>
                <a:cxn ang="0">
                  <a:pos x="0" y="0"/>
                </a:cxn>
              </a:cxnLst>
              <a:pathLst>
                <a:path w="384" h="528">
                  <a:moveTo>
                    <a:pt x="384" y="528"/>
                  </a:moveTo>
                  <a:lnTo>
                    <a:pt x="0" y="528"/>
                  </a:lnTo>
                  <a:lnTo>
                    <a:pt x="0" y="0"/>
                  </a:lnTo>
                </a:path>
              </a:pathLst>
            </a:custGeom>
            <a:noFill/>
            <a:ln w="19050" cap="flat" cmpd="sng">
              <a:solidFill>
                <a:schemeClr val="tx1"/>
              </a:solidFill>
              <a:prstDash val="solid"/>
              <a:round/>
              <a:headEnd type="none" w="med" len="med"/>
              <a:tailEnd type="stealth" w="lg" len="lg"/>
            </a:ln>
          </p:spPr>
          <p:txBody>
            <a:bodyPr/>
            <a:p>
              <a:endParaRPr lang="zh-CN" altLang="en-US"/>
            </a:p>
          </p:txBody>
        </p:sp>
      </p:grpSp>
      <p:grpSp>
        <p:nvGrpSpPr>
          <p:cNvPr id="4" name="Group 81"/>
          <p:cNvGrpSpPr/>
          <p:nvPr/>
        </p:nvGrpSpPr>
        <p:grpSpPr>
          <a:xfrm>
            <a:off x="1600200" y="5375275"/>
            <a:ext cx="5924550" cy="911225"/>
            <a:chOff x="960" y="3168"/>
            <a:chExt cx="4272" cy="864"/>
          </a:xfrm>
        </p:grpSpPr>
        <p:sp>
          <p:nvSpPr>
            <p:cNvPr id="78872" name="Oval 65"/>
            <p:cNvSpPr/>
            <p:nvPr/>
          </p:nvSpPr>
          <p:spPr>
            <a:xfrm>
              <a:off x="2976" y="3168"/>
              <a:ext cx="384" cy="384"/>
            </a:xfrm>
            <a:prstGeom prst="ellipse">
              <a:avLst/>
            </a:prstGeom>
            <a:noFill/>
            <a:ln w="19050" cap="sq" cmpd="sng">
              <a:solidFill>
                <a:schemeClr val="tx1"/>
              </a:solidFill>
              <a:prstDash val="solid"/>
              <a:round/>
              <a:headEnd type="none" w="sm" len="sm"/>
              <a:tailEnd type="none" w="sm" len="sm"/>
            </a:ln>
          </p:spPr>
          <p:txBody>
            <a:bodyPr wrap="none" anchor="ctr"/>
            <a:p>
              <a:pPr algn="ctr"/>
              <a:r>
                <a:rPr lang="en-US" altLang="zh-CN" sz="2800" b="1" u="none" dirty="0">
                  <a:solidFill>
                    <a:schemeClr val="tx1"/>
                  </a:solidFill>
                  <a:latin typeface="Times New Roman" panose="02020603050405020304" pitchFamily="18" charset="0"/>
                </a:rPr>
                <a:t>i</a:t>
              </a:r>
              <a:endParaRPr lang="en-US" altLang="zh-CN" sz="2400" u="none" dirty="0">
                <a:solidFill>
                  <a:schemeClr val="tx1"/>
                </a:solidFill>
                <a:latin typeface="Times New Roman" panose="02020603050405020304" pitchFamily="18" charset="0"/>
              </a:endParaRPr>
            </a:p>
          </p:txBody>
        </p:sp>
        <p:sp>
          <p:nvSpPr>
            <p:cNvPr id="78873" name="Oval 66"/>
            <p:cNvSpPr/>
            <p:nvPr/>
          </p:nvSpPr>
          <p:spPr>
            <a:xfrm>
              <a:off x="3600" y="3648"/>
              <a:ext cx="384" cy="384"/>
            </a:xfrm>
            <a:prstGeom prst="ellipse">
              <a:avLst/>
            </a:prstGeom>
            <a:noFill/>
            <a:ln w="19050" cap="sq" cmpd="sng">
              <a:solidFill>
                <a:schemeClr val="tx1"/>
              </a:solidFill>
              <a:prstDash val="solid"/>
              <a:round/>
              <a:headEnd type="none" w="sm" len="sm"/>
              <a:tailEnd type="none" w="sm" len="sm"/>
            </a:ln>
          </p:spPr>
          <p:txBody>
            <a:bodyPr wrap="none" anchor="ctr"/>
            <a:p>
              <a:pPr algn="ctr"/>
              <a:r>
                <a:rPr lang="en-US" altLang="zh-CN" sz="2800" b="1" u="none" dirty="0">
                  <a:solidFill>
                    <a:schemeClr val="tx1"/>
                  </a:solidFill>
                  <a:latin typeface="Times New Roman" panose="02020603050405020304" pitchFamily="18" charset="0"/>
                </a:rPr>
                <a:t>)</a:t>
              </a:r>
              <a:endParaRPr lang="en-US" altLang="zh-CN" sz="2400" u="none" dirty="0">
                <a:solidFill>
                  <a:schemeClr val="tx1"/>
                </a:solidFill>
                <a:latin typeface="Times New Roman" panose="02020603050405020304" pitchFamily="18" charset="0"/>
              </a:endParaRPr>
            </a:p>
          </p:txBody>
        </p:sp>
        <p:sp>
          <p:nvSpPr>
            <p:cNvPr id="78874" name="Line 67"/>
            <p:cNvSpPr/>
            <p:nvPr/>
          </p:nvSpPr>
          <p:spPr>
            <a:xfrm>
              <a:off x="1248" y="3360"/>
              <a:ext cx="1680" cy="0"/>
            </a:xfrm>
            <a:prstGeom prst="line">
              <a:avLst/>
            </a:prstGeom>
            <a:ln w="19050" cap="sq" cmpd="sng">
              <a:solidFill>
                <a:schemeClr val="tx1"/>
              </a:solidFill>
              <a:prstDash val="solid"/>
              <a:round/>
              <a:headEnd type="none" w="sm" len="sm"/>
              <a:tailEnd type="stealth" w="lg" len="lg"/>
            </a:ln>
          </p:spPr>
        </p:sp>
        <p:sp>
          <p:nvSpPr>
            <p:cNvPr id="78875" name="Line 68"/>
            <p:cNvSpPr/>
            <p:nvPr/>
          </p:nvSpPr>
          <p:spPr>
            <a:xfrm flipV="1">
              <a:off x="3408" y="3360"/>
              <a:ext cx="1824" cy="0"/>
            </a:xfrm>
            <a:prstGeom prst="line">
              <a:avLst/>
            </a:prstGeom>
            <a:ln w="19050" cap="sq" cmpd="sng">
              <a:solidFill>
                <a:schemeClr val="tx1"/>
              </a:solidFill>
              <a:prstDash val="solid"/>
              <a:round/>
              <a:headEnd type="none" w="sm" len="sm"/>
              <a:tailEnd type="stealth" w="lg" len="lg"/>
            </a:ln>
          </p:spPr>
        </p:sp>
        <p:sp>
          <p:nvSpPr>
            <p:cNvPr id="78876" name="Rectangle 69"/>
            <p:cNvSpPr/>
            <p:nvPr/>
          </p:nvSpPr>
          <p:spPr>
            <a:xfrm>
              <a:off x="960" y="3216"/>
              <a:ext cx="336" cy="288"/>
            </a:xfrm>
            <a:prstGeom prst="rect">
              <a:avLst/>
            </a:prstGeom>
            <a:noFill/>
            <a:ln w="19050">
              <a:noFill/>
            </a:ln>
          </p:spPr>
          <p:txBody>
            <a:bodyPr wrap="none" anchor="ctr"/>
            <a:p>
              <a:pPr algn="ctr"/>
              <a:r>
                <a:rPr lang="en-US" altLang="zh-CN" sz="2400" b="1" u="none" dirty="0">
                  <a:solidFill>
                    <a:schemeClr val="tx1"/>
                  </a:solidFill>
                  <a:latin typeface="Times New Roman" panose="02020603050405020304" pitchFamily="18" charset="0"/>
                </a:rPr>
                <a:t>F</a:t>
              </a:r>
              <a:endParaRPr lang="en-US" altLang="zh-CN" sz="2400" b="1" u="none" dirty="0">
                <a:solidFill>
                  <a:schemeClr val="tx1"/>
                </a:solidFill>
                <a:latin typeface="Times New Roman" panose="02020603050405020304" pitchFamily="18" charset="0"/>
              </a:endParaRPr>
            </a:p>
          </p:txBody>
        </p:sp>
        <p:sp>
          <p:nvSpPr>
            <p:cNvPr id="78877" name="Oval 70"/>
            <p:cNvSpPr/>
            <p:nvPr/>
          </p:nvSpPr>
          <p:spPr>
            <a:xfrm>
              <a:off x="2832" y="3648"/>
              <a:ext cx="384" cy="384"/>
            </a:xfrm>
            <a:prstGeom prst="ellipse">
              <a:avLst/>
            </a:prstGeom>
            <a:noFill/>
            <a:ln w="19050" cap="sq" cmpd="sng">
              <a:solidFill>
                <a:schemeClr val="tx1"/>
              </a:solidFill>
              <a:prstDash val="solid"/>
              <a:round/>
              <a:headEnd type="none" w="sm" len="sm"/>
              <a:tailEnd type="none" w="sm" len="sm"/>
            </a:ln>
          </p:spPr>
          <p:txBody>
            <a:bodyPr wrap="none" anchor="ctr"/>
            <a:p>
              <a:pPr algn="ctr"/>
              <a:r>
                <a:rPr lang="en-US" altLang="zh-CN" sz="2800" b="1" u="none" dirty="0">
                  <a:solidFill>
                    <a:schemeClr val="tx1"/>
                  </a:solidFill>
                  <a:latin typeface="Times New Roman" panose="02020603050405020304" pitchFamily="18" charset="0"/>
                </a:rPr>
                <a:t>E</a:t>
              </a:r>
              <a:endParaRPr lang="en-US" altLang="zh-CN" sz="2400" u="none" dirty="0">
                <a:solidFill>
                  <a:schemeClr val="tx1"/>
                </a:solidFill>
                <a:latin typeface="Times New Roman" panose="02020603050405020304" pitchFamily="18" charset="0"/>
              </a:endParaRPr>
            </a:p>
          </p:txBody>
        </p:sp>
        <p:sp>
          <p:nvSpPr>
            <p:cNvPr id="78878" name="Oval 74"/>
            <p:cNvSpPr/>
            <p:nvPr/>
          </p:nvSpPr>
          <p:spPr>
            <a:xfrm>
              <a:off x="2064" y="3648"/>
              <a:ext cx="384" cy="384"/>
            </a:xfrm>
            <a:prstGeom prst="ellipse">
              <a:avLst/>
            </a:prstGeom>
            <a:noFill/>
            <a:ln w="19050" cap="sq" cmpd="sng">
              <a:solidFill>
                <a:schemeClr val="tx1"/>
              </a:solidFill>
              <a:prstDash val="solid"/>
              <a:round/>
              <a:headEnd type="none" w="sm" len="sm"/>
              <a:tailEnd type="none" w="sm" len="sm"/>
            </a:ln>
          </p:spPr>
          <p:txBody>
            <a:bodyPr wrap="none" anchor="ctr"/>
            <a:p>
              <a:pPr algn="ctr"/>
              <a:r>
                <a:rPr lang="en-US" altLang="zh-CN" sz="2800" b="1" u="none" dirty="0">
                  <a:solidFill>
                    <a:schemeClr val="tx1"/>
                  </a:solidFill>
                  <a:latin typeface="Times New Roman" panose="02020603050405020304" pitchFamily="18" charset="0"/>
                </a:rPr>
                <a:t>(</a:t>
              </a:r>
              <a:endParaRPr lang="en-US" altLang="zh-CN" sz="2400" u="none" dirty="0">
                <a:solidFill>
                  <a:schemeClr val="tx1"/>
                </a:solidFill>
                <a:latin typeface="Times New Roman" panose="02020603050405020304" pitchFamily="18" charset="0"/>
              </a:endParaRPr>
            </a:p>
          </p:txBody>
        </p:sp>
        <p:sp>
          <p:nvSpPr>
            <p:cNvPr id="78879" name="Line 75"/>
            <p:cNvSpPr/>
            <p:nvPr/>
          </p:nvSpPr>
          <p:spPr>
            <a:xfrm>
              <a:off x="2448" y="3840"/>
              <a:ext cx="384" cy="0"/>
            </a:xfrm>
            <a:prstGeom prst="line">
              <a:avLst/>
            </a:prstGeom>
            <a:ln w="19050" cap="flat" cmpd="sng">
              <a:solidFill>
                <a:schemeClr val="tx1"/>
              </a:solidFill>
              <a:prstDash val="solid"/>
              <a:round/>
              <a:headEnd type="none" w="med" len="med"/>
              <a:tailEnd type="stealth" w="lg" len="lg"/>
            </a:ln>
          </p:spPr>
        </p:sp>
        <p:sp>
          <p:nvSpPr>
            <p:cNvPr id="78880" name="Line 76"/>
            <p:cNvSpPr/>
            <p:nvPr/>
          </p:nvSpPr>
          <p:spPr>
            <a:xfrm>
              <a:off x="3216" y="3840"/>
              <a:ext cx="384" cy="0"/>
            </a:xfrm>
            <a:prstGeom prst="line">
              <a:avLst/>
            </a:prstGeom>
            <a:ln w="19050" cap="flat" cmpd="sng">
              <a:solidFill>
                <a:schemeClr val="tx1"/>
              </a:solidFill>
              <a:prstDash val="solid"/>
              <a:round/>
              <a:headEnd type="none" w="med" len="med"/>
              <a:tailEnd type="stealth" w="lg" len="lg"/>
            </a:ln>
          </p:spPr>
        </p:sp>
        <p:sp>
          <p:nvSpPr>
            <p:cNvPr id="78881" name="Freeform 79"/>
            <p:cNvSpPr/>
            <p:nvPr/>
          </p:nvSpPr>
          <p:spPr>
            <a:xfrm>
              <a:off x="1536" y="3360"/>
              <a:ext cx="528" cy="480"/>
            </a:xfrm>
            <a:custGeom>
              <a:avLst/>
              <a:gdLst/>
              <a:ahLst/>
              <a:cxnLst>
                <a:cxn ang="0">
                  <a:pos x="0" y="0"/>
                </a:cxn>
                <a:cxn ang="0">
                  <a:pos x="0" y="480"/>
                </a:cxn>
                <a:cxn ang="0">
                  <a:pos x="528" y="480"/>
                </a:cxn>
              </a:cxnLst>
              <a:pathLst>
                <a:path w="528" h="480">
                  <a:moveTo>
                    <a:pt x="0" y="0"/>
                  </a:moveTo>
                  <a:lnTo>
                    <a:pt x="0" y="480"/>
                  </a:lnTo>
                  <a:lnTo>
                    <a:pt x="528" y="480"/>
                  </a:lnTo>
                </a:path>
              </a:pathLst>
            </a:custGeom>
            <a:noFill/>
            <a:ln w="19050" cap="flat" cmpd="sng">
              <a:solidFill>
                <a:schemeClr val="tx1"/>
              </a:solidFill>
              <a:prstDash val="solid"/>
              <a:round/>
              <a:headEnd type="none" w="med" len="med"/>
              <a:tailEnd type="stealth" w="lg" len="lg"/>
            </a:ln>
          </p:spPr>
          <p:txBody>
            <a:bodyPr/>
            <a:p>
              <a:endParaRPr lang="zh-CN" altLang="en-US"/>
            </a:p>
          </p:txBody>
        </p:sp>
        <p:sp>
          <p:nvSpPr>
            <p:cNvPr id="78882" name="Freeform 80"/>
            <p:cNvSpPr/>
            <p:nvPr/>
          </p:nvSpPr>
          <p:spPr>
            <a:xfrm>
              <a:off x="3984" y="3360"/>
              <a:ext cx="480" cy="480"/>
            </a:xfrm>
            <a:custGeom>
              <a:avLst/>
              <a:gdLst/>
              <a:ahLst/>
              <a:cxnLst>
                <a:cxn ang="0">
                  <a:pos x="0" y="480"/>
                </a:cxn>
                <a:cxn ang="0">
                  <a:pos x="480" y="480"/>
                </a:cxn>
                <a:cxn ang="0">
                  <a:pos x="480" y="0"/>
                </a:cxn>
              </a:cxnLst>
              <a:pathLst>
                <a:path w="480" h="480">
                  <a:moveTo>
                    <a:pt x="0" y="480"/>
                  </a:moveTo>
                  <a:lnTo>
                    <a:pt x="480" y="480"/>
                  </a:lnTo>
                  <a:lnTo>
                    <a:pt x="480" y="0"/>
                  </a:lnTo>
                </a:path>
              </a:pathLst>
            </a:custGeom>
            <a:noFill/>
            <a:ln w="19050" cap="flat" cmpd="sng">
              <a:solidFill>
                <a:schemeClr val="tx1"/>
              </a:solidFill>
              <a:prstDash val="solid"/>
              <a:round/>
              <a:headEnd type="none" w="med" len="med"/>
              <a:tailEnd type="stealth" w="lg" len="lg"/>
            </a:ln>
          </p:spPr>
          <p:txBody>
            <a:bodyPr/>
            <a:p>
              <a:endParaRPr lang="zh-CN" altLang="en-US"/>
            </a:p>
          </p:txBody>
        </p:sp>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8962">
                                            <p:txEl>
                                              <p:charRg st="0" end="10"/>
                                            </p:txEl>
                                          </p:spTgt>
                                        </p:tgtEl>
                                        <p:attrNameLst>
                                          <p:attrName>style.visibility</p:attrName>
                                        </p:attrNameLst>
                                      </p:cBhvr>
                                      <p:to>
                                        <p:strVal val="visible"/>
                                      </p:to>
                                    </p:set>
                                    <p:animEffect transition="in" filter="wipe(left)">
                                      <p:cBhvr>
                                        <p:cTn id="7" dur="500"/>
                                        <p:tgtEl>
                                          <p:spTgt spid="168962">
                                            <p:txEl>
                                              <p:charRg st="0" end="1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68962">
                                            <p:txEl>
                                              <p:charRg st="10" end="18"/>
                                            </p:txEl>
                                          </p:spTgt>
                                        </p:tgtEl>
                                        <p:attrNameLst>
                                          <p:attrName>style.visibility</p:attrName>
                                        </p:attrNameLst>
                                      </p:cBhvr>
                                      <p:to>
                                        <p:strVal val="visible"/>
                                      </p:to>
                                    </p:set>
                                    <p:animEffect transition="in" filter="wipe(left)">
                                      <p:cBhvr>
                                        <p:cTn id="10" dur="500"/>
                                        <p:tgtEl>
                                          <p:spTgt spid="168962">
                                            <p:txEl>
                                              <p:charRg st="10" end="18"/>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68962">
                                            <p:txEl>
                                              <p:charRg st="18" end="53"/>
                                            </p:txEl>
                                          </p:spTgt>
                                        </p:tgtEl>
                                        <p:attrNameLst>
                                          <p:attrName>style.visibility</p:attrName>
                                        </p:attrNameLst>
                                      </p:cBhvr>
                                      <p:to>
                                        <p:strVal val="visible"/>
                                      </p:to>
                                    </p:set>
                                    <p:animEffect transition="in" filter="wipe(left)">
                                      <p:cBhvr>
                                        <p:cTn id="13" dur="500"/>
                                        <p:tgtEl>
                                          <p:spTgt spid="168962">
                                            <p:txEl>
                                              <p:charRg st="18" end="5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68962">
                                            <p:txEl>
                                              <p:charRg st="53" end="69"/>
                                            </p:txEl>
                                          </p:spTgt>
                                        </p:tgtEl>
                                        <p:attrNameLst>
                                          <p:attrName>style.visibility</p:attrName>
                                        </p:attrNameLst>
                                      </p:cBhvr>
                                      <p:to>
                                        <p:strVal val="visible"/>
                                      </p:to>
                                    </p:set>
                                    <p:animEffect transition="in" filter="wipe(left)">
                                      <p:cBhvr>
                                        <p:cTn id="18" dur="500"/>
                                        <p:tgtEl>
                                          <p:spTgt spid="168962">
                                            <p:txEl>
                                              <p:charRg st="53" end="69"/>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dissolve">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dissolve">
                                      <p:cBhvr>
                                        <p:cTn id="28" dur="500"/>
                                        <p:tgtEl>
                                          <p:spTgt spid="3"/>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dissolve">
                                      <p:cBhvr>
                                        <p:cTn id="3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62" grpId="0"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3"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79874" name="Rectangle 3"/>
          <p:cNvSpPr>
            <a:spLocks noGrp="1"/>
          </p:cNvSpPr>
          <p:nvPr>
            <p:ph type="body"/>
          </p:nvPr>
        </p:nvSpPr>
        <p:spPr>
          <a:xfrm>
            <a:off x="685800" y="304800"/>
            <a:ext cx="8134350" cy="2187575"/>
          </a:xfrm>
          <a:ln/>
        </p:spPr>
        <p:txBody>
          <a:bodyPr vert="horz" wrap="square" lIns="91440" tIns="45720" rIns="91440" bIns="45720" anchor="t"/>
          <a:p>
            <a:pPr eaLnBrk="1" hangingPunct="1">
              <a:lnSpc>
                <a:spcPct val="90000"/>
              </a:lnSpc>
            </a:pPr>
            <a:r>
              <a:rPr lang="en-US" altLang="zh-CN" sz="2800" b="1" dirty="0"/>
              <a:t>  E→T{+T}</a:t>
            </a:r>
            <a:endParaRPr lang="en-US" altLang="zh-CN" sz="2800" b="1" dirty="0"/>
          </a:p>
          <a:p>
            <a:pPr lvl="1" indent="-436245" eaLnBrk="1" hangingPunct="1">
              <a:lnSpc>
                <a:spcPct val="90000"/>
              </a:lnSpc>
              <a:buNone/>
            </a:pPr>
            <a:r>
              <a:rPr lang="en-US" altLang="zh-CN" sz="3000" b="1" dirty="0"/>
              <a:t>T→F{*F}</a:t>
            </a:r>
            <a:endParaRPr lang="en-US" altLang="zh-CN" sz="3000" b="1" dirty="0"/>
          </a:p>
          <a:p>
            <a:pPr lvl="1" indent="-436245" eaLnBrk="1" hangingPunct="1">
              <a:lnSpc>
                <a:spcPct val="90000"/>
              </a:lnSpc>
              <a:buNone/>
            </a:pPr>
            <a:r>
              <a:rPr lang="en-US" altLang="zh-CN" sz="3000" b="1" dirty="0"/>
              <a:t>F→i | (E)</a:t>
            </a:r>
            <a:r>
              <a:rPr lang="en-US" altLang="zh-CN" b="1" dirty="0"/>
              <a:t>		                 	(4.6)</a:t>
            </a:r>
            <a:endParaRPr lang="en-US" altLang="zh-CN" b="1" dirty="0"/>
          </a:p>
          <a:p>
            <a:pPr eaLnBrk="1" hangingPunct="1"/>
            <a:r>
              <a:rPr lang="zh-CN" altLang="en-US" b="1" dirty="0"/>
              <a:t>可构造一组递归下降分析程序：</a:t>
            </a:r>
            <a:endParaRPr lang="zh-CN" altLang="en-US" b="1" dirty="0"/>
          </a:p>
        </p:txBody>
      </p:sp>
      <p:sp>
        <p:nvSpPr>
          <p:cNvPr id="130052" name="Rectangle 4"/>
          <p:cNvSpPr/>
          <p:nvPr/>
        </p:nvSpPr>
        <p:spPr>
          <a:xfrm>
            <a:off x="1403350" y="2492375"/>
            <a:ext cx="4114800" cy="4114800"/>
          </a:xfrm>
          <a:prstGeom prst="rect">
            <a:avLst/>
          </a:prstGeom>
          <a:noFill/>
          <a:ln w="9525">
            <a:noFill/>
          </a:ln>
        </p:spPr>
        <p:txBody>
          <a:bodyPr anchor="t"/>
          <a:p>
            <a:pPr eaLnBrk="0" hangingPunct="0"/>
            <a:r>
              <a:rPr lang="en-US" altLang="zh-CN" sz="2800" b="1" u="none" dirty="0">
                <a:solidFill>
                  <a:schemeClr val="tx1"/>
                </a:solidFill>
                <a:latin typeface="Times New Roman" panose="02020603050405020304" pitchFamily="18" charset="0"/>
              </a:rPr>
              <a:t>PROCEDURE  E</a:t>
            </a:r>
            <a:r>
              <a:rPr lang="zh-CN" altLang="en-US" sz="2800" b="1" u="none" dirty="0">
                <a:solidFill>
                  <a:schemeClr val="tx1"/>
                </a:solidFill>
                <a:latin typeface="Times New Roman" panose="02020603050405020304" pitchFamily="18" charset="0"/>
              </a:rPr>
              <a:t>；</a:t>
            </a:r>
            <a:endParaRPr lang="zh-CN" altLang="en-US" sz="2800" b="1" u="none" dirty="0">
              <a:solidFill>
                <a:schemeClr val="tx1"/>
              </a:solidFill>
              <a:latin typeface="Times New Roman" panose="02020603050405020304" pitchFamily="18" charset="0"/>
            </a:endParaRPr>
          </a:p>
          <a:p>
            <a:pPr eaLnBrk="0" hangingPunct="0"/>
            <a:r>
              <a:rPr lang="en-US" altLang="zh-CN" sz="2800" b="1" u="none" dirty="0">
                <a:solidFill>
                  <a:schemeClr val="tx1"/>
                </a:solidFill>
                <a:latin typeface="Times New Roman" panose="02020603050405020304" pitchFamily="18" charset="0"/>
              </a:rPr>
              <a:t>BEGIN</a:t>
            </a:r>
            <a:endParaRPr lang="en-US" altLang="zh-CN" sz="2800" b="1" u="none" dirty="0">
              <a:solidFill>
                <a:schemeClr val="tx1"/>
              </a:solidFill>
              <a:latin typeface="Times New Roman" panose="02020603050405020304" pitchFamily="18" charset="0"/>
            </a:endParaRPr>
          </a:p>
          <a:p>
            <a:pPr eaLnBrk="0" hangingPunct="0"/>
            <a:r>
              <a:rPr lang="en-US" altLang="zh-CN" sz="2800" b="1" u="none" dirty="0">
                <a:solidFill>
                  <a:schemeClr val="tx1"/>
                </a:solidFill>
                <a:latin typeface="Times New Roman" panose="02020603050405020304" pitchFamily="18" charset="0"/>
              </a:rPr>
              <a:t>     T</a:t>
            </a:r>
            <a:r>
              <a:rPr lang="zh-CN" altLang="en-US" sz="2800" b="1" u="none" dirty="0">
                <a:solidFill>
                  <a:schemeClr val="tx1"/>
                </a:solidFill>
                <a:latin typeface="Times New Roman" panose="02020603050405020304" pitchFamily="18" charset="0"/>
              </a:rPr>
              <a:t>；</a:t>
            </a:r>
            <a:endParaRPr lang="zh-CN" altLang="en-US" sz="2800" b="1" u="none" dirty="0">
              <a:solidFill>
                <a:schemeClr val="tx1"/>
              </a:solidFill>
              <a:latin typeface="Times New Roman" panose="02020603050405020304" pitchFamily="18" charset="0"/>
            </a:endParaRPr>
          </a:p>
          <a:p>
            <a:pPr eaLnBrk="0" hangingPunct="0"/>
            <a:r>
              <a:rPr lang="zh-CN" altLang="en-US" sz="2800" b="1" u="none" dirty="0">
                <a:solidFill>
                  <a:schemeClr val="tx1"/>
                </a:solidFill>
                <a:latin typeface="Times New Roman" panose="02020603050405020304" pitchFamily="18" charset="0"/>
              </a:rPr>
              <a:t>     </a:t>
            </a:r>
            <a:r>
              <a:rPr lang="en-US" altLang="zh-CN" sz="2800" b="1" u="none" dirty="0">
                <a:solidFill>
                  <a:schemeClr val="tx1"/>
                </a:solidFill>
                <a:latin typeface="Times New Roman" panose="02020603050405020304" pitchFamily="18" charset="0"/>
              </a:rPr>
              <a:t>WHILE SYM=‘+’ DO</a:t>
            </a:r>
            <a:endParaRPr lang="en-US" altLang="zh-CN" sz="2800" b="1" u="none" dirty="0">
              <a:solidFill>
                <a:schemeClr val="tx1"/>
              </a:solidFill>
              <a:latin typeface="Times New Roman" panose="02020603050405020304" pitchFamily="18" charset="0"/>
            </a:endParaRPr>
          </a:p>
          <a:p>
            <a:pPr eaLnBrk="0" hangingPunct="0"/>
            <a:r>
              <a:rPr lang="en-US" altLang="zh-CN" sz="2800" b="1" u="none" dirty="0">
                <a:solidFill>
                  <a:schemeClr val="tx1"/>
                </a:solidFill>
                <a:latin typeface="Times New Roman" panose="02020603050405020304" pitchFamily="18" charset="0"/>
              </a:rPr>
              <a:t>    BEGIN </a:t>
            </a:r>
            <a:endParaRPr lang="en-US" altLang="zh-CN" sz="2800" b="1" u="none" dirty="0">
              <a:solidFill>
                <a:schemeClr val="tx1"/>
              </a:solidFill>
              <a:latin typeface="Times New Roman" panose="02020603050405020304" pitchFamily="18" charset="0"/>
            </a:endParaRPr>
          </a:p>
          <a:p>
            <a:pPr eaLnBrk="0" hangingPunct="0"/>
            <a:r>
              <a:rPr lang="en-US" altLang="zh-CN" sz="2800" b="1" u="none" dirty="0">
                <a:solidFill>
                  <a:schemeClr val="tx1"/>
                </a:solidFill>
                <a:latin typeface="Times New Roman" panose="02020603050405020304" pitchFamily="18" charset="0"/>
              </a:rPr>
              <a:t>         ADVANCE</a:t>
            </a:r>
            <a:r>
              <a:rPr lang="zh-CN" altLang="en-US" sz="2800" b="1" u="none" dirty="0">
                <a:solidFill>
                  <a:schemeClr val="tx1"/>
                </a:solidFill>
                <a:latin typeface="Times New Roman" panose="02020603050405020304" pitchFamily="18" charset="0"/>
              </a:rPr>
              <a:t>；</a:t>
            </a:r>
            <a:endParaRPr lang="zh-CN" altLang="en-US" sz="2800" b="1" u="none" dirty="0">
              <a:solidFill>
                <a:schemeClr val="tx1"/>
              </a:solidFill>
              <a:latin typeface="Times New Roman" panose="02020603050405020304" pitchFamily="18" charset="0"/>
            </a:endParaRPr>
          </a:p>
          <a:p>
            <a:pPr eaLnBrk="0" hangingPunct="0"/>
            <a:r>
              <a:rPr lang="zh-CN" altLang="en-US" sz="2800" b="1" u="none" dirty="0">
                <a:solidFill>
                  <a:schemeClr val="tx1"/>
                </a:solidFill>
                <a:latin typeface="Times New Roman" panose="02020603050405020304" pitchFamily="18" charset="0"/>
              </a:rPr>
              <a:t>         </a:t>
            </a:r>
            <a:r>
              <a:rPr lang="en-US" altLang="zh-CN" sz="2800" b="1" u="none" dirty="0">
                <a:solidFill>
                  <a:schemeClr val="tx1"/>
                </a:solidFill>
                <a:latin typeface="Times New Roman" panose="02020603050405020304" pitchFamily="18" charset="0"/>
              </a:rPr>
              <a:t>T  </a:t>
            </a:r>
            <a:endParaRPr lang="en-US" altLang="zh-CN" sz="2800" b="1" u="none" dirty="0">
              <a:solidFill>
                <a:schemeClr val="tx1"/>
              </a:solidFill>
              <a:latin typeface="Times New Roman" panose="02020603050405020304" pitchFamily="18" charset="0"/>
            </a:endParaRPr>
          </a:p>
          <a:p>
            <a:pPr eaLnBrk="0" hangingPunct="0"/>
            <a:r>
              <a:rPr lang="en-US" altLang="zh-CN" sz="2800" b="1" u="none" dirty="0">
                <a:solidFill>
                  <a:schemeClr val="tx1"/>
                </a:solidFill>
                <a:latin typeface="Times New Roman" panose="02020603050405020304" pitchFamily="18" charset="0"/>
              </a:rPr>
              <a:t>    END</a:t>
            </a:r>
            <a:endParaRPr lang="en-US" altLang="zh-CN" sz="2800" b="1" u="none" dirty="0">
              <a:solidFill>
                <a:schemeClr val="tx1"/>
              </a:solidFill>
              <a:latin typeface="Times New Roman" panose="02020603050405020304" pitchFamily="18" charset="0"/>
            </a:endParaRPr>
          </a:p>
          <a:p>
            <a:pPr eaLnBrk="0" hangingPunct="0"/>
            <a:r>
              <a:rPr lang="en-US" altLang="zh-CN" sz="2800" b="1" u="none" dirty="0">
                <a:solidFill>
                  <a:schemeClr val="tx1"/>
                </a:solidFill>
                <a:latin typeface="Times New Roman" panose="02020603050405020304" pitchFamily="18" charset="0"/>
              </a:rPr>
              <a:t>END</a:t>
            </a:r>
            <a:r>
              <a:rPr lang="zh-CN" altLang="en-US" sz="2800" b="1" u="none" dirty="0">
                <a:solidFill>
                  <a:schemeClr val="tx1"/>
                </a:solidFill>
                <a:latin typeface="Times New Roman" panose="02020603050405020304" pitchFamily="18" charset="0"/>
              </a:rPr>
              <a:t>；</a:t>
            </a:r>
            <a:endParaRPr lang="zh-CN" altLang="en-US" sz="2800" b="1" u="none" dirty="0">
              <a:solidFill>
                <a:schemeClr val="tx1"/>
              </a:solidFill>
              <a:latin typeface="Times New Roman" panose="02020603050405020304" pitchFamily="18"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30052"/>
                                        </p:tgtEl>
                                        <p:attrNameLst>
                                          <p:attrName>style.visibility</p:attrName>
                                        </p:attrNameLst>
                                      </p:cBhvr>
                                      <p:to>
                                        <p:strVal val="visible"/>
                                      </p:to>
                                    </p:set>
                                    <p:animEffect transition="in" filter="wipe(up)">
                                      <p:cBhvr>
                                        <p:cTn id="7" dur="500"/>
                                        <p:tgtEl>
                                          <p:spTgt spid="1300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2"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7"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260100" name="Rectangle 4"/>
          <p:cNvSpPr/>
          <p:nvPr/>
        </p:nvSpPr>
        <p:spPr>
          <a:xfrm>
            <a:off x="1187450" y="2565400"/>
            <a:ext cx="4114800" cy="3887788"/>
          </a:xfrm>
          <a:prstGeom prst="rect">
            <a:avLst/>
          </a:prstGeom>
          <a:noFill/>
          <a:ln w="9525">
            <a:noFill/>
          </a:ln>
        </p:spPr>
        <p:txBody>
          <a:bodyPr anchor="t"/>
          <a:p>
            <a:pPr eaLnBrk="0" hangingPunct="0"/>
            <a:r>
              <a:rPr lang="en-US" altLang="zh-CN" sz="2800" b="1" u="none" dirty="0">
                <a:solidFill>
                  <a:schemeClr val="tx1"/>
                </a:solidFill>
                <a:latin typeface="Times New Roman" panose="02020603050405020304" pitchFamily="18" charset="0"/>
              </a:rPr>
              <a:t>PROCEDURE  T</a:t>
            </a:r>
            <a:r>
              <a:rPr lang="zh-CN" altLang="en-US" sz="2800" b="1" u="none" dirty="0">
                <a:solidFill>
                  <a:schemeClr val="tx1"/>
                </a:solidFill>
                <a:latin typeface="Times New Roman" panose="02020603050405020304" pitchFamily="18" charset="0"/>
              </a:rPr>
              <a:t>；</a:t>
            </a:r>
            <a:endParaRPr lang="zh-CN" altLang="en-US" sz="2800" b="1" u="none" dirty="0">
              <a:solidFill>
                <a:schemeClr val="tx1"/>
              </a:solidFill>
              <a:latin typeface="Times New Roman" panose="02020603050405020304" pitchFamily="18" charset="0"/>
            </a:endParaRPr>
          </a:p>
          <a:p>
            <a:pPr eaLnBrk="0" hangingPunct="0"/>
            <a:r>
              <a:rPr lang="en-US" altLang="zh-CN" sz="2800" b="1" u="none" dirty="0">
                <a:solidFill>
                  <a:schemeClr val="tx1"/>
                </a:solidFill>
                <a:latin typeface="Times New Roman" panose="02020603050405020304" pitchFamily="18" charset="0"/>
              </a:rPr>
              <a:t>BEGIN</a:t>
            </a:r>
            <a:endParaRPr lang="en-US" altLang="zh-CN" sz="2800" b="1" u="none" dirty="0">
              <a:solidFill>
                <a:schemeClr val="tx1"/>
              </a:solidFill>
              <a:latin typeface="Times New Roman" panose="02020603050405020304" pitchFamily="18" charset="0"/>
            </a:endParaRPr>
          </a:p>
          <a:p>
            <a:pPr eaLnBrk="0" hangingPunct="0"/>
            <a:r>
              <a:rPr lang="en-US" altLang="zh-CN" sz="2800" b="1" u="none" dirty="0">
                <a:solidFill>
                  <a:schemeClr val="tx1"/>
                </a:solidFill>
                <a:latin typeface="Times New Roman" panose="02020603050405020304" pitchFamily="18" charset="0"/>
              </a:rPr>
              <a:t>      F</a:t>
            </a:r>
            <a:r>
              <a:rPr lang="zh-CN" altLang="en-US" sz="2800" b="1" u="none" dirty="0">
                <a:solidFill>
                  <a:schemeClr val="tx1"/>
                </a:solidFill>
                <a:latin typeface="Times New Roman" panose="02020603050405020304" pitchFamily="18" charset="0"/>
              </a:rPr>
              <a:t>；</a:t>
            </a:r>
            <a:endParaRPr lang="zh-CN" altLang="en-US" sz="2800" b="1" u="none" dirty="0">
              <a:solidFill>
                <a:schemeClr val="tx1"/>
              </a:solidFill>
              <a:latin typeface="Times New Roman" panose="02020603050405020304" pitchFamily="18" charset="0"/>
            </a:endParaRPr>
          </a:p>
          <a:p>
            <a:pPr eaLnBrk="0" hangingPunct="0"/>
            <a:r>
              <a:rPr lang="zh-CN" altLang="en-US" sz="2800" b="1" u="none" dirty="0">
                <a:solidFill>
                  <a:schemeClr val="tx1"/>
                </a:solidFill>
                <a:latin typeface="Times New Roman" panose="02020603050405020304" pitchFamily="18" charset="0"/>
              </a:rPr>
              <a:t>      </a:t>
            </a:r>
            <a:r>
              <a:rPr lang="en-US" altLang="zh-CN" sz="2800" b="1" u="none" dirty="0">
                <a:solidFill>
                  <a:schemeClr val="tx1"/>
                </a:solidFill>
                <a:latin typeface="Times New Roman" panose="02020603050405020304" pitchFamily="18" charset="0"/>
              </a:rPr>
              <a:t>WHILE SYM=‘*’ DO</a:t>
            </a:r>
            <a:endParaRPr lang="en-US" altLang="zh-CN" sz="2800" b="1" u="none" dirty="0">
              <a:solidFill>
                <a:schemeClr val="tx1"/>
              </a:solidFill>
              <a:latin typeface="Times New Roman" panose="02020603050405020304" pitchFamily="18" charset="0"/>
            </a:endParaRPr>
          </a:p>
          <a:p>
            <a:pPr eaLnBrk="0" hangingPunct="0"/>
            <a:r>
              <a:rPr lang="en-US" altLang="zh-CN" sz="2800" b="1" u="none" dirty="0">
                <a:solidFill>
                  <a:schemeClr val="tx1"/>
                </a:solidFill>
                <a:latin typeface="Times New Roman" panose="02020603050405020304" pitchFamily="18" charset="0"/>
              </a:rPr>
              <a:t>      BEGIN </a:t>
            </a:r>
            <a:endParaRPr lang="en-US" altLang="zh-CN" sz="2800" b="1" u="none" dirty="0">
              <a:solidFill>
                <a:schemeClr val="tx1"/>
              </a:solidFill>
              <a:latin typeface="Times New Roman" panose="02020603050405020304" pitchFamily="18" charset="0"/>
            </a:endParaRPr>
          </a:p>
          <a:p>
            <a:pPr eaLnBrk="0" hangingPunct="0"/>
            <a:r>
              <a:rPr lang="en-US" altLang="zh-CN" sz="2800" b="1" u="none" dirty="0">
                <a:solidFill>
                  <a:schemeClr val="tx1"/>
                </a:solidFill>
                <a:latin typeface="Times New Roman" panose="02020603050405020304" pitchFamily="18" charset="0"/>
              </a:rPr>
              <a:t>           ADVANCE</a:t>
            </a:r>
            <a:r>
              <a:rPr lang="zh-CN" altLang="en-US" sz="2800" b="1" u="none" dirty="0">
                <a:solidFill>
                  <a:schemeClr val="tx1"/>
                </a:solidFill>
                <a:latin typeface="Times New Roman" panose="02020603050405020304" pitchFamily="18" charset="0"/>
              </a:rPr>
              <a:t>；</a:t>
            </a:r>
            <a:endParaRPr lang="zh-CN" altLang="en-US" sz="2800" b="1" u="none" dirty="0">
              <a:solidFill>
                <a:schemeClr val="tx1"/>
              </a:solidFill>
              <a:latin typeface="Times New Roman" panose="02020603050405020304" pitchFamily="18" charset="0"/>
            </a:endParaRPr>
          </a:p>
          <a:p>
            <a:pPr eaLnBrk="0" hangingPunct="0"/>
            <a:r>
              <a:rPr lang="zh-CN" altLang="en-US" sz="2800" b="1" u="none" dirty="0">
                <a:solidFill>
                  <a:schemeClr val="tx1"/>
                </a:solidFill>
                <a:latin typeface="Times New Roman" panose="02020603050405020304" pitchFamily="18" charset="0"/>
              </a:rPr>
              <a:t>           </a:t>
            </a:r>
            <a:r>
              <a:rPr lang="en-US" altLang="zh-CN" sz="2800" b="1" u="none" dirty="0">
                <a:solidFill>
                  <a:schemeClr val="tx1"/>
                </a:solidFill>
                <a:latin typeface="Times New Roman" panose="02020603050405020304" pitchFamily="18" charset="0"/>
              </a:rPr>
              <a:t>F  </a:t>
            </a:r>
            <a:endParaRPr lang="en-US" altLang="zh-CN" sz="2800" b="1" u="none" dirty="0">
              <a:solidFill>
                <a:schemeClr val="tx1"/>
              </a:solidFill>
              <a:latin typeface="Times New Roman" panose="02020603050405020304" pitchFamily="18" charset="0"/>
            </a:endParaRPr>
          </a:p>
          <a:p>
            <a:pPr eaLnBrk="0" hangingPunct="0"/>
            <a:r>
              <a:rPr lang="en-US" altLang="zh-CN" sz="2800" b="1" u="none" dirty="0">
                <a:solidFill>
                  <a:schemeClr val="tx1"/>
                </a:solidFill>
                <a:latin typeface="Times New Roman" panose="02020603050405020304" pitchFamily="18" charset="0"/>
              </a:rPr>
              <a:t>       END</a:t>
            </a:r>
            <a:endParaRPr lang="en-US" altLang="zh-CN" sz="2800" b="1" u="none" dirty="0">
              <a:solidFill>
                <a:schemeClr val="tx1"/>
              </a:solidFill>
              <a:latin typeface="Times New Roman" panose="02020603050405020304" pitchFamily="18" charset="0"/>
            </a:endParaRPr>
          </a:p>
          <a:p>
            <a:pPr eaLnBrk="0" hangingPunct="0"/>
            <a:r>
              <a:rPr lang="en-US" altLang="zh-CN" sz="2800" b="1" u="none" dirty="0">
                <a:solidFill>
                  <a:schemeClr val="tx1"/>
                </a:solidFill>
                <a:latin typeface="Times New Roman" panose="02020603050405020304" pitchFamily="18" charset="0"/>
              </a:rPr>
              <a:t>END</a:t>
            </a:r>
            <a:r>
              <a:rPr lang="zh-CN" altLang="en-US" sz="2800" b="1" u="none" dirty="0">
                <a:solidFill>
                  <a:schemeClr val="tx1"/>
                </a:solidFill>
                <a:latin typeface="Times New Roman" panose="02020603050405020304" pitchFamily="18" charset="0"/>
              </a:rPr>
              <a:t>；</a:t>
            </a:r>
            <a:endParaRPr lang="zh-CN" altLang="en-US" sz="2800" b="1" u="none" dirty="0">
              <a:solidFill>
                <a:schemeClr val="tx1"/>
              </a:solidFill>
              <a:latin typeface="Times New Roman" panose="02020603050405020304" pitchFamily="18" charset="0"/>
            </a:endParaRPr>
          </a:p>
        </p:txBody>
      </p:sp>
      <p:sp>
        <p:nvSpPr>
          <p:cNvPr id="80899" name="Rectangle 7"/>
          <p:cNvSpPr>
            <a:spLocks noGrp="1"/>
          </p:cNvSpPr>
          <p:nvPr>
            <p:ph type="body"/>
          </p:nvPr>
        </p:nvSpPr>
        <p:spPr>
          <a:xfrm>
            <a:off x="685800" y="304800"/>
            <a:ext cx="8134350" cy="2187575"/>
          </a:xfrm>
          <a:ln/>
        </p:spPr>
        <p:txBody>
          <a:bodyPr vert="horz" wrap="square" lIns="91440" tIns="45720" rIns="91440" bIns="45720" anchor="t"/>
          <a:p>
            <a:pPr eaLnBrk="1" hangingPunct="1">
              <a:lnSpc>
                <a:spcPct val="90000"/>
              </a:lnSpc>
            </a:pPr>
            <a:r>
              <a:rPr lang="en-US" altLang="zh-CN" sz="2800" b="1" dirty="0"/>
              <a:t> E→T{+T}</a:t>
            </a:r>
            <a:endParaRPr lang="en-US" altLang="zh-CN" sz="2800" b="1" dirty="0"/>
          </a:p>
          <a:p>
            <a:pPr lvl="1" indent="-436245" eaLnBrk="1" hangingPunct="1">
              <a:lnSpc>
                <a:spcPct val="90000"/>
              </a:lnSpc>
              <a:buNone/>
            </a:pPr>
            <a:r>
              <a:rPr lang="en-US" altLang="zh-CN" sz="3000" b="1" dirty="0"/>
              <a:t>T→F{*F}</a:t>
            </a:r>
            <a:endParaRPr lang="en-US" altLang="zh-CN" sz="3000" b="1" dirty="0"/>
          </a:p>
          <a:p>
            <a:pPr lvl="1" indent="-436245" eaLnBrk="1" hangingPunct="1">
              <a:lnSpc>
                <a:spcPct val="90000"/>
              </a:lnSpc>
              <a:buNone/>
            </a:pPr>
            <a:r>
              <a:rPr lang="en-US" altLang="zh-CN" sz="3000" b="1" dirty="0"/>
              <a:t>F→i | (E)</a:t>
            </a:r>
            <a:r>
              <a:rPr lang="en-US" altLang="zh-CN" b="1" dirty="0"/>
              <a:t>		                 	(4.6)</a:t>
            </a:r>
            <a:endParaRPr lang="en-US" altLang="zh-CN" b="1" dirty="0"/>
          </a:p>
          <a:p>
            <a:pPr eaLnBrk="1" hangingPunct="1">
              <a:lnSpc>
                <a:spcPct val="90000"/>
              </a:lnSpc>
            </a:pPr>
            <a:r>
              <a:rPr lang="zh-CN" altLang="en-US" b="1" dirty="0"/>
              <a:t>可构造一组递归下降分析程序：</a:t>
            </a:r>
            <a:endParaRPr lang="zh-CN" altLang="en-US" b="1"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60100"/>
                                        </p:tgtEl>
                                        <p:attrNameLst>
                                          <p:attrName>style.visibility</p:attrName>
                                        </p:attrNameLst>
                                      </p:cBhvr>
                                      <p:to>
                                        <p:strVal val="visible"/>
                                      </p:to>
                                    </p:set>
                                    <p:animEffect transition="in" filter="wipe(up)">
                                      <p:cBhvr>
                                        <p:cTn id="7" dur="500"/>
                                        <p:tgtEl>
                                          <p:spTgt spid="260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0100"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1"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81922" name="Rectangle 2"/>
          <p:cNvSpPr>
            <a:spLocks noGrp="1"/>
          </p:cNvSpPr>
          <p:nvPr>
            <p:ph type="body"/>
          </p:nvPr>
        </p:nvSpPr>
        <p:spPr>
          <a:xfrm>
            <a:off x="685800" y="304800"/>
            <a:ext cx="7696200" cy="2116138"/>
          </a:xfrm>
          <a:ln/>
        </p:spPr>
        <p:txBody>
          <a:bodyPr vert="horz" wrap="square" lIns="91440" tIns="45720" rIns="91440" bIns="45720" anchor="t"/>
          <a:p>
            <a:pPr eaLnBrk="1" hangingPunct="1">
              <a:lnSpc>
                <a:spcPct val="90000"/>
              </a:lnSpc>
            </a:pPr>
            <a:r>
              <a:rPr lang="en-US" altLang="zh-CN" sz="2800" b="1" dirty="0"/>
              <a:t> E→T{+T}</a:t>
            </a:r>
            <a:endParaRPr lang="en-US" altLang="zh-CN" sz="2800" b="1" dirty="0"/>
          </a:p>
          <a:p>
            <a:pPr lvl="1" indent="-436245" eaLnBrk="1" hangingPunct="1">
              <a:lnSpc>
                <a:spcPct val="90000"/>
              </a:lnSpc>
              <a:buNone/>
            </a:pPr>
            <a:r>
              <a:rPr lang="en-US" altLang="zh-CN" sz="3000" b="1" dirty="0"/>
              <a:t>T→F{*F}</a:t>
            </a:r>
            <a:endParaRPr lang="en-US" altLang="zh-CN" sz="3000" b="1" dirty="0"/>
          </a:p>
          <a:p>
            <a:pPr lvl="1" indent="-436245" eaLnBrk="1" hangingPunct="1">
              <a:lnSpc>
                <a:spcPct val="90000"/>
              </a:lnSpc>
              <a:buNone/>
            </a:pPr>
            <a:r>
              <a:rPr lang="en-US" altLang="zh-CN" sz="3000" b="1" dirty="0"/>
              <a:t>F→i | (E)</a:t>
            </a:r>
            <a:r>
              <a:rPr lang="en-US" altLang="zh-CN" b="1" dirty="0"/>
              <a:t>		                 	(4.6)</a:t>
            </a:r>
            <a:endParaRPr lang="en-US" altLang="zh-CN" b="1" dirty="0"/>
          </a:p>
          <a:p>
            <a:pPr eaLnBrk="1" hangingPunct="1">
              <a:lnSpc>
                <a:spcPct val="90000"/>
              </a:lnSpc>
            </a:pPr>
            <a:r>
              <a:rPr lang="zh-CN" altLang="en-US" b="1" dirty="0"/>
              <a:t>可构造一组递归下降分析程序：</a:t>
            </a:r>
            <a:endParaRPr lang="zh-CN" altLang="en-US" b="1" dirty="0"/>
          </a:p>
          <a:p>
            <a:pPr eaLnBrk="1" hangingPunct="1"/>
            <a:endParaRPr lang="en-US" altLang="zh-CN" b="1" dirty="0"/>
          </a:p>
        </p:txBody>
      </p:sp>
      <p:sp>
        <p:nvSpPr>
          <p:cNvPr id="261126" name="Rectangle 6"/>
          <p:cNvSpPr/>
          <p:nvPr/>
        </p:nvSpPr>
        <p:spPr>
          <a:xfrm>
            <a:off x="971550" y="2781300"/>
            <a:ext cx="7129463" cy="3311525"/>
          </a:xfrm>
          <a:prstGeom prst="rect">
            <a:avLst/>
          </a:prstGeom>
          <a:noFill/>
          <a:ln w="9525">
            <a:noFill/>
          </a:ln>
        </p:spPr>
        <p:txBody>
          <a:bodyPr anchor="t"/>
          <a:p>
            <a:pPr>
              <a:lnSpc>
                <a:spcPct val="80000"/>
              </a:lnSpc>
            </a:pPr>
            <a:r>
              <a:rPr lang="en-US" altLang="zh-CN" sz="2400" b="1" u="none" dirty="0">
                <a:solidFill>
                  <a:schemeClr val="tx1"/>
                </a:solidFill>
                <a:latin typeface="Arial" panose="020B0604020202020204" pitchFamily="34" charset="0"/>
              </a:rPr>
              <a:t>PROCEDURE  F</a:t>
            </a:r>
            <a:r>
              <a:rPr lang="zh-CN" altLang="en-US" sz="2400" b="1" u="none" dirty="0">
                <a:solidFill>
                  <a:schemeClr val="tx1"/>
                </a:solidFill>
                <a:latin typeface="Arial" panose="020B0604020202020204" pitchFamily="34" charset="0"/>
              </a:rPr>
              <a:t>；</a:t>
            </a:r>
            <a:endParaRPr lang="zh-CN" altLang="en-US" sz="2400" b="1" u="none" dirty="0">
              <a:solidFill>
                <a:schemeClr val="tx1"/>
              </a:solidFill>
              <a:latin typeface="Arial" panose="020B0604020202020204" pitchFamily="34" charset="0"/>
            </a:endParaRPr>
          </a:p>
          <a:p>
            <a:pPr>
              <a:lnSpc>
                <a:spcPct val="80000"/>
              </a:lnSpc>
            </a:pPr>
            <a:r>
              <a:rPr lang="zh-CN" altLang="en-US" sz="2400" b="1" u="none" dirty="0">
                <a:solidFill>
                  <a:schemeClr val="tx1"/>
                </a:solidFill>
                <a:latin typeface="Arial" panose="020B0604020202020204" pitchFamily="34" charset="0"/>
              </a:rPr>
              <a:t>   </a:t>
            </a:r>
            <a:r>
              <a:rPr lang="en-US" altLang="zh-CN" sz="2400" b="1" u="none" dirty="0">
                <a:solidFill>
                  <a:schemeClr val="tx1"/>
                </a:solidFill>
                <a:latin typeface="Arial" panose="020B0604020202020204" pitchFamily="34" charset="0"/>
              </a:rPr>
              <a:t>IF SYM=‘i’ THEN ADVANCE</a:t>
            </a:r>
            <a:endParaRPr lang="en-US" altLang="zh-CN" sz="2400" b="1" u="none" dirty="0">
              <a:solidFill>
                <a:schemeClr val="tx1"/>
              </a:solidFill>
              <a:latin typeface="Arial" panose="020B0604020202020204" pitchFamily="34" charset="0"/>
            </a:endParaRPr>
          </a:p>
          <a:p>
            <a:pPr>
              <a:lnSpc>
                <a:spcPct val="80000"/>
              </a:lnSpc>
            </a:pPr>
            <a:r>
              <a:rPr lang="en-US" altLang="zh-CN" sz="2400" b="1" u="none" dirty="0">
                <a:solidFill>
                  <a:schemeClr val="tx1"/>
                </a:solidFill>
                <a:latin typeface="Arial" panose="020B0604020202020204" pitchFamily="34" charset="0"/>
              </a:rPr>
              <a:t>   ELSE</a:t>
            </a:r>
            <a:endParaRPr lang="en-US" altLang="zh-CN" sz="2400" b="1" u="none" dirty="0">
              <a:solidFill>
                <a:schemeClr val="tx1"/>
              </a:solidFill>
              <a:latin typeface="Arial" panose="020B0604020202020204" pitchFamily="34" charset="0"/>
            </a:endParaRPr>
          </a:p>
          <a:p>
            <a:pPr>
              <a:lnSpc>
                <a:spcPct val="80000"/>
              </a:lnSpc>
            </a:pPr>
            <a:r>
              <a:rPr lang="en-US" altLang="zh-CN" sz="2400" b="1" u="none" dirty="0">
                <a:solidFill>
                  <a:schemeClr val="tx1"/>
                </a:solidFill>
                <a:latin typeface="Arial" panose="020B0604020202020204" pitchFamily="34" charset="0"/>
              </a:rPr>
              <a:t>	   IF SYM=‘(’ THEN</a:t>
            </a:r>
            <a:endParaRPr lang="en-US" altLang="zh-CN" sz="2400" b="1" u="none" dirty="0">
              <a:solidFill>
                <a:schemeClr val="tx1"/>
              </a:solidFill>
              <a:latin typeface="Arial" panose="020B0604020202020204" pitchFamily="34" charset="0"/>
            </a:endParaRPr>
          </a:p>
          <a:p>
            <a:pPr>
              <a:lnSpc>
                <a:spcPct val="80000"/>
              </a:lnSpc>
            </a:pPr>
            <a:r>
              <a:rPr lang="en-US" altLang="zh-CN" sz="2400" b="1" u="none" dirty="0">
                <a:solidFill>
                  <a:schemeClr val="tx1"/>
                </a:solidFill>
                <a:latin typeface="Arial" panose="020B0604020202020204" pitchFamily="34" charset="0"/>
              </a:rPr>
              <a:t>	   BEGIN</a:t>
            </a:r>
            <a:endParaRPr lang="en-US" altLang="zh-CN" sz="2400" b="1" u="none" dirty="0">
              <a:solidFill>
                <a:schemeClr val="tx1"/>
              </a:solidFill>
              <a:latin typeface="Arial" panose="020B0604020202020204" pitchFamily="34" charset="0"/>
            </a:endParaRPr>
          </a:p>
          <a:p>
            <a:pPr>
              <a:lnSpc>
                <a:spcPct val="80000"/>
              </a:lnSpc>
            </a:pPr>
            <a:r>
              <a:rPr lang="en-US" altLang="zh-CN" sz="2400" b="1" u="none" dirty="0">
                <a:solidFill>
                  <a:schemeClr val="tx1"/>
                </a:solidFill>
                <a:latin typeface="Arial" panose="020B0604020202020204" pitchFamily="34" charset="0"/>
              </a:rPr>
              <a:t>	       ADVANCE;</a:t>
            </a:r>
            <a:endParaRPr lang="en-US" altLang="zh-CN" sz="2400" b="1" u="none" dirty="0">
              <a:solidFill>
                <a:schemeClr val="tx1"/>
              </a:solidFill>
              <a:latin typeface="Arial" panose="020B0604020202020204" pitchFamily="34" charset="0"/>
            </a:endParaRPr>
          </a:p>
          <a:p>
            <a:pPr>
              <a:lnSpc>
                <a:spcPct val="80000"/>
              </a:lnSpc>
            </a:pPr>
            <a:r>
              <a:rPr lang="en-US" altLang="zh-CN" sz="2400" b="1" u="none" dirty="0">
                <a:solidFill>
                  <a:schemeClr val="tx1"/>
                </a:solidFill>
                <a:latin typeface="Arial" panose="020B0604020202020204" pitchFamily="34" charset="0"/>
              </a:rPr>
              <a:t>		 E</a:t>
            </a:r>
            <a:r>
              <a:rPr lang="zh-CN" altLang="en-US" sz="2400" b="1" u="none" dirty="0">
                <a:solidFill>
                  <a:schemeClr val="tx1"/>
                </a:solidFill>
                <a:latin typeface="Arial" panose="020B0604020202020204" pitchFamily="34" charset="0"/>
              </a:rPr>
              <a:t>；</a:t>
            </a:r>
            <a:endParaRPr lang="zh-CN" altLang="en-US" sz="2400" b="1" u="none" dirty="0">
              <a:solidFill>
                <a:schemeClr val="tx1"/>
              </a:solidFill>
              <a:latin typeface="Arial" panose="020B0604020202020204" pitchFamily="34" charset="0"/>
            </a:endParaRPr>
          </a:p>
          <a:p>
            <a:pPr>
              <a:lnSpc>
                <a:spcPct val="80000"/>
              </a:lnSpc>
            </a:pPr>
            <a:r>
              <a:rPr lang="zh-CN" altLang="en-US" sz="2400" b="1" u="none" dirty="0">
                <a:solidFill>
                  <a:schemeClr val="tx1"/>
                </a:solidFill>
                <a:latin typeface="Arial" panose="020B0604020202020204" pitchFamily="34" charset="0"/>
              </a:rPr>
              <a:t>		 </a:t>
            </a:r>
            <a:r>
              <a:rPr lang="en-US" altLang="zh-CN" sz="2400" b="1" u="none" dirty="0">
                <a:solidFill>
                  <a:schemeClr val="tx1"/>
                </a:solidFill>
                <a:latin typeface="Arial" panose="020B0604020202020204" pitchFamily="34" charset="0"/>
              </a:rPr>
              <a:t>IF SYM=‘)’ THEN ADVANCE</a:t>
            </a:r>
            <a:endParaRPr lang="en-US" altLang="zh-CN" sz="2400" b="1" u="none" dirty="0">
              <a:solidFill>
                <a:schemeClr val="tx1"/>
              </a:solidFill>
              <a:latin typeface="Arial" panose="020B0604020202020204" pitchFamily="34" charset="0"/>
            </a:endParaRPr>
          </a:p>
          <a:p>
            <a:pPr>
              <a:lnSpc>
                <a:spcPct val="80000"/>
              </a:lnSpc>
            </a:pPr>
            <a:r>
              <a:rPr lang="en-US" altLang="zh-CN" sz="2400" b="1" u="none" dirty="0">
                <a:solidFill>
                  <a:schemeClr val="tx1"/>
                </a:solidFill>
                <a:latin typeface="Arial" panose="020B0604020202020204" pitchFamily="34" charset="0"/>
              </a:rPr>
              <a:t>		     ELSE ERROR</a:t>
            </a:r>
            <a:endParaRPr lang="en-US" altLang="zh-CN" sz="2400" b="1" u="none" dirty="0">
              <a:solidFill>
                <a:schemeClr val="tx1"/>
              </a:solidFill>
              <a:latin typeface="Arial" panose="020B0604020202020204" pitchFamily="34" charset="0"/>
            </a:endParaRPr>
          </a:p>
          <a:p>
            <a:pPr>
              <a:lnSpc>
                <a:spcPct val="80000"/>
              </a:lnSpc>
            </a:pPr>
            <a:r>
              <a:rPr lang="en-US" altLang="zh-CN" sz="2400" b="1" u="none" dirty="0">
                <a:solidFill>
                  <a:schemeClr val="tx1"/>
                </a:solidFill>
                <a:latin typeface="Arial" panose="020B0604020202020204" pitchFamily="34" charset="0"/>
              </a:rPr>
              <a:t>	   END</a:t>
            </a:r>
            <a:endParaRPr lang="en-US" altLang="zh-CN" sz="2400" b="1" u="none" dirty="0">
              <a:solidFill>
                <a:schemeClr val="tx1"/>
              </a:solidFill>
              <a:latin typeface="Arial" panose="020B0604020202020204" pitchFamily="34" charset="0"/>
            </a:endParaRPr>
          </a:p>
          <a:p>
            <a:pPr>
              <a:lnSpc>
                <a:spcPct val="80000"/>
              </a:lnSpc>
            </a:pPr>
            <a:r>
              <a:rPr lang="en-US" altLang="zh-CN" sz="2400" b="1" u="none" dirty="0">
                <a:solidFill>
                  <a:schemeClr val="tx1"/>
                </a:solidFill>
                <a:latin typeface="Arial" panose="020B0604020202020204" pitchFamily="34" charset="0"/>
              </a:rPr>
              <a:t>	   ELSE ERROR;</a:t>
            </a:r>
            <a:endParaRPr lang="en-US" altLang="zh-CN" sz="2400" b="1" u="none" dirty="0">
              <a:solidFill>
                <a:schemeClr val="tx1"/>
              </a:solidFill>
              <a:latin typeface="Arial" panose="020B0604020202020204" pitchFamily="34"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261126"/>
                                        </p:tgtEl>
                                        <p:attrNameLst>
                                          <p:attrName>style.visibility</p:attrName>
                                        </p:attrNameLst>
                                      </p:cBhvr>
                                      <p:to>
                                        <p:strVal val="visible"/>
                                      </p:to>
                                    </p:set>
                                    <p:animEffect transition="in" filter="blinds(vertical)">
                                      <p:cBhvr>
                                        <p:cTn id="7" dur="500"/>
                                        <p:tgtEl>
                                          <p:spTgt spid="2611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1126"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5"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249858" name="Rectangle 2"/>
          <p:cNvSpPr/>
          <p:nvPr/>
        </p:nvSpPr>
        <p:spPr>
          <a:xfrm>
            <a:off x="395288" y="1125538"/>
            <a:ext cx="8567737" cy="5486400"/>
          </a:xfrm>
          <a:prstGeom prst="rect">
            <a:avLst/>
          </a:prstGeom>
          <a:noFill/>
          <a:ln w="9525">
            <a:noFill/>
          </a:ln>
        </p:spPr>
        <p:txBody>
          <a:bodyPr anchor="t"/>
          <a:p>
            <a:pPr>
              <a:spcBef>
                <a:spcPct val="20000"/>
              </a:spcBef>
              <a:buClr>
                <a:schemeClr val="bg2"/>
              </a:buClr>
              <a:buSzPct val="75000"/>
              <a:buFont typeface="Wingdings" panose="05000000000000000000" pitchFamily="2" charset="2"/>
            </a:pPr>
            <a:r>
              <a:rPr lang="en-US" altLang="zh-CN" sz="3000" b="1" u="none" dirty="0">
                <a:solidFill>
                  <a:schemeClr val="tx1"/>
                </a:solidFill>
                <a:latin typeface="Times New Roman" panose="02020603050405020304" pitchFamily="18" charset="0"/>
              </a:rPr>
              <a:t>     1. </a:t>
            </a:r>
            <a:r>
              <a:rPr lang="zh-CN" altLang="en-US" sz="3000" b="1" u="none" dirty="0">
                <a:solidFill>
                  <a:schemeClr val="tx1"/>
                </a:solidFill>
                <a:latin typeface="Times New Roman" panose="02020603050405020304" pitchFamily="18" charset="0"/>
              </a:rPr>
              <a:t>文法不含左递归，</a:t>
            </a:r>
            <a:endParaRPr lang="zh-CN" altLang="en-US" sz="3000" b="1" u="none" dirty="0">
              <a:solidFill>
                <a:schemeClr val="tx1"/>
              </a:solidFill>
              <a:latin typeface="Times New Roman" panose="02020603050405020304" pitchFamily="18" charset="0"/>
            </a:endParaRPr>
          </a:p>
          <a:p>
            <a:pPr lvl="1" indent="0" algn="l" eaLnBrk="0" hangingPunct="0">
              <a:spcBef>
                <a:spcPct val="40000"/>
              </a:spcBef>
            </a:pPr>
            <a:r>
              <a:rPr lang="en-US" altLang="zh-CN" sz="3000" b="1" u="none" dirty="0">
                <a:solidFill>
                  <a:schemeClr val="tx1"/>
                </a:solidFill>
                <a:latin typeface="Times New Roman" panose="02020603050405020304" pitchFamily="18" charset="0"/>
              </a:rPr>
              <a:t>2. </a:t>
            </a:r>
            <a:r>
              <a:rPr lang="zh-CN" altLang="en-US" sz="3000" b="1" u="none" dirty="0">
                <a:solidFill>
                  <a:schemeClr val="tx1"/>
                </a:solidFill>
                <a:latin typeface="Times New Roman" panose="02020603050405020304" pitchFamily="18" charset="0"/>
              </a:rPr>
              <a:t>对于文法中每一个非终结符</a:t>
            </a:r>
            <a:r>
              <a:rPr lang="en-US" altLang="zh-CN" sz="3000" b="1" u="none" dirty="0">
                <a:solidFill>
                  <a:schemeClr val="tx1"/>
                </a:solidFill>
                <a:latin typeface="Times New Roman" panose="02020603050405020304" pitchFamily="18" charset="0"/>
              </a:rPr>
              <a:t>A</a:t>
            </a:r>
            <a:r>
              <a:rPr lang="zh-CN" altLang="en-US" sz="3000" b="1" u="none" dirty="0">
                <a:solidFill>
                  <a:schemeClr val="tx1"/>
                </a:solidFill>
                <a:latin typeface="Times New Roman" panose="02020603050405020304" pitchFamily="18" charset="0"/>
              </a:rPr>
              <a:t>的各个产生式的候选首符集两两不相交。即，若</a:t>
            </a:r>
            <a:endParaRPr lang="zh-CN" altLang="en-US" sz="3000" b="1" u="none" dirty="0">
              <a:solidFill>
                <a:schemeClr val="tx1"/>
              </a:solidFill>
              <a:latin typeface="Times New Roman" panose="02020603050405020304" pitchFamily="18" charset="0"/>
            </a:endParaRPr>
          </a:p>
          <a:p>
            <a:pPr lvl="1" indent="0" algn="ctr" eaLnBrk="0" hangingPunct="0"/>
            <a:r>
              <a:rPr lang="en-US" altLang="zh-CN" sz="3000" b="1" u="none" dirty="0">
                <a:solidFill>
                  <a:schemeClr val="tx1"/>
                </a:solidFill>
                <a:latin typeface="Times New Roman" panose="02020603050405020304" pitchFamily="18" charset="0"/>
              </a:rPr>
              <a:t>A→</a:t>
            </a:r>
            <a:r>
              <a:rPr lang="en-US" altLang="zh-CN" sz="3000" b="1" u="none" dirty="0">
                <a:solidFill>
                  <a:schemeClr val="tx1"/>
                </a:solidFill>
                <a:latin typeface="Times New Roman" panose="02020603050405020304" pitchFamily="18" charset="0"/>
                <a:sym typeface="Symbol" panose="05050102010706020507" pitchFamily="18" charset="2"/>
              </a:rPr>
              <a:t></a:t>
            </a:r>
            <a:r>
              <a:rPr lang="en-US" altLang="zh-CN" sz="3000" b="1" u="none" baseline="-25000" dirty="0">
                <a:solidFill>
                  <a:schemeClr val="tx1"/>
                </a:solidFill>
                <a:latin typeface="Times New Roman" panose="02020603050405020304" pitchFamily="18" charset="0"/>
              </a:rPr>
              <a:t> 1</a:t>
            </a:r>
            <a:r>
              <a:rPr lang="en-US" altLang="zh-CN" sz="3000" b="1" u="none" dirty="0">
                <a:solidFill>
                  <a:schemeClr val="tx1"/>
                </a:solidFill>
                <a:latin typeface="Times New Roman" panose="02020603050405020304" pitchFamily="18" charset="0"/>
              </a:rPr>
              <a:t>|</a:t>
            </a:r>
            <a:r>
              <a:rPr lang="en-US" altLang="zh-CN" sz="3000" b="1" u="none" dirty="0">
                <a:solidFill>
                  <a:schemeClr val="tx1"/>
                </a:solidFill>
                <a:latin typeface="Times New Roman" panose="02020603050405020304" pitchFamily="18" charset="0"/>
                <a:sym typeface="Symbol" panose="05050102010706020507" pitchFamily="18" charset="2"/>
              </a:rPr>
              <a:t></a:t>
            </a:r>
            <a:r>
              <a:rPr lang="en-US" altLang="zh-CN" sz="3000" b="1" u="none" baseline="-25000" dirty="0">
                <a:solidFill>
                  <a:schemeClr val="tx1"/>
                </a:solidFill>
                <a:latin typeface="Times New Roman" panose="02020603050405020304" pitchFamily="18" charset="0"/>
              </a:rPr>
              <a:t> 2</a:t>
            </a:r>
            <a:r>
              <a:rPr lang="en-US" altLang="zh-CN" sz="3000" b="1" u="none" dirty="0">
                <a:solidFill>
                  <a:schemeClr val="tx1"/>
                </a:solidFill>
                <a:latin typeface="Times New Roman" panose="02020603050405020304" pitchFamily="18" charset="0"/>
              </a:rPr>
              <a:t>|…|</a:t>
            </a:r>
            <a:r>
              <a:rPr lang="en-US" altLang="zh-CN" sz="3000" b="1" u="none" dirty="0">
                <a:solidFill>
                  <a:schemeClr val="tx1"/>
                </a:solidFill>
                <a:latin typeface="Times New Roman" panose="02020603050405020304" pitchFamily="18" charset="0"/>
                <a:sym typeface="Symbol" panose="05050102010706020507" pitchFamily="18" charset="2"/>
              </a:rPr>
              <a:t></a:t>
            </a:r>
            <a:r>
              <a:rPr lang="en-US" altLang="zh-CN" sz="3000" b="1" u="none" baseline="-25000" dirty="0">
                <a:solidFill>
                  <a:schemeClr val="tx1"/>
                </a:solidFill>
                <a:latin typeface="Times New Roman" panose="02020603050405020304" pitchFamily="18" charset="0"/>
              </a:rPr>
              <a:t> n</a:t>
            </a:r>
            <a:endParaRPr lang="en-US" altLang="zh-CN" sz="3000" b="1" u="none" dirty="0">
              <a:solidFill>
                <a:schemeClr val="tx1"/>
              </a:solidFill>
              <a:latin typeface="Times New Roman" panose="02020603050405020304" pitchFamily="18" charset="0"/>
            </a:endParaRPr>
          </a:p>
          <a:p>
            <a:pPr lvl="1" indent="0" algn="l" eaLnBrk="0" hangingPunct="0"/>
            <a:r>
              <a:rPr lang="en-US" altLang="zh-CN" sz="3000" b="1" u="none" dirty="0">
                <a:solidFill>
                  <a:schemeClr val="tx1"/>
                </a:solidFill>
                <a:latin typeface="Times New Roman" panose="02020603050405020304" pitchFamily="18" charset="0"/>
              </a:rPr>
              <a:t>    </a:t>
            </a:r>
            <a:r>
              <a:rPr lang="zh-CN" altLang="en-US" sz="3000" b="1" u="none" dirty="0">
                <a:solidFill>
                  <a:schemeClr val="tx1"/>
                </a:solidFill>
                <a:latin typeface="Times New Roman" panose="02020603050405020304" pitchFamily="18" charset="0"/>
              </a:rPr>
              <a:t>则  </a:t>
            </a:r>
            <a:r>
              <a:rPr lang="en-US" altLang="zh-CN" sz="3000" b="1" u="none" dirty="0">
                <a:solidFill>
                  <a:schemeClr val="tx1"/>
                </a:solidFill>
                <a:latin typeface="Times New Roman" panose="02020603050405020304" pitchFamily="18" charset="0"/>
              </a:rPr>
              <a:t>FIRST(</a:t>
            </a:r>
            <a:r>
              <a:rPr lang="en-US" altLang="zh-CN" sz="3000" b="1" u="none" dirty="0">
                <a:solidFill>
                  <a:schemeClr val="tx1"/>
                </a:solidFill>
                <a:latin typeface="Times New Roman" panose="02020603050405020304" pitchFamily="18" charset="0"/>
                <a:sym typeface="Symbol" panose="05050102010706020507" pitchFamily="18" charset="2"/>
              </a:rPr>
              <a:t></a:t>
            </a:r>
            <a:r>
              <a:rPr lang="en-US" altLang="zh-CN" sz="3000" b="1" u="none" baseline="-25000" dirty="0">
                <a:solidFill>
                  <a:schemeClr val="tx1"/>
                </a:solidFill>
                <a:latin typeface="Times New Roman" panose="02020603050405020304" pitchFamily="18" charset="0"/>
              </a:rPr>
              <a:t> i</a:t>
            </a:r>
            <a:r>
              <a:rPr lang="en-US" altLang="zh-CN" sz="3000" b="1" u="none" dirty="0">
                <a:solidFill>
                  <a:schemeClr val="tx1"/>
                </a:solidFill>
                <a:latin typeface="Times New Roman" panose="02020603050405020304" pitchFamily="18" charset="0"/>
              </a:rPr>
              <a:t>)</a:t>
            </a:r>
            <a:r>
              <a:rPr lang="en-US" altLang="zh-CN" sz="3000" b="1" u="none" dirty="0">
                <a:solidFill>
                  <a:schemeClr val="tx1"/>
                </a:solidFill>
                <a:latin typeface="宋体" panose="02010600030101010101" pitchFamily="2" charset="-122"/>
              </a:rPr>
              <a:t>∩</a:t>
            </a:r>
            <a:r>
              <a:rPr lang="en-US" altLang="zh-CN" sz="3000" b="1" u="none" dirty="0">
                <a:solidFill>
                  <a:schemeClr val="tx1"/>
                </a:solidFill>
                <a:latin typeface="Times New Roman" panose="02020603050405020304" pitchFamily="18" charset="0"/>
              </a:rPr>
              <a:t>FIRST(</a:t>
            </a:r>
            <a:r>
              <a:rPr lang="en-US" altLang="zh-CN" sz="3000" b="1" u="none" dirty="0">
                <a:solidFill>
                  <a:schemeClr val="tx1"/>
                </a:solidFill>
                <a:latin typeface="Times New Roman" panose="02020603050405020304" pitchFamily="18" charset="0"/>
                <a:sym typeface="Symbol" panose="05050102010706020507" pitchFamily="18" charset="2"/>
              </a:rPr>
              <a:t></a:t>
            </a:r>
            <a:r>
              <a:rPr lang="en-US" altLang="zh-CN" sz="3000" b="1" u="none" baseline="-25000" dirty="0">
                <a:solidFill>
                  <a:schemeClr val="tx1"/>
                </a:solidFill>
                <a:latin typeface="Times New Roman" panose="02020603050405020304" pitchFamily="18" charset="0"/>
              </a:rPr>
              <a:t> j</a:t>
            </a:r>
            <a:r>
              <a:rPr lang="en-US" altLang="zh-CN" sz="3000" b="1" u="none" dirty="0">
                <a:solidFill>
                  <a:schemeClr val="tx1"/>
                </a:solidFill>
                <a:latin typeface="Times New Roman" panose="02020603050405020304" pitchFamily="18" charset="0"/>
              </a:rPr>
              <a:t>)</a:t>
            </a:r>
            <a:r>
              <a:rPr lang="zh-CN" altLang="en-US" sz="3000" b="1" u="none" dirty="0">
                <a:solidFill>
                  <a:schemeClr val="tx1"/>
                </a:solidFill>
                <a:latin typeface="Times New Roman" panose="02020603050405020304" pitchFamily="18" charset="0"/>
              </a:rPr>
              <a:t>＝</a:t>
            </a:r>
            <a:r>
              <a:rPr lang="zh-CN" altLang="en-US" sz="3000" b="1" u="none" dirty="0">
                <a:solidFill>
                  <a:schemeClr val="tx1"/>
                </a:solidFill>
                <a:latin typeface="Times New Roman" panose="02020603050405020304" pitchFamily="18" charset="0"/>
                <a:sym typeface="Symbol" panose="05050102010706020507" pitchFamily="18" charset="2"/>
              </a:rPr>
              <a:t></a:t>
            </a:r>
            <a:r>
              <a:rPr lang="zh-CN" altLang="en-US" sz="3000" b="1" u="none" dirty="0">
                <a:solidFill>
                  <a:schemeClr val="tx1"/>
                </a:solidFill>
                <a:latin typeface="Times New Roman" panose="02020603050405020304" pitchFamily="18" charset="0"/>
              </a:rPr>
              <a:t>	   </a:t>
            </a:r>
            <a:r>
              <a:rPr lang="en-US" altLang="zh-CN" sz="3000" b="1" u="none" dirty="0">
                <a:solidFill>
                  <a:schemeClr val="tx1"/>
                </a:solidFill>
                <a:latin typeface="Times New Roman" panose="02020603050405020304" pitchFamily="18" charset="0"/>
              </a:rPr>
              <a:t>(i</a:t>
            </a:r>
            <a:r>
              <a:rPr lang="en-US" altLang="zh-CN" sz="3000" b="1" u="none" dirty="0">
                <a:solidFill>
                  <a:schemeClr val="tx1"/>
                </a:solidFill>
                <a:latin typeface="Times New Roman" panose="02020603050405020304" pitchFamily="18" charset="0"/>
                <a:sym typeface="Symbol" panose="05050102010706020507" pitchFamily="18" charset="2"/>
              </a:rPr>
              <a:t></a:t>
            </a:r>
            <a:r>
              <a:rPr lang="en-US" altLang="zh-CN" sz="3000" b="1" u="none" dirty="0">
                <a:solidFill>
                  <a:schemeClr val="tx1"/>
                </a:solidFill>
                <a:latin typeface="Times New Roman" panose="02020603050405020304" pitchFamily="18" charset="0"/>
              </a:rPr>
              <a:t>j)</a:t>
            </a:r>
            <a:endParaRPr lang="en-US" altLang="zh-CN" sz="3000" b="1" u="none" dirty="0">
              <a:solidFill>
                <a:schemeClr val="tx1"/>
              </a:solidFill>
              <a:latin typeface="Times New Roman" panose="02020603050405020304" pitchFamily="18" charset="0"/>
            </a:endParaRPr>
          </a:p>
          <a:p>
            <a:pPr lvl="1" indent="0" algn="l" eaLnBrk="0" hangingPunct="0">
              <a:spcBef>
                <a:spcPct val="40000"/>
              </a:spcBef>
            </a:pPr>
            <a:r>
              <a:rPr lang="en-US" altLang="zh-CN" sz="3000" b="1" u="none" dirty="0">
                <a:solidFill>
                  <a:schemeClr val="tx1"/>
                </a:solidFill>
                <a:latin typeface="Times New Roman" panose="02020603050405020304" pitchFamily="18" charset="0"/>
              </a:rPr>
              <a:t>3. </a:t>
            </a:r>
            <a:r>
              <a:rPr lang="zh-CN" altLang="en-US" sz="3000" b="1" u="none" dirty="0">
                <a:solidFill>
                  <a:schemeClr val="tx1"/>
                </a:solidFill>
                <a:latin typeface="Times New Roman" panose="02020603050405020304" pitchFamily="18" charset="0"/>
              </a:rPr>
              <a:t>对文法中的每个非终结符</a:t>
            </a:r>
            <a:r>
              <a:rPr lang="en-US" altLang="zh-CN" sz="3000" b="1" u="none" dirty="0">
                <a:solidFill>
                  <a:schemeClr val="tx1"/>
                </a:solidFill>
                <a:latin typeface="Times New Roman" panose="02020603050405020304" pitchFamily="18" charset="0"/>
              </a:rPr>
              <a:t>A</a:t>
            </a:r>
            <a:r>
              <a:rPr lang="zh-CN" altLang="en-US" sz="3000" b="1" u="none" dirty="0">
                <a:solidFill>
                  <a:schemeClr val="tx1"/>
                </a:solidFill>
                <a:latin typeface="Times New Roman" panose="02020603050405020304" pitchFamily="18" charset="0"/>
              </a:rPr>
              <a:t>，若它存在某个候选首符集包含</a:t>
            </a:r>
            <a:r>
              <a:rPr lang="zh-CN" altLang="en-US" sz="3000" b="1" u="none" dirty="0">
                <a:solidFill>
                  <a:schemeClr val="tx1"/>
                </a:solidFill>
                <a:latin typeface="Times New Roman" panose="02020603050405020304" pitchFamily="18" charset="0"/>
                <a:sym typeface="Symbol" panose="05050102010706020507" pitchFamily="18" charset="2"/>
              </a:rPr>
              <a:t></a:t>
            </a:r>
            <a:r>
              <a:rPr lang="zh-CN" altLang="en-US" sz="3000" b="1" u="none" dirty="0">
                <a:solidFill>
                  <a:schemeClr val="tx1"/>
                </a:solidFill>
                <a:latin typeface="Times New Roman" panose="02020603050405020304" pitchFamily="18" charset="0"/>
              </a:rPr>
              <a:t>，则</a:t>
            </a:r>
            <a:endParaRPr lang="zh-CN" altLang="en-US" sz="3000" b="1" u="none" dirty="0">
              <a:solidFill>
                <a:schemeClr val="tx1"/>
              </a:solidFill>
              <a:latin typeface="Times New Roman" panose="02020603050405020304" pitchFamily="18" charset="0"/>
            </a:endParaRPr>
          </a:p>
          <a:p>
            <a:pPr lvl="1" indent="0" algn="ctr" eaLnBrk="0" hangingPunct="0"/>
            <a:r>
              <a:rPr lang="en-US" altLang="zh-CN" sz="3000" b="1" u="none" dirty="0">
                <a:solidFill>
                  <a:schemeClr val="tx1"/>
                </a:solidFill>
                <a:latin typeface="Times New Roman" panose="02020603050405020304" pitchFamily="18" charset="0"/>
              </a:rPr>
              <a:t>FIRST(</a:t>
            </a:r>
            <a:r>
              <a:rPr lang="en-US" altLang="zh-CN" sz="3000" b="1" u="none" dirty="0">
                <a:solidFill>
                  <a:schemeClr val="tx1"/>
                </a:solidFill>
                <a:latin typeface="Times New Roman" panose="02020603050405020304" pitchFamily="18" charset="0"/>
                <a:sym typeface="Symbol" panose="05050102010706020507" pitchFamily="18" charset="2"/>
              </a:rPr>
              <a:t></a:t>
            </a:r>
            <a:r>
              <a:rPr lang="en-US" altLang="zh-CN" sz="3000" b="1" u="none" baseline="-25000" dirty="0">
                <a:solidFill>
                  <a:schemeClr val="tx1"/>
                </a:solidFill>
                <a:latin typeface="Times New Roman" panose="02020603050405020304" pitchFamily="18" charset="0"/>
              </a:rPr>
              <a:t> i</a:t>
            </a:r>
            <a:r>
              <a:rPr lang="en-US" altLang="zh-CN" sz="3000" b="1" u="none" dirty="0">
                <a:solidFill>
                  <a:schemeClr val="tx1"/>
                </a:solidFill>
                <a:latin typeface="Times New Roman" panose="02020603050405020304" pitchFamily="18" charset="0"/>
              </a:rPr>
              <a:t>)</a:t>
            </a:r>
            <a:r>
              <a:rPr lang="en-US" altLang="zh-CN" sz="3000" b="1" u="none" dirty="0">
                <a:solidFill>
                  <a:schemeClr val="tx1"/>
                </a:solidFill>
                <a:latin typeface="宋体" panose="02010600030101010101" pitchFamily="2" charset="-122"/>
              </a:rPr>
              <a:t>∩</a:t>
            </a:r>
            <a:r>
              <a:rPr lang="en-US" altLang="zh-CN" sz="3000" b="1" u="none" dirty="0">
                <a:solidFill>
                  <a:schemeClr val="tx1"/>
                </a:solidFill>
                <a:latin typeface="Times New Roman" panose="02020603050405020304" pitchFamily="18" charset="0"/>
              </a:rPr>
              <a:t>FOLLOW(A)=</a:t>
            </a:r>
            <a:r>
              <a:rPr lang="en-US" altLang="zh-CN" sz="3000" b="1" u="none" dirty="0">
                <a:solidFill>
                  <a:schemeClr val="tx1"/>
                </a:solidFill>
                <a:latin typeface="Times New Roman" panose="02020603050405020304" pitchFamily="18" charset="0"/>
                <a:sym typeface="Symbol" panose="05050102010706020507" pitchFamily="18" charset="2"/>
              </a:rPr>
              <a:t></a:t>
            </a:r>
            <a:endParaRPr lang="en-US" altLang="zh-CN" sz="3000" b="1" u="none" dirty="0">
              <a:solidFill>
                <a:schemeClr val="tx1"/>
              </a:solidFill>
              <a:latin typeface="Times New Roman" panose="02020603050405020304" pitchFamily="18" charset="0"/>
              <a:sym typeface="Symbol" panose="05050102010706020507" pitchFamily="18" charset="2"/>
            </a:endParaRPr>
          </a:p>
          <a:p>
            <a:pPr lvl="1" indent="0" algn="ctr" eaLnBrk="0" hangingPunct="0"/>
            <a:r>
              <a:rPr lang="en-US" altLang="zh-CN" sz="3000" b="1" u="none" dirty="0">
                <a:solidFill>
                  <a:schemeClr val="tx1"/>
                </a:solidFill>
                <a:latin typeface="Times New Roman" panose="02020603050405020304" pitchFamily="18" charset="0"/>
                <a:sym typeface="Symbol" panose="05050102010706020507" pitchFamily="18" charset="2"/>
              </a:rPr>
              <a:t>i=1,2,...,n</a:t>
            </a:r>
            <a:endParaRPr lang="en-US" altLang="zh-CN" sz="3000" b="1" u="none" dirty="0">
              <a:solidFill>
                <a:schemeClr val="tx1"/>
              </a:solidFill>
              <a:latin typeface="Times New Roman" panose="02020603050405020304" pitchFamily="18" charset="0"/>
              <a:sym typeface="Symbol" panose="05050102010706020507" pitchFamily="18" charset="2"/>
            </a:endParaRPr>
          </a:p>
          <a:p>
            <a:pPr eaLnBrk="0" hangingPunct="0"/>
            <a:r>
              <a:rPr lang="zh-CN" altLang="en-US" sz="3000" b="1" u="none" dirty="0">
                <a:solidFill>
                  <a:schemeClr val="tx1"/>
                </a:solidFill>
                <a:latin typeface="Times New Roman" panose="02020603050405020304" pitchFamily="18" charset="0"/>
              </a:rPr>
              <a:t>如果一个文法</a:t>
            </a:r>
            <a:r>
              <a:rPr lang="en-US" altLang="zh-CN" sz="3000" b="1" u="none" dirty="0">
                <a:solidFill>
                  <a:schemeClr val="tx1"/>
                </a:solidFill>
                <a:latin typeface="Times New Roman" panose="02020603050405020304" pitchFamily="18" charset="0"/>
              </a:rPr>
              <a:t>G</a:t>
            </a:r>
            <a:r>
              <a:rPr lang="zh-CN" altLang="en-US" sz="3000" b="1" u="none" dirty="0">
                <a:solidFill>
                  <a:schemeClr val="tx1"/>
                </a:solidFill>
                <a:latin typeface="Times New Roman" panose="02020603050405020304" pitchFamily="18" charset="0"/>
              </a:rPr>
              <a:t>满足以上条件，则称该文法</a:t>
            </a:r>
            <a:r>
              <a:rPr lang="en-US" altLang="zh-CN" sz="3000" b="1" u="none" dirty="0">
                <a:solidFill>
                  <a:schemeClr val="tx1"/>
                </a:solidFill>
                <a:latin typeface="Times New Roman" panose="02020603050405020304" pitchFamily="18" charset="0"/>
              </a:rPr>
              <a:t>G</a:t>
            </a:r>
            <a:r>
              <a:rPr lang="zh-CN" altLang="en-US" sz="3000" b="1" u="none" dirty="0">
                <a:solidFill>
                  <a:schemeClr val="tx1"/>
                </a:solidFill>
                <a:latin typeface="Times New Roman" panose="02020603050405020304" pitchFamily="18" charset="0"/>
              </a:rPr>
              <a:t>为</a:t>
            </a:r>
            <a:r>
              <a:rPr lang="en-US" altLang="zh-CN" sz="3000" b="1" u="none" dirty="0">
                <a:solidFill>
                  <a:srgbClr val="FF0000"/>
                </a:solidFill>
                <a:latin typeface="黑体" panose="02010609060101010101" pitchFamily="49" charset="-122"/>
                <a:ea typeface="黑体" panose="02010609060101010101" pitchFamily="49" charset="-122"/>
              </a:rPr>
              <a:t>LL(1)</a:t>
            </a:r>
            <a:r>
              <a:rPr lang="zh-CN" altLang="en-US" sz="3000" b="1" u="none" dirty="0">
                <a:solidFill>
                  <a:srgbClr val="FF0000"/>
                </a:solidFill>
                <a:latin typeface="黑体" panose="02010609060101010101" pitchFamily="49" charset="-122"/>
                <a:ea typeface="黑体" panose="02010609060101010101" pitchFamily="49" charset="-122"/>
              </a:rPr>
              <a:t>文法</a:t>
            </a:r>
            <a:r>
              <a:rPr lang="zh-CN" altLang="en-US" sz="3000" b="1" u="none" dirty="0">
                <a:solidFill>
                  <a:schemeClr val="tx1"/>
                </a:solidFill>
                <a:latin typeface="Times New Roman" panose="02020603050405020304" pitchFamily="18" charset="0"/>
              </a:rPr>
              <a:t>。	</a:t>
            </a:r>
            <a:endParaRPr lang="zh-CN" altLang="en-US" sz="3000" b="1" u="none" dirty="0">
              <a:solidFill>
                <a:schemeClr val="tx1"/>
              </a:solidFill>
              <a:latin typeface="Times New Roman" panose="02020603050405020304" pitchFamily="18" charset="0"/>
            </a:endParaRPr>
          </a:p>
        </p:txBody>
      </p:sp>
      <p:sp>
        <p:nvSpPr>
          <p:cNvPr id="82947" name="Rectangle 3"/>
          <p:cNvSpPr/>
          <p:nvPr/>
        </p:nvSpPr>
        <p:spPr>
          <a:xfrm>
            <a:off x="539750" y="188913"/>
            <a:ext cx="8229600" cy="1027112"/>
          </a:xfrm>
          <a:prstGeom prst="rect">
            <a:avLst/>
          </a:prstGeom>
          <a:noFill/>
          <a:ln w="9525">
            <a:noFill/>
          </a:ln>
        </p:spPr>
        <p:txBody>
          <a:bodyPr anchor="ctr"/>
          <a:p>
            <a:r>
              <a:rPr lang="zh-CN" altLang="en-US" sz="4400" b="1" u="none" dirty="0">
                <a:solidFill>
                  <a:schemeClr val="tx1"/>
                </a:solidFill>
                <a:latin typeface="Arial" panose="020B0604020202020204" pitchFamily="34" charset="0"/>
              </a:rPr>
              <a:t>回顾：</a:t>
            </a:r>
            <a:r>
              <a:rPr lang="en-US" altLang="zh-CN" sz="4400" b="1" u="none" dirty="0">
                <a:solidFill>
                  <a:schemeClr val="tx1"/>
                </a:solidFill>
                <a:latin typeface="Arial" panose="020B0604020202020204" pitchFamily="34" charset="0"/>
              </a:rPr>
              <a:t>LL(1)</a:t>
            </a:r>
            <a:r>
              <a:rPr lang="zh-CN" altLang="en-US" sz="4400" b="1" u="none" dirty="0">
                <a:solidFill>
                  <a:schemeClr val="tx1"/>
                </a:solidFill>
                <a:latin typeface="Arial" panose="020B0604020202020204" pitchFamily="34" charset="0"/>
              </a:rPr>
              <a:t>文法条件</a:t>
            </a:r>
            <a:endParaRPr lang="zh-CN" altLang="en-US" sz="4400" b="1" u="none" dirty="0">
              <a:solidFill>
                <a:schemeClr val="tx1"/>
              </a:solidFill>
              <a:latin typeface="Arial" panose="020B0604020202020204" pitchFamily="34"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49858">
                                            <p:txEl>
                                              <p:charRg st="0" end="17"/>
                                            </p:txEl>
                                          </p:spTgt>
                                        </p:tgtEl>
                                        <p:attrNameLst>
                                          <p:attrName>style.visibility</p:attrName>
                                        </p:attrNameLst>
                                      </p:cBhvr>
                                      <p:to>
                                        <p:strVal val="visible"/>
                                      </p:to>
                                    </p:set>
                                    <p:animEffect transition="in" filter="wipe(up)">
                                      <p:cBhvr>
                                        <p:cTn id="7" dur="500"/>
                                        <p:tgtEl>
                                          <p:spTgt spid="249858">
                                            <p:txEl>
                                              <p:charRg st="0" end="17"/>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49858">
                                            <p:txEl>
                                              <p:charRg st="17" end="55"/>
                                            </p:txEl>
                                          </p:spTgt>
                                        </p:tgtEl>
                                        <p:attrNameLst>
                                          <p:attrName>style.visibility</p:attrName>
                                        </p:attrNameLst>
                                      </p:cBhvr>
                                      <p:to>
                                        <p:strVal val="visible"/>
                                      </p:to>
                                    </p:set>
                                    <p:animEffect transition="in" filter="wipe(up)">
                                      <p:cBhvr>
                                        <p:cTn id="12" dur="500"/>
                                        <p:tgtEl>
                                          <p:spTgt spid="249858">
                                            <p:txEl>
                                              <p:charRg st="17" end="55"/>
                                            </p:txEl>
                                          </p:spTgt>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249858">
                                            <p:txEl>
                                              <p:charRg st="55" end="71"/>
                                            </p:txEl>
                                          </p:spTgt>
                                        </p:tgtEl>
                                        <p:attrNameLst>
                                          <p:attrName>style.visibility</p:attrName>
                                        </p:attrNameLst>
                                      </p:cBhvr>
                                      <p:to>
                                        <p:strVal val="visible"/>
                                      </p:to>
                                    </p:set>
                                    <p:animEffect transition="in" filter="wipe(up)">
                                      <p:cBhvr>
                                        <p:cTn id="16" dur="500"/>
                                        <p:tgtEl>
                                          <p:spTgt spid="249858">
                                            <p:txEl>
                                              <p:charRg st="55" end="71"/>
                                            </p:txEl>
                                          </p:spTgt>
                                        </p:tgtEl>
                                      </p:cBhvr>
                                    </p:animEffect>
                                  </p:childTnLst>
                                </p:cTn>
                              </p:par>
                            </p:childTnLst>
                          </p:cTn>
                        </p:par>
                        <p:par>
                          <p:cTn id="17" fill="hold">
                            <p:stCondLst>
                              <p:cond delay="1000"/>
                            </p:stCondLst>
                            <p:childTnLst>
                              <p:par>
                                <p:cTn id="18" presetID="22" presetClass="entr" presetSubtype="1" fill="hold" grpId="0" nodeType="afterEffect">
                                  <p:stCondLst>
                                    <p:cond delay="0"/>
                                  </p:stCondLst>
                                  <p:childTnLst>
                                    <p:set>
                                      <p:cBhvr>
                                        <p:cTn id="19" dur="1" fill="hold">
                                          <p:stCondLst>
                                            <p:cond delay="0"/>
                                          </p:stCondLst>
                                        </p:cTn>
                                        <p:tgtEl>
                                          <p:spTgt spid="249858">
                                            <p:txEl>
                                              <p:charRg st="71" end="111"/>
                                            </p:txEl>
                                          </p:spTgt>
                                        </p:tgtEl>
                                        <p:attrNameLst>
                                          <p:attrName>style.visibility</p:attrName>
                                        </p:attrNameLst>
                                      </p:cBhvr>
                                      <p:to>
                                        <p:strVal val="visible"/>
                                      </p:to>
                                    </p:set>
                                    <p:animEffect transition="in" filter="wipe(up)">
                                      <p:cBhvr>
                                        <p:cTn id="20" dur="500"/>
                                        <p:tgtEl>
                                          <p:spTgt spid="249858">
                                            <p:txEl>
                                              <p:charRg st="71" end="11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249858">
                                            <p:txEl>
                                              <p:charRg st="111" end="144"/>
                                            </p:txEl>
                                          </p:spTgt>
                                        </p:tgtEl>
                                        <p:attrNameLst>
                                          <p:attrName>style.visibility</p:attrName>
                                        </p:attrNameLst>
                                      </p:cBhvr>
                                      <p:to>
                                        <p:strVal val="visible"/>
                                      </p:to>
                                    </p:set>
                                    <p:animEffect transition="in" filter="wipe(up)">
                                      <p:cBhvr>
                                        <p:cTn id="25" dur="500"/>
                                        <p:tgtEl>
                                          <p:spTgt spid="249858">
                                            <p:txEl>
                                              <p:charRg st="111" end="144"/>
                                            </p:txEl>
                                          </p:spTgt>
                                        </p:tgtEl>
                                      </p:cBhvr>
                                    </p:animEffect>
                                  </p:childTnLst>
                                </p:cTn>
                              </p:par>
                            </p:childTnLst>
                          </p:cTn>
                        </p:par>
                        <p:par>
                          <p:cTn id="26" fill="hold">
                            <p:stCondLst>
                              <p:cond delay="500"/>
                            </p:stCondLst>
                            <p:childTnLst>
                              <p:par>
                                <p:cTn id="27" presetID="22" presetClass="entr" presetSubtype="1" fill="hold" grpId="0" nodeType="afterEffect">
                                  <p:stCondLst>
                                    <p:cond delay="0"/>
                                  </p:stCondLst>
                                  <p:childTnLst>
                                    <p:set>
                                      <p:cBhvr>
                                        <p:cTn id="28" dur="1" fill="hold">
                                          <p:stCondLst>
                                            <p:cond delay="0"/>
                                          </p:stCondLst>
                                        </p:cTn>
                                        <p:tgtEl>
                                          <p:spTgt spid="249858">
                                            <p:txEl>
                                              <p:charRg st="144" end="167"/>
                                            </p:txEl>
                                          </p:spTgt>
                                        </p:tgtEl>
                                        <p:attrNameLst>
                                          <p:attrName>style.visibility</p:attrName>
                                        </p:attrNameLst>
                                      </p:cBhvr>
                                      <p:to>
                                        <p:strVal val="visible"/>
                                      </p:to>
                                    </p:set>
                                    <p:animEffect transition="in" filter="wipe(up)">
                                      <p:cBhvr>
                                        <p:cTn id="29" dur="500"/>
                                        <p:tgtEl>
                                          <p:spTgt spid="249858">
                                            <p:txEl>
                                              <p:charRg st="144" end="167"/>
                                            </p:txEl>
                                          </p:spTgt>
                                        </p:tgtEl>
                                      </p:cBhvr>
                                    </p:animEffect>
                                  </p:childTnLst>
                                </p:cTn>
                              </p:par>
                            </p:childTnLst>
                          </p:cTn>
                        </p:par>
                        <p:par>
                          <p:cTn id="30" fill="hold">
                            <p:stCondLst>
                              <p:cond delay="1000"/>
                            </p:stCondLst>
                            <p:childTnLst>
                              <p:par>
                                <p:cTn id="31" presetID="22" presetClass="entr" presetSubtype="1" fill="hold" grpId="0" nodeType="afterEffect">
                                  <p:stCondLst>
                                    <p:cond delay="0"/>
                                  </p:stCondLst>
                                  <p:childTnLst>
                                    <p:set>
                                      <p:cBhvr>
                                        <p:cTn id="32" dur="1" fill="hold">
                                          <p:stCondLst>
                                            <p:cond delay="0"/>
                                          </p:stCondLst>
                                        </p:cTn>
                                        <p:tgtEl>
                                          <p:spTgt spid="249858">
                                            <p:txEl>
                                              <p:charRg st="167" end="179"/>
                                            </p:txEl>
                                          </p:spTgt>
                                        </p:tgtEl>
                                        <p:attrNameLst>
                                          <p:attrName>style.visibility</p:attrName>
                                        </p:attrNameLst>
                                      </p:cBhvr>
                                      <p:to>
                                        <p:strVal val="visible"/>
                                      </p:to>
                                    </p:set>
                                    <p:animEffect transition="in" filter="wipe(up)">
                                      <p:cBhvr>
                                        <p:cTn id="33" dur="500"/>
                                        <p:tgtEl>
                                          <p:spTgt spid="249858">
                                            <p:txEl>
                                              <p:charRg st="167" end="179"/>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249858">
                                            <p:txEl>
                                              <p:charRg st="179" end="210"/>
                                            </p:txEl>
                                          </p:spTgt>
                                        </p:tgtEl>
                                        <p:attrNameLst>
                                          <p:attrName>style.visibility</p:attrName>
                                        </p:attrNameLst>
                                      </p:cBhvr>
                                      <p:to>
                                        <p:strVal val="visible"/>
                                      </p:to>
                                    </p:set>
                                    <p:animEffect transition="in" filter="wipe(up)">
                                      <p:cBhvr>
                                        <p:cTn id="38" dur="500"/>
                                        <p:tgtEl>
                                          <p:spTgt spid="249858">
                                            <p:txEl>
                                              <p:charRg st="179" end="2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858" grpId="0" bldLvl="2"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69"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250882" name="Rectangle 2"/>
          <p:cNvSpPr>
            <a:spLocks noGrp="1"/>
          </p:cNvSpPr>
          <p:nvPr>
            <p:ph type="body"/>
          </p:nvPr>
        </p:nvSpPr>
        <p:spPr>
          <a:xfrm>
            <a:off x="685800" y="1844675"/>
            <a:ext cx="7924800" cy="4251325"/>
          </a:xfrm>
          <a:ln/>
        </p:spPr>
        <p:txBody>
          <a:bodyPr vert="horz" wrap="square" lIns="91440" tIns="45720" rIns="91440" bIns="45720" anchor="t"/>
          <a:p>
            <a:pPr eaLnBrk="1" hangingPunct="1"/>
            <a:r>
              <a:rPr lang="zh-CN" altLang="en-US" b="1" dirty="0">
                <a:latin typeface="宋体" panose="02010600030101010101" pitchFamily="2" charset="-122"/>
              </a:rPr>
              <a:t>分析程序由一组递归过程组成，文法中每个非终结符对应一个过程；所以这样的分析程序称为递归下降分析器。</a:t>
            </a:r>
            <a:r>
              <a:rPr lang="en-US" altLang="zh-CN" b="1" dirty="0">
                <a:latin typeface="宋体" panose="02010600030101010101" pitchFamily="2" charset="-122"/>
              </a:rPr>
              <a:t>(</a:t>
            </a:r>
            <a:r>
              <a:rPr lang="zh-CN" altLang="en-US" b="1" dirty="0">
                <a:latin typeface="宋体" panose="02010600030101010101" pitchFamily="2" charset="-122"/>
              </a:rPr>
              <a:t>因为文法的定义通常是递归的</a:t>
            </a:r>
            <a:r>
              <a:rPr lang="en-US" altLang="zh-CN" b="1" dirty="0">
                <a:latin typeface="宋体" panose="02010600030101010101" pitchFamily="2" charset="-122"/>
              </a:rPr>
              <a:t>)</a:t>
            </a:r>
            <a:endParaRPr lang="en-US" altLang="zh-CN" b="1" dirty="0">
              <a:latin typeface="宋体" panose="02010600030101010101" pitchFamily="2" charset="-122"/>
            </a:endParaRPr>
          </a:p>
          <a:p>
            <a:pPr eaLnBrk="1" hangingPunct="1"/>
            <a:r>
              <a:rPr lang="zh-CN" altLang="en-US" b="1" dirty="0">
                <a:latin typeface="宋体" panose="02010600030101010101" pitchFamily="2" charset="-122"/>
              </a:rPr>
              <a:t>每个非终结符有对应的子程序的定义，首先在分析过程中，当需要从某个非终结符出发进行展开</a:t>
            </a:r>
            <a:r>
              <a:rPr lang="en-US" altLang="zh-CN" b="1" dirty="0">
                <a:latin typeface="宋体" panose="02010600030101010101" pitchFamily="2" charset="-122"/>
              </a:rPr>
              <a:t>(</a:t>
            </a:r>
            <a:r>
              <a:rPr lang="zh-CN" altLang="en-US" b="1" dirty="0">
                <a:latin typeface="宋体" panose="02010600030101010101" pitchFamily="2" charset="-122"/>
              </a:rPr>
              <a:t>推导</a:t>
            </a:r>
            <a:r>
              <a:rPr lang="en-US" altLang="zh-CN" b="1" dirty="0">
                <a:latin typeface="宋体" panose="02010600030101010101" pitchFamily="2" charset="-122"/>
              </a:rPr>
              <a:t>)</a:t>
            </a:r>
            <a:r>
              <a:rPr lang="zh-CN" altLang="en-US" b="1" dirty="0">
                <a:latin typeface="宋体" panose="02010600030101010101" pitchFamily="2" charset="-122"/>
              </a:rPr>
              <a:t>时，就调用这个非终结符对应的子程序。</a:t>
            </a:r>
            <a:endParaRPr lang="zh-CN" altLang="en-US" b="1" dirty="0">
              <a:latin typeface="宋体" panose="02010600030101010101" pitchFamily="2" charset="-122"/>
            </a:endParaRPr>
          </a:p>
        </p:txBody>
      </p:sp>
      <p:sp>
        <p:nvSpPr>
          <p:cNvPr id="83971" name="Rectangle 3"/>
          <p:cNvSpPr/>
          <p:nvPr/>
        </p:nvSpPr>
        <p:spPr>
          <a:xfrm>
            <a:off x="468313" y="404813"/>
            <a:ext cx="8229600" cy="1027112"/>
          </a:xfrm>
          <a:prstGeom prst="rect">
            <a:avLst/>
          </a:prstGeom>
          <a:noFill/>
          <a:ln w="9525">
            <a:noFill/>
          </a:ln>
        </p:spPr>
        <p:txBody>
          <a:bodyPr anchor="ctr"/>
          <a:p>
            <a:r>
              <a:rPr lang="zh-CN" altLang="en-US" sz="4000" b="1" u="none" dirty="0">
                <a:solidFill>
                  <a:schemeClr val="tx1"/>
                </a:solidFill>
                <a:latin typeface="Arial" panose="020B0604020202020204" pitchFamily="34" charset="0"/>
              </a:rPr>
              <a:t>回顾：</a:t>
            </a:r>
            <a:r>
              <a:rPr lang="zh-CN" altLang="en-US" sz="4000" b="1" u="none" dirty="0">
                <a:solidFill>
                  <a:schemeClr val="tx1"/>
                </a:solidFill>
                <a:latin typeface="宋体" panose="02010600030101010101" pitchFamily="2" charset="-122"/>
              </a:rPr>
              <a:t>构造不带回溯的自上而下分析器</a:t>
            </a:r>
            <a:endParaRPr lang="zh-CN" altLang="en-US" sz="4000" b="1" u="none" dirty="0">
              <a:solidFill>
                <a:schemeClr val="tx1"/>
              </a:solidFill>
              <a:latin typeface="宋体" panose="02010600030101010101" pitchFamily="2"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50882">
                                            <p:txEl>
                                              <p:charRg st="0" end="65"/>
                                            </p:txEl>
                                          </p:spTgt>
                                        </p:tgtEl>
                                        <p:attrNameLst>
                                          <p:attrName>style.visibility</p:attrName>
                                        </p:attrNameLst>
                                      </p:cBhvr>
                                      <p:to>
                                        <p:strVal val="visible"/>
                                      </p:to>
                                    </p:set>
                                    <p:animEffect transition="in" filter="wipe(up)">
                                      <p:cBhvr>
                                        <p:cTn id="7" dur="500"/>
                                        <p:tgtEl>
                                          <p:spTgt spid="250882">
                                            <p:txEl>
                                              <p:charRg st="0" end="6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50882">
                                            <p:txEl>
                                              <p:charRg st="65" end="130"/>
                                            </p:txEl>
                                          </p:spTgt>
                                        </p:tgtEl>
                                        <p:attrNameLst>
                                          <p:attrName>style.visibility</p:attrName>
                                        </p:attrNameLst>
                                      </p:cBhvr>
                                      <p:to>
                                        <p:strVal val="visible"/>
                                      </p:to>
                                    </p:set>
                                    <p:animEffect transition="in" filter="wipe(up)">
                                      <p:cBhvr>
                                        <p:cTn id="12" dur="500"/>
                                        <p:tgtEl>
                                          <p:spTgt spid="250882">
                                            <p:txEl>
                                              <p:charRg st="65" end="13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2" grpId="0" bldLvl="2"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3"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84994" name="Rectangle 2"/>
          <p:cNvSpPr>
            <a:spLocks noGrp="1"/>
          </p:cNvSpPr>
          <p:nvPr>
            <p:ph type="title"/>
          </p:nvPr>
        </p:nvSpPr>
        <p:spPr>
          <a:ln/>
        </p:spPr>
        <p:txBody>
          <a:bodyPr vert="horz" wrap="square" lIns="91440" tIns="45720" rIns="91440" bIns="45720" anchor="ctr"/>
          <a:p>
            <a:pPr eaLnBrk="1" hangingPunct="1"/>
            <a:r>
              <a:rPr lang="en-US" altLang="zh-CN" b="1" dirty="0"/>
              <a:t>4.5</a:t>
            </a:r>
            <a:r>
              <a:rPr lang="en-US" altLang="zh-CN" b="1" dirty="0">
                <a:latin typeface="宋体" panose="02010600030101010101" pitchFamily="2" charset="-122"/>
              </a:rPr>
              <a:t>  </a:t>
            </a:r>
            <a:r>
              <a:rPr lang="zh-CN" altLang="en-US" b="1" dirty="0">
                <a:latin typeface="宋体" panose="02010600030101010101" pitchFamily="2" charset="-122"/>
              </a:rPr>
              <a:t>预测分析程序</a:t>
            </a:r>
            <a:endParaRPr lang="zh-CN" altLang="en-US" b="1" dirty="0">
              <a:latin typeface="黑体" panose="02010609060101010101" pitchFamily="49" charset="-122"/>
            </a:endParaRPr>
          </a:p>
        </p:txBody>
      </p:sp>
      <p:sp>
        <p:nvSpPr>
          <p:cNvPr id="132099" name="Rectangle 3"/>
          <p:cNvSpPr>
            <a:spLocks noGrp="1"/>
          </p:cNvSpPr>
          <p:nvPr>
            <p:ph type="body"/>
          </p:nvPr>
        </p:nvSpPr>
        <p:spPr>
          <a:xfrm>
            <a:off x="685800" y="2057400"/>
            <a:ext cx="7924800" cy="4114800"/>
          </a:xfrm>
          <a:ln/>
        </p:spPr>
        <p:txBody>
          <a:bodyPr vert="horz" wrap="square" lIns="91440" tIns="45720" rIns="91440" bIns="45720" anchor="t"/>
          <a:p>
            <a:pPr eaLnBrk="1" hangingPunct="1">
              <a:buNone/>
            </a:pPr>
            <a:r>
              <a:rPr lang="zh-CN" altLang="en-US" b="1" dirty="0"/>
              <a:t>一、预测分析程序工作原理</a:t>
            </a:r>
            <a:endParaRPr lang="zh-CN" altLang="en-US" b="1" dirty="0"/>
          </a:p>
          <a:p>
            <a:pPr eaLnBrk="1" hangingPunct="1"/>
            <a:r>
              <a:rPr lang="zh-CN" altLang="en-US" b="1" dirty="0"/>
              <a:t>预测分析程序或</a:t>
            </a:r>
            <a:r>
              <a:rPr lang="en-US" altLang="zh-CN" b="1" dirty="0"/>
              <a:t>LL(1)</a:t>
            </a:r>
            <a:r>
              <a:rPr lang="zh-CN" altLang="en-US" b="1" dirty="0"/>
              <a:t>分析法：</a:t>
            </a:r>
            <a:endParaRPr lang="zh-CN" altLang="en-US" b="1" dirty="0"/>
          </a:p>
          <a:p>
            <a:pPr lvl="1" indent="-436245" eaLnBrk="1" hangingPunct="1"/>
            <a:r>
              <a:rPr lang="zh-CN" altLang="en-US" b="1" dirty="0"/>
              <a:t>总控程序</a:t>
            </a:r>
            <a:endParaRPr lang="zh-CN" altLang="en-US" b="1" dirty="0"/>
          </a:p>
          <a:p>
            <a:pPr lvl="1" indent="-436245" eaLnBrk="1" hangingPunct="1"/>
            <a:r>
              <a:rPr lang="zh-CN" altLang="en-US" b="1" dirty="0"/>
              <a:t>分析表 </a:t>
            </a:r>
            <a:r>
              <a:rPr lang="en-US" altLang="zh-CN" b="1" dirty="0"/>
              <a:t>M[A</a:t>
            </a:r>
            <a:r>
              <a:rPr lang="zh-CN" altLang="en-US" b="1" dirty="0"/>
              <a:t>，</a:t>
            </a:r>
            <a:r>
              <a:rPr lang="en-US" altLang="zh-CN" b="1" i="1" dirty="0"/>
              <a:t>a</a:t>
            </a:r>
            <a:r>
              <a:rPr lang="en-US" altLang="zh-CN" b="1" dirty="0"/>
              <a:t>]</a:t>
            </a:r>
            <a:r>
              <a:rPr lang="zh-CN" altLang="en-US" b="1" dirty="0"/>
              <a:t>矩阵，</a:t>
            </a:r>
            <a:r>
              <a:rPr lang="en-US" altLang="zh-CN" b="1" dirty="0"/>
              <a:t>A </a:t>
            </a:r>
            <a:r>
              <a:rPr lang="en-US" altLang="zh-CN" b="1" dirty="0">
                <a:sym typeface="Symbol" panose="05050102010706020507" pitchFamily="18" charset="2"/>
              </a:rPr>
              <a:t> </a:t>
            </a:r>
            <a:r>
              <a:rPr lang="en-US" altLang="zh-CN" b="1" dirty="0"/>
              <a:t>V</a:t>
            </a:r>
            <a:r>
              <a:rPr lang="en-US" altLang="zh-CN" b="1" baseline="-25000" dirty="0"/>
              <a:t>N</a:t>
            </a:r>
            <a:r>
              <a:rPr lang="en-US" altLang="zh-CN" b="1" dirty="0"/>
              <a:t> </a:t>
            </a:r>
            <a:r>
              <a:rPr lang="zh-CN" altLang="en-US" b="1" dirty="0"/>
              <a:t>，</a:t>
            </a:r>
            <a:r>
              <a:rPr lang="en-US" altLang="zh-CN" b="1" dirty="0"/>
              <a:t>a </a:t>
            </a:r>
            <a:r>
              <a:rPr lang="en-US" altLang="zh-CN" b="1" dirty="0">
                <a:sym typeface="Symbol" panose="05050102010706020507" pitchFamily="18" charset="2"/>
              </a:rPr>
              <a:t> </a:t>
            </a:r>
            <a:r>
              <a:rPr lang="en-US" altLang="zh-CN" b="1" dirty="0"/>
              <a:t>V</a:t>
            </a:r>
            <a:r>
              <a:rPr lang="en-US" altLang="zh-CN" b="1" baseline="-25000" dirty="0"/>
              <a:t>T </a:t>
            </a:r>
            <a:r>
              <a:rPr lang="zh-CN" altLang="en-US" b="1" dirty="0"/>
              <a:t>是终结符或‘＃’</a:t>
            </a:r>
            <a:r>
              <a:rPr lang="" altLang="en-US" b="1" dirty="0"/>
              <a:t>，</a:t>
            </a:r>
            <a:endParaRPr lang="" altLang="en-US" b="1" dirty="0"/>
          </a:p>
          <a:p>
            <a:pPr lvl="1" indent="-436245" eaLnBrk="1" hangingPunct="1"/>
            <a:r>
              <a:rPr lang="zh-CN" altLang="en-US" b="1" dirty="0"/>
              <a:t>分析栈 </a:t>
            </a:r>
            <a:r>
              <a:rPr lang="en-US" altLang="zh-CN" b="1" dirty="0"/>
              <a:t>STACK  </a:t>
            </a:r>
            <a:r>
              <a:rPr lang="zh-CN" altLang="en-US" b="1" dirty="0"/>
              <a:t>用于存放文法符号</a:t>
            </a:r>
            <a:endParaRPr lang="zh-CN" altLang="en-US" b="1" dirty="0"/>
          </a:p>
          <a:p>
            <a:pPr eaLnBrk="1" hangingPunct="1"/>
            <a:endParaRPr lang="en-US" altLang="zh-CN" b="1"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2099">
                                            <p:txEl>
                                              <p:charRg st="0" end="13"/>
                                            </p:txEl>
                                          </p:spTgt>
                                        </p:tgtEl>
                                        <p:attrNameLst>
                                          <p:attrName>style.visibility</p:attrName>
                                        </p:attrNameLst>
                                      </p:cBhvr>
                                      <p:to>
                                        <p:strVal val="visible"/>
                                      </p:to>
                                    </p:set>
                                    <p:animEffect transition="in" filter="wipe(left)">
                                      <p:cBhvr>
                                        <p:cTn id="7" dur="500"/>
                                        <p:tgtEl>
                                          <p:spTgt spid="132099">
                                            <p:txEl>
                                              <p:charRg st="0" end="13"/>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2099">
                                            <p:txEl>
                                              <p:charRg st="13" end="30"/>
                                            </p:txEl>
                                          </p:spTgt>
                                        </p:tgtEl>
                                        <p:attrNameLst>
                                          <p:attrName>style.visibility</p:attrName>
                                        </p:attrNameLst>
                                      </p:cBhvr>
                                      <p:to>
                                        <p:strVal val="visible"/>
                                      </p:to>
                                    </p:set>
                                    <p:animEffect transition="in" filter="wipe(left)">
                                      <p:cBhvr>
                                        <p:cTn id="12" dur="500"/>
                                        <p:tgtEl>
                                          <p:spTgt spid="132099">
                                            <p:txEl>
                                              <p:charRg st="13" end="3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2099">
                                            <p:txEl>
                                              <p:charRg st="30" end="35"/>
                                            </p:txEl>
                                          </p:spTgt>
                                        </p:tgtEl>
                                        <p:attrNameLst>
                                          <p:attrName>style.visibility</p:attrName>
                                        </p:attrNameLst>
                                      </p:cBhvr>
                                      <p:to>
                                        <p:strVal val="visible"/>
                                      </p:to>
                                    </p:set>
                                    <p:animEffect transition="in" filter="wipe(left)">
                                      <p:cBhvr>
                                        <p:cTn id="17" dur="500"/>
                                        <p:tgtEl>
                                          <p:spTgt spid="132099">
                                            <p:txEl>
                                              <p:charRg st="30" end="3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2099">
                                            <p:txEl>
                                              <p:charRg st="35" end="73"/>
                                            </p:txEl>
                                          </p:spTgt>
                                        </p:tgtEl>
                                        <p:attrNameLst>
                                          <p:attrName>style.visibility</p:attrName>
                                        </p:attrNameLst>
                                      </p:cBhvr>
                                      <p:to>
                                        <p:strVal val="visible"/>
                                      </p:to>
                                    </p:set>
                                    <p:animEffect transition="in" filter="wipe(left)">
                                      <p:cBhvr>
                                        <p:cTn id="22" dur="500"/>
                                        <p:tgtEl>
                                          <p:spTgt spid="132099">
                                            <p:txEl>
                                              <p:charRg st="35" end="7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2099">
                                            <p:txEl>
                                              <p:charRg st="73" end="93"/>
                                            </p:txEl>
                                          </p:spTgt>
                                        </p:tgtEl>
                                        <p:attrNameLst>
                                          <p:attrName>style.visibility</p:attrName>
                                        </p:attrNameLst>
                                      </p:cBhvr>
                                      <p:to>
                                        <p:strVal val="visible"/>
                                      </p:to>
                                    </p:set>
                                    <p:animEffect transition="in" filter="wipe(left)">
                                      <p:cBhvr>
                                        <p:cTn id="27" dur="500"/>
                                        <p:tgtEl>
                                          <p:spTgt spid="132099">
                                            <p:txEl>
                                              <p:charRg st="73" end="9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099" grpId="0" bldLvl="2" build="p"/>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7"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grpSp>
        <p:nvGrpSpPr>
          <p:cNvPr id="2" name="Group 3139"/>
          <p:cNvGrpSpPr/>
          <p:nvPr/>
        </p:nvGrpSpPr>
        <p:grpSpPr>
          <a:xfrm>
            <a:off x="1219200" y="533400"/>
            <a:ext cx="6629400" cy="3429000"/>
            <a:chOff x="768" y="336"/>
            <a:chExt cx="4176" cy="2160"/>
          </a:xfrm>
        </p:grpSpPr>
        <p:grpSp>
          <p:nvGrpSpPr>
            <p:cNvPr id="86019" name="Group 3121"/>
            <p:cNvGrpSpPr/>
            <p:nvPr/>
          </p:nvGrpSpPr>
          <p:grpSpPr>
            <a:xfrm>
              <a:off x="1104" y="1248"/>
              <a:ext cx="1056" cy="768"/>
              <a:chOff x="1199" y="2496"/>
              <a:chExt cx="1056" cy="768"/>
            </a:xfrm>
          </p:grpSpPr>
          <p:sp>
            <p:nvSpPr>
              <p:cNvPr id="86020" name="Rectangle 3114"/>
              <p:cNvSpPr/>
              <p:nvPr/>
            </p:nvSpPr>
            <p:spPr>
              <a:xfrm>
                <a:off x="1199" y="2496"/>
                <a:ext cx="1056" cy="768"/>
              </a:xfrm>
              <a:prstGeom prst="rect">
                <a:avLst/>
              </a:prstGeom>
              <a:noFill/>
              <a:ln w="22225" cap="sq" cmpd="sng">
                <a:solidFill>
                  <a:schemeClr val="tx1"/>
                </a:solidFill>
                <a:prstDash val="solid"/>
                <a:miter/>
                <a:headEnd type="none" w="sm" len="sm"/>
                <a:tailEnd type="none" w="med" len="lg"/>
              </a:ln>
            </p:spPr>
            <p:txBody>
              <a:bodyPr wrap="none" anchor="ctr"/>
              <a:p>
                <a:pPr algn="ctr"/>
                <a:endParaRPr lang="en-US" altLang="zh-CN" sz="2400" b="1" u="none" dirty="0">
                  <a:solidFill>
                    <a:schemeClr val="tx1"/>
                  </a:solidFill>
                  <a:latin typeface="Times New Roman" panose="02020603050405020304" pitchFamily="18" charset="0"/>
                </a:endParaRPr>
              </a:p>
              <a:p>
                <a:pPr algn="ctr">
                  <a:lnSpc>
                    <a:spcPct val="160000"/>
                  </a:lnSpc>
                </a:pPr>
                <a:r>
                  <a:rPr lang="zh-CN" altLang="en-US" sz="2800" b="1" u="none" dirty="0">
                    <a:solidFill>
                      <a:schemeClr val="tx1"/>
                    </a:solidFill>
                    <a:latin typeface="Times New Roman" panose="02020603050405020304" pitchFamily="18" charset="0"/>
                  </a:rPr>
                  <a:t>总控程序</a:t>
                </a:r>
                <a:endParaRPr lang="zh-CN" altLang="en-US" sz="2400" b="1" u="none" dirty="0">
                  <a:solidFill>
                    <a:schemeClr val="tx1"/>
                  </a:solidFill>
                  <a:latin typeface="Times New Roman" panose="02020603050405020304" pitchFamily="18" charset="0"/>
                </a:endParaRPr>
              </a:p>
            </p:txBody>
          </p:sp>
          <p:sp>
            <p:nvSpPr>
              <p:cNvPr id="86021" name="Rectangle 3115"/>
              <p:cNvSpPr/>
              <p:nvPr/>
            </p:nvSpPr>
            <p:spPr>
              <a:xfrm>
                <a:off x="1344" y="2544"/>
                <a:ext cx="768" cy="336"/>
              </a:xfrm>
              <a:prstGeom prst="rect">
                <a:avLst/>
              </a:prstGeom>
              <a:noFill/>
              <a:ln w="22225" cap="sq" cmpd="sng">
                <a:solidFill>
                  <a:schemeClr val="tx1"/>
                </a:solidFill>
                <a:prstDash val="solid"/>
                <a:miter/>
                <a:headEnd type="none" w="sm" len="sm"/>
                <a:tailEnd type="none" w="med" len="lg"/>
              </a:ln>
            </p:spPr>
            <p:txBody>
              <a:bodyPr wrap="none" anchor="ctr"/>
              <a:p>
                <a:pPr algn="ctr"/>
                <a:r>
                  <a:rPr lang="zh-CN" altLang="en-US" sz="2800" b="1" u="none" dirty="0">
                    <a:solidFill>
                      <a:schemeClr val="tx1"/>
                    </a:solidFill>
                    <a:latin typeface="Times New Roman" panose="02020603050405020304" pitchFamily="18" charset="0"/>
                  </a:rPr>
                  <a:t>分析表</a:t>
                </a:r>
                <a:endParaRPr lang="zh-CN" altLang="en-US" sz="2400" b="1" u="none" dirty="0">
                  <a:solidFill>
                    <a:schemeClr val="tx1"/>
                  </a:solidFill>
                  <a:latin typeface="Times New Roman" panose="02020603050405020304" pitchFamily="18" charset="0"/>
                </a:endParaRPr>
              </a:p>
            </p:txBody>
          </p:sp>
        </p:grpSp>
        <p:grpSp>
          <p:nvGrpSpPr>
            <p:cNvPr id="86022" name="Group 3122"/>
            <p:cNvGrpSpPr/>
            <p:nvPr/>
          </p:nvGrpSpPr>
          <p:grpSpPr>
            <a:xfrm>
              <a:off x="3216" y="768"/>
              <a:ext cx="480" cy="1296"/>
              <a:chOff x="3792" y="1632"/>
              <a:chExt cx="480" cy="1296"/>
            </a:xfrm>
          </p:grpSpPr>
          <p:sp>
            <p:nvSpPr>
              <p:cNvPr id="86023" name="Freeform 3116"/>
              <p:cNvSpPr/>
              <p:nvPr/>
            </p:nvSpPr>
            <p:spPr>
              <a:xfrm>
                <a:off x="3792" y="1632"/>
                <a:ext cx="480" cy="1296"/>
              </a:xfrm>
              <a:custGeom>
                <a:avLst/>
                <a:gdLst/>
                <a:ahLst/>
                <a:cxnLst>
                  <a:cxn ang="0">
                    <a:pos x="0" y="48"/>
                  </a:cxn>
                  <a:cxn ang="0">
                    <a:pos x="0" y="1296"/>
                  </a:cxn>
                  <a:cxn ang="0">
                    <a:pos x="480" y="1296"/>
                  </a:cxn>
                  <a:cxn ang="0">
                    <a:pos x="480" y="0"/>
                  </a:cxn>
                </a:cxnLst>
                <a:pathLst>
                  <a:path w="480" h="1296">
                    <a:moveTo>
                      <a:pt x="0" y="48"/>
                    </a:moveTo>
                    <a:lnTo>
                      <a:pt x="0" y="1296"/>
                    </a:lnTo>
                    <a:lnTo>
                      <a:pt x="480" y="1296"/>
                    </a:lnTo>
                    <a:lnTo>
                      <a:pt x="480" y="0"/>
                    </a:lnTo>
                  </a:path>
                </a:pathLst>
              </a:custGeom>
              <a:noFill/>
              <a:ln w="22225" cap="sq" cmpd="sng">
                <a:solidFill>
                  <a:schemeClr val="tx1"/>
                </a:solidFill>
                <a:prstDash val="solid"/>
                <a:round/>
                <a:headEnd type="none" w="sm" len="sm"/>
                <a:tailEnd type="none" w="med" len="lg"/>
              </a:ln>
            </p:spPr>
            <p:txBody>
              <a:bodyPr/>
              <a:p>
                <a:endParaRPr lang="zh-CN" altLang="en-US"/>
              </a:p>
            </p:txBody>
          </p:sp>
          <p:sp>
            <p:nvSpPr>
              <p:cNvPr id="86024" name="Rectangle 3118"/>
              <p:cNvSpPr/>
              <p:nvPr/>
            </p:nvSpPr>
            <p:spPr>
              <a:xfrm>
                <a:off x="3888" y="2112"/>
                <a:ext cx="336" cy="768"/>
              </a:xfrm>
              <a:prstGeom prst="rect">
                <a:avLst/>
              </a:prstGeom>
              <a:noFill/>
              <a:ln w="22225">
                <a:noFill/>
              </a:ln>
            </p:spPr>
            <p:txBody>
              <a:bodyPr wrap="none" anchor="ctr"/>
              <a:p>
                <a:pPr algn="ctr"/>
                <a:r>
                  <a:rPr lang="en-US" altLang="zh-CN" sz="2400" b="1" u="none" dirty="0">
                    <a:solidFill>
                      <a:schemeClr val="tx1"/>
                    </a:solidFill>
                    <a:latin typeface="Times New Roman" panose="02020603050405020304" pitchFamily="18" charset="0"/>
                  </a:rPr>
                  <a:t>X</a:t>
                </a:r>
                <a:endParaRPr lang="en-US" altLang="zh-CN" sz="2400" b="1" u="none" dirty="0">
                  <a:solidFill>
                    <a:schemeClr val="tx1"/>
                  </a:solidFill>
                  <a:latin typeface="Times New Roman" panose="02020603050405020304" pitchFamily="18" charset="0"/>
                </a:endParaRPr>
              </a:p>
              <a:p>
                <a:pPr algn="ctr"/>
                <a:r>
                  <a:rPr lang="en-US" altLang="zh-CN" sz="2400" b="1" u="none" dirty="0">
                    <a:solidFill>
                      <a:schemeClr val="tx1"/>
                    </a:solidFill>
                    <a:latin typeface="Times New Roman" panose="02020603050405020304" pitchFamily="18" charset="0"/>
                    <a:sym typeface="Symbol" panose="05050102010706020507" pitchFamily="18" charset="2"/>
                  </a:rPr>
                  <a:t></a:t>
                </a:r>
                <a:endParaRPr lang="en-US" altLang="zh-CN" sz="2400" b="1" u="none" dirty="0">
                  <a:solidFill>
                    <a:schemeClr val="tx1"/>
                  </a:solidFill>
                  <a:latin typeface="Times New Roman" panose="02020603050405020304" pitchFamily="18" charset="0"/>
                  <a:sym typeface="Symbol" panose="05050102010706020507" pitchFamily="18" charset="2"/>
                </a:endParaRPr>
              </a:p>
              <a:p>
                <a:pPr algn="ctr"/>
                <a:r>
                  <a:rPr lang="en-US" altLang="zh-CN" sz="2400" b="1" u="none" dirty="0">
                    <a:solidFill>
                      <a:schemeClr val="tx1"/>
                    </a:solidFill>
                    <a:latin typeface="Times New Roman" panose="02020603050405020304" pitchFamily="18" charset="0"/>
                    <a:sym typeface="Symbol" panose="05050102010706020507" pitchFamily="18" charset="2"/>
                  </a:rPr>
                  <a:t>#</a:t>
                </a:r>
                <a:endParaRPr lang="en-US" altLang="zh-CN" sz="2400" b="1" u="none" dirty="0">
                  <a:solidFill>
                    <a:schemeClr val="tx1"/>
                  </a:solidFill>
                  <a:latin typeface="Times New Roman" panose="02020603050405020304" pitchFamily="18" charset="0"/>
                </a:endParaRPr>
              </a:p>
            </p:txBody>
          </p:sp>
        </p:grpSp>
        <p:sp>
          <p:nvSpPr>
            <p:cNvPr id="86025" name="Rectangle 3119"/>
            <p:cNvSpPr/>
            <p:nvPr/>
          </p:nvSpPr>
          <p:spPr>
            <a:xfrm>
              <a:off x="1968" y="384"/>
              <a:ext cx="1200" cy="288"/>
            </a:xfrm>
            <a:prstGeom prst="rect">
              <a:avLst/>
            </a:prstGeom>
            <a:noFill/>
            <a:ln w="22225">
              <a:noFill/>
            </a:ln>
          </p:spPr>
          <p:txBody>
            <a:bodyPr wrap="none" anchor="ctr"/>
            <a:p>
              <a:pPr algn="ctr"/>
              <a:r>
                <a:rPr lang="zh-CN" altLang="en-US" sz="2800" b="1" u="none" dirty="0">
                  <a:solidFill>
                    <a:schemeClr val="tx1"/>
                  </a:solidFill>
                  <a:latin typeface="Times New Roman" panose="02020603050405020304" pitchFamily="18" charset="0"/>
                </a:rPr>
                <a:t>输入串</a:t>
              </a:r>
              <a:endParaRPr lang="zh-CN" altLang="en-US" sz="2400" b="1" u="none" dirty="0">
                <a:solidFill>
                  <a:schemeClr val="tx1"/>
                </a:solidFill>
                <a:latin typeface="Times New Roman" panose="02020603050405020304" pitchFamily="18" charset="0"/>
              </a:endParaRPr>
            </a:p>
          </p:txBody>
        </p:sp>
        <p:sp>
          <p:nvSpPr>
            <p:cNvPr id="86026" name="Rectangle 3120"/>
            <p:cNvSpPr/>
            <p:nvPr/>
          </p:nvSpPr>
          <p:spPr>
            <a:xfrm>
              <a:off x="3744" y="1344"/>
              <a:ext cx="1200" cy="288"/>
            </a:xfrm>
            <a:prstGeom prst="rect">
              <a:avLst/>
            </a:prstGeom>
            <a:noFill/>
            <a:ln w="22225">
              <a:noFill/>
            </a:ln>
          </p:spPr>
          <p:txBody>
            <a:bodyPr wrap="none" anchor="ctr"/>
            <a:p>
              <a:pPr algn="ctr"/>
              <a:r>
                <a:rPr lang="zh-CN" altLang="en-US" sz="2800" b="1" u="none" dirty="0">
                  <a:solidFill>
                    <a:schemeClr val="tx1"/>
                  </a:solidFill>
                  <a:latin typeface="Times New Roman" panose="02020603050405020304" pitchFamily="18" charset="0"/>
                </a:rPr>
                <a:t>分析栈</a:t>
              </a:r>
              <a:endParaRPr lang="zh-CN" altLang="en-US" sz="2800" b="1" u="none" dirty="0">
                <a:solidFill>
                  <a:schemeClr val="tx1"/>
                </a:solidFill>
                <a:latin typeface="Times New Roman" panose="02020603050405020304" pitchFamily="18" charset="0"/>
              </a:endParaRPr>
            </a:p>
            <a:p>
              <a:pPr algn="ctr"/>
              <a:r>
                <a:rPr lang="en-US" altLang="zh-CN" sz="2800" b="1" u="none" dirty="0">
                  <a:solidFill>
                    <a:schemeClr val="tx1"/>
                  </a:solidFill>
                  <a:latin typeface="Times New Roman" panose="02020603050405020304" pitchFamily="18" charset="0"/>
                </a:rPr>
                <a:t>STACK</a:t>
              </a:r>
              <a:endParaRPr lang="en-US" altLang="zh-CN" sz="2400" b="1" u="none" dirty="0">
                <a:solidFill>
                  <a:schemeClr val="tx1"/>
                </a:solidFill>
                <a:latin typeface="Times New Roman" panose="02020603050405020304" pitchFamily="18" charset="0"/>
              </a:endParaRPr>
            </a:p>
          </p:txBody>
        </p:sp>
        <p:grpSp>
          <p:nvGrpSpPr>
            <p:cNvPr id="86027" name="Group 3124"/>
            <p:cNvGrpSpPr/>
            <p:nvPr/>
          </p:nvGrpSpPr>
          <p:grpSpPr>
            <a:xfrm>
              <a:off x="768" y="336"/>
              <a:ext cx="1344" cy="384"/>
              <a:chOff x="1104" y="1248"/>
              <a:chExt cx="1344" cy="384"/>
            </a:xfrm>
          </p:grpSpPr>
          <p:sp>
            <p:nvSpPr>
              <p:cNvPr id="86028" name="Rectangle 3117"/>
              <p:cNvSpPr/>
              <p:nvPr/>
            </p:nvSpPr>
            <p:spPr>
              <a:xfrm>
                <a:off x="1200" y="1296"/>
                <a:ext cx="1200" cy="288"/>
              </a:xfrm>
              <a:prstGeom prst="rect">
                <a:avLst/>
              </a:prstGeom>
              <a:noFill/>
              <a:ln w="22225">
                <a:noFill/>
              </a:ln>
            </p:spPr>
            <p:txBody>
              <a:bodyPr wrap="none" anchor="ctr"/>
              <a:p>
                <a:pPr algn="ctr"/>
                <a:r>
                  <a:rPr lang="en-US" altLang="zh-CN" sz="2800" b="1" u="none" dirty="0">
                    <a:solidFill>
                      <a:schemeClr val="tx1"/>
                    </a:solidFill>
                    <a:latin typeface="Times New Roman" panose="02020603050405020304" pitchFamily="18" charset="0"/>
                  </a:rPr>
                  <a:t>a</a:t>
                </a:r>
                <a:r>
                  <a:rPr lang="en-US" altLang="zh-CN" sz="2800" b="1" u="none" baseline="-25000" dirty="0">
                    <a:solidFill>
                      <a:schemeClr val="tx1"/>
                    </a:solidFill>
                    <a:latin typeface="Times New Roman" panose="02020603050405020304" pitchFamily="18" charset="0"/>
                  </a:rPr>
                  <a:t>1</a:t>
                </a:r>
                <a:r>
                  <a:rPr lang="en-US" altLang="zh-CN" sz="2800" b="1" u="none" dirty="0">
                    <a:solidFill>
                      <a:schemeClr val="tx1"/>
                    </a:solidFill>
                    <a:latin typeface="Times New Roman" panose="02020603050405020304" pitchFamily="18" charset="0"/>
                  </a:rPr>
                  <a:t>a</a:t>
                </a:r>
                <a:r>
                  <a:rPr lang="en-US" altLang="zh-CN" sz="2800" b="1" u="none" baseline="-25000" dirty="0">
                    <a:solidFill>
                      <a:schemeClr val="tx1"/>
                    </a:solidFill>
                    <a:latin typeface="Times New Roman" panose="02020603050405020304" pitchFamily="18" charset="0"/>
                  </a:rPr>
                  <a:t>2</a:t>
                </a:r>
                <a:r>
                  <a:rPr lang="en-US" altLang="zh-CN" sz="2800" b="1" u="none" dirty="0">
                    <a:solidFill>
                      <a:schemeClr val="tx1"/>
                    </a:solidFill>
                    <a:latin typeface="Times New Roman" panose="02020603050405020304" pitchFamily="18" charset="0"/>
                  </a:rPr>
                  <a:t>...a</a:t>
                </a:r>
                <a:r>
                  <a:rPr lang="en-US" altLang="zh-CN" sz="2800" b="1" u="none" baseline="-25000" dirty="0">
                    <a:solidFill>
                      <a:schemeClr val="tx1"/>
                    </a:solidFill>
                    <a:latin typeface="Times New Roman" panose="02020603050405020304" pitchFamily="18" charset="0"/>
                  </a:rPr>
                  <a:t>i</a:t>
                </a:r>
                <a:r>
                  <a:rPr lang="en-US" altLang="zh-CN" sz="2800" b="1" u="none" dirty="0">
                    <a:solidFill>
                      <a:schemeClr val="tx1"/>
                    </a:solidFill>
                    <a:latin typeface="Times New Roman" panose="02020603050405020304" pitchFamily="18" charset="0"/>
                  </a:rPr>
                  <a:t>…#</a:t>
                </a:r>
                <a:endParaRPr lang="en-US" altLang="zh-CN" sz="2400" b="1" u="none" dirty="0">
                  <a:solidFill>
                    <a:schemeClr val="tx1"/>
                  </a:solidFill>
                  <a:latin typeface="Times New Roman" panose="02020603050405020304" pitchFamily="18" charset="0"/>
                </a:endParaRPr>
              </a:p>
            </p:txBody>
          </p:sp>
          <p:sp>
            <p:nvSpPr>
              <p:cNvPr id="86029" name="Freeform 3123"/>
              <p:cNvSpPr/>
              <p:nvPr/>
            </p:nvSpPr>
            <p:spPr>
              <a:xfrm>
                <a:off x="1104" y="1248"/>
                <a:ext cx="1344" cy="384"/>
              </a:xfrm>
              <a:custGeom>
                <a:avLst/>
                <a:gdLst/>
                <a:ahLst/>
                <a:cxnLst>
                  <a:cxn ang="0">
                    <a:pos x="0" y="0"/>
                  </a:cxn>
                  <a:cxn ang="0">
                    <a:pos x="1344" y="0"/>
                  </a:cxn>
                  <a:cxn ang="0">
                    <a:pos x="1344" y="439"/>
                  </a:cxn>
                  <a:cxn ang="0">
                    <a:pos x="0" y="439"/>
                  </a:cxn>
                </a:cxnLst>
                <a:pathLst>
                  <a:path w="1344" h="336">
                    <a:moveTo>
                      <a:pt x="0" y="0"/>
                    </a:moveTo>
                    <a:lnTo>
                      <a:pt x="1344" y="0"/>
                    </a:lnTo>
                    <a:lnTo>
                      <a:pt x="1344" y="336"/>
                    </a:lnTo>
                    <a:lnTo>
                      <a:pt x="0" y="336"/>
                    </a:lnTo>
                  </a:path>
                </a:pathLst>
              </a:custGeom>
              <a:noFill/>
              <a:ln w="22225" cap="sq" cmpd="sng">
                <a:solidFill>
                  <a:schemeClr val="tx1"/>
                </a:solidFill>
                <a:prstDash val="solid"/>
                <a:round/>
                <a:headEnd type="none" w="sm" len="sm"/>
                <a:tailEnd type="none" w="med" len="lg"/>
              </a:ln>
            </p:spPr>
            <p:txBody>
              <a:bodyPr/>
              <a:p>
                <a:endParaRPr lang="zh-CN" altLang="en-US"/>
              </a:p>
            </p:txBody>
          </p:sp>
        </p:grpSp>
        <p:sp>
          <p:nvSpPr>
            <p:cNvPr id="86030" name="Line 3125"/>
            <p:cNvSpPr/>
            <p:nvPr/>
          </p:nvSpPr>
          <p:spPr>
            <a:xfrm flipV="1">
              <a:off x="1536" y="720"/>
              <a:ext cx="0" cy="528"/>
            </a:xfrm>
            <a:prstGeom prst="line">
              <a:avLst/>
            </a:prstGeom>
            <a:ln w="22225" cap="sq" cmpd="sng">
              <a:solidFill>
                <a:schemeClr val="tx1"/>
              </a:solidFill>
              <a:prstDash val="solid"/>
              <a:round/>
              <a:headEnd type="none" w="sm" len="sm"/>
              <a:tailEnd type="stealth" w="med" len="lg"/>
            </a:ln>
          </p:spPr>
        </p:sp>
        <p:sp>
          <p:nvSpPr>
            <p:cNvPr id="86031" name="Freeform 3126"/>
            <p:cNvSpPr/>
            <p:nvPr/>
          </p:nvSpPr>
          <p:spPr>
            <a:xfrm>
              <a:off x="2160" y="1344"/>
              <a:ext cx="1056" cy="240"/>
            </a:xfrm>
            <a:custGeom>
              <a:avLst/>
              <a:gdLst/>
              <a:ahLst/>
              <a:cxnLst>
                <a:cxn ang="0">
                  <a:pos x="0" y="240"/>
                </a:cxn>
                <a:cxn ang="0">
                  <a:pos x="288" y="240"/>
                </a:cxn>
                <a:cxn ang="0">
                  <a:pos x="288" y="0"/>
                </a:cxn>
                <a:cxn ang="0">
                  <a:pos x="1056" y="0"/>
                </a:cxn>
              </a:cxnLst>
              <a:pathLst>
                <a:path w="1056" h="240">
                  <a:moveTo>
                    <a:pt x="0" y="240"/>
                  </a:moveTo>
                  <a:lnTo>
                    <a:pt x="288" y="240"/>
                  </a:lnTo>
                  <a:lnTo>
                    <a:pt x="288" y="0"/>
                  </a:lnTo>
                  <a:lnTo>
                    <a:pt x="1056" y="0"/>
                  </a:lnTo>
                </a:path>
              </a:pathLst>
            </a:custGeom>
            <a:noFill/>
            <a:ln w="22225" cap="sq" cmpd="sng">
              <a:solidFill>
                <a:schemeClr val="tx1"/>
              </a:solidFill>
              <a:prstDash val="solid"/>
              <a:round/>
              <a:headEnd type="none" w="sm" len="sm"/>
              <a:tailEnd type="stealth" w="med" len="lg"/>
            </a:ln>
          </p:spPr>
          <p:txBody>
            <a:bodyPr/>
            <a:p>
              <a:endParaRPr lang="zh-CN" altLang="en-US"/>
            </a:p>
          </p:txBody>
        </p:sp>
        <p:sp>
          <p:nvSpPr>
            <p:cNvPr id="86032" name="Rectangle 3127"/>
            <p:cNvSpPr/>
            <p:nvPr/>
          </p:nvSpPr>
          <p:spPr>
            <a:xfrm>
              <a:off x="1392" y="2160"/>
              <a:ext cx="2256" cy="336"/>
            </a:xfrm>
            <a:prstGeom prst="rect">
              <a:avLst/>
            </a:prstGeom>
            <a:noFill/>
            <a:ln w="22225">
              <a:noFill/>
            </a:ln>
          </p:spPr>
          <p:txBody>
            <a:bodyPr wrap="none" anchor="ctr"/>
            <a:p>
              <a:pPr algn="ctr"/>
              <a:r>
                <a:rPr lang="zh-CN" altLang="en-US" sz="2800" b="1" u="none" dirty="0">
                  <a:solidFill>
                    <a:schemeClr val="tx1"/>
                  </a:solidFill>
                  <a:latin typeface="Times New Roman" panose="02020603050405020304" pitchFamily="18" charset="0"/>
                </a:rPr>
                <a:t>预测分析程序的工作图</a:t>
              </a:r>
              <a:endParaRPr lang="zh-CN" altLang="en-US" sz="2400" b="1" u="none" dirty="0">
                <a:solidFill>
                  <a:schemeClr val="tx1"/>
                </a:solidFill>
                <a:latin typeface="Times New Roman" panose="02020603050405020304" pitchFamily="18" charset="0"/>
                <a:ea typeface="黑体" panose="02010609060101010101" pitchFamily="49" charset="-122"/>
              </a:endParaRPr>
            </a:p>
          </p:txBody>
        </p:sp>
      </p:grpSp>
      <p:grpSp>
        <p:nvGrpSpPr>
          <p:cNvPr id="6" name="Group 3140"/>
          <p:cNvGrpSpPr/>
          <p:nvPr/>
        </p:nvGrpSpPr>
        <p:grpSpPr>
          <a:xfrm>
            <a:off x="914400" y="4343400"/>
            <a:ext cx="5867400" cy="1851025"/>
            <a:chOff x="288" y="2818"/>
            <a:chExt cx="3696" cy="1166"/>
          </a:xfrm>
        </p:grpSpPr>
        <p:grpSp>
          <p:nvGrpSpPr>
            <p:cNvPr id="86034" name="Group 3137"/>
            <p:cNvGrpSpPr/>
            <p:nvPr/>
          </p:nvGrpSpPr>
          <p:grpSpPr>
            <a:xfrm>
              <a:off x="1344" y="3168"/>
              <a:ext cx="2640" cy="816"/>
              <a:chOff x="1152" y="2928"/>
              <a:chExt cx="2640" cy="816"/>
            </a:xfrm>
          </p:grpSpPr>
          <p:grpSp>
            <p:nvGrpSpPr>
              <p:cNvPr id="86035" name="Group 3134"/>
              <p:cNvGrpSpPr/>
              <p:nvPr/>
            </p:nvGrpSpPr>
            <p:grpSpPr>
              <a:xfrm>
                <a:off x="1152" y="3312"/>
                <a:ext cx="960" cy="432"/>
                <a:chOff x="1440" y="3456"/>
                <a:chExt cx="960" cy="432"/>
              </a:xfrm>
            </p:grpSpPr>
            <p:sp>
              <p:nvSpPr>
                <p:cNvPr id="86036" name="Freeform 3129"/>
                <p:cNvSpPr/>
                <p:nvPr/>
              </p:nvSpPr>
              <p:spPr>
                <a:xfrm>
                  <a:off x="1440" y="3456"/>
                  <a:ext cx="960" cy="432"/>
                </a:xfrm>
                <a:custGeom>
                  <a:avLst/>
                  <a:gdLst/>
                  <a:ahLst/>
                  <a:cxnLst>
                    <a:cxn ang="0">
                      <a:pos x="960" y="0"/>
                    </a:cxn>
                    <a:cxn ang="0">
                      <a:pos x="0" y="0"/>
                    </a:cxn>
                    <a:cxn ang="0">
                      <a:pos x="0" y="432"/>
                    </a:cxn>
                    <a:cxn ang="0">
                      <a:pos x="960" y="432"/>
                    </a:cxn>
                  </a:cxnLst>
                  <a:pathLst>
                    <a:path w="960" h="432">
                      <a:moveTo>
                        <a:pt x="960" y="0"/>
                      </a:moveTo>
                      <a:lnTo>
                        <a:pt x="0" y="0"/>
                      </a:lnTo>
                      <a:lnTo>
                        <a:pt x="0" y="432"/>
                      </a:lnTo>
                      <a:lnTo>
                        <a:pt x="960" y="432"/>
                      </a:lnTo>
                    </a:path>
                  </a:pathLst>
                </a:custGeom>
                <a:noFill/>
                <a:ln w="22225" cap="sq" cmpd="sng">
                  <a:solidFill>
                    <a:schemeClr val="tx1"/>
                  </a:solidFill>
                  <a:prstDash val="solid"/>
                  <a:round/>
                  <a:headEnd type="none" w="sm" len="sm"/>
                  <a:tailEnd type="none" w="med" len="lg"/>
                </a:ln>
              </p:spPr>
              <p:txBody>
                <a:bodyPr/>
                <a:p>
                  <a:endParaRPr lang="zh-CN" altLang="en-US"/>
                </a:p>
              </p:txBody>
            </p:sp>
            <p:sp>
              <p:nvSpPr>
                <p:cNvPr id="86037" name="Rectangle 3132"/>
                <p:cNvSpPr/>
                <p:nvPr/>
              </p:nvSpPr>
              <p:spPr>
                <a:xfrm>
                  <a:off x="1488" y="3504"/>
                  <a:ext cx="816" cy="336"/>
                </a:xfrm>
                <a:prstGeom prst="rect">
                  <a:avLst/>
                </a:prstGeom>
                <a:noFill/>
                <a:ln w="22225">
                  <a:noFill/>
                </a:ln>
              </p:spPr>
              <p:txBody>
                <a:bodyPr wrap="none" anchor="ctr"/>
                <a:p>
                  <a:r>
                    <a:rPr lang="en-US" altLang="zh-CN" sz="2800" b="1" u="none" dirty="0">
                      <a:solidFill>
                        <a:schemeClr val="tx1"/>
                      </a:solidFill>
                      <a:latin typeface="Times New Roman" panose="02020603050405020304" pitchFamily="18" charset="0"/>
                    </a:rPr>
                    <a:t># S</a:t>
                  </a:r>
                  <a:endParaRPr lang="en-US" altLang="zh-CN" sz="2400" b="1" u="none" dirty="0">
                    <a:solidFill>
                      <a:schemeClr val="tx1"/>
                    </a:solidFill>
                    <a:latin typeface="Times New Roman" panose="02020603050405020304" pitchFamily="18" charset="0"/>
                  </a:endParaRPr>
                </a:p>
              </p:txBody>
            </p:sp>
          </p:grpSp>
          <p:sp>
            <p:nvSpPr>
              <p:cNvPr id="86038" name="Rectangle 3133"/>
              <p:cNvSpPr/>
              <p:nvPr/>
            </p:nvSpPr>
            <p:spPr>
              <a:xfrm>
                <a:off x="2976" y="3360"/>
                <a:ext cx="816" cy="336"/>
              </a:xfrm>
              <a:prstGeom prst="rect">
                <a:avLst/>
              </a:prstGeom>
              <a:noFill/>
              <a:ln w="22225">
                <a:noFill/>
              </a:ln>
            </p:spPr>
            <p:txBody>
              <a:bodyPr wrap="none" anchor="ctr"/>
              <a:p>
                <a:r>
                  <a:rPr lang="en-US" altLang="zh-CN" sz="2800" b="1" u="none" dirty="0">
                    <a:solidFill>
                      <a:schemeClr val="tx1"/>
                    </a:solidFill>
                    <a:latin typeface="Times New Roman" panose="02020603050405020304" pitchFamily="18" charset="0"/>
                  </a:rPr>
                  <a:t>a</a:t>
                </a:r>
                <a:r>
                  <a:rPr lang="en-US" altLang="zh-CN" sz="2800" b="1" u="none" baseline="-25000" dirty="0">
                    <a:solidFill>
                      <a:schemeClr val="tx1"/>
                    </a:solidFill>
                    <a:latin typeface="Times New Roman" panose="02020603050405020304" pitchFamily="18" charset="0"/>
                  </a:rPr>
                  <a:t>1</a:t>
                </a:r>
                <a:r>
                  <a:rPr lang="en-US" altLang="zh-CN" sz="2800" b="1" u="none" dirty="0">
                    <a:solidFill>
                      <a:schemeClr val="tx1"/>
                    </a:solidFill>
                    <a:latin typeface="Times New Roman" panose="02020603050405020304" pitchFamily="18" charset="0"/>
                  </a:rPr>
                  <a:t>a</a:t>
                </a:r>
                <a:r>
                  <a:rPr lang="en-US" altLang="zh-CN" sz="2800" b="1" u="none" baseline="-25000" dirty="0">
                    <a:solidFill>
                      <a:schemeClr val="tx1"/>
                    </a:solidFill>
                    <a:latin typeface="Times New Roman" panose="02020603050405020304" pitchFamily="18" charset="0"/>
                  </a:rPr>
                  <a:t>2</a:t>
                </a:r>
                <a:r>
                  <a:rPr lang="en-US" altLang="zh-CN" sz="2800" b="1" u="none" dirty="0">
                    <a:solidFill>
                      <a:schemeClr val="tx1"/>
                    </a:solidFill>
                    <a:latin typeface="Times New Roman" panose="02020603050405020304" pitchFamily="18" charset="0"/>
                  </a:rPr>
                  <a:t>...a</a:t>
                </a:r>
                <a:r>
                  <a:rPr lang="en-US" altLang="zh-CN" sz="2800" b="1" u="none" baseline="-25000" dirty="0">
                    <a:solidFill>
                      <a:schemeClr val="tx1"/>
                    </a:solidFill>
                    <a:latin typeface="Times New Roman" panose="02020603050405020304" pitchFamily="18" charset="0"/>
                  </a:rPr>
                  <a:t>i</a:t>
                </a:r>
                <a:r>
                  <a:rPr lang="en-US" altLang="zh-CN" sz="2800" b="1" u="none" dirty="0">
                    <a:solidFill>
                      <a:schemeClr val="tx1"/>
                    </a:solidFill>
                    <a:latin typeface="Times New Roman" panose="02020603050405020304" pitchFamily="18" charset="0"/>
                  </a:rPr>
                  <a:t>…#</a:t>
                </a:r>
                <a:endParaRPr lang="en-US" altLang="zh-CN" sz="2800" b="1" u="none" dirty="0">
                  <a:solidFill>
                    <a:schemeClr val="tx1"/>
                  </a:solidFill>
                  <a:latin typeface="Times New Roman" panose="02020603050405020304" pitchFamily="18" charset="0"/>
                </a:endParaRPr>
              </a:p>
            </p:txBody>
          </p:sp>
          <p:sp>
            <p:nvSpPr>
              <p:cNvPr id="86039" name="Line 3135"/>
              <p:cNvSpPr/>
              <p:nvPr/>
            </p:nvSpPr>
            <p:spPr>
              <a:xfrm>
                <a:off x="1488" y="2928"/>
                <a:ext cx="0" cy="384"/>
              </a:xfrm>
              <a:prstGeom prst="line">
                <a:avLst/>
              </a:prstGeom>
              <a:ln w="22225" cap="sq" cmpd="sng">
                <a:solidFill>
                  <a:schemeClr val="tx1"/>
                </a:solidFill>
                <a:prstDash val="solid"/>
                <a:round/>
                <a:headEnd type="none" w="sm" len="sm"/>
                <a:tailEnd type="stealth" w="med" len="lg"/>
              </a:ln>
            </p:spPr>
          </p:sp>
          <p:sp>
            <p:nvSpPr>
              <p:cNvPr id="86040" name="Line 3136"/>
              <p:cNvSpPr/>
              <p:nvPr/>
            </p:nvSpPr>
            <p:spPr>
              <a:xfrm>
                <a:off x="3072" y="2976"/>
                <a:ext cx="0" cy="384"/>
              </a:xfrm>
              <a:prstGeom prst="line">
                <a:avLst/>
              </a:prstGeom>
              <a:ln w="22225" cap="sq" cmpd="sng">
                <a:solidFill>
                  <a:schemeClr val="tx1"/>
                </a:solidFill>
                <a:prstDash val="solid"/>
                <a:round/>
                <a:headEnd type="none" w="sm" len="sm"/>
                <a:tailEnd type="stealth" w="med" len="lg"/>
              </a:ln>
            </p:spPr>
          </p:sp>
        </p:grpSp>
        <p:sp>
          <p:nvSpPr>
            <p:cNvPr id="86041" name="Rectangle 3138"/>
            <p:cNvSpPr/>
            <p:nvPr/>
          </p:nvSpPr>
          <p:spPr>
            <a:xfrm>
              <a:off x="288" y="2818"/>
              <a:ext cx="1472" cy="327"/>
            </a:xfrm>
            <a:prstGeom prst="rect">
              <a:avLst/>
            </a:prstGeom>
            <a:noFill/>
            <a:ln w="22225">
              <a:noFill/>
            </a:ln>
          </p:spPr>
          <p:txBody>
            <a:bodyPr wrap="none" anchor="t">
              <a:spAutoFit/>
            </a:bodyPr>
            <a:p>
              <a:r>
                <a:rPr lang="zh-CN" altLang="en-US" sz="2800" b="1" u="none" dirty="0">
                  <a:solidFill>
                    <a:schemeClr val="tx1"/>
                  </a:solidFill>
                  <a:latin typeface="Times New Roman" panose="02020603050405020304" pitchFamily="18" charset="0"/>
                </a:rPr>
                <a:t>分析开始时：</a:t>
              </a:r>
              <a:endParaRPr lang="zh-CN" altLang="en-US" sz="2800" b="1" u="none" dirty="0">
                <a:solidFill>
                  <a:schemeClr val="tx1"/>
                </a:solidFill>
                <a:latin typeface="Times New Roman" panose="02020603050405020304" pitchFamily="18" charset="0"/>
              </a:endParaRPr>
            </a:p>
          </p:txBody>
        </p:sp>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To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slide(fromBottom)">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1"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134149" name="Rectangle 5"/>
          <p:cNvSpPr/>
          <p:nvPr/>
        </p:nvSpPr>
        <p:spPr>
          <a:xfrm>
            <a:off x="685800" y="1752600"/>
            <a:ext cx="8077200" cy="4114800"/>
          </a:xfrm>
          <a:prstGeom prst="rect">
            <a:avLst/>
          </a:prstGeom>
          <a:noFill/>
          <a:ln w="9525">
            <a:noFill/>
          </a:ln>
        </p:spPr>
        <p:txBody>
          <a:bodyPr lIns="92075" tIns="46038" rIns="92075" bIns="46038" anchor="t"/>
          <a:p>
            <a:pPr marL="288925" indent="-288925" eaLnBrk="0" hangingPunct="0">
              <a:buClr>
                <a:schemeClr val="accent2"/>
              </a:buClr>
              <a:buFont typeface="Wingdings" panose="05000000000000000000" pitchFamily="2" charset="2"/>
              <a:buChar char="q"/>
            </a:pPr>
            <a:r>
              <a:rPr lang="zh-CN" altLang="en-US" sz="3200" b="1" u="none" dirty="0">
                <a:solidFill>
                  <a:schemeClr val="tx1"/>
                </a:solidFill>
                <a:latin typeface="Times New Roman" panose="02020603050405020304" pitchFamily="18" charset="0"/>
              </a:rPr>
              <a:t>总控程序根据现行栈顶符号</a:t>
            </a:r>
            <a:r>
              <a:rPr lang="en-US" altLang="zh-CN" sz="3200" b="1" u="none" dirty="0">
                <a:solidFill>
                  <a:schemeClr val="tx1"/>
                </a:solidFill>
                <a:latin typeface="Times New Roman" panose="02020603050405020304" pitchFamily="18" charset="0"/>
              </a:rPr>
              <a:t>X</a:t>
            </a:r>
            <a:r>
              <a:rPr lang="zh-CN" altLang="en-US" sz="3200" b="1" u="none" dirty="0">
                <a:solidFill>
                  <a:schemeClr val="tx1"/>
                </a:solidFill>
                <a:latin typeface="Times New Roman" panose="02020603050405020304" pitchFamily="18" charset="0"/>
              </a:rPr>
              <a:t>和当前输入符号</a:t>
            </a:r>
            <a:r>
              <a:rPr lang="en-US" altLang="zh-CN" sz="3200" b="1" i="1" u="none" dirty="0">
                <a:solidFill>
                  <a:schemeClr val="tx1"/>
                </a:solidFill>
                <a:latin typeface="Times New Roman" panose="02020603050405020304" pitchFamily="18" charset="0"/>
              </a:rPr>
              <a:t>a</a:t>
            </a:r>
            <a:r>
              <a:rPr lang="zh-CN" altLang="en-US" sz="3200" b="1" u="none" dirty="0">
                <a:solidFill>
                  <a:schemeClr val="tx1"/>
                </a:solidFill>
                <a:latin typeface="Times New Roman" panose="02020603050405020304" pitchFamily="18" charset="0"/>
              </a:rPr>
              <a:t>，执行下列三种动作之一</a:t>
            </a:r>
            <a:r>
              <a:rPr lang="en-US" altLang="zh-CN" sz="3200" b="1" u="none" dirty="0">
                <a:solidFill>
                  <a:schemeClr val="tx1"/>
                </a:solidFill>
                <a:latin typeface="Times New Roman" panose="02020603050405020304" pitchFamily="18" charset="0"/>
              </a:rPr>
              <a:t>:</a:t>
            </a:r>
            <a:endParaRPr lang="en-US" altLang="zh-CN" sz="3200" b="1" u="none" dirty="0">
              <a:solidFill>
                <a:schemeClr val="tx1"/>
              </a:solidFill>
              <a:latin typeface="Times New Roman" panose="02020603050405020304" pitchFamily="18" charset="0"/>
            </a:endParaRPr>
          </a:p>
          <a:p>
            <a:pPr marL="479425" lvl="1" indent="0" algn="l" eaLnBrk="0" hangingPunct="0">
              <a:spcBef>
                <a:spcPct val="65000"/>
              </a:spcBef>
            </a:pPr>
            <a:r>
              <a:rPr lang="en-US" altLang="zh-CN" sz="3200" b="1" u="none" dirty="0">
                <a:solidFill>
                  <a:schemeClr val="tx1"/>
                </a:solidFill>
                <a:latin typeface="Times New Roman" panose="02020603050405020304" pitchFamily="18" charset="0"/>
              </a:rPr>
              <a:t>1. </a:t>
            </a:r>
            <a:r>
              <a:rPr lang="zh-CN" altLang="en-US" sz="3200" b="1" u="none" dirty="0">
                <a:solidFill>
                  <a:schemeClr val="tx1"/>
                </a:solidFill>
                <a:latin typeface="Times New Roman" panose="02020603050405020304" pitchFamily="18" charset="0"/>
              </a:rPr>
              <a:t>若</a:t>
            </a:r>
            <a:r>
              <a:rPr lang="en-US" altLang="zh-CN" sz="3200" b="1" u="none" dirty="0">
                <a:solidFill>
                  <a:schemeClr val="tx1"/>
                </a:solidFill>
                <a:latin typeface="Times New Roman" panose="02020603050405020304" pitchFamily="18" charset="0"/>
              </a:rPr>
              <a:t>X</a:t>
            </a:r>
            <a:r>
              <a:rPr lang="zh-CN" altLang="en-US" sz="3200" b="1" u="none" dirty="0">
                <a:solidFill>
                  <a:schemeClr val="tx1"/>
                </a:solidFill>
                <a:latin typeface="Times New Roman" panose="02020603050405020304" pitchFamily="18" charset="0"/>
              </a:rPr>
              <a:t>＝</a:t>
            </a:r>
            <a:r>
              <a:rPr lang="en-US" altLang="zh-CN" sz="3200" b="1" u="none" dirty="0">
                <a:solidFill>
                  <a:schemeClr val="tx1"/>
                </a:solidFill>
                <a:latin typeface="Times New Roman" panose="02020603050405020304" pitchFamily="18" charset="0"/>
              </a:rPr>
              <a:t>a</a:t>
            </a:r>
            <a:r>
              <a:rPr lang="zh-CN" altLang="en-US" sz="3200" b="1" u="none" dirty="0">
                <a:solidFill>
                  <a:schemeClr val="tx1"/>
                </a:solidFill>
                <a:latin typeface="Times New Roman" panose="02020603050405020304" pitchFamily="18" charset="0"/>
              </a:rPr>
              <a:t>＝‘＃’，则宣布分析成功，停止分析。</a:t>
            </a:r>
            <a:endParaRPr lang="zh-CN" altLang="en-US" sz="3200" b="1" u="none" dirty="0">
              <a:solidFill>
                <a:schemeClr val="tx1"/>
              </a:solidFill>
              <a:latin typeface="Times New Roman" panose="02020603050405020304" pitchFamily="18" charset="0"/>
            </a:endParaRPr>
          </a:p>
          <a:p>
            <a:pPr marL="479425" lvl="1" indent="0" algn="l" eaLnBrk="0" hangingPunct="0">
              <a:spcBef>
                <a:spcPct val="65000"/>
              </a:spcBef>
            </a:pPr>
            <a:r>
              <a:rPr lang="en-US" altLang="zh-CN" sz="3200" b="1" u="none" dirty="0">
                <a:solidFill>
                  <a:schemeClr val="tx1"/>
                </a:solidFill>
                <a:latin typeface="Times New Roman" panose="02020603050405020304" pitchFamily="18" charset="0"/>
              </a:rPr>
              <a:t>2. </a:t>
            </a:r>
            <a:r>
              <a:rPr lang="zh-CN" altLang="en-US" sz="3200" b="1" u="none" dirty="0">
                <a:solidFill>
                  <a:schemeClr val="tx1"/>
                </a:solidFill>
                <a:latin typeface="Times New Roman" panose="02020603050405020304" pitchFamily="18" charset="0"/>
              </a:rPr>
              <a:t>若</a:t>
            </a:r>
            <a:r>
              <a:rPr lang="en-US" altLang="zh-CN" sz="3200" b="1" u="none" dirty="0">
                <a:solidFill>
                  <a:schemeClr val="tx1"/>
                </a:solidFill>
                <a:latin typeface="Times New Roman" panose="02020603050405020304" pitchFamily="18" charset="0"/>
              </a:rPr>
              <a:t>X</a:t>
            </a:r>
            <a:r>
              <a:rPr lang="zh-CN" altLang="en-US" sz="3200" b="1" u="none" dirty="0">
                <a:solidFill>
                  <a:schemeClr val="tx1"/>
                </a:solidFill>
                <a:latin typeface="Times New Roman" panose="02020603050405020304" pitchFamily="18" charset="0"/>
              </a:rPr>
              <a:t>＝</a:t>
            </a:r>
            <a:r>
              <a:rPr lang="en-US" altLang="zh-CN" sz="3200" b="1" u="none" dirty="0">
                <a:solidFill>
                  <a:schemeClr val="tx1"/>
                </a:solidFill>
                <a:latin typeface="Times New Roman" panose="02020603050405020304" pitchFamily="18" charset="0"/>
              </a:rPr>
              <a:t>a </a:t>
            </a:r>
            <a:r>
              <a:rPr lang="en-US" altLang="zh-CN" sz="3200" b="1" u="none" dirty="0">
                <a:solidFill>
                  <a:schemeClr val="tx1"/>
                </a:solidFill>
                <a:latin typeface="Times New Roman" panose="02020603050405020304" pitchFamily="18" charset="0"/>
                <a:sym typeface="Symbol" panose="05050102010706020507" pitchFamily="18" charset="2"/>
              </a:rPr>
              <a:t></a:t>
            </a:r>
            <a:r>
              <a:rPr lang="en-US" altLang="zh-CN" sz="3200" b="1" u="none" dirty="0">
                <a:solidFill>
                  <a:schemeClr val="tx1"/>
                </a:solidFill>
                <a:latin typeface="Times New Roman" panose="02020603050405020304" pitchFamily="18" charset="0"/>
              </a:rPr>
              <a:t>‘</a:t>
            </a:r>
            <a:r>
              <a:rPr lang="zh-CN" altLang="en-US" sz="3200" b="1" u="none" dirty="0">
                <a:solidFill>
                  <a:schemeClr val="tx1"/>
                </a:solidFill>
                <a:latin typeface="Times New Roman" panose="02020603050405020304" pitchFamily="18" charset="0"/>
              </a:rPr>
              <a:t>＃’，则把</a:t>
            </a:r>
            <a:r>
              <a:rPr lang="en-US" altLang="zh-CN" sz="3200" b="1" u="none" dirty="0">
                <a:solidFill>
                  <a:schemeClr val="tx1"/>
                </a:solidFill>
                <a:latin typeface="Times New Roman" panose="02020603050405020304" pitchFamily="18" charset="0"/>
              </a:rPr>
              <a:t>X</a:t>
            </a:r>
            <a:r>
              <a:rPr lang="zh-CN" altLang="en-US" sz="3200" b="1" u="none" dirty="0">
                <a:solidFill>
                  <a:schemeClr val="tx1"/>
                </a:solidFill>
                <a:latin typeface="Times New Roman" panose="02020603050405020304" pitchFamily="18" charset="0"/>
              </a:rPr>
              <a:t>从</a:t>
            </a:r>
            <a:r>
              <a:rPr lang="en-US" altLang="zh-CN" sz="3200" b="1" u="none" dirty="0">
                <a:solidFill>
                  <a:schemeClr val="tx1"/>
                </a:solidFill>
                <a:latin typeface="Times New Roman" panose="02020603050405020304" pitchFamily="18" charset="0"/>
              </a:rPr>
              <a:t>STACK</a:t>
            </a:r>
            <a:r>
              <a:rPr lang="zh-CN" altLang="en-US" sz="3200" b="1" u="none" dirty="0">
                <a:solidFill>
                  <a:schemeClr val="tx1"/>
                </a:solidFill>
                <a:latin typeface="Times New Roman" panose="02020603050405020304" pitchFamily="18" charset="0"/>
              </a:rPr>
              <a:t>栈顶逐出，让</a:t>
            </a:r>
            <a:r>
              <a:rPr lang="en-US" altLang="zh-CN" sz="3200" b="1" u="none" dirty="0">
                <a:solidFill>
                  <a:schemeClr val="tx1"/>
                </a:solidFill>
                <a:latin typeface="Times New Roman" panose="02020603050405020304" pitchFamily="18" charset="0"/>
              </a:rPr>
              <a:t>a</a:t>
            </a:r>
            <a:r>
              <a:rPr lang="zh-CN" altLang="en-US" sz="3200" b="1" u="none" dirty="0">
                <a:solidFill>
                  <a:schemeClr val="tx1"/>
                </a:solidFill>
                <a:latin typeface="Times New Roman" panose="02020603050405020304" pitchFamily="18" charset="0"/>
              </a:rPr>
              <a:t>指向下一个输入符号。</a:t>
            </a:r>
            <a:endParaRPr lang="zh-CN" altLang="en-US" sz="3200" b="1" u="none" dirty="0">
              <a:solidFill>
                <a:schemeClr val="tx1"/>
              </a:solidFill>
              <a:latin typeface="Times New Roman" panose="02020603050405020304" pitchFamily="18" charset="0"/>
            </a:endParaRPr>
          </a:p>
        </p:txBody>
      </p:sp>
      <p:sp>
        <p:nvSpPr>
          <p:cNvPr id="134150" name="AutoShape 6"/>
          <p:cNvSpPr/>
          <p:nvPr/>
        </p:nvSpPr>
        <p:spPr>
          <a:xfrm>
            <a:off x="6443663" y="5157788"/>
            <a:ext cx="2376487" cy="863600"/>
          </a:xfrm>
          <a:prstGeom prst="wedgeRectCallout">
            <a:avLst>
              <a:gd name="adj1" fmla="val -94690"/>
              <a:gd name="adj2" fmla="val -26102"/>
            </a:avLst>
          </a:prstGeom>
          <a:solidFill>
            <a:srgbClr val="FFFF99"/>
          </a:solidFill>
          <a:ln w="25400" cap="flat" cmpd="sng">
            <a:solidFill>
              <a:srgbClr val="FF0000"/>
            </a:solidFill>
            <a:prstDash val="solid"/>
            <a:miter/>
            <a:headEnd type="none" w="med" len="med"/>
            <a:tailEnd type="none" w="lg" len="lg"/>
          </a:ln>
        </p:spPr>
        <p:txBody>
          <a:bodyPr anchor="ctr"/>
          <a:p>
            <a:pPr algn="ctr"/>
            <a:r>
              <a:rPr lang="zh-CN" altLang="en-GB" sz="3600" u="none" dirty="0">
                <a:solidFill>
                  <a:srgbClr val="3333CC"/>
                </a:solidFill>
                <a:latin typeface="Arial" panose="020B0604020202020204" pitchFamily="34" charset="0"/>
                <a:ea typeface="华文新魏" panose="02010800040101010101" pitchFamily="2" charset="-122"/>
              </a:rPr>
              <a:t>匹配成功</a:t>
            </a:r>
            <a:endParaRPr lang="en-GB" altLang="zh-CN" sz="3600" u="none" dirty="0">
              <a:solidFill>
                <a:srgbClr val="3333CC"/>
              </a:solidFill>
              <a:latin typeface="Arial" panose="020B0604020202020204" pitchFamily="34" charset="0"/>
              <a:ea typeface="华文新魏" panose="02010800040101010101" pitchFamily="2"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34149">
                                            <p:txEl>
                                              <p:charRg st="0" end="34"/>
                                            </p:txEl>
                                          </p:spTgt>
                                        </p:tgtEl>
                                        <p:attrNameLst>
                                          <p:attrName>style.visibility</p:attrName>
                                        </p:attrNameLst>
                                      </p:cBhvr>
                                      <p:to>
                                        <p:strVal val="visible"/>
                                      </p:to>
                                    </p:set>
                                    <p:animEffect transition="in" filter="wipe(up)">
                                      <p:cBhvr>
                                        <p:cTn id="7" dur="500"/>
                                        <p:tgtEl>
                                          <p:spTgt spid="134149">
                                            <p:txEl>
                                              <p:charRg st="0" end="34"/>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34149">
                                            <p:txEl>
                                              <p:charRg st="34" end="60"/>
                                            </p:txEl>
                                          </p:spTgt>
                                        </p:tgtEl>
                                        <p:attrNameLst>
                                          <p:attrName>style.visibility</p:attrName>
                                        </p:attrNameLst>
                                      </p:cBhvr>
                                      <p:to>
                                        <p:strVal val="visible"/>
                                      </p:to>
                                    </p:set>
                                    <p:animEffect transition="in" filter="wipe(up)">
                                      <p:cBhvr>
                                        <p:cTn id="12" dur="500"/>
                                        <p:tgtEl>
                                          <p:spTgt spid="134149">
                                            <p:txEl>
                                              <p:charRg st="34" end="6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34149">
                                            <p:txEl>
                                              <p:charRg st="60" end="100"/>
                                            </p:txEl>
                                          </p:spTgt>
                                        </p:tgtEl>
                                        <p:attrNameLst>
                                          <p:attrName>style.visibility</p:attrName>
                                        </p:attrNameLst>
                                      </p:cBhvr>
                                      <p:to>
                                        <p:strVal val="visible"/>
                                      </p:to>
                                    </p:set>
                                    <p:animEffect transition="in" filter="wipe(up)">
                                      <p:cBhvr>
                                        <p:cTn id="17" dur="500"/>
                                        <p:tgtEl>
                                          <p:spTgt spid="134149">
                                            <p:txEl>
                                              <p:charRg st="60" end="10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4150"/>
                                        </p:tgtEl>
                                        <p:attrNameLst>
                                          <p:attrName>style.visibility</p:attrName>
                                        </p:attrNameLst>
                                      </p:cBhvr>
                                      <p:to>
                                        <p:strVal val="visible"/>
                                      </p:to>
                                    </p:set>
                                    <p:animEffect transition="in" filter="wipe(left)">
                                      <p:cBhvr>
                                        <p:cTn id="22" dur="500"/>
                                        <p:tgtEl>
                                          <p:spTgt spid="1341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9" grpId="0" bldLvl="2" build="p"/>
      <p:bldP spid="134150"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5"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154627" name="Rectangle 3"/>
          <p:cNvSpPr/>
          <p:nvPr/>
        </p:nvSpPr>
        <p:spPr>
          <a:xfrm>
            <a:off x="395288" y="836613"/>
            <a:ext cx="8382000" cy="5029200"/>
          </a:xfrm>
          <a:prstGeom prst="rect">
            <a:avLst/>
          </a:prstGeom>
          <a:noFill/>
          <a:ln w="9525">
            <a:noFill/>
          </a:ln>
        </p:spPr>
        <p:txBody>
          <a:bodyPr lIns="92075" tIns="46038" rIns="92075" bIns="46038" anchor="t"/>
          <a:p>
            <a:pPr lvl="1" indent="0" algn="l" eaLnBrk="0" hangingPunct="0"/>
            <a:r>
              <a:rPr lang="en-US" altLang="zh-CN" sz="3200" b="1" u="none" dirty="0">
                <a:solidFill>
                  <a:schemeClr val="tx1"/>
                </a:solidFill>
                <a:latin typeface="Times New Roman" panose="02020603050405020304" pitchFamily="18" charset="0"/>
              </a:rPr>
              <a:t>3. </a:t>
            </a:r>
            <a:r>
              <a:rPr lang="zh-CN" altLang="en-US" sz="3200" b="1" u="none" dirty="0">
                <a:solidFill>
                  <a:schemeClr val="tx1"/>
                </a:solidFill>
                <a:latin typeface="Times New Roman" panose="02020603050405020304" pitchFamily="18" charset="0"/>
              </a:rPr>
              <a:t>若</a:t>
            </a:r>
            <a:r>
              <a:rPr lang="en-US" altLang="zh-CN" sz="3200" b="1" u="none" dirty="0">
                <a:solidFill>
                  <a:schemeClr val="tx1"/>
                </a:solidFill>
                <a:latin typeface="Times New Roman" panose="02020603050405020304" pitchFamily="18" charset="0"/>
              </a:rPr>
              <a:t>X</a:t>
            </a:r>
            <a:r>
              <a:rPr lang="zh-CN" altLang="en-US" sz="3200" b="1" u="none" dirty="0">
                <a:solidFill>
                  <a:schemeClr val="tx1"/>
                </a:solidFill>
                <a:latin typeface="Times New Roman" panose="02020603050405020304" pitchFamily="18" charset="0"/>
              </a:rPr>
              <a:t>是一个非终结符，则查看分析表</a:t>
            </a:r>
            <a:r>
              <a:rPr lang="en-US" altLang="zh-CN" sz="3200" b="1" u="none" dirty="0">
                <a:solidFill>
                  <a:schemeClr val="tx1"/>
                </a:solidFill>
                <a:latin typeface="Times New Roman" panose="02020603050405020304" pitchFamily="18" charset="0"/>
              </a:rPr>
              <a:t>M</a:t>
            </a:r>
            <a:r>
              <a:rPr lang="zh-CN" altLang="en-US" sz="3200" b="1" u="none" dirty="0">
                <a:solidFill>
                  <a:schemeClr val="tx1"/>
                </a:solidFill>
                <a:latin typeface="Times New Roman" panose="02020603050405020304" pitchFamily="18" charset="0"/>
              </a:rPr>
              <a:t>。          </a:t>
            </a:r>
            <a:endParaRPr lang="zh-CN" altLang="en-US" sz="3200" b="1" u="none" dirty="0">
              <a:solidFill>
                <a:schemeClr val="tx1"/>
              </a:solidFill>
              <a:latin typeface="Times New Roman" panose="02020603050405020304" pitchFamily="18" charset="0"/>
            </a:endParaRPr>
          </a:p>
          <a:p>
            <a:pPr marL="1341755" lvl="2" indent="-381000" algn="l" eaLnBrk="0" hangingPunct="0">
              <a:buClr>
                <a:schemeClr val="accent2"/>
              </a:buClr>
              <a:buFont typeface="Symbol" panose="05050102010706020507" pitchFamily="18" charset="2"/>
              <a:buChar char="·"/>
            </a:pPr>
            <a:r>
              <a:rPr lang="zh-CN" altLang="en-US" sz="3200" b="1" u="none" dirty="0">
                <a:solidFill>
                  <a:schemeClr val="tx1"/>
                </a:solidFill>
                <a:latin typeface="Times New Roman" panose="02020603050405020304" pitchFamily="18" charset="0"/>
              </a:rPr>
              <a:t>若</a:t>
            </a:r>
            <a:r>
              <a:rPr lang="en-US" altLang="zh-CN" sz="3200" b="1" u="none" dirty="0">
                <a:solidFill>
                  <a:schemeClr val="tx1"/>
                </a:solidFill>
                <a:latin typeface="Times New Roman" panose="02020603050405020304" pitchFamily="18" charset="0"/>
              </a:rPr>
              <a:t>M[X</a:t>
            </a:r>
            <a:r>
              <a:rPr lang="zh-CN" altLang="en-US" sz="3200" b="1" u="none" dirty="0">
                <a:solidFill>
                  <a:schemeClr val="tx1"/>
                </a:solidFill>
                <a:latin typeface="Times New Roman" panose="02020603050405020304" pitchFamily="18" charset="0"/>
              </a:rPr>
              <a:t>，</a:t>
            </a:r>
            <a:r>
              <a:rPr lang="en-US" altLang="zh-CN" sz="3200" b="1" u="none" dirty="0">
                <a:solidFill>
                  <a:schemeClr val="tx1"/>
                </a:solidFill>
                <a:latin typeface="Times New Roman" panose="02020603050405020304" pitchFamily="18" charset="0"/>
              </a:rPr>
              <a:t>a]</a:t>
            </a:r>
            <a:r>
              <a:rPr lang="zh-CN" altLang="en-US" sz="3200" b="1" u="none" dirty="0">
                <a:solidFill>
                  <a:schemeClr val="tx1"/>
                </a:solidFill>
                <a:latin typeface="Times New Roman" panose="02020603050405020304" pitchFamily="18" charset="0"/>
              </a:rPr>
              <a:t>中存放着关于</a:t>
            </a:r>
            <a:r>
              <a:rPr lang="en-US" altLang="zh-CN" sz="3200" b="1" u="none" dirty="0">
                <a:solidFill>
                  <a:schemeClr val="tx1"/>
                </a:solidFill>
                <a:latin typeface="Times New Roman" panose="02020603050405020304" pitchFamily="18" charset="0"/>
              </a:rPr>
              <a:t>X</a:t>
            </a:r>
            <a:r>
              <a:rPr lang="zh-CN" altLang="en-US" sz="3200" b="1" u="none" dirty="0">
                <a:solidFill>
                  <a:schemeClr val="tx1"/>
                </a:solidFill>
                <a:latin typeface="Times New Roman" panose="02020603050405020304" pitchFamily="18" charset="0"/>
              </a:rPr>
              <a:t>的一个产生式，把</a:t>
            </a:r>
            <a:r>
              <a:rPr lang="en-US" altLang="zh-CN" sz="3200" b="1" u="none" dirty="0">
                <a:solidFill>
                  <a:schemeClr val="tx1"/>
                </a:solidFill>
                <a:latin typeface="Times New Roman" panose="02020603050405020304" pitchFamily="18" charset="0"/>
              </a:rPr>
              <a:t>X</a:t>
            </a:r>
            <a:r>
              <a:rPr lang="zh-CN" altLang="en-US" sz="3200" b="1" u="none" dirty="0">
                <a:solidFill>
                  <a:schemeClr val="tx1"/>
                </a:solidFill>
                <a:latin typeface="Times New Roman" panose="02020603050405020304" pitchFamily="18" charset="0"/>
              </a:rPr>
              <a:t>逐出</a:t>
            </a:r>
            <a:r>
              <a:rPr lang="en-US" altLang="zh-CN" sz="3200" b="1" u="none" dirty="0">
                <a:solidFill>
                  <a:schemeClr val="tx1"/>
                </a:solidFill>
                <a:latin typeface="Times New Roman" panose="02020603050405020304" pitchFamily="18" charset="0"/>
              </a:rPr>
              <a:t>STACK</a:t>
            </a:r>
            <a:r>
              <a:rPr lang="zh-CN" altLang="en-US" sz="3200" b="1" u="none" dirty="0">
                <a:solidFill>
                  <a:schemeClr val="tx1"/>
                </a:solidFill>
                <a:latin typeface="Times New Roman" panose="02020603050405020304" pitchFamily="18" charset="0"/>
              </a:rPr>
              <a:t>栈顶，</a:t>
            </a:r>
            <a:r>
              <a:rPr lang="zh-CN" altLang="en-US" sz="3200" b="1" u="none" dirty="0">
                <a:solidFill>
                  <a:srgbClr val="FF0000"/>
                </a:solidFill>
                <a:latin typeface="Times New Roman" panose="02020603050405020304" pitchFamily="18" charset="0"/>
              </a:rPr>
              <a:t>把产生式的右部符号串按反序一一推进</a:t>
            </a:r>
            <a:r>
              <a:rPr lang="en-US" altLang="zh-CN" sz="3200" b="1" u="none" dirty="0">
                <a:solidFill>
                  <a:srgbClr val="FF0000"/>
                </a:solidFill>
                <a:latin typeface="Times New Roman" panose="02020603050405020304" pitchFamily="18" charset="0"/>
              </a:rPr>
              <a:t>STACK</a:t>
            </a:r>
            <a:r>
              <a:rPr lang="zh-CN" altLang="en-US" sz="3200" b="1" u="none" dirty="0">
                <a:solidFill>
                  <a:srgbClr val="FF0000"/>
                </a:solidFill>
                <a:latin typeface="Times New Roman" panose="02020603050405020304" pitchFamily="18" charset="0"/>
              </a:rPr>
              <a:t>栈</a:t>
            </a:r>
            <a:r>
              <a:rPr lang="en-US" altLang="zh-CN" sz="3200" b="1" u="none" dirty="0">
                <a:solidFill>
                  <a:schemeClr val="tx1"/>
                </a:solidFill>
                <a:latin typeface="Times New Roman" panose="02020603050405020304" pitchFamily="18" charset="0"/>
              </a:rPr>
              <a:t>(</a:t>
            </a:r>
            <a:r>
              <a:rPr lang="zh-CN" altLang="en-US" sz="3200" b="1" u="none" dirty="0">
                <a:solidFill>
                  <a:schemeClr val="tx1"/>
                </a:solidFill>
                <a:latin typeface="Times New Roman" panose="02020603050405020304" pitchFamily="18" charset="0"/>
              </a:rPr>
              <a:t>若右部符号为</a:t>
            </a:r>
            <a:r>
              <a:rPr lang="zh-CN" altLang="en-US" sz="3200" b="1" u="none" dirty="0">
                <a:solidFill>
                  <a:schemeClr val="tx1"/>
                </a:solidFill>
                <a:latin typeface="Times New Roman" panose="02020603050405020304" pitchFamily="18" charset="0"/>
                <a:sym typeface="Symbol" panose="05050102010706020507" pitchFamily="18" charset="2"/>
              </a:rPr>
              <a:t></a:t>
            </a:r>
            <a:r>
              <a:rPr lang="zh-CN" altLang="en-US" sz="3200" b="1" u="none" dirty="0">
                <a:solidFill>
                  <a:schemeClr val="tx1"/>
                </a:solidFill>
                <a:latin typeface="Times New Roman" panose="02020603050405020304" pitchFamily="18" charset="0"/>
              </a:rPr>
              <a:t>，则意味不推什么东西进栈</a:t>
            </a:r>
            <a:r>
              <a:rPr lang="en-US" altLang="zh-CN" sz="3200" b="1" u="none" dirty="0">
                <a:solidFill>
                  <a:schemeClr val="tx1"/>
                </a:solidFill>
                <a:latin typeface="Times New Roman" panose="02020603050405020304" pitchFamily="18" charset="0"/>
              </a:rPr>
              <a:t>)</a:t>
            </a:r>
            <a:r>
              <a:rPr lang="zh-CN" altLang="en-US" sz="3200" b="1" u="none" dirty="0">
                <a:solidFill>
                  <a:schemeClr val="tx1"/>
                </a:solidFill>
                <a:latin typeface="Times New Roman" panose="02020603050405020304" pitchFamily="18" charset="0"/>
              </a:rPr>
              <a:t>。在把产生式的右部符号推进栈的同时应做这个产生式相应的语义动作。</a:t>
            </a:r>
            <a:endParaRPr lang="zh-CN" altLang="en-US" sz="3200" b="1" u="none" dirty="0">
              <a:solidFill>
                <a:schemeClr val="tx1"/>
              </a:solidFill>
              <a:latin typeface="Times New Roman" panose="02020603050405020304" pitchFamily="18" charset="0"/>
            </a:endParaRPr>
          </a:p>
          <a:p>
            <a:pPr marL="1341755" lvl="2" indent="-381000" algn="l" eaLnBrk="0" hangingPunct="0">
              <a:buClr>
                <a:schemeClr val="accent2"/>
              </a:buClr>
              <a:buFont typeface="Symbol" panose="05050102010706020507" pitchFamily="18" charset="2"/>
              <a:buChar char="·"/>
            </a:pPr>
            <a:r>
              <a:rPr lang="zh-CN" altLang="en-US" sz="3200" b="1" u="none" dirty="0">
                <a:solidFill>
                  <a:schemeClr val="tx1"/>
                </a:solidFill>
                <a:latin typeface="Times New Roman" panose="02020603050405020304" pitchFamily="18" charset="0"/>
              </a:rPr>
              <a:t>若</a:t>
            </a:r>
            <a:r>
              <a:rPr lang="en-US" altLang="zh-CN" sz="3200" b="1" u="none" dirty="0">
                <a:solidFill>
                  <a:schemeClr val="tx1"/>
                </a:solidFill>
                <a:latin typeface="Times New Roman" panose="02020603050405020304" pitchFamily="18" charset="0"/>
              </a:rPr>
              <a:t>M[X</a:t>
            </a:r>
            <a:r>
              <a:rPr lang="zh-CN" altLang="en-US" sz="3200" b="1" u="none" dirty="0">
                <a:solidFill>
                  <a:schemeClr val="tx1"/>
                </a:solidFill>
                <a:latin typeface="Times New Roman" panose="02020603050405020304" pitchFamily="18" charset="0"/>
              </a:rPr>
              <a:t>，</a:t>
            </a:r>
            <a:r>
              <a:rPr lang="en-US" altLang="zh-CN" sz="3200" b="1" u="none" dirty="0">
                <a:solidFill>
                  <a:schemeClr val="tx1"/>
                </a:solidFill>
                <a:latin typeface="Times New Roman" panose="02020603050405020304" pitchFamily="18" charset="0"/>
              </a:rPr>
              <a:t>a]</a:t>
            </a:r>
            <a:r>
              <a:rPr lang="zh-CN" altLang="en-US" sz="3200" b="1" u="none" dirty="0">
                <a:solidFill>
                  <a:schemeClr val="tx1"/>
                </a:solidFill>
                <a:latin typeface="Times New Roman" panose="02020603050405020304" pitchFamily="18" charset="0"/>
              </a:rPr>
              <a:t>中存放着“出错标志”，则调用出错诊察程序</a:t>
            </a:r>
            <a:r>
              <a:rPr lang="en-US" altLang="zh-CN" sz="3200" b="1" u="none" dirty="0">
                <a:solidFill>
                  <a:schemeClr val="tx1"/>
                </a:solidFill>
                <a:latin typeface="Times New Roman" panose="02020603050405020304" pitchFamily="18" charset="0"/>
              </a:rPr>
              <a:t>ERROR</a:t>
            </a:r>
            <a:r>
              <a:rPr lang="zh-CN" altLang="en-US" sz="3200" b="1" u="none" dirty="0">
                <a:solidFill>
                  <a:schemeClr val="tx1"/>
                </a:solidFill>
                <a:latin typeface="Times New Roman" panose="02020603050405020304" pitchFamily="18" charset="0"/>
              </a:rPr>
              <a:t>。</a:t>
            </a:r>
            <a:endParaRPr lang="zh-CN" altLang="en-US" sz="3200" b="1" u="none" dirty="0">
              <a:solidFill>
                <a:schemeClr val="tx1"/>
              </a:solidFill>
              <a:latin typeface="Times New Roman" panose="02020603050405020304" pitchFamily="18" charset="0"/>
            </a:endParaRPr>
          </a:p>
        </p:txBody>
      </p:sp>
      <p:sp>
        <p:nvSpPr>
          <p:cNvPr id="154629" name="AutoShape 5"/>
          <p:cNvSpPr/>
          <p:nvPr/>
        </p:nvSpPr>
        <p:spPr>
          <a:xfrm>
            <a:off x="0" y="3068638"/>
            <a:ext cx="1403350" cy="863600"/>
          </a:xfrm>
          <a:prstGeom prst="wedgeRectCallout">
            <a:avLst>
              <a:gd name="adj1" fmla="val 83032"/>
              <a:gd name="adj2" fmla="val -93565"/>
            </a:avLst>
          </a:prstGeom>
          <a:solidFill>
            <a:srgbClr val="FFFF99"/>
          </a:solidFill>
          <a:ln w="25400" cap="flat" cmpd="sng">
            <a:solidFill>
              <a:srgbClr val="FF0000"/>
            </a:solidFill>
            <a:prstDash val="solid"/>
            <a:miter/>
            <a:headEnd type="none" w="med" len="med"/>
            <a:tailEnd type="none" w="lg" len="lg"/>
          </a:ln>
        </p:spPr>
        <p:txBody>
          <a:bodyPr anchor="ctr"/>
          <a:p>
            <a:pPr algn="ctr"/>
            <a:r>
              <a:rPr lang="zh-CN" altLang="en-GB" sz="3600" u="none" dirty="0">
                <a:solidFill>
                  <a:srgbClr val="3333CC"/>
                </a:solidFill>
                <a:latin typeface="Arial" panose="020B0604020202020204" pitchFamily="34" charset="0"/>
                <a:ea typeface="华文新魏" panose="02010800040101010101" pitchFamily="2" charset="-122"/>
              </a:rPr>
              <a:t>推导</a:t>
            </a:r>
            <a:endParaRPr lang="zh-CN" altLang="en-GB" sz="3600" u="none" dirty="0">
              <a:solidFill>
                <a:srgbClr val="3333CC"/>
              </a:solidFill>
              <a:latin typeface="Arial" panose="020B0604020202020204" pitchFamily="34" charset="0"/>
              <a:ea typeface="华文新魏" panose="02010800040101010101" pitchFamily="2"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54627">
                                            <p:txEl>
                                              <p:charRg st="0" end="32"/>
                                            </p:txEl>
                                          </p:spTgt>
                                        </p:tgtEl>
                                        <p:attrNameLst>
                                          <p:attrName>style.visibility</p:attrName>
                                        </p:attrNameLst>
                                      </p:cBhvr>
                                      <p:to>
                                        <p:strVal val="visible"/>
                                      </p:to>
                                    </p:set>
                                    <p:animEffect transition="in" filter="wipe(up)">
                                      <p:cBhvr>
                                        <p:cTn id="7" dur="500"/>
                                        <p:tgtEl>
                                          <p:spTgt spid="154627">
                                            <p:txEl>
                                              <p:charRg st="0" end="3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54627">
                                            <p:txEl>
                                              <p:charRg st="32" end="142"/>
                                            </p:txEl>
                                          </p:spTgt>
                                        </p:tgtEl>
                                        <p:attrNameLst>
                                          <p:attrName>style.visibility</p:attrName>
                                        </p:attrNameLst>
                                      </p:cBhvr>
                                      <p:to>
                                        <p:strVal val="visible"/>
                                      </p:to>
                                    </p:set>
                                    <p:animEffect transition="in" filter="wipe(up)">
                                      <p:cBhvr>
                                        <p:cTn id="12" dur="500"/>
                                        <p:tgtEl>
                                          <p:spTgt spid="154627">
                                            <p:txEl>
                                              <p:charRg st="32" end="14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54627">
                                            <p:txEl>
                                              <p:charRg st="142" end="176"/>
                                            </p:txEl>
                                          </p:spTgt>
                                        </p:tgtEl>
                                        <p:attrNameLst>
                                          <p:attrName>style.visibility</p:attrName>
                                        </p:attrNameLst>
                                      </p:cBhvr>
                                      <p:to>
                                        <p:strVal val="visible"/>
                                      </p:to>
                                    </p:set>
                                    <p:animEffect transition="in" filter="wipe(up)">
                                      <p:cBhvr>
                                        <p:cTn id="17" dur="500"/>
                                        <p:tgtEl>
                                          <p:spTgt spid="154627">
                                            <p:txEl>
                                              <p:charRg st="142" end="17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54629"/>
                                        </p:tgtEl>
                                        <p:attrNameLst>
                                          <p:attrName>style.visibility</p:attrName>
                                        </p:attrNameLst>
                                      </p:cBhvr>
                                      <p:to>
                                        <p:strVal val="visible"/>
                                      </p:to>
                                    </p:set>
                                    <p:animEffect transition="in" filter="wipe(left)">
                                      <p:cBhvr>
                                        <p:cTn id="22" dur="500"/>
                                        <p:tgtEl>
                                          <p:spTgt spid="1546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7" grpId="0" bldLvl="3" build="p"/>
      <p:bldP spid="154629"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89"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89090" name="Rectangle 3"/>
          <p:cNvSpPr>
            <a:spLocks noGrp="1"/>
          </p:cNvSpPr>
          <p:nvPr>
            <p:ph type="body"/>
          </p:nvPr>
        </p:nvSpPr>
        <p:spPr>
          <a:xfrm>
            <a:off x="323850" y="692150"/>
            <a:ext cx="8496300" cy="5410200"/>
          </a:xfrm>
          <a:ln/>
        </p:spPr>
        <p:txBody>
          <a:bodyPr vert="horz" wrap="square" lIns="91440" tIns="45720" rIns="91440" bIns="45720" anchor="t"/>
          <a:p>
            <a:pPr marL="342900" indent="-342900" eaLnBrk="1" hangingPunct="1"/>
            <a:r>
              <a:rPr lang="zh-CN" altLang="en-US" sz="2800" b="1" dirty="0"/>
              <a:t>预测分析程序的总控程序：</a:t>
            </a:r>
            <a:endParaRPr lang="zh-CN" altLang="en-US" sz="2800" b="1" dirty="0"/>
          </a:p>
          <a:p>
            <a:pPr marL="819150" lvl="1" indent="-285750" eaLnBrk="1" hangingPunct="1">
              <a:spcBef>
                <a:spcPct val="0"/>
              </a:spcBef>
              <a:buNone/>
            </a:pPr>
            <a:endParaRPr lang="zh-CN" altLang="en-US" b="1" dirty="0"/>
          </a:p>
          <a:p>
            <a:pPr marL="819150" lvl="1" indent="-285750" eaLnBrk="1" hangingPunct="1">
              <a:spcBef>
                <a:spcPct val="0"/>
              </a:spcBef>
              <a:buNone/>
            </a:pPr>
            <a:r>
              <a:rPr lang="en-US" altLang="zh-CN" b="1" dirty="0"/>
              <a:t>BEGIN</a:t>
            </a:r>
            <a:endParaRPr lang="en-US" altLang="zh-CN" b="1" dirty="0"/>
          </a:p>
          <a:p>
            <a:pPr marL="819150" lvl="1" indent="-285750" eaLnBrk="1" hangingPunct="1">
              <a:spcBef>
                <a:spcPct val="0"/>
              </a:spcBef>
              <a:buNone/>
            </a:pPr>
            <a:r>
              <a:rPr lang="en-US" altLang="zh-CN" b="1" dirty="0"/>
              <a:t>   </a:t>
            </a:r>
            <a:r>
              <a:rPr lang="zh-CN" altLang="en-US" b="1" dirty="0"/>
              <a:t>首先把‘＃’然后把文法开始符号推进</a:t>
            </a:r>
            <a:r>
              <a:rPr lang="en-US" altLang="zh-CN" b="1" dirty="0"/>
              <a:t>STACK</a:t>
            </a:r>
            <a:r>
              <a:rPr lang="zh-CN" altLang="en-US" b="1" dirty="0"/>
              <a:t>栈；</a:t>
            </a:r>
            <a:endParaRPr lang="zh-CN" altLang="en-US" b="1" dirty="0"/>
          </a:p>
          <a:p>
            <a:pPr marL="819150" lvl="1" indent="-285750" eaLnBrk="1" hangingPunct="1">
              <a:spcBef>
                <a:spcPct val="0"/>
              </a:spcBef>
              <a:buNone/>
            </a:pPr>
            <a:r>
              <a:rPr lang="zh-CN" altLang="en-US" b="1" dirty="0"/>
              <a:t>   把第一个输入符号读进</a:t>
            </a:r>
            <a:r>
              <a:rPr lang="en-US" altLang="zh-CN" b="1" dirty="0"/>
              <a:t>a</a:t>
            </a:r>
            <a:r>
              <a:rPr lang="zh-CN" altLang="en-US" b="1" dirty="0"/>
              <a:t>；</a:t>
            </a:r>
            <a:endParaRPr lang="zh-CN" altLang="en-US" b="1" dirty="0"/>
          </a:p>
          <a:p>
            <a:pPr marL="819150" lvl="1" indent="-285750" eaLnBrk="1" hangingPunct="1">
              <a:spcBef>
                <a:spcPct val="0"/>
              </a:spcBef>
              <a:buNone/>
            </a:pPr>
            <a:r>
              <a:rPr lang="zh-CN" altLang="en-US" b="1" dirty="0"/>
              <a:t>   </a:t>
            </a:r>
            <a:r>
              <a:rPr lang="en-US" altLang="zh-CN" b="1" dirty="0"/>
              <a:t>FLAG:=TRUE;</a:t>
            </a:r>
            <a:endParaRPr lang="en-US" altLang="zh-CN" b="1" dirty="0"/>
          </a:p>
          <a:p>
            <a:pPr marL="819150" lvl="1" indent="-285750" eaLnBrk="1" hangingPunct="1">
              <a:spcBef>
                <a:spcPct val="0"/>
              </a:spcBef>
              <a:buNone/>
            </a:pPr>
            <a:r>
              <a:rPr lang="en-US" altLang="zh-CN" b="1" dirty="0"/>
              <a:t>   WHILE  FLAG  DO</a:t>
            </a:r>
            <a:endParaRPr lang="en-US" altLang="zh-CN" b="1" dirty="0"/>
          </a:p>
          <a:p>
            <a:pPr marL="819150" lvl="1" indent="-285750" eaLnBrk="1" hangingPunct="1">
              <a:spcBef>
                <a:spcPct val="0"/>
              </a:spcBef>
              <a:buNone/>
            </a:pPr>
            <a:r>
              <a:rPr lang="en-US" altLang="zh-CN" b="1" dirty="0"/>
              <a:t>	BEGIN</a:t>
            </a:r>
            <a:endParaRPr lang="en-US" altLang="zh-CN" b="1" dirty="0"/>
          </a:p>
          <a:p>
            <a:pPr marL="819150" lvl="1" indent="-285750" eaLnBrk="1" hangingPunct="1">
              <a:spcBef>
                <a:spcPct val="0"/>
              </a:spcBef>
              <a:buNone/>
            </a:pPr>
            <a:r>
              <a:rPr lang="en-US" altLang="zh-CN" b="1" dirty="0"/>
              <a:t>       </a:t>
            </a:r>
            <a:r>
              <a:rPr lang="zh-CN" altLang="en-US" b="1" dirty="0"/>
              <a:t>把</a:t>
            </a:r>
            <a:r>
              <a:rPr lang="en-US" altLang="zh-CN" b="1" dirty="0"/>
              <a:t>STACK</a:t>
            </a:r>
            <a:r>
              <a:rPr lang="zh-CN" altLang="en-US" b="1" dirty="0"/>
              <a:t>栈顶符号上托出去并放在</a:t>
            </a:r>
            <a:r>
              <a:rPr lang="en-US" altLang="zh-CN" b="1" dirty="0"/>
              <a:t>X</a:t>
            </a:r>
            <a:r>
              <a:rPr lang="zh-CN" altLang="en-US" b="1" dirty="0"/>
              <a:t>中；</a:t>
            </a:r>
            <a:endParaRPr lang="zh-CN" altLang="en-US" b="1" dirty="0"/>
          </a:p>
          <a:p>
            <a:pPr marL="819150" lvl="1" indent="-285750" eaLnBrk="1" hangingPunct="1">
              <a:spcBef>
                <a:spcPct val="0"/>
              </a:spcBef>
              <a:buNone/>
            </a:pPr>
            <a:r>
              <a:rPr lang="zh-CN" altLang="en-US" b="1" dirty="0"/>
              <a:t>       </a:t>
            </a:r>
            <a:r>
              <a:rPr lang="en-US" altLang="zh-CN" b="1" dirty="0"/>
              <a:t>IF X</a:t>
            </a:r>
            <a:r>
              <a:rPr lang="en-US" altLang="zh-CN" b="1" dirty="0">
                <a:sym typeface="Symbol" panose="05050102010706020507" pitchFamily="18" charset="2"/>
              </a:rPr>
              <a:t></a:t>
            </a:r>
            <a:r>
              <a:rPr lang="en-US" altLang="zh-CN" b="1" dirty="0"/>
              <a:t>V</a:t>
            </a:r>
            <a:r>
              <a:rPr lang="en-US" altLang="zh-CN" b="1" baseline="-25000" dirty="0"/>
              <a:t>T</a:t>
            </a:r>
            <a:r>
              <a:rPr lang="en-US" altLang="zh-CN" b="1" dirty="0"/>
              <a:t> THEN</a:t>
            </a:r>
            <a:endParaRPr lang="en-US" altLang="zh-CN" b="1" dirty="0"/>
          </a:p>
          <a:p>
            <a:pPr marL="819150" lvl="1" indent="-285750" eaLnBrk="1" hangingPunct="1">
              <a:spcBef>
                <a:spcPct val="0"/>
              </a:spcBef>
              <a:buNone/>
            </a:pPr>
            <a:r>
              <a:rPr lang="en-US" altLang="zh-CN" b="1" dirty="0"/>
              <a:t>	        IF X= a  THEN </a:t>
            </a:r>
            <a:r>
              <a:rPr lang="zh-CN" altLang="en-US" b="1" dirty="0"/>
              <a:t>把下一输入符号读进</a:t>
            </a:r>
            <a:r>
              <a:rPr lang="en-US" altLang="zh-CN" b="1" dirty="0"/>
              <a:t>a</a:t>
            </a:r>
            <a:endParaRPr lang="en-US" altLang="zh-CN" b="1" dirty="0"/>
          </a:p>
          <a:p>
            <a:pPr marL="819150" lvl="1" indent="-285750" eaLnBrk="1" hangingPunct="1">
              <a:spcBef>
                <a:spcPct val="0"/>
              </a:spcBef>
              <a:buNone/>
            </a:pPr>
            <a:r>
              <a:rPr lang="en-US" altLang="zh-CN" b="1" dirty="0"/>
              <a:t>	                       ELSE   ERROR</a:t>
            </a:r>
            <a:endParaRPr lang="en-US" altLang="zh-CN" b="1" dirty="0"/>
          </a:p>
          <a:p>
            <a:pPr marL="819150" lvl="1" indent="-285750" eaLnBrk="1" hangingPunct="1">
              <a:spcBef>
                <a:spcPct val="0"/>
              </a:spcBef>
              <a:buNone/>
            </a:pPr>
            <a:r>
              <a:rPr lang="en-US" altLang="zh-CN" b="1" dirty="0"/>
              <a:t>       </a:t>
            </a:r>
            <a:endParaRPr lang="en-US" altLang="zh-CN" b="1" dirty="0"/>
          </a:p>
        </p:txBody>
      </p:sp>
      <p:sp>
        <p:nvSpPr>
          <p:cNvPr id="135172" name="AutoShape 4"/>
          <p:cNvSpPr/>
          <p:nvPr/>
        </p:nvSpPr>
        <p:spPr>
          <a:xfrm>
            <a:off x="6516688" y="5516563"/>
            <a:ext cx="2376487" cy="863600"/>
          </a:xfrm>
          <a:prstGeom prst="wedgeRectCallout">
            <a:avLst>
              <a:gd name="adj1" fmla="val -71579"/>
              <a:gd name="adj2" fmla="val -62500"/>
            </a:avLst>
          </a:prstGeom>
          <a:solidFill>
            <a:srgbClr val="FFFF99"/>
          </a:solidFill>
          <a:ln w="25400" cap="flat" cmpd="sng">
            <a:solidFill>
              <a:srgbClr val="FF0000"/>
            </a:solidFill>
            <a:prstDash val="solid"/>
            <a:miter/>
            <a:headEnd type="none" w="med" len="med"/>
            <a:tailEnd type="none" w="lg" len="lg"/>
          </a:ln>
        </p:spPr>
        <p:txBody>
          <a:bodyPr anchor="ctr"/>
          <a:p>
            <a:pPr algn="ctr"/>
            <a:r>
              <a:rPr lang="zh-CN" altLang="en-GB" sz="3600" u="none" dirty="0">
                <a:solidFill>
                  <a:srgbClr val="3333CC"/>
                </a:solidFill>
                <a:latin typeface="Arial" panose="020B0604020202020204" pitchFamily="34" charset="0"/>
                <a:ea typeface="华文新魏" panose="02010800040101010101" pitchFamily="2" charset="-122"/>
              </a:rPr>
              <a:t>匹配成功</a:t>
            </a:r>
            <a:endParaRPr lang="en-GB" altLang="zh-CN" sz="3600" u="none" dirty="0">
              <a:solidFill>
                <a:srgbClr val="3333CC"/>
              </a:solidFill>
              <a:latin typeface="Arial" panose="020B0604020202020204" pitchFamily="34" charset="0"/>
              <a:ea typeface="华文新魏" panose="02010800040101010101" pitchFamily="2"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5172"/>
                                        </p:tgtEl>
                                        <p:attrNameLst>
                                          <p:attrName>style.visibility</p:attrName>
                                        </p:attrNameLst>
                                      </p:cBhvr>
                                      <p:to>
                                        <p:strVal val="visible"/>
                                      </p:to>
                                    </p:set>
                                    <p:animEffect transition="in" filter="wipe(left)">
                                      <p:cBhvr>
                                        <p:cTn id="7" dur="500"/>
                                        <p:tgtEl>
                                          <p:spTgt spid="1351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72"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3"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90114" name="Rectangle 3"/>
          <p:cNvSpPr>
            <a:spLocks noGrp="1"/>
          </p:cNvSpPr>
          <p:nvPr>
            <p:ph type="body"/>
          </p:nvPr>
        </p:nvSpPr>
        <p:spPr>
          <a:xfrm>
            <a:off x="685800" y="609600"/>
            <a:ext cx="8077200" cy="5486400"/>
          </a:xfrm>
          <a:ln/>
        </p:spPr>
        <p:txBody>
          <a:bodyPr vert="horz" wrap="square" lIns="91440" tIns="45720" rIns="91440" bIns="45720" anchor="t"/>
          <a:p>
            <a:pPr lvl="1" indent="-436245" eaLnBrk="1" hangingPunct="1">
              <a:buNone/>
            </a:pPr>
            <a:r>
              <a:rPr lang="en-US" altLang="zh-CN" b="1" dirty="0"/>
              <a:t>       ELSE IF X=‘#’ THEN</a:t>
            </a:r>
            <a:endParaRPr lang="en-US" altLang="zh-CN" b="1" dirty="0"/>
          </a:p>
          <a:p>
            <a:pPr lvl="1" indent="-436245" eaLnBrk="1" hangingPunct="1">
              <a:buNone/>
            </a:pPr>
            <a:r>
              <a:rPr lang="en-US" altLang="zh-CN" b="1" dirty="0"/>
              <a:t>	         IF X=a THEN FLAG:=FALSE </a:t>
            </a:r>
            <a:endParaRPr lang="en-US" altLang="zh-CN" b="1" dirty="0"/>
          </a:p>
          <a:p>
            <a:pPr lvl="1" indent="-436245" eaLnBrk="1" hangingPunct="1">
              <a:buNone/>
            </a:pPr>
            <a:r>
              <a:rPr lang="en-US" altLang="zh-CN" b="1" dirty="0"/>
              <a:t>                         ELSE ERROR</a:t>
            </a:r>
            <a:endParaRPr lang="en-US" altLang="zh-CN" b="1" dirty="0"/>
          </a:p>
          <a:p>
            <a:pPr lvl="1" indent="-436245" eaLnBrk="1" hangingPunct="1">
              <a:buNone/>
            </a:pPr>
            <a:r>
              <a:rPr lang="en-US" altLang="zh-CN" b="1" dirty="0"/>
              <a:t>       ELSE IF M[X,a]={X→X</a:t>
            </a:r>
            <a:r>
              <a:rPr lang="en-US" altLang="zh-CN" b="1" baseline="-25000" dirty="0"/>
              <a:t>1</a:t>
            </a:r>
            <a:r>
              <a:rPr lang="en-US" altLang="zh-CN" b="1" dirty="0"/>
              <a:t>X</a:t>
            </a:r>
            <a:r>
              <a:rPr lang="en-US" altLang="zh-CN" b="1" baseline="-25000" dirty="0"/>
              <a:t>2</a:t>
            </a:r>
            <a:r>
              <a:rPr lang="en-US" altLang="zh-CN" b="1" dirty="0"/>
              <a:t>…X</a:t>
            </a:r>
            <a:r>
              <a:rPr lang="en-US" altLang="zh-CN" b="1" baseline="-25000" dirty="0"/>
              <a:t>k</a:t>
            </a:r>
            <a:r>
              <a:rPr lang="en-US" altLang="zh-CN" b="1" dirty="0"/>
              <a:t>}THEN</a:t>
            </a:r>
            <a:endParaRPr lang="en-US" altLang="zh-CN" b="1" dirty="0"/>
          </a:p>
          <a:p>
            <a:pPr lvl="1" indent="-436245" eaLnBrk="1" hangingPunct="1">
              <a:buNone/>
            </a:pPr>
            <a:r>
              <a:rPr lang="en-US" altLang="zh-CN" b="1" dirty="0"/>
              <a:t>         	</a:t>
            </a:r>
            <a:r>
              <a:rPr lang="zh-CN" altLang="en-US" b="1" dirty="0"/>
              <a:t>把</a:t>
            </a:r>
            <a:r>
              <a:rPr lang="en-US" altLang="zh-CN" b="1" dirty="0"/>
              <a:t>X</a:t>
            </a:r>
            <a:r>
              <a:rPr lang="en-US" altLang="zh-CN" b="1" baseline="-25000" dirty="0"/>
              <a:t>k</a:t>
            </a:r>
            <a:r>
              <a:rPr lang="en-US" altLang="zh-CN" b="1" dirty="0"/>
              <a:t>,X</a:t>
            </a:r>
            <a:r>
              <a:rPr lang="en-US" altLang="zh-CN" b="1" baseline="-25000" dirty="0"/>
              <a:t>k-1</a:t>
            </a:r>
            <a:r>
              <a:rPr lang="en-US" altLang="zh-CN" b="1" dirty="0"/>
              <a:t>,…,X</a:t>
            </a:r>
            <a:r>
              <a:rPr lang="en-US" altLang="zh-CN" b="1" baseline="-25000" dirty="0"/>
              <a:t>1</a:t>
            </a:r>
            <a:r>
              <a:rPr lang="zh-CN" altLang="en-US" b="1" dirty="0"/>
              <a:t>一一推进</a:t>
            </a:r>
            <a:r>
              <a:rPr lang="en-US" altLang="zh-CN" b="1" dirty="0"/>
              <a:t>STACK</a:t>
            </a:r>
            <a:r>
              <a:rPr lang="zh-CN" altLang="en-US" b="1" dirty="0"/>
              <a:t>栈</a:t>
            </a:r>
            <a:endParaRPr lang="zh-CN" altLang="en-US" b="1" dirty="0"/>
          </a:p>
          <a:p>
            <a:pPr lvl="1" indent="-436245" eaLnBrk="1" hangingPunct="1">
              <a:buNone/>
            </a:pPr>
            <a:r>
              <a:rPr lang="zh-CN" altLang="en-US" b="1" dirty="0"/>
              <a:t>	        </a:t>
            </a:r>
            <a:r>
              <a:rPr lang="en-US" altLang="zh-CN" b="1" dirty="0"/>
              <a:t>/* </a:t>
            </a:r>
            <a:r>
              <a:rPr lang="zh-CN" altLang="en-US" b="1" dirty="0"/>
              <a:t>若</a:t>
            </a:r>
            <a:r>
              <a:rPr lang="en-US" altLang="zh-CN" b="1" dirty="0"/>
              <a:t>X</a:t>
            </a:r>
            <a:r>
              <a:rPr lang="en-US" altLang="zh-CN" b="1" baseline="-25000" dirty="0"/>
              <a:t>1</a:t>
            </a:r>
            <a:r>
              <a:rPr lang="en-US" altLang="zh-CN" b="1" dirty="0"/>
              <a:t>X</a:t>
            </a:r>
            <a:r>
              <a:rPr lang="en-US" altLang="zh-CN" b="1" baseline="-25000" dirty="0"/>
              <a:t>2</a:t>
            </a:r>
            <a:r>
              <a:rPr lang="en-US" altLang="zh-CN" b="1" dirty="0"/>
              <a:t>…X</a:t>
            </a:r>
            <a:r>
              <a:rPr lang="en-US" altLang="zh-CN" b="1" baseline="-25000" dirty="0"/>
              <a:t>k</a:t>
            </a:r>
            <a:r>
              <a:rPr lang="en-US" altLang="zh-CN" b="1" dirty="0"/>
              <a:t>=</a:t>
            </a:r>
            <a:r>
              <a:rPr lang="en-US" altLang="zh-CN" b="1" dirty="0">
                <a:sym typeface="Symbol" panose="05050102010706020507" pitchFamily="18" charset="2"/>
              </a:rPr>
              <a:t></a:t>
            </a:r>
            <a:r>
              <a:rPr lang="zh-CN" altLang="en-US" b="1" dirty="0"/>
              <a:t>，不推什么进栈 *</a:t>
            </a:r>
            <a:r>
              <a:rPr lang="en-US" altLang="zh-CN" b="1" dirty="0"/>
              <a:t>/</a:t>
            </a:r>
            <a:endParaRPr lang="en-US" altLang="zh-CN" b="1" dirty="0"/>
          </a:p>
          <a:p>
            <a:pPr lvl="1" indent="-436245" eaLnBrk="1" hangingPunct="1">
              <a:buNone/>
            </a:pPr>
            <a:r>
              <a:rPr lang="en-US" altLang="zh-CN" b="1" dirty="0"/>
              <a:t>       ELSE ERROR</a:t>
            </a:r>
            <a:endParaRPr lang="en-US" altLang="zh-CN" b="1" dirty="0"/>
          </a:p>
          <a:p>
            <a:pPr lvl="1" indent="-436245" eaLnBrk="1" hangingPunct="1">
              <a:buNone/>
            </a:pPr>
            <a:r>
              <a:rPr lang="en-US" altLang="zh-CN" b="1" dirty="0"/>
              <a:t>    END OF WHILE;</a:t>
            </a:r>
            <a:endParaRPr lang="en-US" altLang="zh-CN" b="1" dirty="0"/>
          </a:p>
          <a:p>
            <a:pPr lvl="1" indent="-436245" eaLnBrk="1" hangingPunct="1">
              <a:buNone/>
            </a:pPr>
            <a:r>
              <a:rPr lang="en-US" altLang="zh-CN" b="1" dirty="0"/>
              <a:t>STOP /*</a:t>
            </a:r>
            <a:r>
              <a:rPr lang="zh-CN" altLang="en-US" b="1" dirty="0"/>
              <a:t>分析成功，过程完毕*</a:t>
            </a:r>
            <a:r>
              <a:rPr lang="en-US" altLang="zh-CN" b="1" dirty="0"/>
              <a:t>/</a:t>
            </a:r>
            <a:endParaRPr lang="en-US" altLang="zh-CN" b="1" dirty="0"/>
          </a:p>
          <a:p>
            <a:pPr lvl="1" indent="-436245" eaLnBrk="1" hangingPunct="1">
              <a:buNone/>
            </a:pPr>
            <a:r>
              <a:rPr lang="en-US" altLang="zh-CN" b="1" dirty="0"/>
              <a:t>END</a:t>
            </a:r>
            <a:endParaRPr lang="en-US" altLang="zh-CN" b="1" dirty="0"/>
          </a:p>
        </p:txBody>
      </p:sp>
      <p:sp>
        <p:nvSpPr>
          <p:cNvPr id="136196" name="AutoShape 4"/>
          <p:cNvSpPr/>
          <p:nvPr/>
        </p:nvSpPr>
        <p:spPr>
          <a:xfrm>
            <a:off x="6443663" y="188913"/>
            <a:ext cx="2376487" cy="863600"/>
          </a:xfrm>
          <a:prstGeom prst="wedgeRectCallout">
            <a:avLst>
              <a:gd name="adj1" fmla="val -66634"/>
              <a:gd name="adj2" fmla="val 86398"/>
            </a:avLst>
          </a:prstGeom>
          <a:solidFill>
            <a:srgbClr val="FFFF99"/>
          </a:solidFill>
          <a:ln w="25400" cap="flat" cmpd="sng">
            <a:solidFill>
              <a:srgbClr val="FF0000"/>
            </a:solidFill>
            <a:prstDash val="solid"/>
            <a:miter/>
            <a:headEnd type="none" w="med" len="med"/>
            <a:tailEnd type="none" w="lg" len="lg"/>
          </a:ln>
        </p:spPr>
        <p:txBody>
          <a:bodyPr anchor="ctr"/>
          <a:p>
            <a:pPr algn="ctr"/>
            <a:r>
              <a:rPr lang="zh-CN" altLang="en-GB" sz="3600" u="none" dirty="0">
                <a:solidFill>
                  <a:srgbClr val="3333CC"/>
                </a:solidFill>
                <a:latin typeface="Arial" panose="020B0604020202020204" pitchFamily="34" charset="0"/>
                <a:ea typeface="华文新魏" panose="02010800040101010101" pitchFamily="2" charset="-122"/>
              </a:rPr>
              <a:t>分析成功</a:t>
            </a:r>
            <a:endParaRPr lang="en-GB" altLang="zh-CN" sz="3600" u="none" dirty="0">
              <a:solidFill>
                <a:srgbClr val="3333CC"/>
              </a:solidFill>
              <a:latin typeface="Arial" panose="020B0604020202020204" pitchFamily="34" charset="0"/>
              <a:ea typeface="华文新魏" panose="02010800040101010101" pitchFamily="2" charset="-122"/>
            </a:endParaRPr>
          </a:p>
        </p:txBody>
      </p:sp>
      <p:sp>
        <p:nvSpPr>
          <p:cNvPr id="136197" name="AutoShape 5"/>
          <p:cNvSpPr/>
          <p:nvPr/>
        </p:nvSpPr>
        <p:spPr>
          <a:xfrm>
            <a:off x="0" y="3068638"/>
            <a:ext cx="1403350" cy="863600"/>
          </a:xfrm>
          <a:prstGeom prst="wedgeRectCallout">
            <a:avLst>
              <a:gd name="adj1" fmla="val 83032"/>
              <a:gd name="adj2" fmla="val -93565"/>
            </a:avLst>
          </a:prstGeom>
          <a:solidFill>
            <a:srgbClr val="FFFF99"/>
          </a:solidFill>
          <a:ln w="25400" cap="flat" cmpd="sng">
            <a:solidFill>
              <a:srgbClr val="FF0000"/>
            </a:solidFill>
            <a:prstDash val="solid"/>
            <a:miter/>
            <a:headEnd type="none" w="med" len="med"/>
            <a:tailEnd type="none" w="lg" len="lg"/>
          </a:ln>
        </p:spPr>
        <p:txBody>
          <a:bodyPr anchor="ctr"/>
          <a:p>
            <a:pPr algn="ctr"/>
            <a:r>
              <a:rPr lang="zh-CN" altLang="en-GB" sz="3600" u="none" dirty="0">
                <a:solidFill>
                  <a:srgbClr val="3333CC"/>
                </a:solidFill>
                <a:latin typeface="Arial" panose="020B0604020202020204" pitchFamily="34" charset="0"/>
                <a:ea typeface="华文新魏" panose="02010800040101010101" pitchFamily="2" charset="-122"/>
              </a:rPr>
              <a:t>推导</a:t>
            </a:r>
            <a:endParaRPr lang="zh-CN" altLang="en-GB" sz="3600" u="none" dirty="0">
              <a:solidFill>
                <a:srgbClr val="3333CC"/>
              </a:solidFill>
              <a:latin typeface="Arial" panose="020B0604020202020204" pitchFamily="34" charset="0"/>
              <a:ea typeface="华文新魏" panose="02010800040101010101" pitchFamily="2"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6196"/>
                                        </p:tgtEl>
                                        <p:attrNameLst>
                                          <p:attrName>style.visibility</p:attrName>
                                        </p:attrNameLst>
                                      </p:cBhvr>
                                      <p:to>
                                        <p:strVal val="visible"/>
                                      </p:to>
                                    </p:set>
                                    <p:animEffect transition="in" filter="wipe(left)">
                                      <p:cBhvr>
                                        <p:cTn id="7" dur="500"/>
                                        <p:tgtEl>
                                          <p:spTgt spid="13619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6197"/>
                                        </p:tgtEl>
                                        <p:attrNameLst>
                                          <p:attrName>style.visibility</p:attrName>
                                        </p:attrNameLst>
                                      </p:cBhvr>
                                      <p:to>
                                        <p:strVal val="visible"/>
                                      </p:to>
                                    </p:set>
                                    <p:animEffect transition="in" filter="wipe(left)">
                                      <p:cBhvr>
                                        <p:cTn id="12" dur="500"/>
                                        <p:tgtEl>
                                          <p:spTgt spid="1361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6" grpId="0" animBg="1"/>
      <p:bldP spid="136197"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7"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137219" name="Rectangle 3"/>
          <p:cNvSpPr>
            <a:spLocks noGrp="1"/>
          </p:cNvSpPr>
          <p:nvPr>
            <p:ph type="body"/>
          </p:nvPr>
        </p:nvSpPr>
        <p:spPr>
          <a:xfrm>
            <a:off x="609600" y="549275"/>
            <a:ext cx="8355013" cy="3071813"/>
          </a:xfrm>
          <a:ln/>
        </p:spPr>
        <p:txBody>
          <a:bodyPr vert="horz" wrap="square" lIns="91440" tIns="45720" rIns="91440" bIns="45720" anchor="t"/>
          <a:p>
            <a:pPr eaLnBrk="1" hangingPunct="1">
              <a:lnSpc>
                <a:spcPct val="90000"/>
              </a:lnSpc>
              <a:spcBef>
                <a:spcPct val="0"/>
              </a:spcBef>
            </a:pPr>
            <a:r>
              <a:rPr lang="zh-CN" altLang="en-US" b="1" dirty="0"/>
              <a:t>例</a:t>
            </a:r>
            <a:r>
              <a:rPr lang="en-US" altLang="zh-CN" b="1" dirty="0"/>
              <a:t>4.6  </a:t>
            </a:r>
            <a:r>
              <a:rPr lang="zh-CN" altLang="en-US" b="1" dirty="0"/>
              <a:t>对于文法</a:t>
            </a:r>
            <a:r>
              <a:rPr lang="en-US" altLang="zh-CN" b="1" dirty="0"/>
              <a:t>G(E)</a:t>
            </a:r>
            <a:endParaRPr lang="en-US" altLang="zh-CN" b="1" dirty="0"/>
          </a:p>
          <a:p>
            <a:pPr lvl="1" indent="-436245" eaLnBrk="1" hangingPunct="1">
              <a:lnSpc>
                <a:spcPct val="90000"/>
              </a:lnSpc>
              <a:spcBef>
                <a:spcPct val="0"/>
              </a:spcBef>
              <a:buNone/>
            </a:pPr>
            <a:r>
              <a:rPr lang="en-US" altLang="zh-CN" b="1" dirty="0"/>
              <a:t>E→TE</a:t>
            </a:r>
            <a:r>
              <a:rPr lang="en-US" altLang="zh-CN" b="1" dirty="0">
                <a:sym typeface="Symbol" panose="05050102010706020507" pitchFamily="18" charset="2"/>
              </a:rPr>
              <a:t></a:t>
            </a:r>
            <a:endParaRPr lang="en-US" altLang="zh-CN" b="1" dirty="0"/>
          </a:p>
          <a:p>
            <a:pPr lvl="1" indent="-436245" eaLnBrk="1" hangingPunct="1">
              <a:lnSpc>
                <a:spcPct val="90000"/>
              </a:lnSpc>
              <a:spcBef>
                <a:spcPct val="0"/>
              </a:spcBef>
              <a:buNone/>
            </a:pPr>
            <a:r>
              <a:rPr lang="en-US" altLang="zh-CN" b="1" dirty="0"/>
              <a:t>E</a:t>
            </a:r>
            <a:r>
              <a:rPr lang="en-US" altLang="zh-CN" b="1" dirty="0">
                <a:sym typeface="Symbol" panose="05050102010706020507" pitchFamily="18" charset="2"/>
              </a:rPr>
              <a:t></a:t>
            </a:r>
            <a:r>
              <a:rPr lang="en-US" altLang="zh-CN" b="1" dirty="0"/>
              <a:t>→+TE</a:t>
            </a:r>
            <a:r>
              <a:rPr lang="en-US" altLang="zh-CN" b="1" dirty="0">
                <a:sym typeface="Symbol" panose="05050102010706020507" pitchFamily="18" charset="2"/>
              </a:rPr>
              <a:t></a:t>
            </a:r>
            <a:r>
              <a:rPr lang="en-US" altLang="zh-CN" b="1" dirty="0"/>
              <a:t> | </a:t>
            </a:r>
            <a:r>
              <a:rPr lang="en-US" altLang="zh-CN" b="1" dirty="0">
                <a:sym typeface="Symbol" panose="05050102010706020507" pitchFamily="18" charset="2"/>
              </a:rPr>
              <a:t></a:t>
            </a:r>
            <a:endParaRPr lang="en-US" altLang="zh-CN" b="1" dirty="0"/>
          </a:p>
          <a:p>
            <a:pPr lvl="1" indent="-436245" eaLnBrk="1" hangingPunct="1">
              <a:lnSpc>
                <a:spcPct val="90000"/>
              </a:lnSpc>
              <a:spcBef>
                <a:spcPct val="0"/>
              </a:spcBef>
              <a:buNone/>
            </a:pPr>
            <a:r>
              <a:rPr lang="en-US" altLang="zh-CN" b="1" dirty="0"/>
              <a:t>T→FT</a:t>
            </a:r>
            <a:r>
              <a:rPr lang="en-US" altLang="zh-CN" b="1" dirty="0">
                <a:sym typeface="Symbol" panose="05050102010706020507" pitchFamily="18" charset="2"/>
              </a:rPr>
              <a:t></a:t>
            </a:r>
            <a:r>
              <a:rPr lang="en-US" altLang="zh-CN" b="1" dirty="0"/>
              <a:t>                 </a:t>
            </a:r>
            <a:endParaRPr lang="en-US" altLang="zh-CN" b="1" dirty="0"/>
          </a:p>
          <a:p>
            <a:pPr lvl="1" indent="-436245" eaLnBrk="1" hangingPunct="1">
              <a:lnSpc>
                <a:spcPct val="90000"/>
              </a:lnSpc>
              <a:spcBef>
                <a:spcPct val="0"/>
              </a:spcBef>
              <a:buNone/>
            </a:pPr>
            <a:r>
              <a:rPr lang="en-US" altLang="zh-CN" b="1" dirty="0"/>
              <a:t>T</a:t>
            </a:r>
            <a:r>
              <a:rPr lang="en-US" altLang="zh-CN" b="1" dirty="0">
                <a:sym typeface="Symbol" panose="05050102010706020507" pitchFamily="18" charset="2"/>
              </a:rPr>
              <a:t></a:t>
            </a:r>
            <a:r>
              <a:rPr lang="en-US" altLang="zh-CN" b="1" dirty="0"/>
              <a:t>→*FT</a:t>
            </a:r>
            <a:r>
              <a:rPr lang="en-US" altLang="zh-CN" b="1" dirty="0">
                <a:sym typeface="Symbol" panose="05050102010706020507" pitchFamily="18" charset="2"/>
              </a:rPr>
              <a:t></a:t>
            </a:r>
            <a:r>
              <a:rPr lang="en-US" altLang="zh-CN" b="1" dirty="0"/>
              <a:t> | </a:t>
            </a:r>
            <a:r>
              <a:rPr lang="en-US" altLang="zh-CN" b="1" dirty="0">
                <a:sym typeface="Symbol" panose="05050102010706020507" pitchFamily="18" charset="2"/>
              </a:rPr>
              <a:t></a:t>
            </a:r>
            <a:endParaRPr lang="en-US" altLang="zh-CN" b="1" dirty="0"/>
          </a:p>
          <a:p>
            <a:pPr lvl="1" indent="-436245" eaLnBrk="1" hangingPunct="1">
              <a:lnSpc>
                <a:spcPct val="90000"/>
              </a:lnSpc>
              <a:spcBef>
                <a:spcPct val="0"/>
              </a:spcBef>
              <a:buNone/>
            </a:pPr>
            <a:r>
              <a:rPr lang="en-US" altLang="zh-CN" b="1" dirty="0"/>
              <a:t>F→(E) | i	</a:t>
            </a:r>
            <a:endParaRPr lang="en-US" altLang="zh-CN" b="1" dirty="0"/>
          </a:p>
          <a:p>
            <a:pPr eaLnBrk="1" hangingPunct="1">
              <a:lnSpc>
                <a:spcPct val="90000"/>
              </a:lnSpc>
              <a:spcBef>
                <a:spcPct val="0"/>
              </a:spcBef>
              <a:buNone/>
            </a:pPr>
            <a:r>
              <a:rPr lang="zh-CN" altLang="en-US" sz="2800" b="1" dirty="0"/>
              <a:t>输入串为</a:t>
            </a:r>
            <a:r>
              <a:rPr lang="en-US" altLang="zh-CN" sz="2800" b="1" dirty="0"/>
              <a:t>i</a:t>
            </a:r>
            <a:r>
              <a:rPr lang="en-US" altLang="zh-CN" sz="2800" b="1" baseline="-25000" dirty="0"/>
              <a:t>1</a:t>
            </a:r>
            <a:r>
              <a:rPr lang="en-US" altLang="zh-CN" sz="2800" b="1" dirty="0"/>
              <a:t>*i</a:t>
            </a:r>
            <a:r>
              <a:rPr lang="en-US" altLang="zh-CN" sz="2800" b="1" baseline="-25000" dirty="0"/>
              <a:t>2</a:t>
            </a:r>
            <a:r>
              <a:rPr lang="en-US" altLang="zh-CN" sz="2800" b="1" dirty="0"/>
              <a:t>+i</a:t>
            </a:r>
            <a:r>
              <a:rPr lang="en-US" altLang="zh-CN" sz="2800" b="1" baseline="-25000" dirty="0"/>
              <a:t>3</a:t>
            </a:r>
            <a:r>
              <a:rPr lang="zh-CN" altLang="en-US" sz="2800" b="1" dirty="0"/>
              <a:t>，利用分析表进行预测分析：</a:t>
            </a:r>
            <a:endParaRPr lang="zh-CN" altLang="en-US" sz="2800" b="1" dirty="0"/>
          </a:p>
        </p:txBody>
      </p:sp>
      <p:graphicFrame>
        <p:nvGraphicFramePr>
          <p:cNvPr id="137220" name="Object 4"/>
          <p:cNvGraphicFramePr>
            <a:graphicFrameLocks noChangeAspect="1"/>
          </p:cNvGraphicFramePr>
          <p:nvPr/>
        </p:nvGraphicFramePr>
        <p:xfrm>
          <a:off x="684213" y="3644900"/>
          <a:ext cx="8229600" cy="2925763"/>
        </p:xfrm>
        <a:graphic>
          <a:graphicData uri="http://schemas.openxmlformats.org/presentationml/2006/ole">
            <mc:AlternateContent xmlns:mc="http://schemas.openxmlformats.org/markup-compatibility/2006">
              <mc:Choice xmlns:v="urn:schemas-microsoft-com:vml" Requires="v">
                <p:oleObj spid="_x0000_s3085" name="" r:id="rId1" imgW="5344160" imgH="1891665" progId="Word.Document.8">
                  <p:embed/>
                </p:oleObj>
              </mc:Choice>
              <mc:Fallback>
                <p:oleObj name="" r:id="rId1" imgW="5344160" imgH="1891665" progId="Word.Document.8">
                  <p:embed/>
                  <p:pic>
                    <p:nvPicPr>
                      <p:cNvPr id="0" name="图片 3084"/>
                      <p:cNvPicPr/>
                      <p:nvPr/>
                    </p:nvPicPr>
                    <p:blipFill>
                      <a:blip r:embed="rId2">
                        <a:clrChange>
                          <a:clrFrom>
                            <a:srgbClr val="000000"/>
                          </a:clrFrom>
                          <a:clrTo>
                            <a:srgbClr val="000000"/>
                          </a:clrTo>
                        </a:clrChange>
                      </a:blip>
                      <a:stretch>
                        <a:fillRect/>
                      </a:stretch>
                    </p:blipFill>
                    <p:spPr>
                      <a:xfrm>
                        <a:off x="684213" y="3644900"/>
                        <a:ext cx="8229600" cy="2925763"/>
                      </a:xfrm>
                      <a:prstGeom prst="rect">
                        <a:avLst/>
                      </a:prstGeom>
                      <a:noFill/>
                      <a:ln w="38100">
                        <a:noFill/>
                        <a:miter/>
                      </a:ln>
                    </p:spPr>
                  </p:pic>
                </p:oleObj>
              </mc:Fallback>
            </mc:AlternateContent>
          </a:graphicData>
        </a:graphic>
      </p:graphicFrame>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7219">
                                            <p:txEl>
                                              <p:charRg st="0" end="15"/>
                                            </p:txEl>
                                          </p:spTgt>
                                        </p:tgtEl>
                                        <p:attrNameLst>
                                          <p:attrName>style.visibility</p:attrName>
                                        </p:attrNameLst>
                                      </p:cBhvr>
                                      <p:to>
                                        <p:strVal val="visible"/>
                                      </p:to>
                                    </p:set>
                                    <p:anim calcmode="lin" valueType="num">
                                      <p:cBhvr additive="base">
                                        <p:cTn id="7" dur="500" fill="hold"/>
                                        <p:tgtEl>
                                          <p:spTgt spid="137219">
                                            <p:txEl>
                                              <p:charRg st="0" end="15"/>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37219">
                                            <p:txEl>
                                              <p:charRg st="0" end="15"/>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37219">
                                            <p:txEl>
                                              <p:charRg st="15" end="21"/>
                                            </p:txEl>
                                          </p:spTgt>
                                        </p:tgtEl>
                                        <p:attrNameLst>
                                          <p:attrName>style.visibility</p:attrName>
                                        </p:attrNameLst>
                                      </p:cBhvr>
                                      <p:to>
                                        <p:strVal val="visible"/>
                                      </p:to>
                                    </p:set>
                                    <p:anim calcmode="lin" valueType="num">
                                      <p:cBhvr additive="base">
                                        <p:cTn id="11" dur="500" fill="hold"/>
                                        <p:tgtEl>
                                          <p:spTgt spid="137219">
                                            <p:txEl>
                                              <p:charRg st="15" end="2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137219">
                                            <p:txEl>
                                              <p:charRg st="15" end="2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37219">
                                            <p:txEl>
                                              <p:charRg st="21" end="33"/>
                                            </p:txEl>
                                          </p:spTgt>
                                        </p:tgtEl>
                                        <p:attrNameLst>
                                          <p:attrName>style.visibility</p:attrName>
                                        </p:attrNameLst>
                                      </p:cBhvr>
                                      <p:to>
                                        <p:strVal val="visible"/>
                                      </p:to>
                                    </p:set>
                                    <p:anim calcmode="lin" valueType="num">
                                      <p:cBhvr additive="base">
                                        <p:cTn id="15" dur="500" fill="hold"/>
                                        <p:tgtEl>
                                          <p:spTgt spid="137219">
                                            <p:txEl>
                                              <p:charRg st="21" end="33"/>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137219">
                                            <p:txEl>
                                              <p:charRg st="21" end="33"/>
                                            </p:txEl>
                                          </p:spTgt>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137219">
                                            <p:txEl>
                                              <p:charRg st="33" end="56"/>
                                            </p:txEl>
                                          </p:spTgt>
                                        </p:tgtEl>
                                        <p:attrNameLst>
                                          <p:attrName>style.visibility</p:attrName>
                                        </p:attrNameLst>
                                      </p:cBhvr>
                                      <p:to>
                                        <p:strVal val="visible"/>
                                      </p:to>
                                    </p:set>
                                    <p:anim calcmode="lin" valueType="num">
                                      <p:cBhvr additive="base">
                                        <p:cTn id="19" dur="500" fill="hold"/>
                                        <p:tgtEl>
                                          <p:spTgt spid="137219">
                                            <p:txEl>
                                              <p:charRg st="33" end="56"/>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37219">
                                            <p:txEl>
                                              <p:charRg st="33" end="56"/>
                                            </p:txEl>
                                          </p:spTgt>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137219">
                                            <p:txEl>
                                              <p:charRg st="56" end="68"/>
                                            </p:txEl>
                                          </p:spTgt>
                                        </p:tgtEl>
                                        <p:attrNameLst>
                                          <p:attrName>style.visibility</p:attrName>
                                        </p:attrNameLst>
                                      </p:cBhvr>
                                      <p:to>
                                        <p:strVal val="visible"/>
                                      </p:to>
                                    </p:set>
                                    <p:anim calcmode="lin" valueType="num">
                                      <p:cBhvr additive="base">
                                        <p:cTn id="23" dur="500" fill="hold"/>
                                        <p:tgtEl>
                                          <p:spTgt spid="137219">
                                            <p:txEl>
                                              <p:charRg st="56" end="68"/>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137219">
                                            <p:txEl>
                                              <p:charRg st="56" end="68"/>
                                            </p:txEl>
                                          </p:spTgt>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37219">
                                            <p:txEl>
                                              <p:charRg st="68" end="79"/>
                                            </p:txEl>
                                          </p:spTgt>
                                        </p:tgtEl>
                                        <p:attrNameLst>
                                          <p:attrName>style.visibility</p:attrName>
                                        </p:attrNameLst>
                                      </p:cBhvr>
                                      <p:to>
                                        <p:strVal val="visible"/>
                                      </p:to>
                                    </p:set>
                                    <p:anim calcmode="lin" valueType="num">
                                      <p:cBhvr additive="base">
                                        <p:cTn id="27" dur="500" fill="hold"/>
                                        <p:tgtEl>
                                          <p:spTgt spid="137219">
                                            <p:txEl>
                                              <p:charRg st="68" end="79"/>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137219">
                                            <p:txEl>
                                              <p:charRg st="68" end="79"/>
                                            </p:txEl>
                                          </p:spTgt>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137219">
                                            <p:txEl>
                                              <p:charRg st="79" end="105"/>
                                            </p:txEl>
                                          </p:spTgt>
                                        </p:tgtEl>
                                        <p:attrNameLst>
                                          <p:attrName>style.visibility</p:attrName>
                                        </p:attrNameLst>
                                      </p:cBhvr>
                                      <p:to>
                                        <p:strVal val="visible"/>
                                      </p:to>
                                    </p:set>
                                    <p:anim calcmode="lin" valueType="num">
                                      <p:cBhvr additive="base">
                                        <p:cTn id="33" dur="500" fill="hold"/>
                                        <p:tgtEl>
                                          <p:spTgt spid="137219">
                                            <p:txEl>
                                              <p:charRg st="79" end="105"/>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137219">
                                            <p:txEl>
                                              <p:charRg st="79" end="105"/>
                                            </p:txEl>
                                          </p:spTgt>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nodeType="clickEffect">
                                  <p:stCondLst>
                                    <p:cond delay="0"/>
                                  </p:stCondLst>
                                  <p:childTnLst>
                                    <p:set>
                                      <p:cBhvr>
                                        <p:cTn id="38" dur="1" fill="hold">
                                          <p:stCondLst>
                                            <p:cond delay="0"/>
                                          </p:stCondLst>
                                        </p:cTn>
                                        <p:tgtEl>
                                          <p:spTgt spid="137220"/>
                                        </p:tgtEl>
                                        <p:attrNameLst>
                                          <p:attrName>style.visibility</p:attrName>
                                        </p:attrNameLst>
                                      </p:cBhvr>
                                      <p:to>
                                        <p:strVal val="visible"/>
                                      </p:to>
                                    </p:set>
                                    <p:anim calcmode="lin" valueType="num">
                                      <p:cBhvr additive="base">
                                        <p:cTn id="39" dur="500" fill="hold"/>
                                        <p:tgtEl>
                                          <p:spTgt spid="137220"/>
                                        </p:tgtEl>
                                        <p:attrNameLst>
                                          <p:attrName>ppt_x</p:attrName>
                                        </p:attrNameLst>
                                      </p:cBhvr>
                                      <p:tavLst>
                                        <p:tav tm="0">
                                          <p:val>
                                            <p:strVal val="0-#ppt_w/2"/>
                                          </p:val>
                                        </p:tav>
                                        <p:tav tm="100000">
                                          <p:val>
                                            <p:strVal val="#ppt_x"/>
                                          </p:val>
                                        </p:tav>
                                      </p:tavLst>
                                    </p:anim>
                                    <p:anim calcmode="lin" valueType="num">
                                      <p:cBhvr additive="base">
                                        <p:cTn id="40" dur="500" fill="hold"/>
                                        <p:tgtEl>
                                          <p:spTgt spid="1372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19" grpId="0" build="p"/>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1"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138243" name="Rectangle 3"/>
          <p:cNvSpPr>
            <a:spLocks noGrp="1"/>
          </p:cNvSpPr>
          <p:nvPr>
            <p:ph type="body"/>
          </p:nvPr>
        </p:nvSpPr>
        <p:spPr>
          <a:xfrm>
            <a:off x="611188" y="476250"/>
            <a:ext cx="8305800" cy="3106738"/>
          </a:xfrm>
          <a:ln/>
        </p:spPr>
        <p:txBody>
          <a:bodyPr vert="horz" wrap="square" lIns="91440" tIns="45720" rIns="91440" bIns="45720" anchor="t"/>
          <a:p>
            <a:pPr eaLnBrk="1" hangingPunct="1">
              <a:buNone/>
            </a:pPr>
            <a:r>
              <a:rPr lang="zh-CN" altLang="en-US" b="1" u="sng" dirty="0"/>
              <a:t>步骤</a:t>
            </a:r>
            <a:r>
              <a:rPr lang="zh-CN" altLang="en-US" b="1" dirty="0"/>
              <a:t>		</a:t>
            </a:r>
            <a:r>
              <a:rPr lang="zh-CN" altLang="en-US" b="1" u="sng" dirty="0"/>
              <a:t>符号栈</a:t>
            </a:r>
            <a:r>
              <a:rPr lang="zh-CN" altLang="en-US" b="1" dirty="0"/>
              <a:t>	</a:t>
            </a:r>
            <a:r>
              <a:rPr lang="zh-CN" altLang="en-US" b="1" u="sng" dirty="0"/>
              <a:t>输入串</a:t>
            </a:r>
            <a:r>
              <a:rPr lang="zh-CN" altLang="en-US" b="1" dirty="0"/>
              <a:t>	</a:t>
            </a:r>
            <a:r>
              <a:rPr lang="zh-CN" altLang="en-US" b="1" u="sng" dirty="0"/>
              <a:t>所用产生式</a:t>
            </a:r>
            <a:endParaRPr lang="zh-CN" altLang="en-US" b="1" dirty="0"/>
          </a:p>
          <a:p>
            <a:pPr eaLnBrk="1" hangingPunct="1">
              <a:spcBef>
                <a:spcPct val="30000"/>
              </a:spcBef>
              <a:buNone/>
            </a:pPr>
            <a:r>
              <a:rPr lang="en-US" altLang="zh-CN" b="1" dirty="0"/>
              <a:t>0			#E		i</a:t>
            </a:r>
            <a:r>
              <a:rPr lang="en-US" altLang="zh-CN" b="1" baseline="-25000" dirty="0"/>
              <a:t>1</a:t>
            </a:r>
            <a:r>
              <a:rPr lang="en-US" altLang="zh-CN" b="1" dirty="0"/>
              <a:t>*i</a:t>
            </a:r>
            <a:r>
              <a:rPr lang="en-US" altLang="zh-CN" b="1" baseline="-25000" dirty="0"/>
              <a:t>2</a:t>
            </a:r>
            <a:r>
              <a:rPr lang="en-US" altLang="zh-CN" b="1" dirty="0"/>
              <a:t>+i</a:t>
            </a:r>
            <a:r>
              <a:rPr lang="en-US" altLang="zh-CN" b="1" baseline="-25000" dirty="0"/>
              <a:t>3</a:t>
            </a:r>
            <a:r>
              <a:rPr lang="en-US" altLang="zh-CN" b="1" dirty="0"/>
              <a:t>#</a:t>
            </a:r>
            <a:endParaRPr lang="en-US" altLang="zh-CN" b="1" dirty="0"/>
          </a:p>
          <a:p>
            <a:pPr eaLnBrk="1" hangingPunct="1">
              <a:spcBef>
                <a:spcPct val="30000"/>
              </a:spcBef>
              <a:buNone/>
            </a:pPr>
            <a:r>
              <a:rPr lang="en-US" altLang="zh-CN" b="1" dirty="0"/>
              <a:t>1			#E</a:t>
            </a:r>
            <a:r>
              <a:rPr lang="en-US" altLang="zh-CN" b="1" dirty="0">
                <a:sym typeface="Symbol" panose="05050102010706020507" pitchFamily="18" charset="2"/>
              </a:rPr>
              <a:t></a:t>
            </a:r>
            <a:r>
              <a:rPr lang="en-US" altLang="zh-CN" b="1" dirty="0"/>
              <a:t>T		i</a:t>
            </a:r>
            <a:r>
              <a:rPr lang="en-US" altLang="zh-CN" b="1" baseline="-25000" dirty="0"/>
              <a:t>1</a:t>
            </a:r>
            <a:r>
              <a:rPr lang="en-US" altLang="zh-CN" b="1" dirty="0"/>
              <a:t>*i</a:t>
            </a:r>
            <a:r>
              <a:rPr lang="en-US" altLang="zh-CN" b="1" baseline="-25000" dirty="0"/>
              <a:t>2</a:t>
            </a:r>
            <a:r>
              <a:rPr lang="en-US" altLang="zh-CN" b="1" dirty="0"/>
              <a:t>+i</a:t>
            </a:r>
            <a:r>
              <a:rPr lang="en-US" altLang="zh-CN" b="1" baseline="-25000" dirty="0"/>
              <a:t>3</a:t>
            </a:r>
            <a:r>
              <a:rPr lang="en-US" altLang="zh-CN" b="1" dirty="0"/>
              <a:t>#   	   E→TE</a:t>
            </a:r>
            <a:r>
              <a:rPr lang="en-US" altLang="zh-CN" b="1" dirty="0">
                <a:sym typeface="Symbol" panose="05050102010706020507" pitchFamily="18" charset="2"/>
              </a:rPr>
              <a:t></a:t>
            </a:r>
            <a:endParaRPr lang="en-US" altLang="zh-CN" b="1" dirty="0"/>
          </a:p>
          <a:p>
            <a:pPr eaLnBrk="1" hangingPunct="1">
              <a:spcBef>
                <a:spcPct val="30000"/>
              </a:spcBef>
              <a:buNone/>
            </a:pPr>
            <a:r>
              <a:rPr lang="en-US" altLang="zh-CN" b="1" dirty="0"/>
              <a:t>2			#E</a:t>
            </a:r>
            <a:r>
              <a:rPr lang="en-US" altLang="zh-CN" b="1" dirty="0">
                <a:sym typeface="Symbol" panose="05050102010706020507" pitchFamily="18" charset="2"/>
              </a:rPr>
              <a:t></a:t>
            </a:r>
            <a:r>
              <a:rPr lang="en-US" altLang="zh-CN" b="1" dirty="0"/>
              <a:t>T</a:t>
            </a:r>
            <a:r>
              <a:rPr lang="en-US" altLang="zh-CN" b="1" dirty="0">
                <a:sym typeface="Symbol" panose="05050102010706020507" pitchFamily="18" charset="2"/>
              </a:rPr>
              <a:t></a:t>
            </a:r>
            <a:r>
              <a:rPr lang="en-US" altLang="zh-CN" b="1" dirty="0"/>
              <a:t>F	i</a:t>
            </a:r>
            <a:r>
              <a:rPr lang="en-US" altLang="zh-CN" b="1" baseline="-25000" dirty="0"/>
              <a:t>1</a:t>
            </a:r>
            <a:r>
              <a:rPr lang="en-US" altLang="zh-CN" b="1" dirty="0"/>
              <a:t>*i</a:t>
            </a:r>
            <a:r>
              <a:rPr lang="en-US" altLang="zh-CN" b="1" baseline="-25000" dirty="0"/>
              <a:t>2</a:t>
            </a:r>
            <a:r>
              <a:rPr lang="en-US" altLang="zh-CN" b="1" dirty="0"/>
              <a:t>+i</a:t>
            </a:r>
            <a:r>
              <a:rPr lang="en-US" altLang="zh-CN" b="1" baseline="-25000" dirty="0"/>
              <a:t>3</a:t>
            </a:r>
            <a:r>
              <a:rPr lang="en-US" altLang="zh-CN" b="1" dirty="0"/>
              <a:t>#   	   T→FT</a:t>
            </a:r>
            <a:r>
              <a:rPr lang="en-US" altLang="zh-CN" b="1" dirty="0">
                <a:sym typeface="Symbol" panose="05050102010706020507" pitchFamily="18" charset="2"/>
              </a:rPr>
              <a:t></a:t>
            </a:r>
            <a:endParaRPr lang="en-US" altLang="zh-CN" b="1" dirty="0"/>
          </a:p>
          <a:p>
            <a:pPr eaLnBrk="1" hangingPunct="1">
              <a:spcBef>
                <a:spcPct val="30000"/>
              </a:spcBef>
              <a:buNone/>
            </a:pPr>
            <a:r>
              <a:rPr lang="en-US" altLang="zh-CN" b="1" dirty="0"/>
              <a:t>3			#E</a:t>
            </a:r>
            <a:r>
              <a:rPr lang="en-US" altLang="zh-CN" b="1" dirty="0">
                <a:sym typeface="Symbol" panose="05050102010706020507" pitchFamily="18" charset="2"/>
              </a:rPr>
              <a:t></a:t>
            </a:r>
            <a:r>
              <a:rPr lang="en-US" altLang="zh-CN" b="1" dirty="0"/>
              <a:t>T</a:t>
            </a:r>
            <a:r>
              <a:rPr lang="en-US" altLang="zh-CN" b="1" dirty="0">
                <a:sym typeface="Symbol" panose="05050102010706020507" pitchFamily="18" charset="2"/>
              </a:rPr>
              <a:t></a:t>
            </a:r>
            <a:r>
              <a:rPr lang="en-US" altLang="zh-CN" b="1" dirty="0"/>
              <a:t>i	i</a:t>
            </a:r>
            <a:r>
              <a:rPr lang="en-US" altLang="zh-CN" b="1" baseline="-25000" dirty="0"/>
              <a:t>1</a:t>
            </a:r>
            <a:r>
              <a:rPr lang="en-US" altLang="zh-CN" b="1" dirty="0"/>
              <a:t>*i</a:t>
            </a:r>
            <a:r>
              <a:rPr lang="en-US" altLang="zh-CN" b="1" baseline="-25000" dirty="0"/>
              <a:t>2</a:t>
            </a:r>
            <a:r>
              <a:rPr lang="en-US" altLang="zh-CN" b="1" dirty="0"/>
              <a:t>+i</a:t>
            </a:r>
            <a:r>
              <a:rPr lang="en-US" altLang="zh-CN" b="1" baseline="-25000" dirty="0"/>
              <a:t>3</a:t>
            </a:r>
            <a:r>
              <a:rPr lang="en-US" altLang="zh-CN" b="1" dirty="0"/>
              <a:t># 	   F→i</a:t>
            </a:r>
            <a:endParaRPr lang="en-US" altLang="zh-CN" b="1" dirty="0"/>
          </a:p>
        </p:txBody>
      </p:sp>
      <p:graphicFrame>
        <p:nvGraphicFramePr>
          <p:cNvPr id="138247" name="Object 7"/>
          <p:cNvGraphicFramePr>
            <a:graphicFrameLocks noChangeAspect="1"/>
          </p:cNvGraphicFramePr>
          <p:nvPr/>
        </p:nvGraphicFramePr>
        <p:xfrm>
          <a:off x="539750" y="3492500"/>
          <a:ext cx="8229600" cy="2944813"/>
        </p:xfrm>
        <a:graphic>
          <a:graphicData uri="http://schemas.openxmlformats.org/presentationml/2006/ole">
            <mc:AlternateContent xmlns:mc="http://schemas.openxmlformats.org/markup-compatibility/2006">
              <mc:Choice xmlns:v="urn:schemas-microsoft-com:vml" Requires="v">
                <p:oleObj spid="_x0000_s3087" name="" r:id="rId1" imgW="5335270" imgH="1888490" progId="Word.Document.8">
                  <p:embed/>
                </p:oleObj>
              </mc:Choice>
              <mc:Fallback>
                <p:oleObj name="" r:id="rId1" imgW="5335270" imgH="1888490" progId="Word.Document.8">
                  <p:embed/>
                  <p:pic>
                    <p:nvPicPr>
                      <p:cNvPr id="0" name="图片 3086"/>
                      <p:cNvPicPr/>
                      <p:nvPr/>
                    </p:nvPicPr>
                    <p:blipFill>
                      <a:blip r:embed="rId2">
                        <a:clrChange>
                          <a:clrFrom>
                            <a:srgbClr val="000000"/>
                          </a:clrFrom>
                          <a:clrTo>
                            <a:srgbClr val="000000"/>
                          </a:clrTo>
                        </a:clrChange>
                      </a:blip>
                      <a:stretch>
                        <a:fillRect/>
                      </a:stretch>
                    </p:blipFill>
                    <p:spPr>
                      <a:xfrm>
                        <a:off x="539750" y="3492500"/>
                        <a:ext cx="8229600" cy="2944813"/>
                      </a:xfrm>
                      <a:prstGeom prst="rect">
                        <a:avLst/>
                      </a:prstGeom>
                      <a:noFill/>
                      <a:ln w="38100">
                        <a:noFill/>
                        <a:miter/>
                      </a:ln>
                    </p:spPr>
                  </p:pic>
                </p:oleObj>
              </mc:Fallback>
            </mc:AlternateContent>
          </a:graphicData>
        </a:graphic>
      </p:graphicFrame>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 fill="hold" grpId="0" nodeType="clickEffect">
                                  <p:stCondLst>
                                    <p:cond delay="0"/>
                                  </p:stCondLst>
                                  <p:childTnLst>
                                    <p:set>
                                      <p:cBhvr>
                                        <p:cTn id="6" dur="1" fill="hold">
                                          <p:stCondLst>
                                            <p:cond delay="0"/>
                                          </p:stCondLst>
                                        </p:cTn>
                                        <p:tgtEl>
                                          <p:spTgt spid="138243">
                                            <p:txEl>
                                              <p:charRg st="0" end="18"/>
                                            </p:txEl>
                                          </p:spTgt>
                                        </p:tgtEl>
                                        <p:attrNameLst>
                                          <p:attrName>style.visibility</p:attrName>
                                        </p:attrNameLst>
                                      </p:cBhvr>
                                      <p:to>
                                        <p:strVal val="visible"/>
                                      </p:to>
                                    </p:set>
                                    <p:anim calcmode="lin" valueType="num">
                                      <p:cBhvr>
                                        <p:cTn id="7" dur="500" fill="hold"/>
                                        <p:tgtEl>
                                          <p:spTgt spid="138243">
                                            <p:txEl>
                                              <p:charRg st="0" end="18"/>
                                            </p:txEl>
                                          </p:spTgt>
                                        </p:tgtEl>
                                        <p:attrNameLst>
                                          <p:attrName>ppt_x</p:attrName>
                                        </p:attrNameLst>
                                      </p:cBhvr>
                                      <p:tavLst>
                                        <p:tav tm="0">
                                          <p:val>
                                            <p:strVal val="#ppt_x"/>
                                          </p:val>
                                        </p:tav>
                                        <p:tav tm="100000">
                                          <p:val>
                                            <p:strVal val="#ppt_x"/>
                                          </p:val>
                                        </p:tav>
                                      </p:tavLst>
                                    </p:anim>
                                    <p:anim calcmode="lin" valueType="num">
                                      <p:cBhvr>
                                        <p:cTn id="8" dur="500" fill="hold"/>
                                        <p:tgtEl>
                                          <p:spTgt spid="138243">
                                            <p:txEl>
                                              <p:charRg st="0" end="18"/>
                                            </p:txEl>
                                          </p:spTgt>
                                        </p:tgtEl>
                                        <p:attrNameLst>
                                          <p:attrName>ppt_y</p:attrName>
                                        </p:attrNameLst>
                                      </p:cBhvr>
                                      <p:tavLst>
                                        <p:tav tm="0">
                                          <p:val>
                                            <p:strVal val="#ppt_y-#ppt_h/2"/>
                                          </p:val>
                                        </p:tav>
                                        <p:tav tm="100000">
                                          <p:val>
                                            <p:strVal val="#ppt_y"/>
                                          </p:val>
                                        </p:tav>
                                      </p:tavLst>
                                    </p:anim>
                                    <p:anim calcmode="lin" valueType="num">
                                      <p:cBhvr>
                                        <p:cTn id="9" dur="500" fill="hold"/>
                                        <p:tgtEl>
                                          <p:spTgt spid="138243">
                                            <p:txEl>
                                              <p:charRg st="0" end="18"/>
                                            </p:txEl>
                                          </p:spTgt>
                                        </p:tgtEl>
                                        <p:attrNameLst>
                                          <p:attrName>ppt_w</p:attrName>
                                        </p:attrNameLst>
                                      </p:cBhvr>
                                      <p:tavLst>
                                        <p:tav tm="0">
                                          <p:val>
                                            <p:strVal val="#ppt_w"/>
                                          </p:val>
                                        </p:tav>
                                        <p:tav tm="100000">
                                          <p:val>
                                            <p:strVal val="#ppt_w"/>
                                          </p:val>
                                        </p:tav>
                                      </p:tavLst>
                                    </p:anim>
                                    <p:anim calcmode="lin" valueType="num">
                                      <p:cBhvr>
                                        <p:cTn id="10" dur="500" fill="hold"/>
                                        <p:tgtEl>
                                          <p:spTgt spid="138243">
                                            <p:txEl>
                                              <p:charRg st="0" end="18"/>
                                            </p:txEl>
                                          </p:spTgt>
                                        </p:tgtEl>
                                        <p:attrNameLst>
                                          <p:attrName>ppt_h</p:attrName>
                                        </p:attrNameLst>
                                      </p:cBhvr>
                                      <p:tavLst>
                                        <p:tav tm="0">
                                          <p:val>
                                            <p:fltVal val="0.000000"/>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7" presetClass="entr" presetSubtype="1" fill="hold" grpId="0" nodeType="clickEffect">
                                  <p:stCondLst>
                                    <p:cond delay="0"/>
                                  </p:stCondLst>
                                  <p:childTnLst>
                                    <p:set>
                                      <p:cBhvr>
                                        <p:cTn id="14" dur="1" fill="hold">
                                          <p:stCondLst>
                                            <p:cond delay="0"/>
                                          </p:stCondLst>
                                        </p:cTn>
                                        <p:tgtEl>
                                          <p:spTgt spid="138243">
                                            <p:txEl>
                                              <p:charRg st="18" end="36"/>
                                            </p:txEl>
                                          </p:spTgt>
                                        </p:tgtEl>
                                        <p:attrNameLst>
                                          <p:attrName>style.visibility</p:attrName>
                                        </p:attrNameLst>
                                      </p:cBhvr>
                                      <p:to>
                                        <p:strVal val="visible"/>
                                      </p:to>
                                    </p:set>
                                    <p:anim calcmode="lin" valueType="num">
                                      <p:cBhvr>
                                        <p:cTn id="15" dur="500" fill="hold"/>
                                        <p:tgtEl>
                                          <p:spTgt spid="138243">
                                            <p:txEl>
                                              <p:charRg st="18" end="36"/>
                                            </p:txEl>
                                          </p:spTgt>
                                        </p:tgtEl>
                                        <p:attrNameLst>
                                          <p:attrName>ppt_x</p:attrName>
                                        </p:attrNameLst>
                                      </p:cBhvr>
                                      <p:tavLst>
                                        <p:tav tm="0">
                                          <p:val>
                                            <p:strVal val="#ppt_x"/>
                                          </p:val>
                                        </p:tav>
                                        <p:tav tm="100000">
                                          <p:val>
                                            <p:strVal val="#ppt_x"/>
                                          </p:val>
                                        </p:tav>
                                      </p:tavLst>
                                    </p:anim>
                                    <p:anim calcmode="lin" valueType="num">
                                      <p:cBhvr>
                                        <p:cTn id="16" dur="500" fill="hold"/>
                                        <p:tgtEl>
                                          <p:spTgt spid="138243">
                                            <p:txEl>
                                              <p:charRg st="18" end="36"/>
                                            </p:txEl>
                                          </p:spTgt>
                                        </p:tgtEl>
                                        <p:attrNameLst>
                                          <p:attrName>ppt_y</p:attrName>
                                        </p:attrNameLst>
                                      </p:cBhvr>
                                      <p:tavLst>
                                        <p:tav tm="0">
                                          <p:val>
                                            <p:strVal val="#ppt_y-#ppt_h/2"/>
                                          </p:val>
                                        </p:tav>
                                        <p:tav tm="100000">
                                          <p:val>
                                            <p:strVal val="#ppt_y"/>
                                          </p:val>
                                        </p:tav>
                                      </p:tavLst>
                                    </p:anim>
                                    <p:anim calcmode="lin" valueType="num">
                                      <p:cBhvr>
                                        <p:cTn id="17" dur="500" fill="hold"/>
                                        <p:tgtEl>
                                          <p:spTgt spid="138243">
                                            <p:txEl>
                                              <p:charRg st="18" end="36"/>
                                            </p:txEl>
                                          </p:spTgt>
                                        </p:tgtEl>
                                        <p:attrNameLst>
                                          <p:attrName>ppt_w</p:attrName>
                                        </p:attrNameLst>
                                      </p:cBhvr>
                                      <p:tavLst>
                                        <p:tav tm="0">
                                          <p:val>
                                            <p:strVal val="#ppt_w"/>
                                          </p:val>
                                        </p:tav>
                                        <p:tav tm="100000">
                                          <p:val>
                                            <p:strVal val="#ppt_w"/>
                                          </p:val>
                                        </p:tav>
                                      </p:tavLst>
                                    </p:anim>
                                    <p:anim calcmode="lin" valueType="num">
                                      <p:cBhvr>
                                        <p:cTn id="18" dur="500" fill="hold"/>
                                        <p:tgtEl>
                                          <p:spTgt spid="138243">
                                            <p:txEl>
                                              <p:charRg st="18" end="36"/>
                                            </p:txEl>
                                          </p:spTgt>
                                        </p:tgtEl>
                                        <p:attrNameLst>
                                          <p:attrName>ppt_h</p:attrName>
                                        </p:attrNameLst>
                                      </p:cBhvr>
                                      <p:tavLst>
                                        <p:tav tm="0">
                                          <p:val>
                                            <p:fltVal val="0.00000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138247"/>
                                        </p:tgtEl>
                                        <p:attrNameLst>
                                          <p:attrName>style.visibility</p:attrName>
                                        </p:attrNameLst>
                                      </p:cBhvr>
                                      <p:to>
                                        <p:strVal val="visible"/>
                                      </p:to>
                                    </p:set>
                                    <p:anim calcmode="lin" valueType="num">
                                      <p:cBhvr additive="base">
                                        <p:cTn id="23" dur="500" fill="hold"/>
                                        <p:tgtEl>
                                          <p:spTgt spid="138247"/>
                                        </p:tgtEl>
                                        <p:attrNameLst>
                                          <p:attrName>ppt_x</p:attrName>
                                        </p:attrNameLst>
                                      </p:cBhvr>
                                      <p:tavLst>
                                        <p:tav tm="0">
                                          <p:val>
                                            <p:strVal val="0-#ppt_w/2"/>
                                          </p:val>
                                        </p:tav>
                                        <p:tav tm="100000">
                                          <p:val>
                                            <p:strVal val="#ppt_x"/>
                                          </p:val>
                                        </p:tav>
                                      </p:tavLst>
                                    </p:anim>
                                    <p:anim calcmode="lin" valueType="num">
                                      <p:cBhvr additive="base">
                                        <p:cTn id="24" dur="500" fill="hold"/>
                                        <p:tgtEl>
                                          <p:spTgt spid="138247"/>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7" presetClass="entr" presetSubtype="1" fill="hold" grpId="0" nodeType="clickEffect">
                                  <p:stCondLst>
                                    <p:cond delay="0"/>
                                  </p:stCondLst>
                                  <p:childTnLst>
                                    <p:set>
                                      <p:cBhvr>
                                        <p:cTn id="28" dur="1" fill="hold">
                                          <p:stCondLst>
                                            <p:cond delay="0"/>
                                          </p:stCondLst>
                                        </p:cTn>
                                        <p:tgtEl>
                                          <p:spTgt spid="138243">
                                            <p:txEl>
                                              <p:charRg st="36" end="68"/>
                                            </p:txEl>
                                          </p:spTgt>
                                        </p:tgtEl>
                                        <p:attrNameLst>
                                          <p:attrName>style.visibility</p:attrName>
                                        </p:attrNameLst>
                                      </p:cBhvr>
                                      <p:to>
                                        <p:strVal val="visible"/>
                                      </p:to>
                                    </p:set>
                                    <p:anim calcmode="lin" valueType="num">
                                      <p:cBhvr>
                                        <p:cTn id="29" dur="500" fill="hold"/>
                                        <p:tgtEl>
                                          <p:spTgt spid="138243">
                                            <p:txEl>
                                              <p:charRg st="36" end="68"/>
                                            </p:txEl>
                                          </p:spTgt>
                                        </p:tgtEl>
                                        <p:attrNameLst>
                                          <p:attrName>ppt_x</p:attrName>
                                        </p:attrNameLst>
                                      </p:cBhvr>
                                      <p:tavLst>
                                        <p:tav tm="0">
                                          <p:val>
                                            <p:strVal val="#ppt_x"/>
                                          </p:val>
                                        </p:tav>
                                        <p:tav tm="100000">
                                          <p:val>
                                            <p:strVal val="#ppt_x"/>
                                          </p:val>
                                        </p:tav>
                                      </p:tavLst>
                                    </p:anim>
                                    <p:anim calcmode="lin" valueType="num">
                                      <p:cBhvr>
                                        <p:cTn id="30" dur="500" fill="hold"/>
                                        <p:tgtEl>
                                          <p:spTgt spid="138243">
                                            <p:txEl>
                                              <p:charRg st="36" end="68"/>
                                            </p:txEl>
                                          </p:spTgt>
                                        </p:tgtEl>
                                        <p:attrNameLst>
                                          <p:attrName>ppt_y</p:attrName>
                                        </p:attrNameLst>
                                      </p:cBhvr>
                                      <p:tavLst>
                                        <p:tav tm="0">
                                          <p:val>
                                            <p:strVal val="#ppt_y-#ppt_h/2"/>
                                          </p:val>
                                        </p:tav>
                                        <p:tav tm="100000">
                                          <p:val>
                                            <p:strVal val="#ppt_y"/>
                                          </p:val>
                                        </p:tav>
                                      </p:tavLst>
                                    </p:anim>
                                    <p:anim calcmode="lin" valueType="num">
                                      <p:cBhvr>
                                        <p:cTn id="31" dur="500" fill="hold"/>
                                        <p:tgtEl>
                                          <p:spTgt spid="138243">
                                            <p:txEl>
                                              <p:charRg st="36" end="68"/>
                                            </p:txEl>
                                          </p:spTgt>
                                        </p:tgtEl>
                                        <p:attrNameLst>
                                          <p:attrName>ppt_w</p:attrName>
                                        </p:attrNameLst>
                                      </p:cBhvr>
                                      <p:tavLst>
                                        <p:tav tm="0">
                                          <p:val>
                                            <p:strVal val="#ppt_w"/>
                                          </p:val>
                                        </p:tav>
                                        <p:tav tm="100000">
                                          <p:val>
                                            <p:strVal val="#ppt_w"/>
                                          </p:val>
                                        </p:tav>
                                      </p:tavLst>
                                    </p:anim>
                                    <p:anim calcmode="lin" valueType="num">
                                      <p:cBhvr>
                                        <p:cTn id="32" dur="500" fill="hold"/>
                                        <p:tgtEl>
                                          <p:spTgt spid="138243">
                                            <p:txEl>
                                              <p:charRg st="36" end="68"/>
                                            </p:txEl>
                                          </p:spTgt>
                                        </p:tgtEl>
                                        <p:attrNameLst>
                                          <p:attrName>ppt_h</p:attrName>
                                        </p:attrNameLst>
                                      </p:cBhvr>
                                      <p:tavLst>
                                        <p:tav tm="0">
                                          <p:val>
                                            <p:fltVal val="0.000000"/>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17" presetClass="entr" presetSubtype="1" fill="hold" grpId="0" nodeType="clickEffect">
                                  <p:stCondLst>
                                    <p:cond delay="0"/>
                                  </p:stCondLst>
                                  <p:childTnLst>
                                    <p:set>
                                      <p:cBhvr>
                                        <p:cTn id="36" dur="1" fill="hold">
                                          <p:stCondLst>
                                            <p:cond delay="0"/>
                                          </p:stCondLst>
                                        </p:cTn>
                                        <p:tgtEl>
                                          <p:spTgt spid="138243">
                                            <p:txEl>
                                              <p:charRg st="68" end="101"/>
                                            </p:txEl>
                                          </p:spTgt>
                                        </p:tgtEl>
                                        <p:attrNameLst>
                                          <p:attrName>style.visibility</p:attrName>
                                        </p:attrNameLst>
                                      </p:cBhvr>
                                      <p:to>
                                        <p:strVal val="visible"/>
                                      </p:to>
                                    </p:set>
                                    <p:anim calcmode="lin" valueType="num">
                                      <p:cBhvr>
                                        <p:cTn id="37" dur="500" fill="hold"/>
                                        <p:tgtEl>
                                          <p:spTgt spid="138243">
                                            <p:txEl>
                                              <p:charRg st="68" end="101"/>
                                            </p:txEl>
                                          </p:spTgt>
                                        </p:tgtEl>
                                        <p:attrNameLst>
                                          <p:attrName>ppt_x</p:attrName>
                                        </p:attrNameLst>
                                      </p:cBhvr>
                                      <p:tavLst>
                                        <p:tav tm="0">
                                          <p:val>
                                            <p:strVal val="#ppt_x"/>
                                          </p:val>
                                        </p:tav>
                                        <p:tav tm="100000">
                                          <p:val>
                                            <p:strVal val="#ppt_x"/>
                                          </p:val>
                                        </p:tav>
                                      </p:tavLst>
                                    </p:anim>
                                    <p:anim calcmode="lin" valueType="num">
                                      <p:cBhvr>
                                        <p:cTn id="38" dur="500" fill="hold"/>
                                        <p:tgtEl>
                                          <p:spTgt spid="138243">
                                            <p:txEl>
                                              <p:charRg st="68" end="101"/>
                                            </p:txEl>
                                          </p:spTgt>
                                        </p:tgtEl>
                                        <p:attrNameLst>
                                          <p:attrName>ppt_y</p:attrName>
                                        </p:attrNameLst>
                                      </p:cBhvr>
                                      <p:tavLst>
                                        <p:tav tm="0">
                                          <p:val>
                                            <p:strVal val="#ppt_y-#ppt_h/2"/>
                                          </p:val>
                                        </p:tav>
                                        <p:tav tm="100000">
                                          <p:val>
                                            <p:strVal val="#ppt_y"/>
                                          </p:val>
                                        </p:tav>
                                      </p:tavLst>
                                    </p:anim>
                                    <p:anim calcmode="lin" valueType="num">
                                      <p:cBhvr>
                                        <p:cTn id="39" dur="500" fill="hold"/>
                                        <p:tgtEl>
                                          <p:spTgt spid="138243">
                                            <p:txEl>
                                              <p:charRg st="68" end="101"/>
                                            </p:txEl>
                                          </p:spTgt>
                                        </p:tgtEl>
                                        <p:attrNameLst>
                                          <p:attrName>ppt_w</p:attrName>
                                        </p:attrNameLst>
                                      </p:cBhvr>
                                      <p:tavLst>
                                        <p:tav tm="0">
                                          <p:val>
                                            <p:strVal val="#ppt_w"/>
                                          </p:val>
                                        </p:tav>
                                        <p:tav tm="100000">
                                          <p:val>
                                            <p:strVal val="#ppt_w"/>
                                          </p:val>
                                        </p:tav>
                                      </p:tavLst>
                                    </p:anim>
                                    <p:anim calcmode="lin" valueType="num">
                                      <p:cBhvr>
                                        <p:cTn id="40" dur="500" fill="hold"/>
                                        <p:tgtEl>
                                          <p:spTgt spid="138243">
                                            <p:txEl>
                                              <p:charRg st="68" end="101"/>
                                            </p:txEl>
                                          </p:spTgt>
                                        </p:tgtEl>
                                        <p:attrNameLst>
                                          <p:attrName>ppt_h</p:attrName>
                                        </p:attrNameLst>
                                      </p:cBhvr>
                                      <p:tavLst>
                                        <p:tav tm="0">
                                          <p:val>
                                            <p:fltVal val="0.000000"/>
                                          </p:val>
                                        </p:tav>
                                        <p:tav tm="100000">
                                          <p:val>
                                            <p:strVal val="#ppt_h"/>
                                          </p:val>
                                        </p:tav>
                                      </p:tavLst>
                                    </p:anim>
                                  </p:childTnLst>
                                </p:cTn>
                              </p:par>
                            </p:childTnLst>
                          </p:cTn>
                        </p:par>
                      </p:childTnLst>
                    </p:cTn>
                  </p:par>
                  <p:par>
                    <p:cTn id="41" fill="hold">
                      <p:stCondLst>
                        <p:cond delay="indefinite"/>
                      </p:stCondLst>
                      <p:childTnLst>
                        <p:par>
                          <p:cTn id="42" fill="hold">
                            <p:stCondLst>
                              <p:cond delay="0"/>
                            </p:stCondLst>
                            <p:childTnLst>
                              <p:par>
                                <p:cTn id="43" presetID="17" presetClass="entr" presetSubtype="1" fill="hold" grpId="0" nodeType="clickEffect">
                                  <p:stCondLst>
                                    <p:cond delay="0"/>
                                  </p:stCondLst>
                                  <p:childTnLst>
                                    <p:set>
                                      <p:cBhvr>
                                        <p:cTn id="44" dur="1" fill="hold">
                                          <p:stCondLst>
                                            <p:cond delay="0"/>
                                          </p:stCondLst>
                                        </p:cTn>
                                        <p:tgtEl>
                                          <p:spTgt spid="138243">
                                            <p:txEl>
                                              <p:charRg st="101" end="130"/>
                                            </p:txEl>
                                          </p:spTgt>
                                        </p:tgtEl>
                                        <p:attrNameLst>
                                          <p:attrName>style.visibility</p:attrName>
                                        </p:attrNameLst>
                                      </p:cBhvr>
                                      <p:to>
                                        <p:strVal val="visible"/>
                                      </p:to>
                                    </p:set>
                                    <p:anim calcmode="lin" valueType="num">
                                      <p:cBhvr>
                                        <p:cTn id="45" dur="500" fill="hold"/>
                                        <p:tgtEl>
                                          <p:spTgt spid="138243">
                                            <p:txEl>
                                              <p:charRg st="101" end="130"/>
                                            </p:txEl>
                                          </p:spTgt>
                                        </p:tgtEl>
                                        <p:attrNameLst>
                                          <p:attrName>ppt_x</p:attrName>
                                        </p:attrNameLst>
                                      </p:cBhvr>
                                      <p:tavLst>
                                        <p:tav tm="0">
                                          <p:val>
                                            <p:strVal val="#ppt_x"/>
                                          </p:val>
                                        </p:tav>
                                        <p:tav tm="100000">
                                          <p:val>
                                            <p:strVal val="#ppt_x"/>
                                          </p:val>
                                        </p:tav>
                                      </p:tavLst>
                                    </p:anim>
                                    <p:anim calcmode="lin" valueType="num">
                                      <p:cBhvr>
                                        <p:cTn id="46" dur="500" fill="hold"/>
                                        <p:tgtEl>
                                          <p:spTgt spid="138243">
                                            <p:txEl>
                                              <p:charRg st="101" end="130"/>
                                            </p:txEl>
                                          </p:spTgt>
                                        </p:tgtEl>
                                        <p:attrNameLst>
                                          <p:attrName>ppt_y</p:attrName>
                                        </p:attrNameLst>
                                      </p:cBhvr>
                                      <p:tavLst>
                                        <p:tav tm="0">
                                          <p:val>
                                            <p:strVal val="#ppt_y-#ppt_h/2"/>
                                          </p:val>
                                        </p:tav>
                                        <p:tav tm="100000">
                                          <p:val>
                                            <p:strVal val="#ppt_y"/>
                                          </p:val>
                                        </p:tav>
                                      </p:tavLst>
                                    </p:anim>
                                    <p:anim calcmode="lin" valueType="num">
                                      <p:cBhvr>
                                        <p:cTn id="47" dur="500" fill="hold"/>
                                        <p:tgtEl>
                                          <p:spTgt spid="138243">
                                            <p:txEl>
                                              <p:charRg st="101" end="130"/>
                                            </p:txEl>
                                          </p:spTgt>
                                        </p:tgtEl>
                                        <p:attrNameLst>
                                          <p:attrName>ppt_w</p:attrName>
                                        </p:attrNameLst>
                                      </p:cBhvr>
                                      <p:tavLst>
                                        <p:tav tm="0">
                                          <p:val>
                                            <p:strVal val="#ppt_w"/>
                                          </p:val>
                                        </p:tav>
                                        <p:tav tm="100000">
                                          <p:val>
                                            <p:strVal val="#ppt_w"/>
                                          </p:val>
                                        </p:tav>
                                      </p:tavLst>
                                    </p:anim>
                                    <p:anim calcmode="lin" valueType="num">
                                      <p:cBhvr>
                                        <p:cTn id="48" dur="500" fill="hold"/>
                                        <p:tgtEl>
                                          <p:spTgt spid="138243">
                                            <p:txEl>
                                              <p:charRg st="101" end="130"/>
                                            </p:txEl>
                                          </p:spTgt>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3" grpId="0"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5"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262146" name="Rectangle 2"/>
          <p:cNvSpPr>
            <a:spLocks noGrp="1"/>
          </p:cNvSpPr>
          <p:nvPr>
            <p:ph type="body"/>
          </p:nvPr>
        </p:nvSpPr>
        <p:spPr>
          <a:xfrm>
            <a:off x="539750" y="260350"/>
            <a:ext cx="8305800" cy="5486400"/>
          </a:xfrm>
          <a:ln/>
        </p:spPr>
        <p:txBody>
          <a:bodyPr vert="horz" wrap="square" lIns="91440" tIns="45720" rIns="91440" bIns="45720" anchor="t"/>
          <a:p>
            <a:pPr eaLnBrk="1" hangingPunct="1">
              <a:buNone/>
            </a:pPr>
            <a:r>
              <a:rPr lang="zh-CN" altLang="en-US" b="1" u="sng" dirty="0"/>
              <a:t>步骤</a:t>
            </a:r>
            <a:r>
              <a:rPr lang="zh-CN" altLang="en-US" b="1" dirty="0"/>
              <a:t>		</a:t>
            </a:r>
            <a:r>
              <a:rPr lang="zh-CN" altLang="en-US" b="1" u="sng" dirty="0"/>
              <a:t>符号栈</a:t>
            </a:r>
            <a:r>
              <a:rPr lang="zh-CN" altLang="en-US" b="1" dirty="0"/>
              <a:t>	</a:t>
            </a:r>
            <a:r>
              <a:rPr lang="zh-CN" altLang="en-US" b="1" u="sng" dirty="0"/>
              <a:t>输入串</a:t>
            </a:r>
            <a:r>
              <a:rPr lang="zh-CN" altLang="en-US" b="1" dirty="0"/>
              <a:t>	</a:t>
            </a:r>
            <a:r>
              <a:rPr lang="zh-CN" altLang="en-US" b="1" u="sng" dirty="0"/>
              <a:t>所用产生式</a:t>
            </a:r>
            <a:endParaRPr lang="zh-CN" altLang="en-US" b="1" dirty="0"/>
          </a:p>
          <a:p>
            <a:pPr eaLnBrk="1" hangingPunct="1">
              <a:buNone/>
            </a:pPr>
            <a:r>
              <a:rPr lang="en-US" altLang="zh-CN" b="1" dirty="0"/>
              <a:t>3			#E</a:t>
            </a:r>
            <a:r>
              <a:rPr lang="en-US" altLang="zh-CN" b="1" dirty="0">
                <a:sym typeface="Symbol" panose="05050102010706020507" pitchFamily="18" charset="2"/>
              </a:rPr>
              <a:t></a:t>
            </a:r>
            <a:r>
              <a:rPr lang="en-US" altLang="zh-CN" b="1" dirty="0"/>
              <a:t>T</a:t>
            </a:r>
            <a:r>
              <a:rPr lang="en-US" altLang="zh-CN" b="1" dirty="0">
                <a:sym typeface="Symbol" panose="05050102010706020507" pitchFamily="18" charset="2"/>
              </a:rPr>
              <a:t></a:t>
            </a:r>
            <a:r>
              <a:rPr lang="en-US" altLang="zh-CN" b="1" dirty="0"/>
              <a:t>i	i</a:t>
            </a:r>
            <a:r>
              <a:rPr lang="en-US" altLang="zh-CN" b="1" baseline="-25000" dirty="0"/>
              <a:t>1</a:t>
            </a:r>
            <a:r>
              <a:rPr lang="en-US" altLang="zh-CN" b="1" dirty="0"/>
              <a:t>*i</a:t>
            </a:r>
            <a:r>
              <a:rPr lang="en-US" altLang="zh-CN" b="1" baseline="-25000" dirty="0"/>
              <a:t>2</a:t>
            </a:r>
            <a:r>
              <a:rPr lang="en-US" altLang="zh-CN" b="1" dirty="0"/>
              <a:t>+i</a:t>
            </a:r>
            <a:r>
              <a:rPr lang="en-US" altLang="zh-CN" b="1" baseline="-25000" dirty="0"/>
              <a:t>3</a:t>
            </a:r>
            <a:r>
              <a:rPr lang="en-US" altLang="zh-CN" b="1" dirty="0"/>
              <a:t># 	   F→i</a:t>
            </a:r>
            <a:endParaRPr lang="en-US" altLang="zh-CN" b="1" dirty="0"/>
          </a:p>
          <a:p>
            <a:pPr eaLnBrk="1" hangingPunct="1">
              <a:buNone/>
            </a:pPr>
            <a:r>
              <a:rPr lang="en-US" altLang="zh-CN" b="1" dirty="0"/>
              <a:t>4			#E</a:t>
            </a:r>
            <a:r>
              <a:rPr lang="en-US" altLang="zh-CN" b="1" dirty="0">
                <a:sym typeface="Symbol" panose="05050102010706020507" pitchFamily="18" charset="2"/>
              </a:rPr>
              <a:t></a:t>
            </a:r>
            <a:r>
              <a:rPr lang="en-US" altLang="zh-CN" b="1" dirty="0"/>
              <a:t>T</a:t>
            </a:r>
            <a:r>
              <a:rPr lang="en-US" altLang="zh-CN" b="1" dirty="0">
                <a:sym typeface="Symbol" panose="05050102010706020507" pitchFamily="18" charset="2"/>
              </a:rPr>
              <a:t></a:t>
            </a:r>
            <a:r>
              <a:rPr lang="en-US" altLang="zh-CN" b="1" dirty="0"/>
              <a:t>	          *i</a:t>
            </a:r>
            <a:r>
              <a:rPr lang="en-US" altLang="zh-CN" b="1" baseline="-25000" dirty="0"/>
              <a:t>2</a:t>
            </a:r>
            <a:r>
              <a:rPr lang="en-US" altLang="zh-CN" b="1" dirty="0"/>
              <a:t>+i</a:t>
            </a:r>
            <a:r>
              <a:rPr lang="en-US" altLang="zh-CN" b="1" baseline="-25000" dirty="0"/>
              <a:t>3</a:t>
            </a:r>
            <a:r>
              <a:rPr lang="en-US" altLang="zh-CN" b="1" dirty="0"/>
              <a:t>#</a:t>
            </a:r>
            <a:endParaRPr lang="en-US" altLang="zh-CN" b="1" dirty="0"/>
          </a:p>
          <a:p>
            <a:pPr eaLnBrk="1" hangingPunct="1">
              <a:buNone/>
            </a:pPr>
            <a:r>
              <a:rPr lang="en-US" altLang="zh-CN" b="1" dirty="0"/>
              <a:t>5			#E</a:t>
            </a:r>
            <a:r>
              <a:rPr lang="en-US" altLang="zh-CN" b="1" dirty="0">
                <a:sym typeface="Symbol" panose="05050102010706020507" pitchFamily="18" charset="2"/>
              </a:rPr>
              <a:t></a:t>
            </a:r>
            <a:r>
              <a:rPr lang="en-US" altLang="zh-CN" b="1" dirty="0"/>
              <a:t>T</a:t>
            </a:r>
            <a:r>
              <a:rPr lang="en-US" altLang="zh-CN" b="1" dirty="0">
                <a:sym typeface="Symbol" panose="05050102010706020507" pitchFamily="18" charset="2"/>
              </a:rPr>
              <a:t></a:t>
            </a:r>
            <a:r>
              <a:rPr lang="en-US" altLang="zh-CN" b="1" dirty="0"/>
              <a:t>F*	*i</a:t>
            </a:r>
            <a:r>
              <a:rPr lang="en-US" altLang="zh-CN" b="1" baseline="-25000" dirty="0"/>
              <a:t>2</a:t>
            </a:r>
            <a:r>
              <a:rPr lang="en-US" altLang="zh-CN" b="1" dirty="0"/>
              <a:t>+i</a:t>
            </a:r>
            <a:r>
              <a:rPr lang="en-US" altLang="zh-CN" b="1" baseline="-25000" dirty="0"/>
              <a:t>3</a:t>
            </a:r>
            <a:r>
              <a:rPr lang="en-US" altLang="zh-CN" b="1" dirty="0"/>
              <a:t>#	   T</a:t>
            </a:r>
            <a:r>
              <a:rPr lang="en-US" altLang="zh-CN" b="1" dirty="0">
                <a:sym typeface="Symbol" panose="05050102010706020507" pitchFamily="18" charset="2"/>
              </a:rPr>
              <a:t></a:t>
            </a:r>
            <a:r>
              <a:rPr lang="en-US" altLang="zh-CN" b="1" dirty="0"/>
              <a:t>→*FT</a:t>
            </a:r>
            <a:r>
              <a:rPr lang="en-US" altLang="zh-CN" b="1" dirty="0">
                <a:sym typeface="Symbol" panose="05050102010706020507" pitchFamily="18" charset="2"/>
              </a:rPr>
              <a:t></a:t>
            </a:r>
            <a:endParaRPr lang="en-US" altLang="zh-CN" b="1" dirty="0"/>
          </a:p>
          <a:p>
            <a:pPr eaLnBrk="1" hangingPunct="1">
              <a:buNone/>
            </a:pPr>
            <a:r>
              <a:rPr lang="en-US" altLang="zh-CN" b="1" dirty="0"/>
              <a:t>6			#E</a:t>
            </a:r>
            <a:r>
              <a:rPr lang="en-US" altLang="zh-CN" b="1" dirty="0">
                <a:sym typeface="Symbol" panose="05050102010706020507" pitchFamily="18" charset="2"/>
              </a:rPr>
              <a:t></a:t>
            </a:r>
            <a:r>
              <a:rPr lang="en-US" altLang="zh-CN" b="1" dirty="0"/>
              <a:t>T</a:t>
            </a:r>
            <a:r>
              <a:rPr lang="en-US" altLang="zh-CN" b="1" dirty="0">
                <a:sym typeface="Symbol" panose="05050102010706020507" pitchFamily="18" charset="2"/>
              </a:rPr>
              <a:t></a:t>
            </a:r>
            <a:r>
              <a:rPr lang="en-US" altLang="zh-CN" b="1" dirty="0"/>
              <a:t>F       i</a:t>
            </a:r>
            <a:r>
              <a:rPr lang="en-US" altLang="zh-CN" b="1" baseline="-25000" dirty="0"/>
              <a:t>2</a:t>
            </a:r>
            <a:r>
              <a:rPr lang="en-US" altLang="zh-CN" b="1" dirty="0"/>
              <a:t>+i</a:t>
            </a:r>
            <a:r>
              <a:rPr lang="en-US" altLang="zh-CN" b="1" baseline="-25000" dirty="0"/>
              <a:t>3</a:t>
            </a:r>
            <a:r>
              <a:rPr lang="en-US" altLang="zh-CN" b="1" dirty="0"/>
              <a:t>#</a:t>
            </a:r>
            <a:endParaRPr lang="en-US" altLang="zh-CN" b="1" dirty="0"/>
          </a:p>
          <a:p>
            <a:pPr eaLnBrk="1" hangingPunct="1">
              <a:buNone/>
            </a:pPr>
            <a:r>
              <a:rPr lang="en-US" altLang="zh-CN" b="1" dirty="0"/>
              <a:t>7			#E</a:t>
            </a:r>
            <a:r>
              <a:rPr lang="en-US" altLang="zh-CN" b="1" dirty="0">
                <a:sym typeface="Symbol" panose="05050102010706020507" pitchFamily="18" charset="2"/>
              </a:rPr>
              <a:t></a:t>
            </a:r>
            <a:r>
              <a:rPr lang="en-US" altLang="zh-CN" b="1" dirty="0"/>
              <a:t>T</a:t>
            </a:r>
            <a:r>
              <a:rPr lang="en-US" altLang="zh-CN" b="1" dirty="0">
                <a:sym typeface="Symbol" panose="05050102010706020507" pitchFamily="18" charset="2"/>
              </a:rPr>
              <a:t></a:t>
            </a:r>
            <a:r>
              <a:rPr lang="en-US" altLang="zh-CN" b="1" dirty="0"/>
              <a:t>i	i</a:t>
            </a:r>
            <a:r>
              <a:rPr lang="en-US" altLang="zh-CN" b="1" baseline="-25000" dirty="0"/>
              <a:t>2</a:t>
            </a:r>
            <a:r>
              <a:rPr lang="en-US" altLang="zh-CN" b="1" dirty="0"/>
              <a:t>+i</a:t>
            </a:r>
            <a:r>
              <a:rPr lang="en-US" altLang="zh-CN" b="1" baseline="-25000" dirty="0"/>
              <a:t>3</a:t>
            </a:r>
            <a:r>
              <a:rPr lang="en-US" altLang="zh-CN" b="1" dirty="0"/>
              <a:t>#            F→i</a:t>
            </a:r>
            <a:endParaRPr lang="en-US" altLang="zh-CN" b="1" dirty="0"/>
          </a:p>
        </p:txBody>
      </p:sp>
      <p:graphicFrame>
        <p:nvGraphicFramePr>
          <p:cNvPr id="93187" name="Object 6"/>
          <p:cNvGraphicFramePr>
            <a:graphicFrameLocks noChangeAspect="1"/>
          </p:cNvGraphicFramePr>
          <p:nvPr/>
        </p:nvGraphicFramePr>
        <p:xfrm>
          <a:off x="539750" y="3636963"/>
          <a:ext cx="8229600" cy="2944812"/>
        </p:xfrm>
        <a:graphic>
          <a:graphicData uri="http://schemas.openxmlformats.org/presentationml/2006/ole">
            <mc:AlternateContent xmlns:mc="http://schemas.openxmlformats.org/markup-compatibility/2006">
              <mc:Choice xmlns:v="urn:schemas-microsoft-com:vml" Requires="v">
                <p:oleObj spid="_x0000_s3090" name="" r:id="rId1" imgW="5335270" imgH="1888490" progId="Word.Document.8">
                  <p:embed/>
                </p:oleObj>
              </mc:Choice>
              <mc:Fallback>
                <p:oleObj name="" r:id="rId1" imgW="5335270" imgH="1888490" progId="Word.Document.8">
                  <p:embed/>
                  <p:pic>
                    <p:nvPicPr>
                      <p:cNvPr id="0" name="图片 3089"/>
                      <p:cNvPicPr/>
                      <p:nvPr/>
                    </p:nvPicPr>
                    <p:blipFill>
                      <a:blip r:embed="rId2">
                        <a:clrChange>
                          <a:clrFrom>
                            <a:srgbClr val="000000"/>
                          </a:clrFrom>
                          <a:clrTo>
                            <a:srgbClr val="000000"/>
                          </a:clrTo>
                        </a:clrChange>
                      </a:blip>
                      <a:stretch>
                        <a:fillRect/>
                      </a:stretch>
                    </p:blipFill>
                    <p:spPr>
                      <a:xfrm>
                        <a:off x="539750" y="3636963"/>
                        <a:ext cx="8229600" cy="2944812"/>
                      </a:xfrm>
                      <a:prstGeom prst="rect">
                        <a:avLst/>
                      </a:prstGeom>
                      <a:noFill/>
                      <a:ln w="38100">
                        <a:noFill/>
                        <a:miter/>
                      </a:ln>
                    </p:spPr>
                  </p:pic>
                </p:oleObj>
              </mc:Fallback>
            </mc:AlternateContent>
          </a:graphicData>
        </a:graphic>
      </p:graphicFrame>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 fill="hold" grpId="0" nodeType="clickEffect">
                                  <p:stCondLst>
                                    <p:cond delay="0"/>
                                  </p:stCondLst>
                                  <p:childTnLst>
                                    <p:set>
                                      <p:cBhvr>
                                        <p:cTn id="6" dur="1" fill="hold">
                                          <p:stCondLst>
                                            <p:cond delay="0"/>
                                          </p:stCondLst>
                                        </p:cTn>
                                        <p:tgtEl>
                                          <p:spTgt spid="262146">
                                            <p:txEl>
                                              <p:charRg st="47" end="75"/>
                                            </p:txEl>
                                          </p:spTgt>
                                        </p:tgtEl>
                                        <p:attrNameLst>
                                          <p:attrName>style.visibility</p:attrName>
                                        </p:attrNameLst>
                                      </p:cBhvr>
                                      <p:to>
                                        <p:strVal val="visible"/>
                                      </p:to>
                                    </p:set>
                                    <p:anim calcmode="lin" valueType="num">
                                      <p:cBhvr>
                                        <p:cTn id="7" dur="500" fill="hold"/>
                                        <p:tgtEl>
                                          <p:spTgt spid="262146">
                                            <p:txEl>
                                              <p:charRg st="47" end="75"/>
                                            </p:txEl>
                                          </p:spTgt>
                                        </p:tgtEl>
                                        <p:attrNameLst>
                                          <p:attrName>ppt_x</p:attrName>
                                        </p:attrNameLst>
                                      </p:cBhvr>
                                      <p:tavLst>
                                        <p:tav tm="0">
                                          <p:val>
                                            <p:strVal val="#ppt_x"/>
                                          </p:val>
                                        </p:tav>
                                        <p:tav tm="100000">
                                          <p:val>
                                            <p:strVal val="#ppt_x"/>
                                          </p:val>
                                        </p:tav>
                                      </p:tavLst>
                                    </p:anim>
                                    <p:anim calcmode="lin" valueType="num">
                                      <p:cBhvr>
                                        <p:cTn id="8" dur="500" fill="hold"/>
                                        <p:tgtEl>
                                          <p:spTgt spid="262146">
                                            <p:txEl>
                                              <p:charRg st="47" end="75"/>
                                            </p:txEl>
                                          </p:spTgt>
                                        </p:tgtEl>
                                        <p:attrNameLst>
                                          <p:attrName>ppt_y</p:attrName>
                                        </p:attrNameLst>
                                      </p:cBhvr>
                                      <p:tavLst>
                                        <p:tav tm="0">
                                          <p:val>
                                            <p:strVal val="#ppt_y-#ppt_h/2"/>
                                          </p:val>
                                        </p:tav>
                                        <p:tav tm="100000">
                                          <p:val>
                                            <p:strVal val="#ppt_y"/>
                                          </p:val>
                                        </p:tav>
                                      </p:tavLst>
                                    </p:anim>
                                    <p:anim calcmode="lin" valueType="num">
                                      <p:cBhvr>
                                        <p:cTn id="9" dur="500" fill="hold"/>
                                        <p:tgtEl>
                                          <p:spTgt spid="262146">
                                            <p:txEl>
                                              <p:charRg st="47" end="75"/>
                                            </p:txEl>
                                          </p:spTgt>
                                        </p:tgtEl>
                                        <p:attrNameLst>
                                          <p:attrName>ppt_w</p:attrName>
                                        </p:attrNameLst>
                                      </p:cBhvr>
                                      <p:tavLst>
                                        <p:tav tm="0">
                                          <p:val>
                                            <p:strVal val="#ppt_w"/>
                                          </p:val>
                                        </p:tav>
                                        <p:tav tm="100000">
                                          <p:val>
                                            <p:strVal val="#ppt_w"/>
                                          </p:val>
                                        </p:tav>
                                      </p:tavLst>
                                    </p:anim>
                                    <p:anim calcmode="lin" valueType="num">
                                      <p:cBhvr>
                                        <p:cTn id="10" dur="500" fill="hold"/>
                                        <p:tgtEl>
                                          <p:spTgt spid="262146">
                                            <p:txEl>
                                              <p:charRg st="47" end="75"/>
                                            </p:txEl>
                                          </p:spTgt>
                                        </p:tgtEl>
                                        <p:attrNameLst>
                                          <p:attrName>ppt_h</p:attrName>
                                        </p:attrNameLst>
                                      </p:cBhvr>
                                      <p:tavLst>
                                        <p:tav tm="0">
                                          <p:val>
                                            <p:fltVal val="0.000000"/>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7" presetClass="entr" presetSubtype="1" fill="hold" grpId="0" nodeType="clickEffect">
                                  <p:stCondLst>
                                    <p:cond delay="0"/>
                                  </p:stCondLst>
                                  <p:childTnLst>
                                    <p:set>
                                      <p:cBhvr>
                                        <p:cTn id="14" dur="1" fill="hold">
                                          <p:stCondLst>
                                            <p:cond delay="0"/>
                                          </p:stCondLst>
                                        </p:cTn>
                                        <p:tgtEl>
                                          <p:spTgt spid="262146">
                                            <p:txEl>
                                              <p:charRg st="75" end="106"/>
                                            </p:txEl>
                                          </p:spTgt>
                                        </p:tgtEl>
                                        <p:attrNameLst>
                                          <p:attrName>style.visibility</p:attrName>
                                        </p:attrNameLst>
                                      </p:cBhvr>
                                      <p:to>
                                        <p:strVal val="visible"/>
                                      </p:to>
                                    </p:set>
                                    <p:anim calcmode="lin" valueType="num">
                                      <p:cBhvr>
                                        <p:cTn id="15" dur="500" fill="hold"/>
                                        <p:tgtEl>
                                          <p:spTgt spid="262146">
                                            <p:txEl>
                                              <p:charRg st="75" end="106"/>
                                            </p:txEl>
                                          </p:spTgt>
                                        </p:tgtEl>
                                        <p:attrNameLst>
                                          <p:attrName>ppt_x</p:attrName>
                                        </p:attrNameLst>
                                      </p:cBhvr>
                                      <p:tavLst>
                                        <p:tav tm="0">
                                          <p:val>
                                            <p:strVal val="#ppt_x"/>
                                          </p:val>
                                        </p:tav>
                                        <p:tav tm="100000">
                                          <p:val>
                                            <p:strVal val="#ppt_x"/>
                                          </p:val>
                                        </p:tav>
                                      </p:tavLst>
                                    </p:anim>
                                    <p:anim calcmode="lin" valueType="num">
                                      <p:cBhvr>
                                        <p:cTn id="16" dur="500" fill="hold"/>
                                        <p:tgtEl>
                                          <p:spTgt spid="262146">
                                            <p:txEl>
                                              <p:charRg st="75" end="106"/>
                                            </p:txEl>
                                          </p:spTgt>
                                        </p:tgtEl>
                                        <p:attrNameLst>
                                          <p:attrName>ppt_y</p:attrName>
                                        </p:attrNameLst>
                                      </p:cBhvr>
                                      <p:tavLst>
                                        <p:tav tm="0">
                                          <p:val>
                                            <p:strVal val="#ppt_y-#ppt_h/2"/>
                                          </p:val>
                                        </p:tav>
                                        <p:tav tm="100000">
                                          <p:val>
                                            <p:strVal val="#ppt_y"/>
                                          </p:val>
                                        </p:tav>
                                      </p:tavLst>
                                    </p:anim>
                                    <p:anim calcmode="lin" valueType="num">
                                      <p:cBhvr>
                                        <p:cTn id="17" dur="500" fill="hold"/>
                                        <p:tgtEl>
                                          <p:spTgt spid="262146">
                                            <p:txEl>
                                              <p:charRg st="75" end="106"/>
                                            </p:txEl>
                                          </p:spTgt>
                                        </p:tgtEl>
                                        <p:attrNameLst>
                                          <p:attrName>ppt_w</p:attrName>
                                        </p:attrNameLst>
                                      </p:cBhvr>
                                      <p:tavLst>
                                        <p:tav tm="0">
                                          <p:val>
                                            <p:strVal val="#ppt_w"/>
                                          </p:val>
                                        </p:tav>
                                        <p:tav tm="100000">
                                          <p:val>
                                            <p:strVal val="#ppt_w"/>
                                          </p:val>
                                        </p:tav>
                                      </p:tavLst>
                                    </p:anim>
                                    <p:anim calcmode="lin" valueType="num">
                                      <p:cBhvr>
                                        <p:cTn id="18" dur="500" fill="hold"/>
                                        <p:tgtEl>
                                          <p:spTgt spid="262146">
                                            <p:txEl>
                                              <p:charRg st="75" end="106"/>
                                            </p:txEl>
                                          </p:spTgt>
                                        </p:tgtEl>
                                        <p:attrNameLst>
                                          <p:attrName>ppt_h</p:attrName>
                                        </p:attrNameLst>
                                      </p:cBhvr>
                                      <p:tavLst>
                                        <p:tav tm="0">
                                          <p:val>
                                            <p:fltVal val="0.00000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7" presetClass="entr" presetSubtype="1" fill="hold" grpId="0" nodeType="clickEffect">
                                  <p:stCondLst>
                                    <p:cond delay="0"/>
                                  </p:stCondLst>
                                  <p:childTnLst>
                                    <p:set>
                                      <p:cBhvr>
                                        <p:cTn id="22" dur="1" fill="hold">
                                          <p:stCondLst>
                                            <p:cond delay="0"/>
                                          </p:stCondLst>
                                        </p:cTn>
                                        <p:tgtEl>
                                          <p:spTgt spid="262146">
                                            <p:txEl>
                                              <p:charRg st="106" end="130"/>
                                            </p:txEl>
                                          </p:spTgt>
                                        </p:tgtEl>
                                        <p:attrNameLst>
                                          <p:attrName>style.visibility</p:attrName>
                                        </p:attrNameLst>
                                      </p:cBhvr>
                                      <p:to>
                                        <p:strVal val="visible"/>
                                      </p:to>
                                    </p:set>
                                    <p:anim calcmode="lin" valueType="num">
                                      <p:cBhvr>
                                        <p:cTn id="23" dur="500" fill="hold"/>
                                        <p:tgtEl>
                                          <p:spTgt spid="262146">
                                            <p:txEl>
                                              <p:charRg st="106" end="130"/>
                                            </p:txEl>
                                          </p:spTgt>
                                        </p:tgtEl>
                                        <p:attrNameLst>
                                          <p:attrName>ppt_x</p:attrName>
                                        </p:attrNameLst>
                                      </p:cBhvr>
                                      <p:tavLst>
                                        <p:tav tm="0">
                                          <p:val>
                                            <p:strVal val="#ppt_x"/>
                                          </p:val>
                                        </p:tav>
                                        <p:tav tm="100000">
                                          <p:val>
                                            <p:strVal val="#ppt_x"/>
                                          </p:val>
                                        </p:tav>
                                      </p:tavLst>
                                    </p:anim>
                                    <p:anim calcmode="lin" valueType="num">
                                      <p:cBhvr>
                                        <p:cTn id="24" dur="500" fill="hold"/>
                                        <p:tgtEl>
                                          <p:spTgt spid="262146">
                                            <p:txEl>
                                              <p:charRg st="106" end="130"/>
                                            </p:txEl>
                                          </p:spTgt>
                                        </p:tgtEl>
                                        <p:attrNameLst>
                                          <p:attrName>ppt_y</p:attrName>
                                        </p:attrNameLst>
                                      </p:cBhvr>
                                      <p:tavLst>
                                        <p:tav tm="0">
                                          <p:val>
                                            <p:strVal val="#ppt_y-#ppt_h/2"/>
                                          </p:val>
                                        </p:tav>
                                        <p:tav tm="100000">
                                          <p:val>
                                            <p:strVal val="#ppt_y"/>
                                          </p:val>
                                        </p:tav>
                                      </p:tavLst>
                                    </p:anim>
                                    <p:anim calcmode="lin" valueType="num">
                                      <p:cBhvr>
                                        <p:cTn id="25" dur="500" fill="hold"/>
                                        <p:tgtEl>
                                          <p:spTgt spid="262146">
                                            <p:txEl>
                                              <p:charRg st="106" end="130"/>
                                            </p:txEl>
                                          </p:spTgt>
                                        </p:tgtEl>
                                        <p:attrNameLst>
                                          <p:attrName>ppt_w</p:attrName>
                                        </p:attrNameLst>
                                      </p:cBhvr>
                                      <p:tavLst>
                                        <p:tav tm="0">
                                          <p:val>
                                            <p:strVal val="#ppt_w"/>
                                          </p:val>
                                        </p:tav>
                                        <p:tav tm="100000">
                                          <p:val>
                                            <p:strVal val="#ppt_w"/>
                                          </p:val>
                                        </p:tav>
                                      </p:tavLst>
                                    </p:anim>
                                    <p:anim calcmode="lin" valueType="num">
                                      <p:cBhvr>
                                        <p:cTn id="26" dur="500" fill="hold"/>
                                        <p:tgtEl>
                                          <p:spTgt spid="262146">
                                            <p:txEl>
                                              <p:charRg st="106" end="130"/>
                                            </p:txEl>
                                          </p:spTgt>
                                        </p:tgtEl>
                                        <p:attrNameLst>
                                          <p:attrName>ppt_h</p:attrName>
                                        </p:attrNameLst>
                                      </p:cBhvr>
                                      <p:tavLst>
                                        <p:tav tm="0">
                                          <p:val>
                                            <p:fltVal val="0.00000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7" presetClass="entr" presetSubtype="1" fill="hold" grpId="0" nodeType="clickEffect">
                                  <p:stCondLst>
                                    <p:cond delay="0"/>
                                  </p:stCondLst>
                                  <p:childTnLst>
                                    <p:set>
                                      <p:cBhvr>
                                        <p:cTn id="30" dur="1" fill="hold">
                                          <p:stCondLst>
                                            <p:cond delay="0"/>
                                          </p:stCondLst>
                                        </p:cTn>
                                        <p:tgtEl>
                                          <p:spTgt spid="262146">
                                            <p:txEl>
                                              <p:charRg st="130" end="163"/>
                                            </p:txEl>
                                          </p:spTgt>
                                        </p:tgtEl>
                                        <p:attrNameLst>
                                          <p:attrName>style.visibility</p:attrName>
                                        </p:attrNameLst>
                                      </p:cBhvr>
                                      <p:to>
                                        <p:strVal val="visible"/>
                                      </p:to>
                                    </p:set>
                                    <p:anim calcmode="lin" valueType="num">
                                      <p:cBhvr>
                                        <p:cTn id="31" dur="500" fill="hold"/>
                                        <p:tgtEl>
                                          <p:spTgt spid="262146">
                                            <p:txEl>
                                              <p:charRg st="130" end="163"/>
                                            </p:txEl>
                                          </p:spTgt>
                                        </p:tgtEl>
                                        <p:attrNameLst>
                                          <p:attrName>ppt_x</p:attrName>
                                        </p:attrNameLst>
                                      </p:cBhvr>
                                      <p:tavLst>
                                        <p:tav tm="0">
                                          <p:val>
                                            <p:strVal val="#ppt_x"/>
                                          </p:val>
                                        </p:tav>
                                        <p:tav tm="100000">
                                          <p:val>
                                            <p:strVal val="#ppt_x"/>
                                          </p:val>
                                        </p:tav>
                                      </p:tavLst>
                                    </p:anim>
                                    <p:anim calcmode="lin" valueType="num">
                                      <p:cBhvr>
                                        <p:cTn id="32" dur="500" fill="hold"/>
                                        <p:tgtEl>
                                          <p:spTgt spid="262146">
                                            <p:txEl>
                                              <p:charRg st="130" end="163"/>
                                            </p:txEl>
                                          </p:spTgt>
                                        </p:tgtEl>
                                        <p:attrNameLst>
                                          <p:attrName>ppt_y</p:attrName>
                                        </p:attrNameLst>
                                      </p:cBhvr>
                                      <p:tavLst>
                                        <p:tav tm="0">
                                          <p:val>
                                            <p:strVal val="#ppt_y-#ppt_h/2"/>
                                          </p:val>
                                        </p:tav>
                                        <p:tav tm="100000">
                                          <p:val>
                                            <p:strVal val="#ppt_y"/>
                                          </p:val>
                                        </p:tav>
                                      </p:tavLst>
                                    </p:anim>
                                    <p:anim calcmode="lin" valueType="num">
                                      <p:cBhvr>
                                        <p:cTn id="33" dur="500" fill="hold"/>
                                        <p:tgtEl>
                                          <p:spTgt spid="262146">
                                            <p:txEl>
                                              <p:charRg st="130" end="163"/>
                                            </p:txEl>
                                          </p:spTgt>
                                        </p:tgtEl>
                                        <p:attrNameLst>
                                          <p:attrName>ppt_w</p:attrName>
                                        </p:attrNameLst>
                                      </p:cBhvr>
                                      <p:tavLst>
                                        <p:tav tm="0">
                                          <p:val>
                                            <p:strVal val="#ppt_w"/>
                                          </p:val>
                                        </p:tav>
                                        <p:tav tm="100000">
                                          <p:val>
                                            <p:strVal val="#ppt_w"/>
                                          </p:val>
                                        </p:tav>
                                      </p:tavLst>
                                    </p:anim>
                                    <p:anim calcmode="lin" valueType="num">
                                      <p:cBhvr>
                                        <p:cTn id="34" dur="500" fill="hold"/>
                                        <p:tgtEl>
                                          <p:spTgt spid="262146">
                                            <p:txEl>
                                              <p:charRg st="130" end="163"/>
                                            </p:txEl>
                                          </p:spTgt>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2146" grpId="0" build="p"/>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09"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139267" name="Rectangle 3"/>
          <p:cNvSpPr>
            <a:spLocks noGrp="1"/>
          </p:cNvSpPr>
          <p:nvPr>
            <p:ph type="body"/>
          </p:nvPr>
        </p:nvSpPr>
        <p:spPr>
          <a:xfrm>
            <a:off x="685800" y="304800"/>
            <a:ext cx="7772400" cy="5562600"/>
          </a:xfrm>
          <a:ln/>
        </p:spPr>
        <p:txBody>
          <a:bodyPr vert="horz" wrap="square" lIns="91440" tIns="45720" rIns="91440" bIns="45720" anchor="t"/>
          <a:p>
            <a:pPr marL="609600" indent="-609600" eaLnBrk="1" hangingPunct="1">
              <a:buNone/>
            </a:pPr>
            <a:r>
              <a:rPr lang="zh-CN" altLang="en-US" b="1" u="sng" dirty="0"/>
              <a:t>步骤</a:t>
            </a:r>
            <a:r>
              <a:rPr lang="zh-CN" altLang="en-US" b="1" dirty="0"/>
              <a:t>		</a:t>
            </a:r>
            <a:r>
              <a:rPr lang="zh-CN" altLang="en-US" b="1" u="sng" dirty="0"/>
              <a:t>符号栈</a:t>
            </a:r>
            <a:r>
              <a:rPr lang="zh-CN" altLang="en-US" b="1" dirty="0"/>
              <a:t>	</a:t>
            </a:r>
            <a:r>
              <a:rPr lang="zh-CN" altLang="en-US" b="1" u="sng" dirty="0"/>
              <a:t>输入串</a:t>
            </a:r>
            <a:r>
              <a:rPr lang="zh-CN" altLang="en-US" b="1" dirty="0"/>
              <a:t>	</a:t>
            </a:r>
            <a:r>
              <a:rPr lang="zh-CN" altLang="en-US" b="1" u="sng" dirty="0"/>
              <a:t>所用产生</a:t>
            </a:r>
            <a:endParaRPr lang="zh-CN" altLang="en-US" b="1" dirty="0"/>
          </a:p>
          <a:p>
            <a:pPr marL="609600" indent="-609600" eaLnBrk="1" hangingPunct="1">
              <a:buNone/>
            </a:pPr>
            <a:r>
              <a:rPr lang="en-US" altLang="zh-CN" b="1" dirty="0"/>
              <a:t>7			#E</a:t>
            </a:r>
            <a:r>
              <a:rPr lang="en-US" altLang="zh-CN" b="1" dirty="0">
                <a:sym typeface="Symbol" panose="05050102010706020507" pitchFamily="18" charset="2"/>
              </a:rPr>
              <a:t></a:t>
            </a:r>
            <a:r>
              <a:rPr lang="en-US" altLang="zh-CN" b="1" dirty="0"/>
              <a:t>T</a:t>
            </a:r>
            <a:r>
              <a:rPr lang="en-US" altLang="zh-CN" b="1" dirty="0">
                <a:sym typeface="Symbol" panose="05050102010706020507" pitchFamily="18" charset="2"/>
              </a:rPr>
              <a:t></a:t>
            </a:r>
            <a:r>
              <a:rPr lang="en-US" altLang="zh-CN" b="1" dirty="0"/>
              <a:t>i	i</a:t>
            </a:r>
            <a:r>
              <a:rPr lang="en-US" altLang="zh-CN" b="1" baseline="-25000" dirty="0"/>
              <a:t>2</a:t>
            </a:r>
            <a:r>
              <a:rPr lang="en-US" altLang="zh-CN" b="1" dirty="0"/>
              <a:t>+i</a:t>
            </a:r>
            <a:r>
              <a:rPr lang="en-US" altLang="zh-CN" b="1" baseline="-25000" dirty="0"/>
              <a:t>3</a:t>
            </a:r>
            <a:r>
              <a:rPr lang="en-US" altLang="zh-CN" b="1" dirty="0"/>
              <a:t>#            F→i </a:t>
            </a:r>
            <a:endParaRPr lang="en-US" altLang="zh-CN" b="1" dirty="0"/>
          </a:p>
          <a:p>
            <a:pPr marL="609600" indent="-609600" eaLnBrk="1" hangingPunct="1">
              <a:buNone/>
            </a:pPr>
            <a:r>
              <a:rPr lang="en-US" altLang="zh-CN" b="1" dirty="0"/>
              <a:t>8			#E</a:t>
            </a:r>
            <a:r>
              <a:rPr lang="en-US" altLang="zh-CN" b="1" dirty="0">
                <a:sym typeface="Symbol" panose="05050102010706020507" pitchFamily="18" charset="2"/>
              </a:rPr>
              <a:t></a:t>
            </a:r>
            <a:r>
              <a:rPr lang="en-US" altLang="zh-CN" b="1" dirty="0"/>
              <a:t>T</a:t>
            </a:r>
            <a:r>
              <a:rPr lang="en-US" altLang="zh-CN" b="1" dirty="0">
                <a:sym typeface="Symbol" panose="05050102010706020507" pitchFamily="18" charset="2"/>
              </a:rPr>
              <a:t></a:t>
            </a:r>
            <a:r>
              <a:rPr lang="en-US" altLang="zh-CN" b="1" dirty="0"/>
              <a:t>	          +i</a:t>
            </a:r>
            <a:r>
              <a:rPr lang="en-US" altLang="zh-CN" b="1" baseline="-25000" dirty="0"/>
              <a:t>3</a:t>
            </a:r>
            <a:r>
              <a:rPr lang="en-US" altLang="zh-CN" b="1" dirty="0"/>
              <a:t>#</a:t>
            </a:r>
            <a:endParaRPr lang="en-US" altLang="zh-CN" b="1" dirty="0"/>
          </a:p>
          <a:p>
            <a:pPr marL="609600" indent="-609600" eaLnBrk="1" hangingPunct="1">
              <a:buNone/>
            </a:pPr>
            <a:r>
              <a:rPr lang="en-US" altLang="zh-CN" b="1" dirty="0"/>
              <a:t>9			#E</a:t>
            </a:r>
            <a:r>
              <a:rPr lang="en-US" altLang="zh-CN" b="1" dirty="0">
                <a:sym typeface="Symbol" panose="05050102010706020507" pitchFamily="18" charset="2"/>
              </a:rPr>
              <a:t></a:t>
            </a:r>
            <a:r>
              <a:rPr lang="en-US" altLang="zh-CN" b="1" dirty="0"/>
              <a:t>		+i</a:t>
            </a:r>
            <a:r>
              <a:rPr lang="en-US" altLang="zh-CN" b="1" baseline="-25000" dirty="0"/>
              <a:t>3</a:t>
            </a:r>
            <a:r>
              <a:rPr lang="en-US" altLang="zh-CN" b="1" dirty="0"/>
              <a:t>#		 T</a:t>
            </a:r>
            <a:r>
              <a:rPr lang="en-US" altLang="zh-CN" b="1" dirty="0">
                <a:sym typeface="Symbol" panose="05050102010706020507" pitchFamily="18" charset="2"/>
              </a:rPr>
              <a:t></a:t>
            </a:r>
            <a:r>
              <a:rPr lang="en-US" altLang="zh-CN" b="1" dirty="0"/>
              <a:t>→</a:t>
            </a:r>
            <a:r>
              <a:rPr lang="en-US" altLang="zh-CN" b="1" dirty="0">
                <a:sym typeface="Symbol" panose="05050102010706020507" pitchFamily="18" charset="2"/>
              </a:rPr>
              <a:t></a:t>
            </a:r>
            <a:endParaRPr lang="en-US" altLang="zh-CN" b="1" dirty="0"/>
          </a:p>
          <a:p>
            <a:pPr marL="609600" indent="-609600" eaLnBrk="1" hangingPunct="1">
              <a:buNone/>
            </a:pPr>
            <a:r>
              <a:rPr lang="en-US" altLang="zh-CN" b="1" dirty="0"/>
              <a:t>10			#E</a:t>
            </a:r>
            <a:r>
              <a:rPr lang="en-US" altLang="zh-CN" b="1" dirty="0">
                <a:sym typeface="Symbol" panose="05050102010706020507" pitchFamily="18" charset="2"/>
              </a:rPr>
              <a:t></a:t>
            </a:r>
            <a:r>
              <a:rPr lang="en-US" altLang="zh-CN" b="1" dirty="0"/>
              <a:t>T+	+i</a:t>
            </a:r>
            <a:r>
              <a:rPr lang="en-US" altLang="zh-CN" b="1" baseline="-25000" dirty="0"/>
              <a:t>3</a:t>
            </a:r>
            <a:r>
              <a:rPr lang="en-US" altLang="zh-CN" b="1" dirty="0"/>
              <a:t>#		 E</a:t>
            </a:r>
            <a:r>
              <a:rPr lang="en-US" altLang="zh-CN" b="1" dirty="0">
                <a:sym typeface="Symbol" panose="05050102010706020507" pitchFamily="18" charset="2"/>
              </a:rPr>
              <a:t></a:t>
            </a:r>
            <a:r>
              <a:rPr lang="en-US" altLang="zh-CN" b="1" dirty="0"/>
              <a:t>→+TE</a:t>
            </a:r>
            <a:r>
              <a:rPr lang="en-US" altLang="zh-CN" b="1" dirty="0">
                <a:sym typeface="Symbol" panose="05050102010706020507" pitchFamily="18" charset="2"/>
              </a:rPr>
              <a:t></a:t>
            </a:r>
            <a:endParaRPr lang="en-US" altLang="zh-CN" b="1" dirty="0"/>
          </a:p>
          <a:p>
            <a:pPr marL="609600" indent="-609600" eaLnBrk="1" hangingPunct="1">
              <a:buNone/>
            </a:pPr>
            <a:r>
              <a:rPr lang="en-US" altLang="zh-CN" b="1" dirty="0"/>
              <a:t>11			#E</a:t>
            </a:r>
            <a:r>
              <a:rPr lang="en-US" altLang="zh-CN" b="1" dirty="0">
                <a:sym typeface="Symbol" panose="05050102010706020507" pitchFamily="18" charset="2"/>
              </a:rPr>
              <a:t></a:t>
            </a:r>
            <a:r>
              <a:rPr lang="en-US" altLang="zh-CN" b="1" dirty="0"/>
              <a:t>T		i</a:t>
            </a:r>
            <a:r>
              <a:rPr lang="en-US" altLang="zh-CN" b="1" baseline="-25000" dirty="0"/>
              <a:t>3</a:t>
            </a:r>
            <a:r>
              <a:rPr lang="en-US" altLang="zh-CN" b="1" dirty="0"/>
              <a:t>#</a:t>
            </a:r>
            <a:endParaRPr lang="en-US" altLang="zh-CN" b="1" dirty="0"/>
          </a:p>
        </p:txBody>
      </p:sp>
      <p:graphicFrame>
        <p:nvGraphicFramePr>
          <p:cNvPr id="94211" name="Object 11"/>
          <p:cNvGraphicFramePr>
            <a:graphicFrameLocks noChangeAspect="1"/>
          </p:cNvGraphicFramePr>
          <p:nvPr/>
        </p:nvGraphicFramePr>
        <p:xfrm>
          <a:off x="546100" y="3636963"/>
          <a:ext cx="8215313" cy="2943225"/>
        </p:xfrm>
        <a:graphic>
          <a:graphicData uri="http://schemas.openxmlformats.org/presentationml/2006/ole">
            <mc:AlternateContent xmlns:mc="http://schemas.openxmlformats.org/markup-compatibility/2006">
              <mc:Choice xmlns:v="urn:schemas-microsoft-com:vml" Requires="v">
                <p:oleObj spid="_x0000_s3088" name="" r:id="rId1" imgW="5344160" imgH="1891665" progId="Word.Document.8">
                  <p:embed/>
                </p:oleObj>
              </mc:Choice>
              <mc:Fallback>
                <p:oleObj name="" r:id="rId1" imgW="5344160" imgH="1891665" progId="Word.Document.8">
                  <p:embed/>
                  <p:pic>
                    <p:nvPicPr>
                      <p:cNvPr id="0" name="图片 3087"/>
                      <p:cNvPicPr/>
                      <p:nvPr/>
                    </p:nvPicPr>
                    <p:blipFill>
                      <a:blip r:embed="rId2">
                        <a:clrChange>
                          <a:clrFrom>
                            <a:srgbClr val="000000"/>
                          </a:clrFrom>
                          <a:clrTo>
                            <a:srgbClr val="000000"/>
                          </a:clrTo>
                        </a:clrChange>
                      </a:blip>
                      <a:stretch>
                        <a:fillRect/>
                      </a:stretch>
                    </p:blipFill>
                    <p:spPr>
                      <a:xfrm>
                        <a:off x="546100" y="3636963"/>
                        <a:ext cx="8215313" cy="2943225"/>
                      </a:xfrm>
                      <a:prstGeom prst="rect">
                        <a:avLst/>
                      </a:prstGeom>
                      <a:noFill/>
                      <a:ln w="38100">
                        <a:noFill/>
                        <a:miter/>
                      </a:ln>
                    </p:spPr>
                  </p:pic>
                </p:oleObj>
              </mc:Fallback>
            </mc:AlternateContent>
          </a:graphicData>
        </a:graphic>
      </p:graphicFrame>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 fill="hold" grpId="0" nodeType="clickEffect">
                                  <p:stCondLst>
                                    <p:cond delay="0"/>
                                  </p:stCondLst>
                                  <p:childTnLst>
                                    <p:set>
                                      <p:cBhvr>
                                        <p:cTn id="6" dur="1" fill="hold">
                                          <p:stCondLst>
                                            <p:cond delay="0"/>
                                          </p:stCondLst>
                                        </p:cTn>
                                        <p:tgtEl>
                                          <p:spTgt spid="139267">
                                            <p:txEl>
                                              <p:charRg st="51" end="76"/>
                                            </p:txEl>
                                          </p:spTgt>
                                        </p:tgtEl>
                                        <p:attrNameLst>
                                          <p:attrName>style.visibility</p:attrName>
                                        </p:attrNameLst>
                                      </p:cBhvr>
                                      <p:to>
                                        <p:strVal val="visible"/>
                                      </p:to>
                                    </p:set>
                                    <p:anim calcmode="lin" valueType="num">
                                      <p:cBhvr>
                                        <p:cTn id="7" dur="500" fill="hold"/>
                                        <p:tgtEl>
                                          <p:spTgt spid="139267">
                                            <p:txEl>
                                              <p:charRg st="51" end="76"/>
                                            </p:txEl>
                                          </p:spTgt>
                                        </p:tgtEl>
                                        <p:attrNameLst>
                                          <p:attrName>ppt_x</p:attrName>
                                        </p:attrNameLst>
                                      </p:cBhvr>
                                      <p:tavLst>
                                        <p:tav tm="0">
                                          <p:val>
                                            <p:strVal val="#ppt_x"/>
                                          </p:val>
                                        </p:tav>
                                        <p:tav tm="100000">
                                          <p:val>
                                            <p:strVal val="#ppt_x"/>
                                          </p:val>
                                        </p:tav>
                                      </p:tavLst>
                                    </p:anim>
                                    <p:anim calcmode="lin" valueType="num">
                                      <p:cBhvr>
                                        <p:cTn id="8" dur="500" fill="hold"/>
                                        <p:tgtEl>
                                          <p:spTgt spid="139267">
                                            <p:txEl>
                                              <p:charRg st="51" end="76"/>
                                            </p:txEl>
                                          </p:spTgt>
                                        </p:tgtEl>
                                        <p:attrNameLst>
                                          <p:attrName>ppt_y</p:attrName>
                                        </p:attrNameLst>
                                      </p:cBhvr>
                                      <p:tavLst>
                                        <p:tav tm="0">
                                          <p:val>
                                            <p:strVal val="#ppt_y-#ppt_h/2"/>
                                          </p:val>
                                        </p:tav>
                                        <p:tav tm="100000">
                                          <p:val>
                                            <p:strVal val="#ppt_y"/>
                                          </p:val>
                                        </p:tav>
                                      </p:tavLst>
                                    </p:anim>
                                    <p:anim calcmode="lin" valueType="num">
                                      <p:cBhvr>
                                        <p:cTn id="9" dur="500" fill="hold"/>
                                        <p:tgtEl>
                                          <p:spTgt spid="139267">
                                            <p:txEl>
                                              <p:charRg st="51" end="76"/>
                                            </p:txEl>
                                          </p:spTgt>
                                        </p:tgtEl>
                                        <p:attrNameLst>
                                          <p:attrName>ppt_w</p:attrName>
                                        </p:attrNameLst>
                                      </p:cBhvr>
                                      <p:tavLst>
                                        <p:tav tm="0">
                                          <p:val>
                                            <p:strVal val="#ppt_w"/>
                                          </p:val>
                                        </p:tav>
                                        <p:tav tm="100000">
                                          <p:val>
                                            <p:strVal val="#ppt_w"/>
                                          </p:val>
                                        </p:tav>
                                      </p:tavLst>
                                    </p:anim>
                                    <p:anim calcmode="lin" valueType="num">
                                      <p:cBhvr>
                                        <p:cTn id="10" dur="500" fill="hold"/>
                                        <p:tgtEl>
                                          <p:spTgt spid="139267">
                                            <p:txEl>
                                              <p:charRg st="51" end="76"/>
                                            </p:txEl>
                                          </p:spTgt>
                                        </p:tgtEl>
                                        <p:attrNameLst>
                                          <p:attrName>ppt_h</p:attrName>
                                        </p:attrNameLst>
                                      </p:cBhvr>
                                      <p:tavLst>
                                        <p:tav tm="0">
                                          <p:val>
                                            <p:fltVal val="0.000000"/>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7" presetClass="entr" presetSubtype="1" fill="hold" grpId="0" nodeType="clickEffect">
                                  <p:stCondLst>
                                    <p:cond delay="0"/>
                                  </p:stCondLst>
                                  <p:childTnLst>
                                    <p:set>
                                      <p:cBhvr>
                                        <p:cTn id="14" dur="1" fill="hold">
                                          <p:stCondLst>
                                            <p:cond delay="0"/>
                                          </p:stCondLst>
                                        </p:cTn>
                                        <p:tgtEl>
                                          <p:spTgt spid="139267">
                                            <p:txEl>
                                              <p:charRg st="76" end="97"/>
                                            </p:txEl>
                                          </p:spTgt>
                                        </p:tgtEl>
                                        <p:attrNameLst>
                                          <p:attrName>style.visibility</p:attrName>
                                        </p:attrNameLst>
                                      </p:cBhvr>
                                      <p:to>
                                        <p:strVal val="visible"/>
                                      </p:to>
                                    </p:set>
                                    <p:anim calcmode="lin" valueType="num">
                                      <p:cBhvr>
                                        <p:cTn id="15" dur="500" fill="hold"/>
                                        <p:tgtEl>
                                          <p:spTgt spid="139267">
                                            <p:txEl>
                                              <p:charRg st="76" end="97"/>
                                            </p:txEl>
                                          </p:spTgt>
                                        </p:tgtEl>
                                        <p:attrNameLst>
                                          <p:attrName>ppt_x</p:attrName>
                                        </p:attrNameLst>
                                      </p:cBhvr>
                                      <p:tavLst>
                                        <p:tav tm="0">
                                          <p:val>
                                            <p:strVal val="#ppt_x"/>
                                          </p:val>
                                        </p:tav>
                                        <p:tav tm="100000">
                                          <p:val>
                                            <p:strVal val="#ppt_x"/>
                                          </p:val>
                                        </p:tav>
                                      </p:tavLst>
                                    </p:anim>
                                    <p:anim calcmode="lin" valueType="num">
                                      <p:cBhvr>
                                        <p:cTn id="16" dur="500" fill="hold"/>
                                        <p:tgtEl>
                                          <p:spTgt spid="139267">
                                            <p:txEl>
                                              <p:charRg st="76" end="97"/>
                                            </p:txEl>
                                          </p:spTgt>
                                        </p:tgtEl>
                                        <p:attrNameLst>
                                          <p:attrName>ppt_y</p:attrName>
                                        </p:attrNameLst>
                                      </p:cBhvr>
                                      <p:tavLst>
                                        <p:tav tm="0">
                                          <p:val>
                                            <p:strVal val="#ppt_y-#ppt_h/2"/>
                                          </p:val>
                                        </p:tav>
                                        <p:tav tm="100000">
                                          <p:val>
                                            <p:strVal val="#ppt_y"/>
                                          </p:val>
                                        </p:tav>
                                      </p:tavLst>
                                    </p:anim>
                                    <p:anim calcmode="lin" valueType="num">
                                      <p:cBhvr>
                                        <p:cTn id="17" dur="500" fill="hold"/>
                                        <p:tgtEl>
                                          <p:spTgt spid="139267">
                                            <p:txEl>
                                              <p:charRg st="76" end="97"/>
                                            </p:txEl>
                                          </p:spTgt>
                                        </p:tgtEl>
                                        <p:attrNameLst>
                                          <p:attrName>ppt_w</p:attrName>
                                        </p:attrNameLst>
                                      </p:cBhvr>
                                      <p:tavLst>
                                        <p:tav tm="0">
                                          <p:val>
                                            <p:strVal val="#ppt_w"/>
                                          </p:val>
                                        </p:tav>
                                        <p:tav tm="100000">
                                          <p:val>
                                            <p:strVal val="#ppt_w"/>
                                          </p:val>
                                        </p:tav>
                                      </p:tavLst>
                                    </p:anim>
                                    <p:anim calcmode="lin" valueType="num">
                                      <p:cBhvr>
                                        <p:cTn id="18" dur="500" fill="hold"/>
                                        <p:tgtEl>
                                          <p:spTgt spid="139267">
                                            <p:txEl>
                                              <p:charRg st="76" end="97"/>
                                            </p:txEl>
                                          </p:spTgt>
                                        </p:tgtEl>
                                        <p:attrNameLst>
                                          <p:attrName>ppt_h</p:attrName>
                                        </p:attrNameLst>
                                      </p:cBhvr>
                                      <p:tavLst>
                                        <p:tav tm="0">
                                          <p:val>
                                            <p:fltVal val="0.00000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7" presetClass="entr" presetSubtype="1" fill="hold" grpId="0" nodeType="clickEffect">
                                  <p:stCondLst>
                                    <p:cond delay="0"/>
                                  </p:stCondLst>
                                  <p:childTnLst>
                                    <p:set>
                                      <p:cBhvr>
                                        <p:cTn id="22" dur="1" fill="hold">
                                          <p:stCondLst>
                                            <p:cond delay="0"/>
                                          </p:stCondLst>
                                        </p:cTn>
                                        <p:tgtEl>
                                          <p:spTgt spid="139267">
                                            <p:txEl>
                                              <p:charRg st="97" end="123"/>
                                            </p:txEl>
                                          </p:spTgt>
                                        </p:tgtEl>
                                        <p:attrNameLst>
                                          <p:attrName>style.visibility</p:attrName>
                                        </p:attrNameLst>
                                      </p:cBhvr>
                                      <p:to>
                                        <p:strVal val="visible"/>
                                      </p:to>
                                    </p:set>
                                    <p:anim calcmode="lin" valueType="num">
                                      <p:cBhvr>
                                        <p:cTn id="23" dur="500" fill="hold"/>
                                        <p:tgtEl>
                                          <p:spTgt spid="139267">
                                            <p:txEl>
                                              <p:charRg st="97" end="123"/>
                                            </p:txEl>
                                          </p:spTgt>
                                        </p:tgtEl>
                                        <p:attrNameLst>
                                          <p:attrName>ppt_x</p:attrName>
                                        </p:attrNameLst>
                                      </p:cBhvr>
                                      <p:tavLst>
                                        <p:tav tm="0">
                                          <p:val>
                                            <p:strVal val="#ppt_x"/>
                                          </p:val>
                                        </p:tav>
                                        <p:tav tm="100000">
                                          <p:val>
                                            <p:strVal val="#ppt_x"/>
                                          </p:val>
                                        </p:tav>
                                      </p:tavLst>
                                    </p:anim>
                                    <p:anim calcmode="lin" valueType="num">
                                      <p:cBhvr>
                                        <p:cTn id="24" dur="500" fill="hold"/>
                                        <p:tgtEl>
                                          <p:spTgt spid="139267">
                                            <p:txEl>
                                              <p:charRg st="97" end="123"/>
                                            </p:txEl>
                                          </p:spTgt>
                                        </p:tgtEl>
                                        <p:attrNameLst>
                                          <p:attrName>ppt_y</p:attrName>
                                        </p:attrNameLst>
                                      </p:cBhvr>
                                      <p:tavLst>
                                        <p:tav tm="0">
                                          <p:val>
                                            <p:strVal val="#ppt_y-#ppt_h/2"/>
                                          </p:val>
                                        </p:tav>
                                        <p:tav tm="100000">
                                          <p:val>
                                            <p:strVal val="#ppt_y"/>
                                          </p:val>
                                        </p:tav>
                                      </p:tavLst>
                                    </p:anim>
                                    <p:anim calcmode="lin" valueType="num">
                                      <p:cBhvr>
                                        <p:cTn id="25" dur="500" fill="hold"/>
                                        <p:tgtEl>
                                          <p:spTgt spid="139267">
                                            <p:txEl>
                                              <p:charRg st="97" end="123"/>
                                            </p:txEl>
                                          </p:spTgt>
                                        </p:tgtEl>
                                        <p:attrNameLst>
                                          <p:attrName>ppt_w</p:attrName>
                                        </p:attrNameLst>
                                      </p:cBhvr>
                                      <p:tavLst>
                                        <p:tav tm="0">
                                          <p:val>
                                            <p:strVal val="#ppt_w"/>
                                          </p:val>
                                        </p:tav>
                                        <p:tav tm="100000">
                                          <p:val>
                                            <p:strVal val="#ppt_w"/>
                                          </p:val>
                                        </p:tav>
                                      </p:tavLst>
                                    </p:anim>
                                    <p:anim calcmode="lin" valueType="num">
                                      <p:cBhvr>
                                        <p:cTn id="26" dur="500" fill="hold"/>
                                        <p:tgtEl>
                                          <p:spTgt spid="139267">
                                            <p:txEl>
                                              <p:charRg st="97" end="123"/>
                                            </p:txEl>
                                          </p:spTgt>
                                        </p:tgtEl>
                                        <p:attrNameLst>
                                          <p:attrName>ppt_h</p:attrName>
                                        </p:attrNameLst>
                                      </p:cBhvr>
                                      <p:tavLst>
                                        <p:tav tm="0">
                                          <p:val>
                                            <p:fltVal val="0.00000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7" presetClass="entr" presetSubtype="1" fill="hold" grpId="0" nodeType="clickEffect">
                                  <p:stCondLst>
                                    <p:cond delay="0"/>
                                  </p:stCondLst>
                                  <p:childTnLst>
                                    <p:set>
                                      <p:cBhvr>
                                        <p:cTn id="30" dur="1" fill="hold">
                                          <p:stCondLst>
                                            <p:cond delay="0"/>
                                          </p:stCondLst>
                                        </p:cTn>
                                        <p:tgtEl>
                                          <p:spTgt spid="139267">
                                            <p:txEl>
                                              <p:charRg st="123" end="138"/>
                                            </p:txEl>
                                          </p:spTgt>
                                        </p:tgtEl>
                                        <p:attrNameLst>
                                          <p:attrName>style.visibility</p:attrName>
                                        </p:attrNameLst>
                                      </p:cBhvr>
                                      <p:to>
                                        <p:strVal val="visible"/>
                                      </p:to>
                                    </p:set>
                                    <p:anim calcmode="lin" valueType="num">
                                      <p:cBhvr>
                                        <p:cTn id="31" dur="500" fill="hold"/>
                                        <p:tgtEl>
                                          <p:spTgt spid="139267">
                                            <p:txEl>
                                              <p:charRg st="123" end="138"/>
                                            </p:txEl>
                                          </p:spTgt>
                                        </p:tgtEl>
                                        <p:attrNameLst>
                                          <p:attrName>ppt_x</p:attrName>
                                        </p:attrNameLst>
                                      </p:cBhvr>
                                      <p:tavLst>
                                        <p:tav tm="0">
                                          <p:val>
                                            <p:strVal val="#ppt_x"/>
                                          </p:val>
                                        </p:tav>
                                        <p:tav tm="100000">
                                          <p:val>
                                            <p:strVal val="#ppt_x"/>
                                          </p:val>
                                        </p:tav>
                                      </p:tavLst>
                                    </p:anim>
                                    <p:anim calcmode="lin" valueType="num">
                                      <p:cBhvr>
                                        <p:cTn id="32" dur="500" fill="hold"/>
                                        <p:tgtEl>
                                          <p:spTgt spid="139267">
                                            <p:txEl>
                                              <p:charRg st="123" end="138"/>
                                            </p:txEl>
                                          </p:spTgt>
                                        </p:tgtEl>
                                        <p:attrNameLst>
                                          <p:attrName>ppt_y</p:attrName>
                                        </p:attrNameLst>
                                      </p:cBhvr>
                                      <p:tavLst>
                                        <p:tav tm="0">
                                          <p:val>
                                            <p:strVal val="#ppt_y-#ppt_h/2"/>
                                          </p:val>
                                        </p:tav>
                                        <p:tav tm="100000">
                                          <p:val>
                                            <p:strVal val="#ppt_y"/>
                                          </p:val>
                                        </p:tav>
                                      </p:tavLst>
                                    </p:anim>
                                    <p:anim calcmode="lin" valueType="num">
                                      <p:cBhvr>
                                        <p:cTn id="33" dur="500" fill="hold"/>
                                        <p:tgtEl>
                                          <p:spTgt spid="139267">
                                            <p:txEl>
                                              <p:charRg st="123" end="138"/>
                                            </p:txEl>
                                          </p:spTgt>
                                        </p:tgtEl>
                                        <p:attrNameLst>
                                          <p:attrName>ppt_w</p:attrName>
                                        </p:attrNameLst>
                                      </p:cBhvr>
                                      <p:tavLst>
                                        <p:tav tm="0">
                                          <p:val>
                                            <p:strVal val="#ppt_w"/>
                                          </p:val>
                                        </p:tav>
                                        <p:tav tm="100000">
                                          <p:val>
                                            <p:strVal val="#ppt_w"/>
                                          </p:val>
                                        </p:tav>
                                      </p:tavLst>
                                    </p:anim>
                                    <p:anim calcmode="lin" valueType="num">
                                      <p:cBhvr>
                                        <p:cTn id="34" dur="500" fill="hold"/>
                                        <p:tgtEl>
                                          <p:spTgt spid="139267">
                                            <p:txEl>
                                              <p:charRg st="123" end="138"/>
                                            </p:txEl>
                                          </p:spTgt>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7" grpId="0" build="p"/>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3"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267266" name="Rectangle 2"/>
          <p:cNvSpPr>
            <a:spLocks noGrp="1"/>
          </p:cNvSpPr>
          <p:nvPr>
            <p:ph type="body"/>
          </p:nvPr>
        </p:nvSpPr>
        <p:spPr>
          <a:xfrm>
            <a:off x="684213" y="128588"/>
            <a:ext cx="7772400" cy="5562600"/>
          </a:xfrm>
          <a:ln/>
        </p:spPr>
        <p:txBody>
          <a:bodyPr vert="horz" wrap="square" lIns="91440" tIns="45720" rIns="91440" bIns="45720" anchor="t"/>
          <a:p>
            <a:pPr marL="609600" indent="-609600" eaLnBrk="1" hangingPunct="1">
              <a:spcBef>
                <a:spcPct val="10000"/>
              </a:spcBef>
              <a:buNone/>
            </a:pPr>
            <a:r>
              <a:rPr lang="zh-CN" altLang="en-US" b="1" u="sng" dirty="0"/>
              <a:t>步骤</a:t>
            </a:r>
            <a:r>
              <a:rPr lang="zh-CN" altLang="en-US" b="1" dirty="0"/>
              <a:t>		</a:t>
            </a:r>
            <a:r>
              <a:rPr lang="zh-CN" altLang="en-US" b="1" u="sng" dirty="0"/>
              <a:t>符号栈</a:t>
            </a:r>
            <a:r>
              <a:rPr lang="zh-CN" altLang="en-US" b="1" dirty="0"/>
              <a:t>	</a:t>
            </a:r>
            <a:r>
              <a:rPr lang="zh-CN" altLang="en-US" b="1" u="sng" dirty="0"/>
              <a:t>输入串</a:t>
            </a:r>
            <a:r>
              <a:rPr lang="zh-CN" altLang="en-US" b="1" dirty="0"/>
              <a:t>	</a:t>
            </a:r>
            <a:r>
              <a:rPr lang="zh-CN" altLang="en-US" b="1" u="sng" dirty="0"/>
              <a:t>所用产生</a:t>
            </a:r>
            <a:endParaRPr lang="zh-CN" altLang="en-US" b="1" dirty="0"/>
          </a:p>
          <a:p>
            <a:pPr marL="609600" indent="-609600" eaLnBrk="1" hangingPunct="1">
              <a:spcBef>
                <a:spcPct val="10000"/>
              </a:spcBef>
              <a:buNone/>
            </a:pPr>
            <a:r>
              <a:rPr lang="en-US" altLang="zh-CN" b="1" dirty="0"/>
              <a:t>11			#E</a:t>
            </a:r>
            <a:r>
              <a:rPr lang="en-US" altLang="zh-CN" b="1" dirty="0">
                <a:sym typeface="Symbol" panose="05050102010706020507" pitchFamily="18" charset="2"/>
              </a:rPr>
              <a:t></a:t>
            </a:r>
            <a:r>
              <a:rPr lang="en-US" altLang="zh-CN" b="1" dirty="0"/>
              <a:t>T		i</a:t>
            </a:r>
            <a:r>
              <a:rPr lang="en-US" altLang="zh-CN" b="1" baseline="-25000" dirty="0"/>
              <a:t>3</a:t>
            </a:r>
            <a:r>
              <a:rPr lang="en-US" altLang="zh-CN" b="1" dirty="0"/>
              <a:t>#</a:t>
            </a:r>
            <a:endParaRPr lang="en-US" altLang="zh-CN" b="1" dirty="0"/>
          </a:p>
          <a:p>
            <a:pPr marL="609600" indent="-609600" eaLnBrk="1" hangingPunct="1">
              <a:spcBef>
                <a:spcPct val="10000"/>
              </a:spcBef>
              <a:buNone/>
            </a:pPr>
            <a:r>
              <a:rPr lang="en-US" altLang="zh-CN" b="1" dirty="0"/>
              <a:t>12			#E</a:t>
            </a:r>
            <a:r>
              <a:rPr lang="en-US" altLang="zh-CN" b="1" dirty="0">
                <a:sym typeface="Symbol" panose="05050102010706020507" pitchFamily="18" charset="2"/>
              </a:rPr>
              <a:t></a:t>
            </a:r>
            <a:r>
              <a:rPr lang="en-US" altLang="zh-CN" b="1" dirty="0"/>
              <a:t>T</a:t>
            </a:r>
            <a:r>
              <a:rPr lang="en-US" altLang="zh-CN" b="1" dirty="0">
                <a:sym typeface="Symbol" panose="05050102010706020507" pitchFamily="18" charset="2"/>
              </a:rPr>
              <a:t></a:t>
            </a:r>
            <a:r>
              <a:rPr lang="en-US" altLang="zh-CN" b="1" dirty="0"/>
              <a:t>F    	i</a:t>
            </a:r>
            <a:r>
              <a:rPr lang="en-US" altLang="zh-CN" b="1" baseline="-25000" dirty="0"/>
              <a:t>3</a:t>
            </a:r>
            <a:r>
              <a:rPr lang="en-US" altLang="zh-CN" b="1" dirty="0"/>
              <a:t>#          	 T→FT</a:t>
            </a:r>
            <a:r>
              <a:rPr lang="en-US" altLang="zh-CN" b="1" dirty="0">
                <a:sym typeface="Symbol" panose="05050102010706020507" pitchFamily="18" charset="2"/>
              </a:rPr>
              <a:t></a:t>
            </a:r>
            <a:endParaRPr lang="en-US" altLang="zh-CN" b="1" dirty="0"/>
          </a:p>
          <a:p>
            <a:pPr marL="609600" indent="-609600" eaLnBrk="1" hangingPunct="1">
              <a:spcBef>
                <a:spcPct val="10000"/>
              </a:spcBef>
              <a:buNone/>
            </a:pPr>
            <a:r>
              <a:rPr lang="en-US" altLang="zh-CN" b="1" dirty="0"/>
              <a:t>13			#E</a:t>
            </a:r>
            <a:r>
              <a:rPr lang="en-US" altLang="zh-CN" b="1" dirty="0">
                <a:sym typeface="Symbol" panose="05050102010706020507" pitchFamily="18" charset="2"/>
              </a:rPr>
              <a:t></a:t>
            </a:r>
            <a:r>
              <a:rPr lang="en-US" altLang="zh-CN" b="1" dirty="0"/>
              <a:t>T</a:t>
            </a:r>
            <a:r>
              <a:rPr lang="en-US" altLang="zh-CN" b="1" dirty="0">
                <a:sym typeface="Symbol" panose="05050102010706020507" pitchFamily="18" charset="2"/>
              </a:rPr>
              <a:t></a:t>
            </a:r>
            <a:r>
              <a:rPr lang="en-US" altLang="zh-CN" b="1" dirty="0"/>
              <a:t>i	i</a:t>
            </a:r>
            <a:r>
              <a:rPr lang="en-US" altLang="zh-CN" b="1" baseline="-25000" dirty="0"/>
              <a:t>3</a:t>
            </a:r>
            <a:r>
              <a:rPr lang="en-US" altLang="zh-CN" b="1" dirty="0"/>
              <a:t>#          	 F→i</a:t>
            </a:r>
            <a:endParaRPr lang="en-US" altLang="zh-CN" b="1" dirty="0"/>
          </a:p>
          <a:p>
            <a:pPr marL="609600" indent="-609600" eaLnBrk="1" hangingPunct="1">
              <a:spcBef>
                <a:spcPct val="10000"/>
              </a:spcBef>
              <a:buNone/>
            </a:pPr>
            <a:r>
              <a:rPr lang="en-US" altLang="zh-CN" b="1" dirty="0"/>
              <a:t>14			#E</a:t>
            </a:r>
            <a:r>
              <a:rPr lang="en-US" altLang="zh-CN" b="1" dirty="0">
                <a:sym typeface="Symbol" panose="05050102010706020507" pitchFamily="18" charset="2"/>
              </a:rPr>
              <a:t></a:t>
            </a:r>
            <a:r>
              <a:rPr lang="en-US" altLang="zh-CN" b="1" dirty="0"/>
              <a:t>T</a:t>
            </a:r>
            <a:r>
              <a:rPr lang="en-US" altLang="zh-CN" b="1" dirty="0">
                <a:sym typeface="Symbol" panose="05050102010706020507" pitchFamily="18" charset="2"/>
              </a:rPr>
              <a:t>   </a:t>
            </a:r>
            <a:r>
              <a:rPr lang="en-US" altLang="zh-CN" b="1" dirty="0"/>
              <a:t>	#</a:t>
            </a:r>
            <a:endParaRPr lang="en-US" altLang="zh-CN" b="1" dirty="0"/>
          </a:p>
          <a:p>
            <a:pPr marL="609600" indent="-609600" eaLnBrk="1" hangingPunct="1">
              <a:spcBef>
                <a:spcPct val="10000"/>
              </a:spcBef>
              <a:buNone/>
            </a:pPr>
            <a:r>
              <a:rPr lang="en-US" altLang="zh-CN" b="1" dirty="0"/>
              <a:t>15			#E</a:t>
            </a:r>
            <a:r>
              <a:rPr lang="en-US" altLang="zh-CN" b="1" dirty="0">
                <a:sym typeface="Symbol" panose="05050102010706020507" pitchFamily="18" charset="2"/>
              </a:rPr>
              <a:t></a:t>
            </a:r>
            <a:r>
              <a:rPr lang="en-US" altLang="zh-CN" b="1" dirty="0"/>
              <a:t>		#          	 T</a:t>
            </a:r>
            <a:r>
              <a:rPr lang="en-US" altLang="zh-CN" b="1" dirty="0">
                <a:sym typeface="Symbol" panose="05050102010706020507" pitchFamily="18" charset="2"/>
              </a:rPr>
              <a:t></a:t>
            </a:r>
            <a:r>
              <a:rPr lang="en-US" altLang="zh-CN" b="1" dirty="0"/>
              <a:t>→</a:t>
            </a:r>
            <a:r>
              <a:rPr lang="en-US" altLang="zh-CN" b="1" dirty="0">
                <a:sym typeface="Symbol" panose="05050102010706020507" pitchFamily="18" charset="2"/>
              </a:rPr>
              <a:t></a:t>
            </a:r>
            <a:endParaRPr lang="en-US" altLang="zh-CN" b="1" dirty="0"/>
          </a:p>
          <a:p>
            <a:pPr marL="609600" indent="-609600" eaLnBrk="1" hangingPunct="1">
              <a:spcBef>
                <a:spcPct val="10000"/>
              </a:spcBef>
              <a:buNone/>
            </a:pPr>
            <a:r>
              <a:rPr lang="en-US" altLang="zh-CN" b="1" dirty="0"/>
              <a:t>16			#		#          	 E</a:t>
            </a:r>
            <a:r>
              <a:rPr lang="en-US" altLang="zh-CN" b="1" dirty="0">
                <a:sym typeface="Symbol" panose="05050102010706020507" pitchFamily="18" charset="2"/>
              </a:rPr>
              <a:t></a:t>
            </a:r>
            <a:r>
              <a:rPr lang="en-US" altLang="zh-CN" b="1" dirty="0"/>
              <a:t>→</a:t>
            </a:r>
            <a:r>
              <a:rPr lang="en-US" altLang="zh-CN" b="1" dirty="0">
                <a:sym typeface="Symbol" panose="05050102010706020507" pitchFamily="18" charset="2"/>
              </a:rPr>
              <a:t></a:t>
            </a:r>
            <a:endParaRPr lang="en-US" altLang="zh-CN" b="1" dirty="0">
              <a:sym typeface="Symbol" panose="05050102010706020507" pitchFamily="18" charset="2"/>
            </a:endParaRPr>
          </a:p>
        </p:txBody>
      </p:sp>
      <p:graphicFrame>
        <p:nvGraphicFramePr>
          <p:cNvPr id="95235" name="Object 6"/>
          <p:cNvGraphicFramePr>
            <a:graphicFrameLocks noChangeAspect="1"/>
          </p:cNvGraphicFramePr>
          <p:nvPr/>
        </p:nvGraphicFramePr>
        <p:xfrm>
          <a:off x="539750" y="3636963"/>
          <a:ext cx="8229600" cy="2944812"/>
        </p:xfrm>
        <a:graphic>
          <a:graphicData uri="http://schemas.openxmlformats.org/presentationml/2006/ole">
            <mc:AlternateContent xmlns:mc="http://schemas.openxmlformats.org/markup-compatibility/2006">
              <mc:Choice xmlns:v="urn:schemas-microsoft-com:vml" Requires="v">
                <p:oleObj spid="_x0000_s3086" name="" r:id="rId1" imgW="5335270" imgH="1888490" progId="Word.Document.8">
                  <p:embed/>
                </p:oleObj>
              </mc:Choice>
              <mc:Fallback>
                <p:oleObj name="" r:id="rId1" imgW="5335270" imgH="1888490" progId="Word.Document.8">
                  <p:embed/>
                  <p:pic>
                    <p:nvPicPr>
                      <p:cNvPr id="0" name="图片 3085"/>
                      <p:cNvPicPr/>
                      <p:nvPr/>
                    </p:nvPicPr>
                    <p:blipFill>
                      <a:blip r:embed="rId2">
                        <a:clrChange>
                          <a:clrFrom>
                            <a:srgbClr val="000000"/>
                          </a:clrFrom>
                          <a:clrTo>
                            <a:srgbClr val="000000"/>
                          </a:clrTo>
                        </a:clrChange>
                      </a:blip>
                      <a:stretch>
                        <a:fillRect/>
                      </a:stretch>
                    </p:blipFill>
                    <p:spPr>
                      <a:xfrm>
                        <a:off x="539750" y="3636963"/>
                        <a:ext cx="8229600" cy="2944812"/>
                      </a:xfrm>
                      <a:prstGeom prst="rect">
                        <a:avLst/>
                      </a:prstGeom>
                      <a:noFill/>
                      <a:ln w="38100">
                        <a:noFill/>
                        <a:miter/>
                      </a:ln>
                    </p:spPr>
                  </p:pic>
                </p:oleObj>
              </mc:Fallback>
            </mc:AlternateContent>
          </a:graphicData>
        </a:graphic>
      </p:graphicFrame>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 fill="hold" grpId="0" nodeType="clickEffect">
                                  <p:stCondLst>
                                    <p:cond delay="0"/>
                                  </p:stCondLst>
                                  <p:childTnLst>
                                    <p:set>
                                      <p:cBhvr>
                                        <p:cTn id="6" dur="1" fill="hold">
                                          <p:stCondLst>
                                            <p:cond delay="0"/>
                                          </p:stCondLst>
                                        </p:cTn>
                                        <p:tgtEl>
                                          <p:spTgt spid="267266">
                                            <p:txEl>
                                              <p:charRg st="32" end="69"/>
                                            </p:txEl>
                                          </p:spTgt>
                                        </p:tgtEl>
                                        <p:attrNameLst>
                                          <p:attrName>style.visibility</p:attrName>
                                        </p:attrNameLst>
                                      </p:cBhvr>
                                      <p:to>
                                        <p:strVal val="visible"/>
                                      </p:to>
                                    </p:set>
                                    <p:anim calcmode="lin" valueType="num">
                                      <p:cBhvr>
                                        <p:cTn id="7" dur="500" fill="hold"/>
                                        <p:tgtEl>
                                          <p:spTgt spid="267266">
                                            <p:txEl>
                                              <p:charRg st="32" end="69"/>
                                            </p:txEl>
                                          </p:spTgt>
                                        </p:tgtEl>
                                        <p:attrNameLst>
                                          <p:attrName>ppt_x</p:attrName>
                                        </p:attrNameLst>
                                      </p:cBhvr>
                                      <p:tavLst>
                                        <p:tav tm="0">
                                          <p:val>
                                            <p:strVal val="#ppt_x"/>
                                          </p:val>
                                        </p:tav>
                                        <p:tav tm="100000">
                                          <p:val>
                                            <p:strVal val="#ppt_x"/>
                                          </p:val>
                                        </p:tav>
                                      </p:tavLst>
                                    </p:anim>
                                    <p:anim calcmode="lin" valueType="num">
                                      <p:cBhvr>
                                        <p:cTn id="8" dur="500" fill="hold"/>
                                        <p:tgtEl>
                                          <p:spTgt spid="267266">
                                            <p:txEl>
                                              <p:charRg st="32" end="69"/>
                                            </p:txEl>
                                          </p:spTgt>
                                        </p:tgtEl>
                                        <p:attrNameLst>
                                          <p:attrName>ppt_y</p:attrName>
                                        </p:attrNameLst>
                                      </p:cBhvr>
                                      <p:tavLst>
                                        <p:tav tm="0">
                                          <p:val>
                                            <p:strVal val="#ppt_y-#ppt_h/2"/>
                                          </p:val>
                                        </p:tav>
                                        <p:tav tm="100000">
                                          <p:val>
                                            <p:strVal val="#ppt_y"/>
                                          </p:val>
                                        </p:tav>
                                      </p:tavLst>
                                    </p:anim>
                                    <p:anim calcmode="lin" valueType="num">
                                      <p:cBhvr>
                                        <p:cTn id="9" dur="500" fill="hold"/>
                                        <p:tgtEl>
                                          <p:spTgt spid="267266">
                                            <p:txEl>
                                              <p:charRg st="32" end="69"/>
                                            </p:txEl>
                                          </p:spTgt>
                                        </p:tgtEl>
                                        <p:attrNameLst>
                                          <p:attrName>ppt_w</p:attrName>
                                        </p:attrNameLst>
                                      </p:cBhvr>
                                      <p:tavLst>
                                        <p:tav tm="0">
                                          <p:val>
                                            <p:strVal val="#ppt_w"/>
                                          </p:val>
                                        </p:tav>
                                        <p:tav tm="100000">
                                          <p:val>
                                            <p:strVal val="#ppt_w"/>
                                          </p:val>
                                        </p:tav>
                                      </p:tavLst>
                                    </p:anim>
                                    <p:anim calcmode="lin" valueType="num">
                                      <p:cBhvr>
                                        <p:cTn id="10" dur="500" fill="hold"/>
                                        <p:tgtEl>
                                          <p:spTgt spid="267266">
                                            <p:txEl>
                                              <p:charRg st="32" end="69"/>
                                            </p:txEl>
                                          </p:spTgt>
                                        </p:tgtEl>
                                        <p:attrNameLst>
                                          <p:attrName>ppt_h</p:attrName>
                                        </p:attrNameLst>
                                      </p:cBhvr>
                                      <p:tavLst>
                                        <p:tav tm="0">
                                          <p:val>
                                            <p:fltVal val="0.000000"/>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7" presetClass="entr" presetSubtype="1" fill="hold" grpId="0" nodeType="clickEffect">
                                  <p:stCondLst>
                                    <p:cond delay="0"/>
                                  </p:stCondLst>
                                  <p:childTnLst>
                                    <p:set>
                                      <p:cBhvr>
                                        <p:cTn id="14" dur="1" fill="hold">
                                          <p:stCondLst>
                                            <p:cond delay="0"/>
                                          </p:stCondLst>
                                        </p:cTn>
                                        <p:tgtEl>
                                          <p:spTgt spid="267266">
                                            <p:txEl>
                                              <p:charRg st="69" end="100"/>
                                            </p:txEl>
                                          </p:spTgt>
                                        </p:tgtEl>
                                        <p:attrNameLst>
                                          <p:attrName>style.visibility</p:attrName>
                                        </p:attrNameLst>
                                      </p:cBhvr>
                                      <p:to>
                                        <p:strVal val="visible"/>
                                      </p:to>
                                    </p:set>
                                    <p:anim calcmode="lin" valueType="num">
                                      <p:cBhvr>
                                        <p:cTn id="15" dur="500" fill="hold"/>
                                        <p:tgtEl>
                                          <p:spTgt spid="267266">
                                            <p:txEl>
                                              <p:charRg st="69" end="100"/>
                                            </p:txEl>
                                          </p:spTgt>
                                        </p:tgtEl>
                                        <p:attrNameLst>
                                          <p:attrName>ppt_x</p:attrName>
                                        </p:attrNameLst>
                                      </p:cBhvr>
                                      <p:tavLst>
                                        <p:tav tm="0">
                                          <p:val>
                                            <p:strVal val="#ppt_x"/>
                                          </p:val>
                                        </p:tav>
                                        <p:tav tm="100000">
                                          <p:val>
                                            <p:strVal val="#ppt_x"/>
                                          </p:val>
                                        </p:tav>
                                      </p:tavLst>
                                    </p:anim>
                                    <p:anim calcmode="lin" valueType="num">
                                      <p:cBhvr>
                                        <p:cTn id="16" dur="500" fill="hold"/>
                                        <p:tgtEl>
                                          <p:spTgt spid="267266">
                                            <p:txEl>
                                              <p:charRg st="69" end="100"/>
                                            </p:txEl>
                                          </p:spTgt>
                                        </p:tgtEl>
                                        <p:attrNameLst>
                                          <p:attrName>ppt_y</p:attrName>
                                        </p:attrNameLst>
                                      </p:cBhvr>
                                      <p:tavLst>
                                        <p:tav tm="0">
                                          <p:val>
                                            <p:strVal val="#ppt_y-#ppt_h/2"/>
                                          </p:val>
                                        </p:tav>
                                        <p:tav tm="100000">
                                          <p:val>
                                            <p:strVal val="#ppt_y"/>
                                          </p:val>
                                        </p:tav>
                                      </p:tavLst>
                                    </p:anim>
                                    <p:anim calcmode="lin" valueType="num">
                                      <p:cBhvr>
                                        <p:cTn id="17" dur="500" fill="hold"/>
                                        <p:tgtEl>
                                          <p:spTgt spid="267266">
                                            <p:txEl>
                                              <p:charRg st="69" end="100"/>
                                            </p:txEl>
                                          </p:spTgt>
                                        </p:tgtEl>
                                        <p:attrNameLst>
                                          <p:attrName>ppt_w</p:attrName>
                                        </p:attrNameLst>
                                      </p:cBhvr>
                                      <p:tavLst>
                                        <p:tav tm="0">
                                          <p:val>
                                            <p:strVal val="#ppt_w"/>
                                          </p:val>
                                        </p:tav>
                                        <p:tav tm="100000">
                                          <p:val>
                                            <p:strVal val="#ppt_w"/>
                                          </p:val>
                                        </p:tav>
                                      </p:tavLst>
                                    </p:anim>
                                    <p:anim calcmode="lin" valueType="num">
                                      <p:cBhvr>
                                        <p:cTn id="18" dur="500" fill="hold"/>
                                        <p:tgtEl>
                                          <p:spTgt spid="267266">
                                            <p:txEl>
                                              <p:charRg st="69" end="100"/>
                                            </p:txEl>
                                          </p:spTgt>
                                        </p:tgtEl>
                                        <p:attrNameLst>
                                          <p:attrName>ppt_h</p:attrName>
                                        </p:attrNameLst>
                                      </p:cBhvr>
                                      <p:tavLst>
                                        <p:tav tm="0">
                                          <p:val>
                                            <p:fltVal val="0.00000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7" presetClass="entr" presetSubtype="1" fill="hold" grpId="0" nodeType="clickEffect">
                                  <p:stCondLst>
                                    <p:cond delay="0"/>
                                  </p:stCondLst>
                                  <p:childTnLst>
                                    <p:set>
                                      <p:cBhvr>
                                        <p:cTn id="22" dur="1" fill="hold">
                                          <p:stCondLst>
                                            <p:cond delay="0"/>
                                          </p:stCondLst>
                                        </p:cTn>
                                        <p:tgtEl>
                                          <p:spTgt spid="267266">
                                            <p:txEl>
                                              <p:charRg st="100" end="116"/>
                                            </p:txEl>
                                          </p:spTgt>
                                        </p:tgtEl>
                                        <p:attrNameLst>
                                          <p:attrName>style.visibility</p:attrName>
                                        </p:attrNameLst>
                                      </p:cBhvr>
                                      <p:to>
                                        <p:strVal val="visible"/>
                                      </p:to>
                                    </p:set>
                                    <p:anim calcmode="lin" valueType="num">
                                      <p:cBhvr>
                                        <p:cTn id="23" dur="500" fill="hold"/>
                                        <p:tgtEl>
                                          <p:spTgt spid="267266">
                                            <p:txEl>
                                              <p:charRg st="100" end="116"/>
                                            </p:txEl>
                                          </p:spTgt>
                                        </p:tgtEl>
                                        <p:attrNameLst>
                                          <p:attrName>ppt_x</p:attrName>
                                        </p:attrNameLst>
                                      </p:cBhvr>
                                      <p:tavLst>
                                        <p:tav tm="0">
                                          <p:val>
                                            <p:strVal val="#ppt_x"/>
                                          </p:val>
                                        </p:tav>
                                        <p:tav tm="100000">
                                          <p:val>
                                            <p:strVal val="#ppt_x"/>
                                          </p:val>
                                        </p:tav>
                                      </p:tavLst>
                                    </p:anim>
                                    <p:anim calcmode="lin" valueType="num">
                                      <p:cBhvr>
                                        <p:cTn id="24" dur="500" fill="hold"/>
                                        <p:tgtEl>
                                          <p:spTgt spid="267266">
                                            <p:txEl>
                                              <p:charRg st="100" end="116"/>
                                            </p:txEl>
                                          </p:spTgt>
                                        </p:tgtEl>
                                        <p:attrNameLst>
                                          <p:attrName>ppt_y</p:attrName>
                                        </p:attrNameLst>
                                      </p:cBhvr>
                                      <p:tavLst>
                                        <p:tav tm="0">
                                          <p:val>
                                            <p:strVal val="#ppt_y-#ppt_h/2"/>
                                          </p:val>
                                        </p:tav>
                                        <p:tav tm="100000">
                                          <p:val>
                                            <p:strVal val="#ppt_y"/>
                                          </p:val>
                                        </p:tav>
                                      </p:tavLst>
                                    </p:anim>
                                    <p:anim calcmode="lin" valueType="num">
                                      <p:cBhvr>
                                        <p:cTn id="25" dur="500" fill="hold"/>
                                        <p:tgtEl>
                                          <p:spTgt spid="267266">
                                            <p:txEl>
                                              <p:charRg st="100" end="116"/>
                                            </p:txEl>
                                          </p:spTgt>
                                        </p:tgtEl>
                                        <p:attrNameLst>
                                          <p:attrName>ppt_w</p:attrName>
                                        </p:attrNameLst>
                                      </p:cBhvr>
                                      <p:tavLst>
                                        <p:tav tm="0">
                                          <p:val>
                                            <p:strVal val="#ppt_w"/>
                                          </p:val>
                                        </p:tav>
                                        <p:tav tm="100000">
                                          <p:val>
                                            <p:strVal val="#ppt_w"/>
                                          </p:val>
                                        </p:tav>
                                      </p:tavLst>
                                    </p:anim>
                                    <p:anim calcmode="lin" valueType="num">
                                      <p:cBhvr>
                                        <p:cTn id="26" dur="500" fill="hold"/>
                                        <p:tgtEl>
                                          <p:spTgt spid="267266">
                                            <p:txEl>
                                              <p:charRg st="100" end="116"/>
                                            </p:txEl>
                                          </p:spTgt>
                                        </p:tgtEl>
                                        <p:attrNameLst>
                                          <p:attrName>ppt_h</p:attrName>
                                        </p:attrNameLst>
                                      </p:cBhvr>
                                      <p:tavLst>
                                        <p:tav tm="0">
                                          <p:val>
                                            <p:fltVal val="0.00000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7" presetClass="entr" presetSubtype="1" fill="hold" grpId="0" nodeType="clickEffect">
                                  <p:stCondLst>
                                    <p:cond delay="0"/>
                                  </p:stCondLst>
                                  <p:childTnLst>
                                    <p:set>
                                      <p:cBhvr>
                                        <p:cTn id="30" dur="1" fill="hold">
                                          <p:stCondLst>
                                            <p:cond delay="0"/>
                                          </p:stCondLst>
                                        </p:cTn>
                                        <p:tgtEl>
                                          <p:spTgt spid="267266">
                                            <p:txEl>
                                              <p:charRg st="116" end="144"/>
                                            </p:txEl>
                                          </p:spTgt>
                                        </p:tgtEl>
                                        <p:attrNameLst>
                                          <p:attrName>style.visibility</p:attrName>
                                        </p:attrNameLst>
                                      </p:cBhvr>
                                      <p:to>
                                        <p:strVal val="visible"/>
                                      </p:to>
                                    </p:set>
                                    <p:anim calcmode="lin" valueType="num">
                                      <p:cBhvr>
                                        <p:cTn id="31" dur="500" fill="hold"/>
                                        <p:tgtEl>
                                          <p:spTgt spid="267266">
                                            <p:txEl>
                                              <p:charRg st="116" end="144"/>
                                            </p:txEl>
                                          </p:spTgt>
                                        </p:tgtEl>
                                        <p:attrNameLst>
                                          <p:attrName>ppt_x</p:attrName>
                                        </p:attrNameLst>
                                      </p:cBhvr>
                                      <p:tavLst>
                                        <p:tav tm="0">
                                          <p:val>
                                            <p:strVal val="#ppt_x"/>
                                          </p:val>
                                        </p:tav>
                                        <p:tav tm="100000">
                                          <p:val>
                                            <p:strVal val="#ppt_x"/>
                                          </p:val>
                                        </p:tav>
                                      </p:tavLst>
                                    </p:anim>
                                    <p:anim calcmode="lin" valueType="num">
                                      <p:cBhvr>
                                        <p:cTn id="32" dur="500" fill="hold"/>
                                        <p:tgtEl>
                                          <p:spTgt spid="267266">
                                            <p:txEl>
                                              <p:charRg st="116" end="144"/>
                                            </p:txEl>
                                          </p:spTgt>
                                        </p:tgtEl>
                                        <p:attrNameLst>
                                          <p:attrName>ppt_y</p:attrName>
                                        </p:attrNameLst>
                                      </p:cBhvr>
                                      <p:tavLst>
                                        <p:tav tm="0">
                                          <p:val>
                                            <p:strVal val="#ppt_y-#ppt_h/2"/>
                                          </p:val>
                                        </p:tav>
                                        <p:tav tm="100000">
                                          <p:val>
                                            <p:strVal val="#ppt_y"/>
                                          </p:val>
                                        </p:tav>
                                      </p:tavLst>
                                    </p:anim>
                                    <p:anim calcmode="lin" valueType="num">
                                      <p:cBhvr>
                                        <p:cTn id="33" dur="500" fill="hold"/>
                                        <p:tgtEl>
                                          <p:spTgt spid="267266">
                                            <p:txEl>
                                              <p:charRg st="116" end="144"/>
                                            </p:txEl>
                                          </p:spTgt>
                                        </p:tgtEl>
                                        <p:attrNameLst>
                                          <p:attrName>ppt_w</p:attrName>
                                        </p:attrNameLst>
                                      </p:cBhvr>
                                      <p:tavLst>
                                        <p:tav tm="0">
                                          <p:val>
                                            <p:strVal val="#ppt_w"/>
                                          </p:val>
                                        </p:tav>
                                        <p:tav tm="100000">
                                          <p:val>
                                            <p:strVal val="#ppt_w"/>
                                          </p:val>
                                        </p:tav>
                                      </p:tavLst>
                                    </p:anim>
                                    <p:anim calcmode="lin" valueType="num">
                                      <p:cBhvr>
                                        <p:cTn id="34" dur="500" fill="hold"/>
                                        <p:tgtEl>
                                          <p:spTgt spid="267266">
                                            <p:txEl>
                                              <p:charRg st="116" end="144"/>
                                            </p:txEl>
                                          </p:spTgt>
                                        </p:tgtEl>
                                        <p:attrNameLst>
                                          <p:attrName>ppt_h</p:attrName>
                                        </p:attrNameLst>
                                      </p:cBhvr>
                                      <p:tavLst>
                                        <p:tav tm="0">
                                          <p:val>
                                            <p:fltVal val="0.000000"/>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17" presetClass="entr" presetSubtype="1" fill="hold" grpId="0" nodeType="clickEffect">
                                  <p:stCondLst>
                                    <p:cond delay="0"/>
                                  </p:stCondLst>
                                  <p:childTnLst>
                                    <p:set>
                                      <p:cBhvr>
                                        <p:cTn id="38" dur="1" fill="hold">
                                          <p:stCondLst>
                                            <p:cond delay="0"/>
                                          </p:stCondLst>
                                        </p:cTn>
                                        <p:tgtEl>
                                          <p:spTgt spid="267266">
                                            <p:txEl>
                                              <p:charRg st="144" end="170"/>
                                            </p:txEl>
                                          </p:spTgt>
                                        </p:tgtEl>
                                        <p:attrNameLst>
                                          <p:attrName>style.visibility</p:attrName>
                                        </p:attrNameLst>
                                      </p:cBhvr>
                                      <p:to>
                                        <p:strVal val="visible"/>
                                      </p:to>
                                    </p:set>
                                    <p:anim calcmode="lin" valueType="num">
                                      <p:cBhvr>
                                        <p:cTn id="39" dur="500" fill="hold"/>
                                        <p:tgtEl>
                                          <p:spTgt spid="267266">
                                            <p:txEl>
                                              <p:charRg st="144" end="170"/>
                                            </p:txEl>
                                          </p:spTgt>
                                        </p:tgtEl>
                                        <p:attrNameLst>
                                          <p:attrName>ppt_x</p:attrName>
                                        </p:attrNameLst>
                                      </p:cBhvr>
                                      <p:tavLst>
                                        <p:tav tm="0">
                                          <p:val>
                                            <p:strVal val="#ppt_x"/>
                                          </p:val>
                                        </p:tav>
                                        <p:tav tm="100000">
                                          <p:val>
                                            <p:strVal val="#ppt_x"/>
                                          </p:val>
                                        </p:tav>
                                      </p:tavLst>
                                    </p:anim>
                                    <p:anim calcmode="lin" valueType="num">
                                      <p:cBhvr>
                                        <p:cTn id="40" dur="500" fill="hold"/>
                                        <p:tgtEl>
                                          <p:spTgt spid="267266">
                                            <p:txEl>
                                              <p:charRg st="144" end="170"/>
                                            </p:txEl>
                                          </p:spTgt>
                                        </p:tgtEl>
                                        <p:attrNameLst>
                                          <p:attrName>ppt_y</p:attrName>
                                        </p:attrNameLst>
                                      </p:cBhvr>
                                      <p:tavLst>
                                        <p:tav tm="0">
                                          <p:val>
                                            <p:strVal val="#ppt_y-#ppt_h/2"/>
                                          </p:val>
                                        </p:tav>
                                        <p:tav tm="100000">
                                          <p:val>
                                            <p:strVal val="#ppt_y"/>
                                          </p:val>
                                        </p:tav>
                                      </p:tavLst>
                                    </p:anim>
                                    <p:anim calcmode="lin" valueType="num">
                                      <p:cBhvr>
                                        <p:cTn id="41" dur="500" fill="hold"/>
                                        <p:tgtEl>
                                          <p:spTgt spid="267266">
                                            <p:txEl>
                                              <p:charRg st="144" end="170"/>
                                            </p:txEl>
                                          </p:spTgt>
                                        </p:tgtEl>
                                        <p:attrNameLst>
                                          <p:attrName>ppt_w</p:attrName>
                                        </p:attrNameLst>
                                      </p:cBhvr>
                                      <p:tavLst>
                                        <p:tav tm="0">
                                          <p:val>
                                            <p:strVal val="#ppt_w"/>
                                          </p:val>
                                        </p:tav>
                                        <p:tav tm="100000">
                                          <p:val>
                                            <p:strVal val="#ppt_w"/>
                                          </p:val>
                                        </p:tav>
                                      </p:tavLst>
                                    </p:anim>
                                    <p:anim calcmode="lin" valueType="num">
                                      <p:cBhvr>
                                        <p:cTn id="42" dur="500" fill="hold"/>
                                        <p:tgtEl>
                                          <p:spTgt spid="267266">
                                            <p:txEl>
                                              <p:charRg st="144" end="170"/>
                                            </p:txEl>
                                          </p:spTgt>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7266" grpId="0"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7"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184322" name="Rectangle 3074"/>
          <p:cNvSpPr>
            <a:spLocks noGrp="1"/>
          </p:cNvSpPr>
          <p:nvPr>
            <p:ph type="body"/>
          </p:nvPr>
        </p:nvSpPr>
        <p:spPr>
          <a:xfrm>
            <a:off x="685800" y="533400"/>
            <a:ext cx="7772400" cy="685800"/>
          </a:xfrm>
          <a:ln/>
        </p:spPr>
        <p:txBody>
          <a:bodyPr vert="horz" wrap="square" lIns="91440" tIns="45720" rIns="91440" bIns="45720" anchor="t"/>
          <a:p>
            <a:pPr eaLnBrk="1" hangingPunct="1">
              <a:buNone/>
            </a:pPr>
            <a:r>
              <a:rPr lang="zh-CN" altLang="en-US" b="1" dirty="0"/>
              <a:t>二、分析表</a:t>
            </a:r>
            <a:r>
              <a:rPr lang="en-US" altLang="zh-CN" b="1" dirty="0"/>
              <a:t>M[A</a:t>
            </a:r>
            <a:r>
              <a:rPr lang="zh-CN" altLang="en-US" b="1" dirty="0"/>
              <a:t>，</a:t>
            </a:r>
            <a:r>
              <a:rPr lang="en-US" altLang="zh-CN" b="1" dirty="0"/>
              <a:t>a]</a:t>
            </a:r>
            <a:r>
              <a:rPr lang="zh-CN" altLang="en-US" b="1" dirty="0"/>
              <a:t>的构造</a:t>
            </a:r>
            <a:endParaRPr lang="zh-CN" altLang="en-US" b="1" dirty="0"/>
          </a:p>
        </p:txBody>
      </p:sp>
      <p:sp>
        <p:nvSpPr>
          <p:cNvPr id="184323" name="Rectangle 3075"/>
          <p:cNvSpPr/>
          <p:nvPr/>
        </p:nvSpPr>
        <p:spPr>
          <a:xfrm>
            <a:off x="838200" y="1828800"/>
            <a:ext cx="7696200" cy="838200"/>
          </a:xfrm>
          <a:prstGeom prst="rect">
            <a:avLst/>
          </a:prstGeom>
          <a:noFill/>
          <a:ln w="9525">
            <a:noFill/>
          </a:ln>
        </p:spPr>
        <p:txBody>
          <a:bodyPr lIns="92075" tIns="46038" rIns="92075" bIns="46038" anchor="t"/>
          <a:p>
            <a:pPr marL="457200" indent="-457200">
              <a:spcBef>
                <a:spcPct val="35000"/>
              </a:spcBef>
              <a:buClr>
                <a:schemeClr val="accent2"/>
              </a:buClr>
              <a:buSzPct val="75000"/>
              <a:buFont typeface="Wingdings" panose="05000000000000000000" pitchFamily="2" charset="2"/>
              <a:buChar char="q"/>
            </a:pPr>
            <a:r>
              <a:rPr lang="zh-CN" altLang="en-US" sz="3200" b="1" u="none" dirty="0">
                <a:solidFill>
                  <a:schemeClr val="tx1"/>
                </a:solidFill>
                <a:latin typeface="Times New Roman" panose="02020603050405020304" pitchFamily="18" charset="0"/>
              </a:rPr>
              <a:t>构造</a:t>
            </a:r>
            <a:r>
              <a:rPr lang="en-US" altLang="zh-CN" sz="3200" b="1" u="none" dirty="0">
                <a:solidFill>
                  <a:schemeClr val="tx1"/>
                </a:solidFill>
                <a:latin typeface="Times New Roman" panose="02020603050405020304" pitchFamily="18" charset="0"/>
              </a:rPr>
              <a:t>FIRST(</a:t>
            </a:r>
            <a:r>
              <a:rPr lang="en-US" altLang="zh-CN" sz="3200" b="1" u="none" dirty="0">
                <a:solidFill>
                  <a:schemeClr val="tx1"/>
                </a:solidFill>
                <a:latin typeface="Times New Roman" panose="02020603050405020304" pitchFamily="18" charset="0"/>
                <a:sym typeface="Symbol" panose="05050102010706020507" pitchFamily="18" charset="2"/>
              </a:rPr>
              <a:t></a:t>
            </a:r>
            <a:r>
              <a:rPr lang="en-US" altLang="zh-CN" sz="3200" b="1" u="none" dirty="0">
                <a:solidFill>
                  <a:schemeClr val="tx1"/>
                </a:solidFill>
                <a:latin typeface="Times New Roman" panose="02020603050405020304" pitchFamily="18" charset="0"/>
              </a:rPr>
              <a:t>)</a:t>
            </a:r>
            <a:r>
              <a:rPr lang="zh-CN" altLang="en-US" sz="3200" b="1" u="none" dirty="0">
                <a:solidFill>
                  <a:schemeClr val="tx1"/>
                </a:solidFill>
                <a:latin typeface="Times New Roman" panose="02020603050405020304" pitchFamily="18" charset="0"/>
              </a:rPr>
              <a:t>和</a:t>
            </a:r>
            <a:r>
              <a:rPr lang="en-US" altLang="zh-CN" sz="3200" b="1" u="none" dirty="0">
                <a:solidFill>
                  <a:schemeClr val="tx1"/>
                </a:solidFill>
                <a:latin typeface="Times New Roman" panose="02020603050405020304" pitchFamily="18" charset="0"/>
              </a:rPr>
              <a:t>FOLLOW(A)</a:t>
            </a:r>
            <a:endParaRPr lang="en-US" altLang="zh-CN" sz="3200" b="1" u="none" dirty="0">
              <a:solidFill>
                <a:schemeClr val="tx1"/>
              </a:solidFill>
              <a:latin typeface="Times New Roman" panose="02020603050405020304" pitchFamily="18" charset="0"/>
            </a:endParaRPr>
          </a:p>
          <a:p>
            <a:pPr marL="457200" indent="-457200">
              <a:spcBef>
                <a:spcPct val="35000"/>
              </a:spcBef>
              <a:buClr>
                <a:schemeClr val="accent2"/>
              </a:buClr>
              <a:buSzPct val="75000"/>
              <a:buFont typeface="Wingdings" panose="05000000000000000000" pitchFamily="2" charset="2"/>
              <a:buChar char="q"/>
            </a:pPr>
            <a:r>
              <a:rPr lang="zh-CN" altLang="en-US" sz="3200" b="1" u="none" dirty="0">
                <a:solidFill>
                  <a:schemeClr val="tx1"/>
                </a:solidFill>
                <a:latin typeface="Times New Roman" panose="02020603050405020304" pitchFamily="18" charset="0"/>
              </a:rPr>
              <a:t>构造分析表</a:t>
            </a:r>
            <a:r>
              <a:rPr lang="en-US" altLang="zh-CN" sz="3200" b="1" u="none" dirty="0">
                <a:solidFill>
                  <a:schemeClr val="tx1"/>
                </a:solidFill>
                <a:latin typeface="Times New Roman" panose="02020603050405020304" pitchFamily="18" charset="0"/>
              </a:rPr>
              <a:t>M[A</a:t>
            </a:r>
            <a:r>
              <a:rPr lang="zh-CN" altLang="en-US" sz="3200" b="1" u="none" dirty="0">
                <a:solidFill>
                  <a:schemeClr val="tx1"/>
                </a:solidFill>
                <a:latin typeface="Times New Roman" panose="02020603050405020304" pitchFamily="18" charset="0"/>
              </a:rPr>
              <a:t>，</a:t>
            </a:r>
            <a:r>
              <a:rPr lang="en-US" altLang="zh-CN" sz="3200" b="1" u="none" dirty="0">
                <a:solidFill>
                  <a:schemeClr val="tx1"/>
                </a:solidFill>
                <a:latin typeface="Times New Roman" panose="02020603050405020304" pitchFamily="18" charset="0"/>
              </a:rPr>
              <a:t>a]</a:t>
            </a:r>
            <a:endParaRPr lang="en-US" altLang="zh-CN" sz="3200" b="1" u="none" dirty="0">
              <a:solidFill>
                <a:schemeClr val="tx1"/>
              </a:solidFill>
              <a:latin typeface="Times New Roman" panose="02020603050405020304" pitchFamily="18"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4322">
                                            <p:txEl>
                                              <p:charRg st="0" end="15"/>
                                            </p:txEl>
                                          </p:spTgt>
                                        </p:tgtEl>
                                        <p:attrNameLst>
                                          <p:attrName>style.visibility</p:attrName>
                                        </p:attrNameLst>
                                      </p:cBhvr>
                                      <p:to>
                                        <p:strVal val="visible"/>
                                      </p:to>
                                    </p:set>
                                    <p:anim calcmode="lin" valueType="num">
                                      <p:cBhvr additive="base">
                                        <p:cTn id="7" dur="500" fill="hold"/>
                                        <p:tgtEl>
                                          <p:spTgt spid="184322">
                                            <p:txEl>
                                              <p:charRg st="0" end="1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4322">
                                            <p:txEl>
                                              <p:charRg st="0" end="15"/>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 fill="hold" grpId="0" nodeType="clickEffect">
                                  <p:stCondLst>
                                    <p:cond delay="0"/>
                                  </p:stCondLst>
                                  <p:childTnLst>
                                    <p:set>
                                      <p:cBhvr>
                                        <p:cTn id="12" dur="1" fill="hold">
                                          <p:stCondLst>
                                            <p:cond delay="0"/>
                                          </p:stCondLst>
                                        </p:cTn>
                                        <p:tgtEl>
                                          <p:spTgt spid="184323">
                                            <p:txEl>
                                              <p:charRg st="0" end="21"/>
                                            </p:txEl>
                                          </p:spTgt>
                                        </p:tgtEl>
                                        <p:attrNameLst>
                                          <p:attrName>style.visibility</p:attrName>
                                        </p:attrNameLst>
                                      </p:cBhvr>
                                      <p:to>
                                        <p:strVal val="visible"/>
                                      </p:to>
                                    </p:set>
                                    <p:anim calcmode="lin" valueType="num">
                                      <p:cBhvr>
                                        <p:cTn id="13" dur="500" fill="hold"/>
                                        <p:tgtEl>
                                          <p:spTgt spid="184323">
                                            <p:txEl>
                                              <p:charRg st="0" end="21"/>
                                            </p:txEl>
                                          </p:spTgt>
                                        </p:tgtEl>
                                        <p:attrNameLst>
                                          <p:attrName>ppt_x</p:attrName>
                                        </p:attrNameLst>
                                      </p:cBhvr>
                                      <p:tavLst>
                                        <p:tav tm="0">
                                          <p:val>
                                            <p:strVal val="#ppt_x"/>
                                          </p:val>
                                        </p:tav>
                                        <p:tav tm="100000">
                                          <p:val>
                                            <p:strVal val="#ppt_x"/>
                                          </p:val>
                                        </p:tav>
                                      </p:tavLst>
                                    </p:anim>
                                    <p:anim calcmode="lin" valueType="num">
                                      <p:cBhvr>
                                        <p:cTn id="14" dur="500" fill="hold"/>
                                        <p:tgtEl>
                                          <p:spTgt spid="184323">
                                            <p:txEl>
                                              <p:charRg st="0" end="21"/>
                                            </p:txEl>
                                          </p:spTgt>
                                        </p:tgtEl>
                                        <p:attrNameLst>
                                          <p:attrName>ppt_y</p:attrName>
                                        </p:attrNameLst>
                                      </p:cBhvr>
                                      <p:tavLst>
                                        <p:tav tm="0">
                                          <p:val>
                                            <p:strVal val="#ppt_y-#ppt_h/2"/>
                                          </p:val>
                                        </p:tav>
                                        <p:tav tm="100000">
                                          <p:val>
                                            <p:strVal val="#ppt_y"/>
                                          </p:val>
                                        </p:tav>
                                      </p:tavLst>
                                    </p:anim>
                                    <p:anim calcmode="lin" valueType="num">
                                      <p:cBhvr>
                                        <p:cTn id="15" dur="500" fill="hold"/>
                                        <p:tgtEl>
                                          <p:spTgt spid="184323">
                                            <p:txEl>
                                              <p:charRg st="0" end="21"/>
                                            </p:txEl>
                                          </p:spTgt>
                                        </p:tgtEl>
                                        <p:attrNameLst>
                                          <p:attrName>ppt_w</p:attrName>
                                        </p:attrNameLst>
                                      </p:cBhvr>
                                      <p:tavLst>
                                        <p:tav tm="0">
                                          <p:val>
                                            <p:strVal val="#ppt_w"/>
                                          </p:val>
                                        </p:tav>
                                        <p:tav tm="100000">
                                          <p:val>
                                            <p:strVal val="#ppt_w"/>
                                          </p:val>
                                        </p:tav>
                                      </p:tavLst>
                                    </p:anim>
                                    <p:anim calcmode="lin" valueType="num">
                                      <p:cBhvr>
                                        <p:cTn id="16" dur="500" fill="hold"/>
                                        <p:tgtEl>
                                          <p:spTgt spid="184323">
                                            <p:txEl>
                                              <p:charRg st="0" end="21"/>
                                            </p:txEl>
                                          </p:spTgt>
                                        </p:tgtEl>
                                        <p:attrNameLst>
                                          <p:attrName>ppt_h</p:attrName>
                                        </p:attrNameLst>
                                      </p:cBhvr>
                                      <p:tavLst>
                                        <p:tav tm="0">
                                          <p:val>
                                            <p:fltVal val="0.000000"/>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17" presetClass="entr" presetSubtype="1" fill="hold" grpId="0" nodeType="clickEffect">
                                  <p:stCondLst>
                                    <p:cond delay="0"/>
                                  </p:stCondLst>
                                  <p:childTnLst>
                                    <p:set>
                                      <p:cBhvr>
                                        <p:cTn id="20" dur="1" fill="hold">
                                          <p:stCondLst>
                                            <p:cond delay="0"/>
                                          </p:stCondLst>
                                        </p:cTn>
                                        <p:tgtEl>
                                          <p:spTgt spid="184323">
                                            <p:txEl>
                                              <p:charRg st="21" end="33"/>
                                            </p:txEl>
                                          </p:spTgt>
                                        </p:tgtEl>
                                        <p:attrNameLst>
                                          <p:attrName>style.visibility</p:attrName>
                                        </p:attrNameLst>
                                      </p:cBhvr>
                                      <p:to>
                                        <p:strVal val="visible"/>
                                      </p:to>
                                    </p:set>
                                    <p:anim calcmode="lin" valueType="num">
                                      <p:cBhvr>
                                        <p:cTn id="21" dur="500" fill="hold"/>
                                        <p:tgtEl>
                                          <p:spTgt spid="184323">
                                            <p:txEl>
                                              <p:charRg st="21" end="33"/>
                                            </p:txEl>
                                          </p:spTgt>
                                        </p:tgtEl>
                                        <p:attrNameLst>
                                          <p:attrName>ppt_x</p:attrName>
                                        </p:attrNameLst>
                                      </p:cBhvr>
                                      <p:tavLst>
                                        <p:tav tm="0">
                                          <p:val>
                                            <p:strVal val="#ppt_x"/>
                                          </p:val>
                                        </p:tav>
                                        <p:tav tm="100000">
                                          <p:val>
                                            <p:strVal val="#ppt_x"/>
                                          </p:val>
                                        </p:tav>
                                      </p:tavLst>
                                    </p:anim>
                                    <p:anim calcmode="lin" valueType="num">
                                      <p:cBhvr>
                                        <p:cTn id="22" dur="500" fill="hold"/>
                                        <p:tgtEl>
                                          <p:spTgt spid="184323">
                                            <p:txEl>
                                              <p:charRg st="21" end="33"/>
                                            </p:txEl>
                                          </p:spTgt>
                                        </p:tgtEl>
                                        <p:attrNameLst>
                                          <p:attrName>ppt_y</p:attrName>
                                        </p:attrNameLst>
                                      </p:cBhvr>
                                      <p:tavLst>
                                        <p:tav tm="0">
                                          <p:val>
                                            <p:strVal val="#ppt_y-#ppt_h/2"/>
                                          </p:val>
                                        </p:tav>
                                        <p:tav tm="100000">
                                          <p:val>
                                            <p:strVal val="#ppt_y"/>
                                          </p:val>
                                        </p:tav>
                                      </p:tavLst>
                                    </p:anim>
                                    <p:anim calcmode="lin" valueType="num">
                                      <p:cBhvr>
                                        <p:cTn id="23" dur="500" fill="hold"/>
                                        <p:tgtEl>
                                          <p:spTgt spid="184323">
                                            <p:txEl>
                                              <p:charRg st="21" end="33"/>
                                            </p:txEl>
                                          </p:spTgt>
                                        </p:tgtEl>
                                        <p:attrNameLst>
                                          <p:attrName>ppt_w</p:attrName>
                                        </p:attrNameLst>
                                      </p:cBhvr>
                                      <p:tavLst>
                                        <p:tav tm="0">
                                          <p:val>
                                            <p:strVal val="#ppt_w"/>
                                          </p:val>
                                        </p:tav>
                                        <p:tav tm="100000">
                                          <p:val>
                                            <p:strVal val="#ppt_w"/>
                                          </p:val>
                                        </p:tav>
                                      </p:tavLst>
                                    </p:anim>
                                    <p:anim calcmode="lin" valueType="num">
                                      <p:cBhvr>
                                        <p:cTn id="24" dur="500" fill="hold"/>
                                        <p:tgtEl>
                                          <p:spTgt spid="184323">
                                            <p:txEl>
                                              <p:charRg st="21" end="33"/>
                                            </p:txEl>
                                          </p:spTgt>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22" grpId="0" bldLvl="2" build="p"/>
      <p:bldP spid="184323" grpId="0" build="p"/>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1"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190466" name="Rectangle 2"/>
          <p:cNvSpPr>
            <a:spLocks noGrp="1"/>
          </p:cNvSpPr>
          <p:nvPr>
            <p:ph type="body"/>
          </p:nvPr>
        </p:nvSpPr>
        <p:spPr>
          <a:xfrm>
            <a:off x="457200" y="765175"/>
            <a:ext cx="8507413" cy="5040313"/>
          </a:xfrm>
          <a:ln/>
        </p:spPr>
        <p:txBody>
          <a:bodyPr vert="horz" wrap="square" lIns="91440" tIns="45720" rIns="91440" bIns="45720" anchor="t"/>
          <a:p>
            <a:pPr eaLnBrk="1" hangingPunct="1">
              <a:lnSpc>
                <a:spcPct val="90000"/>
              </a:lnSpc>
              <a:spcBef>
                <a:spcPct val="40000"/>
              </a:spcBef>
            </a:pPr>
            <a:r>
              <a:rPr lang="zh-CN" altLang="en-US" b="1" dirty="0"/>
              <a:t>在对文法</a:t>
            </a:r>
            <a:r>
              <a:rPr lang="en-US" altLang="zh-CN" b="1" dirty="0"/>
              <a:t>G</a:t>
            </a:r>
            <a:r>
              <a:rPr lang="zh-CN" altLang="en-US" b="1" dirty="0"/>
              <a:t>的每个非终结符</a:t>
            </a:r>
            <a:r>
              <a:rPr lang="en-US" altLang="zh-CN" b="1" dirty="0"/>
              <a:t>A</a:t>
            </a:r>
            <a:r>
              <a:rPr lang="zh-CN" altLang="en-US" b="1" dirty="0"/>
              <a:t>及其任意候选</a:t>
            </a:r>
            <a:r>
              <a:rPr lang="zh-CN" altLang="en-US" b="1" dirty="0">
                <a:sym typeface="Symbol" panose="05050102010706020507" pitchFamily="18" charset="2"/>
              </a:rPr>
              <a:t></a:t>
            </a:r>
            <a:r>
              <a:rPr lang="zh-CN" altLang="en-US" b="1" dirty="0"/>
              <a:t>都构造出</a:t>
            </a:r>
            <a:r>
              <a:rPr lang="en-US" altLang="zh-CN" b="1" dirty="0"/>
              <a:t>FIRST(</a:t>
            </a:r>
            <a:r>
              <a:rPr lang="en-US" altLang="zh-CN" b="1" dirty="0">
                <a:sym typeface="Symbol" panose="05050102010706020507" pitchFamily="18" charset="2"/>
              </a:rPr>
              <a:t></a:t>
            </a:r>
            <a:r>
              <a:rPr lang="en-US" altLang="zh-CN" b="1" dirty="0"/>
              <a:t>)</a:t>
            </a:r>
            <a:r>
              <a:rPr lang="zh-CN" altLang="en-US" b="1" dirty="0"/>
              <a:t>和</a:t>
            </a:r>
            <a:r>
              <a:rPr lang="en-US" altLang="zh-CN" b="1" dirty="0"/>
              <a:t>FOLLOW(A)</a:t>
            </a:r>
            <a:r>
              <a:rPr lang="zh-CN" altLang="en-US" b="1" dirty="0"/>
              <a:t>之后，现在可以用它们来构造</a:t>
            </a:r>
            <a:r>
              <a:rPr lang="en-US" altLang="zh-CN" b="1" dirty="0"/>
              <a:t>G</a:t>
            </a:r>
            <a:r>
              <a:rPr lang="zh-CN" altLang="en-US" b="1" dirty="0"/>
              <a:t>的分析表</a:t>
            </a:r>
            <a:r>
              <a:rPr lang="en-US" altLang="zh-CN" b="1" dirty="0"/>
              <a:t>M[A</a:t>
            </a:r>
            <a:r>
              <a:rPr lang="zh-CN" altLang="en-US" b="1" dirty="0"/>
              <a:t>，</a:t>
            </a:r>
            <a:r>
              <a:rPr lang="en-US" altLang="zh-CN" b="1" dirty="0"/>
              <a:t>a]</a:t>
            </a:r>
            <a:r>
              <a:rPr lang="zh-CN" altLang="en-US" b="1" dirty="0"/>
              <a:t>。</a:t>
            </a:r>
            <a:endParaRPr lang="zh-CN" altLang="en-US" b="1" dirty="0"/>
          </a:p>
          <a:p>
            <a:pPr lvl="1" indent="-436245" eaLnBrk="1" hangingPunct="1">
              <a:lnSpc>
                <a:spcPct val="90000"/>
              </a:lnSpc>
              <a:spcBef>
                <a:spcPct val="40000"/>
              </a:spcBef>
              <a:buNone/>
            </a:pPr>
            <a:r>
              <a:rPr lang="en-US" altLang="zh-CN" b="1" dirty="0"/>
              <a:t>1. </a:t>
            </a:r>
            <a:r>
              <a:rPr lang="zh-CN" altLang="en-US" b="1" dirty="0"/>
              <a:t>对文法</a:t>
            </a:r>
            <a:r>
              <a:rPr lang="en-US" altLang="zh-CN" b="1" dirty="0"/>
              <a:t>G</a:t>
            </a:r>
            <a:r>
              <a:rPr lang="zh-CN" altLang="en-US" b="1" dirty="0"/>
              <a:t>的每个产生式</a:t>
            </a:r>
            <a:r>
              <a:rPr lang="en-US" altLang="zh-CN" b="1" dirty="0"/>
              <a:t>A→</a:t>
            </a:r>
            <a:r>
              <a:rPr lang="en-US" altLang="zh-CN" b="1" dirty="0">
                <a:sym typeface="Symbol" panose="05050102010706020507" pitchFamily="18" charset="2"/>
              </a:rPr>
              <a:t></a:t>
            </a:r>
            <a:r>
              <a:rPr lang="zh-CN" altLang="en-US" b="1" dirty="0"/>
              <a:t>执行第</a:t>
            </a:r>
            <a:r>
              <a:rPr lang="en-US" altLang="zh-CN" b="1" dirty="0"/>
              <a:t>2</a:t>
            </a:r>
            <a:r>
              <a:rPr lang="zh-CN" altLang="en-US" b="1" dirty="0"/>
              <a:t>步和第</a:t>
            </a:r>
            <a:r>
              <a:rPr lang="en-US" altLang="zh-CN" b="1" dirty="0"/>
              <a:t>3</a:t>
            </a:r>
            <a:r>
              <a:rPr lang="zh-CN" altLang="en-US" b="1" dirty="0"/>
              <a:t>步；</a:t>
            </a:r>
            <a:endParaRPr lang="zh-CN" altLang="en-US" b="1" dirty="0"/>
          </a:p>
          <a:p>
            <a:pPr lvl="1" indent="-436245" eaLnBrk="1" hangingPunct="1">
              <a:lnSpc>
                <a:spcPct val="90000"/>
              </a:lnSpc>
              <a:spcBef>
                <a:spcPct val="40000"/>
              </a:spcBef>
              <a:buNone/>
            </a:pPr>
            <a:r>
              <a:rPr lang="en-US" altLang="zh-CN" b="1" dirty="0"/>
              <a:t>2. </a:t>
            </a:r>
            <a:r>
              <a:rPr lang="zh-CN" altLang="en-US" b="1" dirty="0"/>
              <a:t>对每个终结符</a:t>
            </a:r>
            <a:r>
              <a:rPr lang="en-US" altLang="zh-CN" b="1" dirty="0"/>
              <a:t>a </a:t>
            </a:r>
            <a:r>
              <a:rPr lang="en-US" altLang="zh-CN" b="1" dirty="0">
                <a:sym typeface="Symbol" panose="05050102010706020507" pitchFamily="18" charset="2"/>
              </a:rPr>
              <a:t></a:t>
            </a:r>
            <a:r>
              <a:rPr lang="en-US" altLang="zh-CN" b="1" dirty="0"/>
              <a:t>FIRST(</a:t>
            </a:r>
            <a:r>
              <a:rPr lang="en-US" altLang="zh-CN" b="1" dirty="0">
                <a:sym typeface="Symbol" panose="05050102010706020507" pitchFamily="18" charset="2"/>
              </a:rPr>
              <a:t></a:t>
            </a:r>
            <a:r>
              <a:rPr lang="en-US" altLang="zh-CN" b="1" dirty="0"/>
              <a:t>)</a:t>
            </a:r>
            <a:r>
              <a:rPr lang="zh-CN" altLang="en-US" b="1" dirty="0"/>
              <a:t>，把</a:t>
            </a:r>
            <a:r>
              <a:rPr lang="en-US" altLang="zh-CN" b="1" dirty="0"/>
              <a:t>A→</a:t>
            </a:r>
            <a:r>
              <a:rPr lang="en-US" altLang="zh-CN" b="1" dirty="0">
                <a:sym typeface="Symbol" panose="05050102010706020507" pitchFamily="18" charset="2"/>
              </a:rPr>
              <a:t></a:t>
            </a:r>
            <a:r>
              <a:rPr lang="zh-CN" altLang="en-US" b="1" dirty="0"/>
              <a:t>加至</a:t>
            </a:r>
            <a:r>
              <a:rPr lang="en-US" altLang="zh-CN" b="1" dirty="0"/>
              <a:t>M[A</a:t>
            </a:r>
            <a:r>
              <a:rPr lang="zh-CN" altLang="en-US" b="1" dirty="0"/>
              <a:t>，</a:t>
            </a:r>
            <a:r>
              <a:rPr lang="en-US" altLang="zh-CN" b="1" dirty="0"/>
              <a:t>a]</a:t>
            </a:r>
            <a:r>
              <a:rPr lang="zh-CN" altLang="en-US" b="1" dirty="0"/>
              <a:t>中；</a:t>
            </a:r>
            <a:endParaRPr lang="zh-CN" altLang="en-US" b="1" dirty="0"/>
          </a:p>
          <a:p>
            <a:pPr lvl="1" indent="-436245" eaLnBrk="1" hangingPunct="1">
              <a:lnSpc>
                <a:spcPct val="90000"/>
              </a:lnSpc>
              <a:spcBef>
                <a:spcPct val="40000"/>
              </a:spcBef>
              <a:buNone/>
            </a:pPr>
            <a:r>
              <a:rPr lang="en-US" altLang="zh-CN" b="1" dirty="0"/>
              <a:t>3. </a:t>
            </a:r>
            <a:r>
              <a:rPr lang="zh-CN" altLang="en-US" b="1" dirty="0"/>
              <a:t>若</a:t>
            </a:r>
            <a:r>
              <a:rPr lang="zh-CN" altLang="en-US" b="1" dirty="0">
                <a:sym typeface="Symbol" panose="05050102010706020507" pitchFamily="18" charset="2"/>
              </a:rPr>
              <a:t></a:t>
            </a:r>
            <a:r>
              <a:rPr lang="en-US" altLang="zh-CN" b="1" dirty="0"/>
              <a:t>FIRST(</a:t>
            </a:r>
            <a:r>
              <a:rPr lang="en-US" altLang="zh-CN" b="1" dirty="0">
                <a:sym typeface="Symbol" panose="05050102010706020507" pitchFamily="18" charset="2"/>
              </a:rPr>
              <a:t></a:t>
            </a:r>
            <a:r>
              <a:rPr lang="en-US" altLang="zh-CN" b="1" dirty="0"/>
              <a:t>)</a:t>
            </a:r>
            <a:r>
              <a:rPr lang="zh-CN" altLang="en-US" b="1" dirty="0"/>
              <a:t>，则对任何</a:t>
            </a:r>
            <a:r>
              <a:rPr lang="en-US" altLang="zh-CN" b="1" dirty="0"/>
              <a:t>b</a:t>
            </a:r>
            <a:r>
              <a:rPr lang="en-US" altLang="zh-CN" b="1" dirty="0">
                <a:sym typeface="Symbol" panose="05050102010706020507" pitchFamily="18" charset="2"/>
              </a:rPr>
              <a:t></a:t>
            </a:r>
            <a:r>
              <a:rPr lang="en-US" altLang="zh-CN" b="1" dirty="0"/>
              <a:t>FOLLOW(A)</a:t>
            </a:r>
            <a:r>
              <a:rPr lang="zh-CN" altLang="en-US" b="1" dirty="0"/>
              <a:t>把</a:t>
            </a:r>
            <a:r>
              <a:rPr lang="en-US" altLang="zh-CN" b="1" dirty="0"/>
              <a:t>A→</a:t>
            </a:r>
            <a:r>
              <a:rPr lang="en-US" altLang="zh-CN" b="1" dirty="0">
                <a:sym typeface="Symbol" panose="05050102010706020507" pitchFamily="18" charset="2"/>
              </a:rPr>
              <a:t></a:t>
            </a:r>
            <a:r>
              <a:rPr lang="zh-CN" altLang="en-US" b="1" dirty="0"/>
              <a:t>加至</a:t>
            </a:r>
            <a:r>
              <a:rPr lang="en-US" altLang="zh-CN" b="1" dirty="0"/>
              <a:t>M[A</a:t>
            </a:r>
            <a:r>
              <a:rPr lang="zh-CN" altLang="en-US" b="1" dirty="0"/>
              <a:t>，</a:t>
            </a:r>
            <a:r>
              <a:rPr lang="en-US" altLang="zh-CN" b="1" dirty="0"/>
              <a:t>b]</a:t>
            </a:r>
            <a:r>
              <a:rPr lang="zh-CN" altLang="en-US" b="1" dirty="0"/>
              <a:t>中。</a:t>
            </a:r>
            <a:endParaRPr lang="zh-CN" altLang="en-US" b="1" dirty="0"/>
          </a:p>
          <a:p>
            <a:pPr lvl="1" indent="-436245" eaLnBrk="1" hangingPunct="1">
              <a:lnSpc>
                <a:spcPct val="90000"/>
              </a:lnSpc>
              <a:spcBef>
                <a:spcPct val="40000"/>
              </a:spcBef>
              <a:buNone/>
            </a:pPr>
            <a:r>
              <a:rPr lang="en-US" altLang="zh-CN" b="1" dirty="0"/>
              <a:t>4. </a:t>
            </a:r>
            <a:r>
              <a:rPr lang="zh-CN" altLang="en-US" b="1" dirty="0"/>
              <a:t>把所有无定义的</a:t>
            </a:r>
            <a:r>
              <a:rPr lang="en-US" altLang="zh-CN" b="1" dirty="0"/>
              <a:t>M[A</a:t>
            </a:r>
            <a:r>
              <a:rPr lang="zh-CN" altLang="en-US" b="1" dirty="0"/>
              <a:t>，</a:t>
            </a:r>
            <a:r>
              <a:rPr lang="en-US" altLang="zh-CN" b="1" dirty="0"/>
              <a:t>a]</a:t>
            </a:r>
            <a:r>
              <a:rPr lang="zh-CN" altLang="en-US" b="1" dirty="0"/>
              <a:t>标上“出错标志”。</a:t>
            </a:r>
            <a:endParaRPr lang="zh-CN" altLang="en-US" b="1"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0466">
                                            <p:txEl>
                                              <p:charRg st="0" end="68"/>
                                            </p:txEl>
                                          </p:spTgt>
                                        </p:tgtEl>
                                        <p:attrNameLst>
                                          <p:attrName>style.visibility</p:attrName>
                                        </p:attrNameLst>
                                      </p:cBhvr>
                                      <p:to>
                                        <p:strVal val="visible"/>
                                      </p:to>
                                    </p:set>
                                    <p:anim calcmode="lin" valueType="num">
                                      <p:cBhvr additive="base">
                                        <p:cTn id="7" dur="500" fill="hold"/>
                                        <p:tgtEl>
                                          <p:spTgt spid="190466">
                                            <p:txEl>
                                              <p:charRg st="0" end="6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0466">
                                            <p:txEl>
                                              <p:charRg st="0" end="68"/>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90466">
                                            <p:txEl>
                                              <p:charRg st="68" end="95"/>
                                            </p:txEl>
                                          </p:spTgt>
                                        </p:tgtEl>
                                        <p:attrNameLst>
                                          <p:attrName>style.visibility</p:attrName>
                                        </p:attrNameLst>
                                      </p:cBhvr>
                                      <p:to>
                                        <p:strVal val="visible"/>
                                      </p:to>
                                    </p:set>
                                    <p:anim calcmode="lin" valueType="num">
                                      <p:cBhvr additive="base">
                                        <p:cTn id="13" dur="500" fill="hold"/>
                                        <p:tgtEl>
                                          <p:spTgt spid="190466">
                                            <p:txEl>
                                              <p:charRg st="68" end="9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90466">
                                            <p:txEl>
                                              <p:charRg st="68" end="95"/>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90466">
                                            <p:txEl>
                                              <p:charRg st="95" end="131"/>
                                            </p:txEl>
                                          </p:spTgt>
                                        </p:tgtEl>
                                        <p:attrNameLst>
                                          <p:attrName>style.visibility</p:attrName>
                                        </p:attrNameLst>
                                      </p:cBhvr>
                                      <p:to>
                                        <p:strVal val="visible"/>
                                      </p:to>
                                    </p:set>
                                    <p:anim calcmode="lin" valueType="num">
                                      <p:cBhvr additive="base">
                                        <p:cTn id="19" dur="500" fill="hold"/>
                                        <p:tgtEl>
                                          <p:spTgt spid="190466">
                                            <p:txEl>
                                              <p:charRg st="95" end="13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90466">
                                            <p:txEl>
                                              <p:charRg st="95" end="13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90466">
                                            <p:txEl>
                                              <p:charRg st="131" end="176"/>
                                            </p:txEl>
                                          </p:spTgt>
                                        </p:tgtEl>
                                        <p:attrNameLst>
                                          <p:attrName>style.visibility</p:attrName>
                                        </p:attrNameLst>
                                      </p:cBhvr>
                                      <p:to>
                                        <p:strVal val="visible"/>
                                      </p:to>
                                    </p:set>
                                    <p:anim calcmode="lin" valueType="num">
                                      <p:cBhvr additive="base">
                                        <p:cTn id="25" dur="500" fill="hold"/>
                                        <p:tgtEl>
                                          <p:spTgt spid="190466">
                                            <p:txEl>
                                              <p:charRg st="131" end="17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90466">
                                            <p:txEl>
                                              <p:charRg st="131" end="17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90466">
                                            <p:txEl>
                                              <p:charRg st="176" end="202"/>
                                            </p:txEl>
                                          </p:spTgt>
                                        </p:tgtEl>
                                        <p:attrNameLst>
                                          <p:attrName>style.visibility</p:attrName>
                                        </p:attrNameLst>
                                      </p:cBhvr>
                                      <p:to>
                                        <p:strVal val="visible"/>
                                      </p:to>
                                    </p:set>
                                    <p:anim calcmode="lin" valueType="num">
                                      <p:cBhvr additive="base">
                                        <p:cTn id="31" dur="500" fill="hold"/>
                                        <p:tgtEl>
                                          <p:spTgt spid="190466">
                                            <p:txEl>
                                              <p:charRg st="176" end="20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90466">
                                            <p:txEl>
                                              <p:charRg st="176" end="20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466" grpId="0" bldLvl="2"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5"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graphicFrame>
        <p:nvGraphicFramePr>
          <p:cNvPr id="98306" name="Object 2"/>
          <p:cNvGraphicFramePr>
            <a:graphicFrameLocks noChangeAspect="1"/>
          </p:cNvGraphicFramePr>
          <p:nvPr/>
        </p:nvGraphicFramePr>
        <p:xfrm>
          <a:off x="468313" y="3213100"/>
          <a:ext cx="8367712" cy="3371850"/>
        </p:xfrm>
        <a:graphic>
          <a:graphicData uri="http://schemas.openxmlformats.org/presentationml/2006/ole">
            <mc:AlternateContent xmlns:mc="http://schemas.openxmlformats.org/markup-compatibility/2006">
              <mc:Choice xmlns:v="urn:schemas-microsoft-com:vml" Requires="v">
                <p:oleObj spid="_x0000_s3089" name="" r:id="rId1" imgW="5344160" imgH="1891665" progId="Word.Document.8">
                  <p:embed/>
                </p:oleObj>
              </mc:Choice>
              <mc:Fallback>
                <p:oleObj name="" r:id="rId1" imgW="5344160" imgH="1891665" progId="Word.Document.8">
                  <p:embed/>
                  <p:pic>
                    <p:nvPicPr>
                      <p:cNvPr id="0" name="图片 3088"/>
                      <p:cNvPicPr/>
                      <p:nvPr/>
                    </p:nvPicPr>
                    <p:blipFill>
                      <a:blip r:embed="rId2">
                        <a:clrChange>
                          <a:clrFrom>
                            <a:srgbClr val="000000"/>
                          </a:clrFrom>
                          <a:clrTo>
                            <a:srgbClr val="000000"/>
                          </a:clrTo>
                        </a:clrChange>
                      </a:blip>
                      <a:stretch>
                        <a:fillRect/>
                      </a:stretch>
                    </p:blipFill>
                    <p:spPr>
                      <a:xfrm>
                        <a:off x="468313" y="3213100"/>
                        <a:ext cx="8367712" cy="3371850"/>
                      </a:xfrm>
                      <a:prstGeom prst="rect">
                        <a:avLst/>
                      </a:prstGeom>
                      <a:noFill/>
                      <a:ln w="38100">
                        <a:noFill/>
                        <a:miter/>
                      </a:ln>
                    </p:spPr>
                  </p:pic>
                </p:oleObj>
              </mc:Fallback>
            </mc:AlternateContent>
          </a:graphicData>
        </a:graphic>
      </p:graphicFrame>
      <p:sp>
        <p:nvSpPr>
          <p:cNvPr id="189443" name="Rectangle 3"/>
          <p:cNvSpPr/>
          <p:nvPr/>
        </p:nvSpPr>
        <p:spPr>
          <a:xfrm>
            <a:off x="2555875" y="260350"/>
            <a:ext cx="2879725" cy="2232025"/>
          </a:xfrm>
          <a:prstGeom prst="rect">
            <a:avLst/>
          </a:prstGeom>
          <a:solidFill>
            <a:srgbClr val="FFFFFF"/>
          </a:solidFill>
          <a:ln w="9525">
            <a:noFill/>
          </a:ln>
        </p:spPr>
        <p:txBody>
          <a:bodyPr lIns="92075" tIns="46038" rIns="92075" bIns="46038" anchor="t"/>
          <a:p>
            <a:pPr marL="342900" indent="-342900" fontAlgn="t">
              <a:spcBef>
                <a:spcPct val="20000"/>
              </a:spcBef>
              <a:buClr>
                <a:schemeClr val="bg2"/>
              </a:buClr>
              <a:buSzPct val="75000"/>
              <a:buFont typeface="Wingdings" panose="05000000000000000000" pitchFamily="2" charset="2"/>
            </a:pPr>
            <a:r>
              <a:rPr lang="en-US" altLang="zh-CN" sz="2400" b="1" u="none" dirty="0">
                <a:solidFill>
                  <a:schemeClr val="tx1"/>
                </a:solidFill>
                <a:latin typeface="Arial" panose="020B0604020202020204" pitchFamily="34" charset="0"/>
              </a:rPr>
              <a:t>FIRST(E) ={(,i}</a:t>
            </a:r>
            <a:endParaRPr lang="en-US" altLang="zh-CN" sz="2400" b="1" u="none" dirty="0">
              <a:solidFill>
                <a:schemeClr val="tx1"/>
              </a:solidFill>
              <a:latin typeface="Arial" panose="020B0604020202020204" pitchFamily="34" charset="0"/>
            </a:endParaRPr>
          </a:p>
          <a:p>
            <a:pPr marL="342900" indent="-342900" fontAlgn="t">
              <a:spcBef>
                <a:spcPct val="20000"/>
              </a:spcBef>
              <a:buClr>
                <a:schemeClr val="bg2"/>
              </a:buClr>
              <a:buSzPct val="75000"/>
              <a:buFont typeface="Wingdings" panose="05000000000000000000" pitchFamily="2" charset="2"/>
            </a:pPr>
            <a:r>
              <a:rPr lang="en-US" altLang="zh-CN" sz="2400" b="1" u="none" dirty="0">
                <a:solidFill>
                  <a:schemeClr val="tx1"/>
                </a:solidFill>
                <a:latin typeface="Arial" panose="020B0604020202020204" pitchFamily="34" charset="0"/>
              </a:rPr>
              <a:t>FIRST(E</a:t>
            </a:r>
            <a:r>
              <a:rPr lang="en-US" altLang="zh-CN" sz="2400" b="1" u="none" dirty="0">
                <a:solidFill>
                  <a:schemeClr val="tx1"/>
                </a:solidFill>
                <a:latin typeface="Arial" panose="020B0604020202020204" pitchFamily="34" charset="0"/>
                <a:sym typeface="Symbol" panose="05050102010706020507" pitchFamily="18" charset="2"/>
              </a:rPr>
              <a:t></a:t>
            </a:r>
            <a:r>
              <a:rPr lang="en-US" altLang="zh-CN" sz="2400" b="1" u="none" dirty="0">
                <a:solidFill>
                  <a:schemeClr val="tx1"/>
                </a:solidFill>
                <a:latin typeface="Arial" panose="020B0604020202020204" pitchFamily="34" charset="0"/>
              </a:rPr>
              <a:t>)={+, </a:t>
            </a:r>
            <a:r>
              <a:rPr lang="en-US" altLang="zh-CN" sz="2400" b="1" u="none" dirty="0">
                <a:solidFill>
                  <a:schemeClr val="tx1"/>
                </a:solidFill>
                <a:latin typeface="Arial" panose="020B0604020202020204" pitchFamily="34" charset="0"/>
                <a:sym typeface="Symbol" panose="05050102010706020507" pitchFamily="18" charset="2"/>
              </a:rPr>
              <a:t></a:t>
            </a:r>
            <a:r>
              <a:rPr lang="en-US" altLang="zh-CN" sz="2400" b="1" u="none" dirty="0">
                <a:solidFill>
                  <a:schemeClr val="tx1"/>
                </a:solidFill>
                <a:latin typeface="Arial" panose="020B0604020202020204" pitchFamily="34" charset="0"/>
              </a:rPr>
              <a:t>}</a:t>
            </a:r>
            <a:endParaRPr lang="en-US" altLang="zh-CN" sz="2400" b="1" u="none" dirty="0">
              <a:solidFill>
                <a:schemeClr val="tx1"/>
              </a:solidFill>
              <a:latin typeface="Arial" panose="020B0604020202020204" pitchFamily="34" charset="0"/>
            </a:endParaRPr>
          </a:p>
          <a:p>
            <a:pPr marL="342900" indent="-342900" fontAlgn="t">
              <a:spcBef>
                <a:spcPct val="20000"/>
              </a:spcBef>
              <a:buClr>
                <a:schemeClr val="bg2"/>
              </a:buClr>
              <a:buSzPct val="75000"/>
              <a:buFont typeface="Wingdings" panose="05000000000000000000" pitchFamily="2" charset="2"/>
            </a:pPr>
            <a:r>
              <a:rPr lang="en-US" altLang="zh-CN" sz="2400" b="1" u="none" dirty="0">
                <a:solidFill>
                  <a:schemeClr val="tx1"/>
                </a:solidFill>
                <a:latin typeface="Arial" panose="020B0604020202020204" pitchFamily="34" charset="0"/>
              </a:rPr>
              <a:t>FIRST(T) ={(,i}</a:t>
            </a:r>
            <a:endParaRPr lang="en-US" altLang="zh-CN" sz="2400" b="1" u="none" dirty="0">
              <a:solidFill>
                <a:schemeClr val="tx1"/>
              </a:solidFill>
              <a:latin typeface="Arial" panose="020B0604020202020204" pitchFamily="34" charset="0"/>
            </a:endParaRPr>
          </a:p>
          <a:p>
            <a:pPr marL="342900" indent="-342900" fontAlgn="t">
              <a:spcBef>
                <a:spcPct val="20000"/>
              </a:spcBef>
              <a:buClr>
                <a:schemeClr val="bg2"/>
              </a:buClr>
              <a:buSzPct val="75000"/>
              <a:buFont typeface="Wingdings" panose="05000000000000000000" pitchFamily="2" charset="2"/>
            </a:pPr>
            <a:r>
              <a:rPr lang="en-US" altLang="zh-CN" sz="2400" b="1" u="none" dirty="0">
                <a:solidFill>
                  <a:schemeClr val="tx1"/>
                </a:solidFill>
                <a:latin typeface="Arial" panose="020B0604020202020204" pitchFamily="34" charset="0"/>
              </a:rPr>
              <a:t>FIRST(T</a:t>
            </a:r>
            <a:r>
              <a:rPr lang="en-US" altLang="zh-CN" sz="2400" b="1" u="none" dirty="0">
                <a:solidFill>
                  <a:schemeClr val="tx1"/>
                </a:solidFill>
                <a:latin typeface="Arial" panose="020B0604020202020204" pitchFamily="34" charset="0"/>
                <a:sym typeface="Symbol" panose="05050102010706020507" pitchFamily="18" charset="2"/>
              </a:rPr>
              <a:t></a:t>
            </a:r>
            <a:r>
              <a:rPr lang="en-US" altLang="zh-CN" sz="2400" b="1" u="none" dirty="0">
                <a:solidFill>
                  <a:schemeClr val="tx1"/>
                </a:solidFill>
                <a:latin typeface="Arial" panose="020B0604020202020204" pitchFamily="34" charset="0"/>
              </a:rPr>
              <a:t>)={*, </a:t>
            </a:r>
            <a:r>
              <a:rPr lang="en-US" altLang="zh-CN" sz="2400" b="1" u="none" dirty="0">
                <a:solidFill>
                  <a:schemeClr val="tx1"/>
                </a:solidFill>
                <a:latin typeface="Arial" panose="020B0604020202020204" pitchFamily="34" charset="0"/>
                <a:sym typeface="Symbol" panose="05050102010706020507" pitchFamily="18" charset="2"/>
              </a:rPr>
              <a:t></a:t>
            </a:r>
            <a:r>
              <a:rPr lang="en-US" altLang="zh-CN" sz="2400" b="1" u="none" dirty="0">
                <a:solidFill>
                  <a:schemeClr val="tx1"/>
                </a:solidFill>
                <a:latin typeface="Arial" panose="020B0604020202020204" pitchFamily="34" charset="0"/>
              </a:rPr>
              <a:t>}</a:t>
            </a:r>
            <a:endParaRPr lang="en-US" altLang="zh-CN" sz="2400" b="1" u="none" dirty="0">
              <a:solidFill>
                <a:schemeClr val="tx1"/>
              </a:solidFill>
              <a:latin typeface="Arial" panose="020B0604020202020204" pitchFamily="34" charset="0"/>
            </a:endParaRPr>
          </a:p>
          <a:p>
            <a:pPr marL="342900" indent="-342900" fontAlgn="t">
              <a:spcBef>
                <a:spcPct val="20000"/>
              </a:spcBef>
              <a:buClr>
                <a:schemeClr val="bg2"/>
              </a:buClr>
              <a:buSzPct val="75000"/>
              <a:buFont typeface="Wingdings" panose="05000000000000000000" pitchFamily="2" charset="2"/>
            </a:pPr>
            <a:r>
              <a:rPr lang="en-US" altLang="zh-CN" sz="2400" b="1" u="none" dirty="0">
                <a:solidFill>
                  <a:schemeClr val="tx1"/>
                </a:solidFill>
                <a:latin typeface="Arial" panose="020B0604020202020204" pitchFamily="34" charset="0"/>
              </a:rPr>
              <a:t>FIRST(F) ={(,i}</a:t>
            </a:r>
            <a:endParaRPr lang="en-US" altLang="zh-CN" sz="2400" b="1" u="none" dirty="0">
              <a:solidFill>
                <a:schemeClr val="tx1"/>
              </a:solidFill>
              <a:latin typeface="Arial" panose="020B0604020202020204" pitchFamily="34" charset="0"/>
            </a:endParaRPr>
          </a:p>
        </p:txBody>
      </p:sp>
      <p:sp>
        <p:nvSpPr>
          <p:cNvPr id="189444" name="Rectangle 4"/>
          <p:cNvSpPr/>
          <p:nvPr/>
        </p:nvSpPr>
        <p:spPr>
          <a:xfrm>
            <a:off x="5508625" y="188913"/>
            <a:ext cx="3454400" cy="2303462"/>
          </a:xfrm>
          <a:prstGeom prst="rect">
            <a:avLst/>
          </a:prstGeom>
          <a:solidFill>
            <a:srgbClr val="FFFFFF"/>
          </a:solidFill>
          <a:ln w="9525">
            <a:noFill/>
          </a:ln>
        </p:spPr>
        <p:txBody>
          <a:bodyPr lIns="92075" tIns="46038" rIns="92075" bIns="46038" anchor="t"/>
          <a:p>
            <a:pPr marL="342900" indent="-342900">
              <a:spcBef>
                <a:spcPct val="20000"/>
              </a:spcBef>
              <a:buClr>
                <a:schemeClr val="bg2"/>
              </a:buClr>
              <a:buSzPct val="75000"/>
              <a:buFont typeface="Wingdings" panose="05000000000000000000" pitchFamily="2" charset="2"/>
            </a:pPr>
            <a:r>
              <a:rPr lang="en-US" altLang="zh-CN" sz="2400" b="1" u="none" dirty="0">
                <a:solidFill>
                  <a:schemeClr val="tx1"/>
                </a:solidFill>
                <a:latin typeface="Arial" panose="020B0604020202020204" pitchFamily="34" charset="0"/>
              </a:rPr>
              <a:t>FOLLOW(E) ={),#}</a:t>
            </a:r>
            <a:endParaRPr lang="en-US" altLang="zh-CN" sz="2400" b="1" u="none" dirty="0">
              <a:solidFill>
                <a:schemeClr val="tx1"/>
              </a:solidFill>
              <a:latin typeface="Arial" panose="020B0604020202020204" pitchFamily="34" charset="0"/>
            </a:endParaRPr>
          </a:p>
          <a:p>
            <a:pPr marL="342900" indent="-342900">
              <a:spcBef>
                <a:spcPct val="20000"/>
              </a:spcBef>
              <a:buClr>
                <a:schemeClr val="bg2"/>
              </a:buClr>
              <a:buSzPct val="75000"/>
              <a:buFont typeface="Wingdings" panose="05000000000000000000" pitchFamily="2" charset="2"/>
            </a:pPr>
            <a:r>
              <a:rPr lang="en-US" altLang="zh-CN" sz="2400" b="1" u="none" dirty="0">
                <a:solidFill>
                  <a:schemeClr val="tx1"/>
                </a:solidFill>
                <a:latin typeface="Arial" panose="020B0604020202020204" pitchFamily="34" charset="0"/>
              </a:rPr>
              <a:t>FOLLOW(E</a:t>
            </a:r>
            <a:r>
              <a:rPr lang="en-US" altLang="zh-CN" sz="2400" b="1" u="none" dirty="0">
                <a:solidFill>
                  <a:schemeClr val="tx1"/>
                </a:solidFill>
                <a:latin typeface="Arial" panose="020B0604020202020204" pitchFamily="34" charset="0"/>
                <a:sym typeface="Symbol" panose="05050102010706020507" pitchFamily="18" charset="2"/>
              </a:rPr>
              <a:t></a:t>
            </a:r>
            <a:r>
              <a:rPr lang="en-US" altLang="zh-CN" sz="2400" b="1" u="none" dirty="0">
                <a:solidFill>
                  <a:schemeClr val="tx1"/>
                </a:solidFill>
                <a:latin typeface="Arial" panose="020B0604020202020204" pitchFamily="34" charset="0"/>
              </a:rPr>
              <a:t>)={),#}</a:t>
            </a:r>
            <a:endParaRPr lang="en-US" altLang="zh-CN" sz="2400" b="1" u="none" dirty="0">
              <a:solidFill>
                <a:schemeClr val="tx1"/>
              </a:solidFill>
              <a:latin typeface="Arial" panose="020B0604020202020204" pitchFamily="34" charset="0"/>
            </a:endParaRPr>
          </a:p>
          <a:p>
            <a:pPr marL="342900" indent="-342900">
              <a:spcBef>
                <a:spcPct val="20000"/>
              </a:spcBef>
              <a:buClr>
                <a:schemeClr val="bg2"/>
              </a:buClr>
              <a:buSzPct val="75000"/>
              <a:buFont typeface="Wingdings" panose="05000000000000000000" pitchFamily="2" charset="2"/>
            </a:pPr>
            <a:r>
              <a:rPr lang="en-US" altLang="zh-CN" sz="2400" b="1" u="none" dirty="0">
                <a:solidFill>
                  <a:schemeClr val="tx1"/>
                </a:solidFill>
                <a:latin typeface="Arial" panose="020B0604020202020204" pitchFamily="34" charset="0"/>
              </a:rPr>
              <a:t>FOLLOW(T) ={+,),#}</a:t>
            </a:r>
            <a:endParaRPr lang="en-US" altLang="zh-CN" sz="2400" b="1" u="none" dirty="0">
              <a:solidFill>
                <a:schemeClr val="tx1"/>
              </a:solidFill>
              <a:latin typeface="Arial" panose="020B0604020202020204" pitchFamily="34" charset="0"/>
            </a:endParaRPr>
          </a:p>
          <a:p>
            <a:pPr marL="342900" indent="-342900">
              <a:spcBef>
                <a:spcPct val="20000"/>
              </a:spcBef>
              <a:buClr>
                <a:schemeClr val="bg2"/>
              </a:buClr>
              <a:buSzPct val="75000"/>
              <a:buFont typeface="Wingdings" panose="05000000000000000000" pitchFamily="2" charset="2"/>
            </a:pPr>
            <a:r>
              <a:rPr lang="en-US" altLang="zh-CN" sz="2400" b="1" u="none" dirty="0">
                <a:solidFill>
                  <a:schemeClr val="tx1"/>
                </a:solidFill>
                <a:latin typeface="Arial" panose="020B0604020202020204" pitchFamily="34" charset="0"/>
              </a:rPr>
              <a:t>FOLLOW(T</a:t>
            </a:r>
            <a:r>
              <a:rPr lang="en-US" altLang="zh-CN" sz="2400" b="1" u="none" dirty="0">
                <a:solidFill>
                  <a:schemeClr val="tx1"/>
                </a:solidFill>
                <a:latin typeface="Arial" panose="020B0604020202020204" pitchFamily="34" charset="0"/>
                <a:sym typeface="Symbol" panose="05050102010706020507" pitchFamily="18" charset="2"/>
              </a:rPr>
              <a:t></a:t>
            </a:r>
            <a:r>
              <a:rPr lang="en-US" altLang="zh-CN" sz="2400" b="1" u="none" dirty="0">
                <a:solidFill>
                  <a:schemeClr val="tx1"/>
                </a:solidFill>
                <a:latin typeface="Arial" panose="020B0604020202020204" pitchFamily="34" charset="0"/>
              </a:rPr>
              <a:t>)={+,),#}</a:t>
            </a:r>
            <a:endParaRPr lang="en-US" altLang="zh-CN" sz="2400" b="1" u="none" dirty="0">
              <a:solidFill>
                <a:schemeClr val="tx1"/>
              </a:solidFill>
              <a:latin typeface="Arial" panose="020B0604020202020204" pitchFamily="34" charset="0"/>
            </a:endParaRPr>
          </a:p>
          <a:p>
            <a:pPr marL="342900" indent="-342900">
              <a:spcBef>
                <a:spcPct val="20000"/>
              </a:spcBef>
              <a:buClr>
                <a:schemeClr val="bg2"/>
              </a:buClr>
              <a:buSzPct val="75000"/>
              <a:buFont typeface="Wingdings" panose="05000000000000000000" pitchFamily="2" charset="2"/>
            </a:pPr>
            <a:r>
              <a:rPr lang="en-US" altLang="zh-CN" sz="2400" b="1" u="none" dirty="0">
                <a:solidFill>
                  <a:schemeClr val="tx1"/>
                </a:solidFill>
                <a:latin typeface="Arial" panose="020B0604020202020204" pitchFamily="34" charset="0"/>
              </a:rPr>
              <a:t>FOLLOW(F) ={*,+,),#}</a:t>
            </a:r>
            <a:endParaRPr lang="en-US" altLang="zh-CN" sz="2400" b="1" u="none" dirty="0">
              <a:solidFill>
                <a:schemeClr val="tx1"/>
              </a:solidFill>
              <a:latin typeface="Arial" panose="020B0604020202020204" pitchFamily="34" charset="0"/>
            </a:endParaRPr>
          </a:p>
        </p:txBody>
      </p:sp>
      <p:sp>
        <p:nvSpPr>
          <p:cNvPr id="98309" name="Text Box 8"/>
          <p:cNvSpPr txBox="1"/>
          <p:nvPr/>
        </p:nvSpPr>
        <p:spPr>
          <a:xfrm>
            <a:off x="-757237" y="476250"/>
            <a:ext cx="3240087" cy="1917700"/>
          </a:xfrm>
          <a:prstGeom prst="rect">
            <a:avLst/>
          </a:prstGeom>
          <a:noFill/>
          <a:ln w="9525">
            <a:noFill/>
          </a:ln>
        </p:spPr>
        <p:txBody>
          <a:bodyPr anchor="t">
            <a:spAutoFit/>
          </a:bodyPr>
          <a:p>
            <a:pPr lvl="2" indent="0" algn="l" eaLnBrk="1" hangingPunct="1"/>
            <a:r>
              <a:rPr lang="en-US" altLang="zh-CN" sz="2400" b="1" u="none" dirty="0">
                <a:solidFill>
                  <a:schemeClr val="hlink"/>
                </a:solidFill>
                <a:latin typeface="Verdana" panose="020B0604030504040204" pitchFamily="34" charset="0"/>
              </a:rPr>
              <a:t>E→TE</a:t>
            </a:r>
            <a:r>
              <a:rPr lang="en-US" altLang="zh-CN" sz="2400" b="1" u="none" dirty="0">
                <a:solidFill>
                  <a:schemeClr val="hlink"/>
                </a:solidFill>
                <a:latin typeface="Verdana" panose="020B0604030504040204" pitchFamily="34" charset="0"/>
                <a:sym typeface="Symbol" panose="05050102010706020507" pitchFamily="18" charset="2"/>
              </a:rPr>
              <a:t></a:t>
            </a:r>
            <a:endParaRPr lang="en-US" altLang="zh-CN" sz="2400" b="1" u="none" dirty="0">
              <a:solidFill>
                <a:schemeClr val="hlink"/>
              </a:solidFill>
              <a:latin typeface="Verdana" panose="020B0604030504040204" pitchFamily="34" charset="0"/>
            </a:endParaRPr>
          </a:p>
          <a:p>
            <a:pPr lvl="2" indent="0" algn="l" eaLnBrk="1" hangingPunct="1"/>
            <a:r>
              <a:rPr lang="en-US" altLang="zh-CN" sz="2400" b="1" u="none" dirty="0">
                <a:solidFill>
                  <a:schemeClr val="hlink"/>
                </a:solidFill>
                <a:latin typeface="Verdana" panose="020B0604030504040204" pitchFamily="34" charset="0"/>
              </a:rPr>
              <a:t>E</a:t>
            </a:r>
            <a:r>
              <a:rPr lang="en-US" altLang="zh-CN" sz="2400" b="1" u="none" dirty="0">
                <a:solidFill>
                  <a:schemeClr val="hlink"/>
                </a:solidFill>
                <a:latin typeface="Verdana" panose="020B0604030504040204" pitchFamily="34" charset="0"/>
                <a:sym typeface="Symbol" panose="05050102010706020507" pitchFamily="18" charset="2"/>
              </a:rPr>
              <a:t></a:t>
            </a:r>
            <a:r>
              <a:rPr lang="en-US" altLang="zh-CN" sz="2400" b="1" u="none" dirty="0">
                <a:solidFill>
                  <a:schemeClr val="hlink"/>
                </a:solidFill>
                <a:latin typeface="Verdana" panose="020B0604030504040204" pitchFamily="34" charset="0"/>
              </a:rPr>
              <a:t>→+TE</a:t>
            </a:r>
            <a:r>
              <a:rPr lang="en-US" altLang="zh-CN" sz="2400" b="1" u="none" dirty="0">
                <a:solidFill>
                  <a:schemeClr val="hlink"/>
                </a:solidFill>
                <a:latin typeface="Verdana" panose="020B0604030504040204" pitchFamily="34" charset="0"/>
                <a:sym typeface="Symbol" panose="05050102010706020507" pitchFamily="18" charset="2"/>
              </a:rPr>
              <a:t></a:t>
            </a:r>
            <a:r>
              <a:rPr lang="en-US" altLang="zh-CN" sz="2400" b="1" u="none" dirty="0">
                <a:solidFill>
                  <a:schemeClr val="hlink"/>
                </a:solidFill>
                <a:latin typeface="Verdana" panose="020B0604030504040204" pitchFamily="34" charset="0"/>
              </a:rPr>
              <a:t> | </a:t>
            </a:r>
            <a:r>
              <a:rPr lang="en-US" altLang="zh-CN" sz="2400" b="1" u="none" dirty="0">
                <a:solidFill>
                  <a:schemeClr val="hlink"/>
                </a:solidFill>
                <a:latin typeface="Verdana" panose="020B0604030504040204" pitchFamily="34" charset="0"/>
                <a:sym typeface="Symbol" panose="05050102010706020507" pitchFamily="18" charset="2"/>
              </a:rPr>
              <a:t></a:t>
            </a:r>
            <a:endParaRPr lang="en-US" altLang="zh-CN" sz="2400" b="1" u="none" dirty="0">
              <a:solidFill>
                <a:schemeClr val="hlink"/>
              </a:solidFill>
              <a:latin typeface="Verdana" panose="020B0604030504040204" pitchFamily="34" charset="0"/>
            </a:endParaRPr>
          </a:p>
          <a:p>
            <a:pPr lvl="2" indent="0" algn="l" eaLnBrk="1" hangingPunct="1"/>
            <a:r>
              <a:rPr lang="en-US" altLang="zh-CN" sz="2400" b="1" u="none" dirty="0">
                <a:solidFill>
                  <a:schemeClr val="hlink"/>
                </a:solidFill>
                <a:latin typeface="Verdana" panose="020B0604030504040204" pitchFamily="34" charset="0"/>
              </a:rPr>
              <a:t>T→FT</a:t>
            </a:r>
            <a:r>
              <a:rPr lang="en-US" altLang="zh-CN" sz="2400" b="1" u="none" dirty="0">
                <a:solidFill>
                  <a:schemeClr val="hlink"/>
                </a:solidFill>
                <a:latin typeface="Verdana" panose="020B0604030504040204" pitchFamily="34" charset="0"/>
                <a:sym typeface="Symbol" panose="05050102010706020507" pitchFamily="18" charset="2"/>
              </a:rPr>
              <a:t></a:t>
            </a:r>
            <a:r>
              <a:rPr lang="en-US" altLang="zh-CN" sz="2400" b="1" u="none" dirty="0">
                <a:solidFill>
                  <a:schemeClr val="hlink"/>
                </a:solidFill>
                <a:latin typeface="Verdana" panose="020B0604030504040204" pitchFamily="34" charset="0"/>
              </a:rPr>
              <a:t>                 </a:t>
            </a:r>
            <a:endParaRPr lang="en-US" altLang="zh-CN" sz="2400" b="1" u="none" dirty="0">
              <a:solidFill>
                <a:schemeClr val="hlink"/>
              </a:solidFill>
              <a:latin typeface="Verdana" panose="020B0604030504040204" pitchFamily="34" charset="0"/>
            </a:endParaRPr>
          </a:p>
          <a:p>
            <a:pPr lvl="2" indent="0" algn="l" eaLnBrk="1" hangingPunct="1"/>
            <a:r>
              <a:rPr lang="en-US" altLang="zh-CN" sz="2400" b="1" u="none" dirty="0">
                <a:solidFill>
                  <a:schemeClr val="hlink"/>
                </a:solidFill>
                <a:latin typeface="Verdana" panose="020B0604030504040204" pitchFamily="34" charset="0"/>
              </a:rPr>
              <a:t>T</a:t>
            </a:r>
            <a:r>
              <a:rPr lang="en-US" altLang="zh-CN" sz="2400" b="1" u="none" dirty="0">
                <a:solidFill>
                  <a:schemeClr val="hlink"/>
                </a:solidFill>
                <a:latin typeface="Verdana" panose="020B0604030504040204" pitchFamily="34" charset="0"/>
                <a:sym typeface="Symbol" panose="05050102010706020507" pitchFamily="18" charset="2"/>
              </a:rPr>
              <a:t></a:t>
            </a:r>
            <a:r>
              <a:rPr lang="en-US" altLang="zh-CN" sz="2400" b="1" u="none" dirty="0">
                <a:solidFill>
                  <a:schemeClr val="hlink"/>
                </a:solidFill>
                <a:latin typeface="Verdana" panose="020B0604030504040204" pitchFamily="34" charset="0"/>
              </a:rPr>
              <a:t>→*FT</a:t>
            </a:r>
            <a:r>
              <a:rPr lang="en-US" altLang="zh-CN" sz="2400" b="1" u="none" dirty="0">
                <a:solidFill>
                  <a:schemeClr val="hlink"/>
                </a:solidFill>
                <a:latin typeface="Verdana" panose="020B0604030504040204" pitchFamily="34" charset="0"/>
                <a:sym typeface="Symbol" panose="05050102010706020507" pitchFamily="18" charset="2"/>
              </a:rPr>
              <a:t></a:t>
            </a:r>
            <a:r>
              <a:rPr lang="en-US" altLang="zh-CN" sz="2400" b="1" u="none" dirty="0">
                <a:solidFill>
                  <a:schemeClr val="hlink"/>
                </a:solidFill>
                <a:latin typeface="Verdana" panose="020B0604030504040204" pitchFamily="34" charset="0"/>
              </a:rPr>
              <a:t> | </a:t>
            </a:r>
            <a:r>
              <a:rPr lang="en-US" altLang="zh-CN" sz="2400" b="1" u="none" dirty="0">
                <a:solidFill>
                  <a:schemeClr val="hlink"/>
                </a:solidFill>
                <a:latin typeface="Verdana" panose="020B0604030504040204" pitchFamily="34" charset="0"/>
                <a:sym typeface="Symbol" panose="05050102010706020507" pitchFamily="18" charset="2"/>
              </a:rPr>
              <a:t></a:t>
            </a:r>
            <a:endParaRPr lang="en-US" altLang="zh-CN" sz="2400" b="1" u="none" dirty="0">
              <a:solidFill>
                <a:schemeClr val="hlink"/>
              </a:solidFill>
              <a:latin typeface="Verdana" panose="020B0604030504040204" pitchFamily="34" charset="0"/>
            </a:endParaRPr>
          </a:p>
          <a:p>
            <a:pPr lvl="2" indent="0" algn="l" eaLnBrk="1" hangingPunct="1"/>
            <a:r>
              <a:rPr lang="en-US" altLang="zh-CN" sz="2400" b="1" u="none" dirty="0">
                <a:solidFill>
                  <a:schemeClr val="hlink"/>
                </a:solidFill>
                <a:latin typeface="Verdana" panose="020B0604030504040204" pitchFamily="34" charset="0"/>
              </a:rPr>
              <a:t>F→(E) | i</a:t>
            </a:r>
            <a:endParaRPr lang="zh-CN" altLang="en-US" sz="2400" dirty="0">
              <a:latin typeface="Verdana" panose="020B0604030504040204" pitchFamily="34"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9443"/>
                                        </p:tgtEl>
                                        <p:attrNameLst>
                                          <p:attrName>style.visibility</p:attrName>
                                        </p:attrNameLst>
                                      </p:cBhvr>
                                      <p:to>
                                        <p:strVal val="visible"/>
                                      </p:to>
                                    </p:set>
                                    <p:animEffect transition="in" filter="dissolve">
                                      <p:cBhvr>
                                        <p:cTn id="7" dur="500"/>
                                        <p:tgtEl>
                                          <p:spTgt spid="18944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89444"/>
                                        </p:tgtEl>
                                        <p:attrNameLst>
                                          <p:attrName>style.visibility</p:attrName>
                                        </p:attrNameLst>
                                      </p:cBhvr>
                                      <p:to>
                                        <p:strVal val="visible"/>
                                      </p:to>
                                    </p:set>
                                    <p:animEffect transition="in" filter="dissolve">
                                      <p:cBhvr>
                                        <p:cTn id="12" dur="500"/>
                                        <p:tgtEl>
                                          <p:spTgt spid="1894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43" grpId="0" animBg="1"/>
      <p:bldP spid="189444"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29"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148483" name="Rectangle 3"/>
          <p:cNvSpPr>
            <a:spLocks noGrp="1"/>
          </p:cNvSpPr>
          <p:nvPr>
            <p:ph type="body"/>
          </p:nvPr>
        </p:nvSpPr>
        <p:spPr>
          <a:xfrm>
            <a:off x="609600" y="1524000"/>
            <a:ext cx="7772400" cy="4876800"/>
          </a:xfrm>
          <a:ln/>
        </p:spPr>
        <p:txBody>
          <a:bodyPr vert="horz" wrap="square" lIns="91440" tIns="45720" rIns="91440" bIns="45720" anchor="t"/>
          <a:p>
            <a:pPr eaLnBrk="1" hangingPunct="1"/>
            <a:r>
              <a:rPr lang="zh-CN" altLang="en-US" b="1" dirty="0"/>
              <a:t>如果</a:t>
            </a:r>
            <a:r>
              <a:rPr lang="en-US" altLang="zh-CN" b="1" dirty="0"/>
              <a:t>G</a:t>
            </a:r>
            <a:r>
              <a:rPr lang="zh-CN" altLang="en-US" b="1" dirty="0"/>
              <a:t>是左递归或二义的，那么，</a:t>
            </a:r>
            <a:r>
              <a:rPr lang="en-US" altLang="zh-CN" b="1" dirty="0"/>
              <a:t>M</a:t>
            </a:r>
            <a:r>
              <a:rPr lang="zh-CN" altLang="en-US" b="1" dirty="0"/>
              <a:t>至少含有一个多重定义入口。因此，消除左递归和提取左因子将有助于获得无多重定义的分析表</a:t>
            </a:r>
            <a:r>
              <a:rPr lang="en-US" altLang="zh-CN" b="1" dirty="0"/>
              <a:t>M</a:t>
            </a:r>
            <a:r>
              <a:rPr lang="zh-CN" altLang="en-US" b="1" dirty="0"/>
              <a:t>。</a:t>
            </a:r>
            <a:endParaRPr lang="zh-CN" altLang="en-US" b="1" dirty="0"/>
          </a:p>
          <a:p>
            <a:pPr eaLnBrk="1" hangingPunct="1">
              <a:spcBef>
                <a:spcPct val="55000"/>
              </a:spcBef>
            </a:pPr>
            <a:r>
              <a:rPr lang="zh-CN" altLang="en-US" b="1" dirty="0"/>
              <a:t>可以证明，一个文法</a:t>
            </a:r>
            <a:r>
              <a:rPr lang="en-US" altLang="zh-CN" b="1" dirty="0"/>
              <a:t>G</a:t>
            </a:r>
            <a:r>
              <a:rPr lang="zh-CN" altLang="en-US" b="1" dirty="0"/>
              <a:t>的预测分析表</a:t>
            </a:r>
            <a:r>
              <a:rPr lang="en-US" altLang="zh-CN" b="1" dirty="0"/>
              <a:t>M</a:t>
            </a:r>
            <a:r>
              <a:rPr lang="zh-CN" altLang="en-US" b="1" dirty="0"/>
              <a:t>不含多重定义入口，当且仅当该文法为</a:t>
            </a:r>
            <a:r>
              <a:rPr lang="en-US" altLang="zh-CN" b="1" dirty="0"/>
              <a:t>LL(1)</a:t>
            </a:r>
            <a:r>
              <a:rPr lang="zh-CN" altLang="en-US" b="1" dirty="0"/>
              <a:t>的。</a:t>
            </a:r>
            <a:endParaRPr lang="zh-CN" altLang="en-US" b="1"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48483">
                                            <p:txEl>
                                              <p:charRg st="0" end="61"/>
                                            </p:txEl>
                                          </p:spTgt>
                                        </p:tgtEl>
                                        <p:attrNameLst>
                                          <p:attrName>style.visibility</p:attrName>
                                        </p:attrNameLst>
                                      </p:cBhvr>
                                      <p:to>
                                        <p:strVal val="visible"/>
                                      </p:to>
                                    </p:set>
                                    <p:animEffect transition="in" filter="wipe(up)">
                                      <p:cBhvr>
                                        <p:cTn id="7" dur="500"/>
                                        <p:tgtEl>
                                          <p:spTgt spid="148483">
                                            <p:txEl>
                                              <p:charRg st="0" end="6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48483">
                                            <p:txEl>
                                              <p:charRg st="61" end="103"/>
                                            </p:txEl>
                                          </p:spTgt>
                                        </p:tgtEl>
                                        <p:attrNameLst>
                                          <p:attrName>style.visibility</p:attrName>
                                        </p:attrNameLst>
                                      </p:cBhvr>
                                      <p:to>
                                        <p:strVal val="visible"/>
                                      </p:to>
                                    </p:set>
                                    <p:animEffect transition="in" filter="wipe(up)">
                                      <p:cBhvr>
                                        <p:cTn id="12" dur="500"/>
                                        <p:tgtEl>
                                          <p:spTgt spid="148483">
                                            <p:txEl>
                                              <p:charRg st="61" end="10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83" grpId="0" build="p"/>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3" name="Rectangle 8"/>
          <p:cNvSpPr>
            <a:spLocks noGrp="1"/>
          </p:cNvSpPr>
          <p:nvPr>
            <p:ph type="sldNum" sz="quarter" idx="12"/>
          </p:nvPr>
        </p:nvSpPr>
        <p:spPr>
          <a:ln/>
        </p:spPr>
        <p:txBody>
          <a:bodyPr wrap="square" lIns="91440" tIns="45720" rIns="91440" bIns="45720" anchor="t"/>
          <a:lstStyle>
            <a:lvl1pPr marL="0" lvl="0" indent="0" algn="ctr" defTabSz="914400" rtl="0" eaLnBrk="1" fontAlgn="base" latinLnBrk="0" hangingPunct="1">
              <a:lnSpc>
                <a:spcPct val="100000"/>
              </a:lnSpc>
              <a:spcBef>
                <a:spcPct val="0"/>
              </a:spcBef>
              <a:spcAft>
                <a:spcPct val="0"/>
              </a:spcAft>
              <a:buNone/>
              <a:defRPr sz="1800" b="0" i="0" u="sng" kern="1200" baseline="0">
                <a:solidFill>
                  <a:schemeClr val="accent2"/>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accent2"/>
                </a:solidFill>
                <a:latin typeface="Verdana" panose="020B0604030504040204" pitchFamily="34" charset="0"/>
                <a:ea typeface="宋体" panose="02010600030101010101" pitchFamily="2" charset="-122"/>
                <a:cs typeface="+mn-cs"/>
              </a:defRPr>
            </a:lvl5pPr>
          </a:lstStyle>
          <a:p>
            <a:pPr lvl="0" algn="r"/>
            <a:fld id="{9A0DB2DC-4C9A-4742-B13C-FB6460FD3503}" type="slidenum">
              <a:rPr lang="zh-CN" altLang="en-US" sz="1200" u="none" dirty="0">
                <a:solidFill>
                  <a:schemeClr val="tx1"/>
                </a:solidFill>
              </a:rPr>
            </a:fld>
            <a:endParaRPr lang="zh-CN" altLang="en-US" sz="1200" u="none" dirty="0">
              <a:solidFill>
                <a:schemeClr val="tx1"/>
              </a:solidFill>
            </a:endParaRPr>
          </a:p>
        </p:txBody>
      </p:sp>
      <p:sp>
        <p:nvSpPr>
          <p:cNvPr id="100354" name="Rectangle 2"/>
          <p:cNvSpPr>
            <a:spLocks noGrp="1"/>
          </p:cNvSpPr>
          <p:nvPr>
            <p:ph type="title"/>
          </p:nvPr>
        </p:nvSpPr>
        <p:spPr>
          <a:ln/>
        </p:spPr>
        <p:txBody>
          <a:bodyPr vert="horz" wrap="square" lIns="91440" tIns="45720" rIns="91440" bIns="45720" anchor="ctr"/>
          <a:p>
            <a:pPr eaLnBrk="1" hangingPunct="1"/>
            <a:r>
              <a:rPr lang="zh-CN" altLang="en-US" b="1" dirty="0"/>
              <a:t>作业</a:t>
            </a:r>
            <a:endParaRPr lang="zh-CN" altLang="en-US" b="1" dirty="0"/>
          </a:p>
        </p:txBody>
      </p:sp>
      <p:sp>
        <p:nvSpPr>
          <p:cNvPr id="100355" name="Rectangle 3"/>
          <p:cNvSpPr>
            <a:spLocks noGrp="1"/>
          </p:cNvSpPr>
          <p:nvPr>
            <p:ph type="body"/>
          </p:nvPr>
        </p:nvSpPr>
        <p:spPr>
          <a:ln/>
        </p:spPr>
        <p:txBody>
          <a:bodyPr vert="horz" wrap="square" lIns="91440" tIns="45720" rIns="91440" bIns="45720" anchor="t"/>
          <a:p>
            <a:pPr eaLnBrk="1" hangingPunct="1"/>
            <a:r>
              <a:rPr lang="en-US" altLang="zh-CN" b="1" dirty="0"/>
              <a:t>P81—1</a:t>
            </a:r>
            <a:r>
              <a:rPr lang="zh-CN" altLang="en-US" b="1" dirty="0"/>
              <a:t>，</a:t>
            </a:r>
            <a:r>
              <a:rPr lang="en-US" altLang="zh-CN" b="1" dirty="0"/>
              <a:t>2</a:t>
            </a:r>
            <a:endParaRPr lang="en-US" altLang="zh-CN" b="1" dirty="0"/>
          </a:p>
          <a:p>
            <a:pPr eaLnBrk="1" hangingPunct="1"/>
            <a:r>
              <a:rPr lang="en-US" altLang="zh-CN" b="1" dirty="0"/>
              <a:t>P82—3(</a:t>
            </a:r>
            <a:r>
              <a:rPr lang="zh-CN" altLang="en-US" b="1" dirty="0"/>
              <a:t>选作</a:t>
            </a:r>
            <a:r>
              <a:rPr lang="en-US" altLang="zh-CN" b="1" dirty="0"/>
              <a:t>2</a:t>
            </a:r>
            <a:r>
              <a:rPr lang="zh-CN" altLang="en-US" b="1" dirty="0"/>
              <a:t>个</a:t>
            </a:r>
            <a:r>
              <a:rPr lang="en-US" altLang="zh-CN" b="1" dirty="0"/>
              <a:t>)</a:t>
            </a:r>
            <a:endParaRPr lang="en-US" altLang="zh-CN" b="1" dirty="0"/>
          </a:p>
        </p:txBody>
      </p:sp>
    </p:spTree>
  </p:cSld>
  <p:clrMapOvr>
    <a:masterClrMapping/>
  </p:clrMapOvr>
  <p:transition spd="med">
    <p:zoom/>
  </p:transition>
</p:sld>
</file>

<file path=ppt/theme/theme1.xml><?xml version="1.0" encoding="utf-8"?>
<a:theme xmlns:a="http://schemas.openxmlformats.org/drawingml/2006/main" name="zdy">
  <a:themeElements>
    <a:clrScheme name="zd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zdy">
      <a:majorFont>
        <a:latin typeface="Verdana"/>
        <a:ea typeface="黑体"/>
        <a:cs typeface=""/>
      </a:majorFont>
      <a:minorFont>
        <a:latin typeface="Times New Roman"/>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1800" b="0" i="0" u="sng" strike="noStrike" cap="none" normalizeH="0" baseline="0" smtClean="0">
            <a:ln>
              <a:noFill/>
            </a:ln>
            <a:solidFill>
              <a:schemeClr val="accent2"/>
            </a:solidFill>
            <a:effectLst/>
            <a:latin typeface="Verdan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1800" b="0" i="0" u="sng" strike="noStrike" cap="none" normalizeH="0" baseline="0" smtClean="0">
            <a:ln>
              <a:noFill/>
            </a:ln>
            <a:solidFill>
              <a:schemeClr val="accent2"/>
            </a:solidFill>
            <a:effectLst/>
            <a:latin typeface="Verdana" panose="020B0604030504040204" pitchFamily="34" charset="0"/>
            <a:ea typeface="宋体" panose="02010600030101010101" pitchFamily="2" charset="-122"/>
          </a:defRPr>
        </a:defPPr>
      </a:lstStyle>
    </a:lnDef>
  </a:objectDefaults>
  <a:extraClrSchemeLst>
    <a:extraClrScheme>
      <a:clrScheme name="zd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zd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zd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zd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zd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zd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zd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zd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zd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13220</Words>
  <Application>WPS 演示</Application>
  <PresentationFormat>全屏显示(4:3)</PresentationFormat>
  <Paragraphs>1590</Paragraphs>
  <Slides>94</Slides>
  <Notes>0</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22</vt:i4>
      </vt:variant>
      <vt:variant>
        <vt:lpstr>幻灯片标题</vt:lpstr>
      </vt:variant>
      <vt:variant>
        <vt:i4>94</vt:i4>
      </vt:variant>
    </vt:vector>
  </HeadingPairs>
  <TitlesOfParts>
    <vt:vector size="131" baseType="lpstr">
      <vt:lpstr>Arial</vt:lpstr>
      <vt:lpstr>宋体</vt:lpstr>
      <vt:lpstr>Wingdings</vt:lpstr>
      <vt:lpstr>Verdana</vt:lpstr>
      <vt:lpstr>黑体</vt:lpstr>
      <vt:lpstr>Times New Roman</vt:lpstr>
      <vt:lpstr>楷体_GB2312</vt:lpstr>
      <vt:lpstr>隶书</vt:lpstr>
      <vt:lpstr>Symbol</vt:lpstr>
      <vt:lpstr>华文行楷</vt:lpstr>
      <vt:lpstr>华文新魏</vt:lpstr>
      <vt:lpstr>Wingdings 2</vt:lpstr>
      <vt:lpstr>微软雅黑</vt:lpstr>
      <vt:lpstr>Arial Unicode MS</vt:lpstr>
      <vt:lpstr>zdy</vt:lpstr>
      <vt:lpstr>Equation.3</vt:lpstr>
      <vt:lpstr>Equation.3</vt:lpstr>
      <vt:lpstr>Equation.3</vt:lpstr>
      <vt:lpstr>Equation.3</vt:lpstr>
      <vt:lpstr>Equation.3</vt:lpstr>
      <vt:lpstr>Equation.3</vt:lpstr>
      <vt:lpstr>Equation.3</vt:lpstr>
      <vt:lpstr>Equation.3</vt:lpstr>
      <vt:lpstr>Word.Document.8</vt:lpstr>
      <vt:lpstr>Word.Document.8</vt:lpstr>
      <vt:lpstr>Word.Document.8</vt:lpstr>
      <vt:lpstr>Equation.3</vt:lpstr>
      <vt:lpstr>Word.Document.8</vt:lpstr>
      <vt:lpstr>Word.Document.8</vt:lpstr>
      <vt:lpstr>Word.Document.8</vt:lpstr>
      <vt:lpstr>Equation.3</vt:lpstr>
      <vt:lpstr>Equation.3</vt:lpstr>
      <vt:lpstr>Equation.3</vt:lpstr>
      <vt:lpstr>Equation.3</vt:lpstr>
      <vt:lpstr>Equation.3</vt:lpstr>
      <vt:lpstr>Word.Document.8</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2ndSpAcE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lhm</dc:creator>
  <cp:lastModifiedBy>ymtang_hfut</cp:lastModifiedBy>
  <cp:revision>1292</cp:revision>
  <dcterms:created xsi:type="dcterms:W3CDTF">2005-03-09T07:54:57Z</dcterms:created>
  <dcterms:modified xsi:type="dcterms:W3CDTF">2020-09-20T10:27:07Z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TC011408292052</vt:lpwstr>
  </property>
  <property fmtid="{D5CDD505-2E9C-101B-9397-08002B2CF9AE}" pid="3" name="KSOProductBuildVer">
    <vt:lpwstr>2052-11.1.0.9999</vt:lpwstr>
  </property>
</Properties>
</file>